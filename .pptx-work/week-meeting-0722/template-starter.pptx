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ff2eae6047403e" /><Relationship Type="http://schemas.openxmlformats.org/officeDocument/2006/relationships/extended-properties" Target="/docProps/app.xml" Id="Rc6e2bf16d7cc47f0" /><Relationship Type="http://schemas.openxmlformats.org/officeDocument/2006/relationships/officeDocument" Target="/ppt/presentation.xml" Id="Rc12cc1f289124451" /></Relationships>
</file>

<file path=ppt/presentation.xml><?xml version="1.0" encoding="utf-8"?>
<p:presentation xmlns:p="http://schemas.openxmlformats.org/presentationml/2006/main">
  <p:sldMasterIdLst>
    <p:sldMasterId xmlns:r="http://schemas.openxmlformats.org/officeDocument/2006/relationships" id="2147483648" r:id="Rad17a1ad2ad946b6"/>
  </p:sldMasterIdLst>
  <p:notesMasterIdLst>
    <p:notesMasterId xmlns:r="http://schemas.openxmlformats.org/officeDocument/2006/relationships" r:id="R375030de20054739"/>
  </p:notesMasterIdLst>
  <p:sldIdLst>
    <p:sldId xmlns:r="http://schemas.openxmlformats.org/officeDocument/2006/relationships" id="256" r:id="R4642c4ca699844fc"/>
    <p:sldId xmlns:r="http://schemas.openxmlformats.org/officeDocument/2006/relationships" id="257" r:id="Re76c09010260441b"/>
    <p:sldId xmlns:r="http://schemas.openxmlformats.org/officeDocument/2006/relationships" id="258" r:id="R1d7ba5fbeee84044"/>
    <p:sldId xmlns:r="http://schemas.openxmlformats.org/officeDocument/2006/relationships" id="259" r:id="R451c43104cf04ea2"/>
    <p:sldId xmlns:r="http://schemas.openxmlformats.org/officeDocument/2006/relationships" id="260" r:id="Rb614334a07474c26"/>
    <p:sldId xmlns:r="http://schemas.openxmlformats.org/officeDocument/2006/relationships" id="261" r:id="R645ea08049754ea9"/>
    <p:sldId xmlns:r="http://schemas.openxmlformats.org/officeDocument/2006/relationships" id="262" r:id="Ra6b8aebef3d744aa"/>
    <p:sldId xmlns:r="http://schemas.openxmlformats.org/officeDocument/2006/relationships" id="263" r:id="R716e6bd06f1d4310"/>
    <p:sldId xmlns:r="http://schemas.openxmlformats.org/officeDocument/2006/relationships" id="264" r:id="R89e3cd4568ec45ea"/>
    <p:sldId xmlns:r="http://schemas.openxmlformats.org/officeDocument/2006/relationships" id="265" r:id="R39e28852072340bb"/>
    <p:sldId xmlns:r="http://schemas.openxmlformats.org/officeDocument/2006/relationships" id="266" r:id="R6f2a333586c64fa5"/>
    <p:sldId xmlns:r="http://schemas.openxmlformats.org/officeDocument/2006/relationships" id="267" r:id="Ra19fa2c2a7e043cd"/>
    <p:sldId xmlns:r="http://schemas.openxmlformats.org/officeDocument/2006/relationships" id="268" r:id="R24af1f32a099407f"/>
    <p:sldId xmlns:r="http://schemas.openxmlformats.org/officeDocument/2006/relationships" id="269" r:id="R66ecbb22dd6e4819"/>
    <p:sldId xmlns:r="http://schemas.openxmlformats.org/officeDocument/2006/relationships" id="270" r:id="Rac733f8174c3482d"/>
    <p:sldId xmlns:r="http://schemas.openxmlformats.org/officeDocument/2006/relationships" id="271" r:id="Rc45516445fc0476b"/>
    <p:sldId xmlns:r="http://schemas.openxmlformats.org/officeDocument/2006/relationships" id="272" r:id="R798abcd8290e4b95"/>
    <p:sldId xmlns:r="http://schemas.openxmlformats.org/officeDocument/2006/relationships" id="273" r:id="Raaf33a0f5dc0441f"/>
    <p:sldId xmlns:r="http://schemas.openxmlformats.org/officeDocument/2006/relationships" id="274" r:id="R1adb33417d574830"/>
    <p:sldId xmlns:r="http://schemas.openxmlformats.org/officeDocument/2006/relationships" id="275" r:id="Ra09fca23811e4a86"/>
    <p:sldId xmlns:r="http://schemas.openxmlformats.org/officeDocument/2006/relationships" id="276" r:id="R478b3b36cba6483b"/>
    <p:sldId xmlns:r="http://schemas.openxmlformats.org/officeDocument/2006/relationships" id="277" r:id="Refa4605cfa7f40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7A789F1-B653-4B05-9413-55619C3911C9}" styleName="表样式 1 25">
    <a:wholeTbl>
      <a:tcTxStyle>
        <a:fontRef idx="none">
          <a:srgbClr val="00000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FFFFFF"/>
          </a:solidFill>
        </a:fill>
      </a:tcStyle>
    </a:wholeTbl>
    <a:band2H>
      <a:tcStyle>
        <a:tcBdr/>
        <a:fill>
          <a:solidFill>
            <a:srgbClr val="00B0F0">
              <a:lumMod val="10000"/>
              <a:lumOff val="90000"/>
            </a:srgbClr>
          </a:solidFill>
        </a:fill>
      </a:tcStyle>
    </a:band2H>
    <a:band1V>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00B0F0">
              <a:lumMod val="10000"/>
              <a:lumOff val="90000"/>
            </a:srgbClr>
          </a:solidFill>
        </a:fill>
      </a:tcStyle>
    </a:band1V>
    <a:band2V>
      <a:tcStyle>
        <a:tcBdr>
          <a:left>
            <a:ln w="9525" cmpd="sng">
              <a:solidFill>
                <a:srgbClr val="00B0F0">
                  <a:lumMod val="40000"/>
                  <a:lumOff val="60000"/>
                </a:srgbClr>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tcStyle>
    </a:band2V>
    <a:lastCol>
      <a:tcTxStyle b="on">
        <a:fontRef idx="none">
          <a:srgbClr val="08090C"/>
        </a:fontRef>
      </a:tcTxStyle>
      <a:tcStyle>
        <a:tcBdr>
          <a:left>
            <a:ln w="9525" cmpd="sng">
              <a:solidFill>
                <a:srgbClr val="00B0F0">
                  <a:lumMod val="40000"/>
                  <a:lumOff val="60000"/>
                </a:srgbClr>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fill>
          <a:solidFill>
            <a:srgbClr val="00B0F0">
              <a:lumMod val="20000"/>
              <a:lumOff val="80000"/>
            </a:srgbClr>
          </a:solidFill>
        </a:fill>
      </a:tcStyle>
    </a:lastCol>
    <a:firstCol>
      <a:tcTxStyle b="on">
        <a:fontRef idx="none">
          <a:srgbClr val="08090C"/>
        </a:fontRef>
      </a:tcTxStyle>
      <a:tcStyle>
        <a:tcBdr>
          <a:left>
            <a:ln w="9525" cmpd="sng">
              <a:solidFill>
                <a:srgbClr val="00B0F0"/>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fill>
          <a:solidFill>
            <a:srgbClr val="00B0F0">
              <a:lumMod val="20000"/>
              <a:lumOff val="80000"/>
            </a:srgbClr>
          </a:solidFill>
        </a:fill>
      </a:tcStyle>
    </a:firstCol>
    <a:lastRow>
      <a:tcTxStyle b="on">
        <a:fontRef idx="none">
          <a:srgbClr val="00B0F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lastRow>
    <a:seCell>
      <a:tcStyle>
        <a:tcBdr>
          <a:left>
            <a:ln>
              <a:noFill/>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eCell>
    <a:swCell>
      <a:tcTxStyle b="on">
        <a:fontRef idx="none">
          <a:srgbClr val="00B0F0"/>
        </a:fontRef>
      </a:tcTxStyle>
      <a:tcStyle>
        <a:tcBdr>
          <a:left>
            <a:ln w="9525" cmpd="sng">
              <a:solidFill>
                <a:srgbClr val="00B0F0"/>
              </a:solidFill>
              <a:prstDash val="solid"/>
            </a:ln>
          </a:left>
          <a:right>
            <a:ln>
              <a:noFill/>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w="9525" cmpd="sng">
              <a:solidFill>
                <a:srgbClr val="00B0F0">
                  <a:lumMod val="40000"/>
                  <a:lumOff val="60000"/>
                </a:srgbClr>
              </a:solidFill>
              <a:prstDash val="solid"/>
            </a:ln>
          </a:insideV>
        </a:tcBdr>
        <a:fill>
          <a:solidFill>
            <a:srgbClr val="00B0F0"/>
          </a:solidFill>
        </a:fill>
      </a:tcStyle>
    </a:firstRow>
  </a:tblStyle>
  <a:tblStyle styleId="{B82968AF-1C86-418F-AAF9-C721EBBA184F}" styleName="表样式 1 25">
    <a:wholeTbl>
      <a:tcTxStyle>
        <a:fontRef idx="none">
          <a:srgbClr val="00000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FFFFFF"/>
          </a:solidFill>
        </a:fill>
      </a:tcStyle>
    </a:wholeTbl>
    <a:band2H>
      <a:tcStyle>
        <a:tcBdr/>
        <a:fill>
          <a:solidFill>
            <a:srgbClr val="00B0F0">
              <a:lumMod val="10000"/>
              <a:lumOff val="90000"/>
            </a:srgbClr>
          </a:solidFill>
        </a:fill>
      </a:tcStyle>
    </a:band2H>
    <a:band1V>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w="9525" cmpd="sng">
              <a:solidFill>
                <a:srgbClr val="00B0F0">
                  <a:lumMod val="40000"/>
                  <a:lumOff val="60000"/>
                </a:srgbClr>
              </a:solidFill>
              <a:prstDash val="solid"/>
            </a:ln>
          </a:insideV>
        </a:tcBdr>
        <a:fill>
          <a:solidFill>
            <a:srgbClr val="00B0F0">
              <a:lumMod val="10000"/>
              <a:lumOff val="90000"/>
            </a:srgbClr>
          </a:solidFill>
        </a:fill>
      </a:tcStyle>
    </a:band1V>
    <a:band2V>
      <a:tcStyle>
        <a:tcBdr>
          <a:left>
            <a:ln w="9525" cmpd="sng">
              <a:solidFill>
                <a:srgbClr val="00B0F0">
                  <a:lumMod val="40000"/>
                  <a:lumOff val="60000"/>
                </a:srgbClr>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tcStyle>
    </a:band2V>
    <a:lastCol>
      <a:tcTxStyle b="on">
        <a:fontRef idx="none">
          <a:srgbClr val="08090C"/>
        </a:fontRef>
      </a:tcTxStyle>
      <a:tcStyle>
        <a:tcBdr>
          <a:left>
            <a:ln w="9525" cmpd="sng">
              <a:solidFill>
                <a:srgbClr val="00B0F0">
                  <a:lumMod val="40000"/>
                  <a:lumOff val="60000"/>
                </a:srgbClr>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fill>
          <a:solidFill>
            <a:srgbClr val="00B0F0">
              <a:lumMod val="20000"/>
              <a:lumOff val="80000"/>
            </a:srgbClr>
          </a:solidFill>
        </a:fill>
      </a:tcStyle>
    </a:lastCol>
    <a:firstCol>
      <a:tcTxStyle b="on">
        <a:fontRef idx="none">
          <a:srgbClr val="08090C"/>
        </a:fontRef>
      </a:tcTxStyle>
      <a:tcStyle>
        <a:tcBdr>
          <a:left>
            <a:ln w="9525" cmpd="sng">
              <a:solidFill>
                <a:srgbClr val="00B0F0"/>
              </a:solidFill>
              <a:prstDash val="solid"/>
            </a:ln>
          </a:left>
          <a:right>
            <a:ln w="9525" cmpd="sng">
              <a:solidFill>
                <a:srgbClr val="00B0F0">
                  <a:lumMod val="40000"/>
                  <a:lumOff val="60000"/>
                </a:srgbClr>
              </a:solidFill>
              <a:prstDash val="solid"/>
            </a:ln>
          </a:right>
          <a:top>
            <a:ln w="9525" cmpd="sng">
              <a:solidFill>
                <a:srgbClr val="00B0F0"/>
              </a:solidFill>
              <a:prstDash val="solid"/>
            </a:ln>
          </a:top>
          <a:bottom>
            <a:ln w="9525" cmpd="sng">
              <a:solidFill>
                <a:srgbClr val="00B0F0"/>
              </a:solidFill>
              <a:prstDash val="solid"/>
            </a:ln>
          </a:bottom>
          <a:insideH>
            <a:ln w="9525" cmpd="sng">
              <a:solidFill>
                <a:srgbClr val="00B0F0">
                  <a:lumMod val="40000"/>
                  <a:lumOff val="60000"/>
                </a:srgbClr>
              </a:solidFill>
              <a:prstDash val="solid"/>
            </a:ln>
          </a:insideH>
          <a:insideV>
            <a:ln>
              <a:noFill/>
            </a:ln>
          </a:insideV>
        </a:tcBdr>
        <a:fill>
          <a:solidFill>
            <a:srgbClr val="00B0F0">
              <a:lumMod val="20000"/>
              <a:lumOff val="80000"/>
            </a:srgbClr>
          </a:solidFill>
        </a:fill>
      </a:tcStyle>
    </a:firstCol>
    <a:lastRow>
      <a:tcTxStyle b="on">
        <a:fontRef idx="none">
          <a:srgbClr val="00B0F0"/>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lastRow>
    <a:seCell>
      <a:tcStyle>
        <a:tcBdr>
          <a:left>
            <a:ln>
              <a:noFill/>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eCell>
    <a:swCell>
      <a:tcTxStyle b="on">
        <a:fontRef idx="none">
          <a:srgbClr val="00B0F0"/>
        </a:fontRef>
      </a:tcTxStyle>
      <a:tcStyle>
        <a:tcBdr>
          <a:left>
            <a:ln w="9525" cmpd="sng">
              <a:solidFill>
                <a:srgbClr val="00B0F0"/>
              </a:solidFill>
              <a:prstDash val="solid"/>
            </a:ln>
          </a:left>
          <a:right>
            <a:ln>
              <a:noFill/>
            </a:ln>
          </a:right>
          <a:top>
            <a:ln w="9525" cmpd="sng">
              <a:solidFill>
                <a:srgbClr val="00B0F0"/>
              </a:solidFill>
              <a:prstDash val="solid"/>
            </a:ln>
          </a:top>
          <a:bottom>
            <a:ln w="9525" cmpd="sng">
              <a:solidFill>
                <a:srgbClr val="00B0F0"/>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00B0F0"/>
              </a:solidFill>
              <a:prstDash val="solid"/>
            </a:ln>
          </a:left>
          <a:right>
            <a:ln w="9525" cmpd="sng">
              <a:solidFill>
                <a:srgbClr val="00B0F0"/>
              </a:solidFill>
              <a:prstDash val="solid"/>
            </a:ln>
          </a:right>
          <a:top>
            <a:ln w="9525" cmpd="sng">
              <a:solidFill>
                <a:srgbClr val="00B0F0"/>
              </a:solidFill>
              <a:prstDash val="solid"/>
            </a:ln>
          </a:top>
          <a:bottom>
            <a:ln w="9525" cmpd="sng">
              <a:solidFill>
                <a:srgbClr val="00B0F0"/>
              </a:solidFill>
              <a:prstDash val="solid"/>
            </a:ln>
          </a:bottom>
          <a:insideH>
            <a:ln>
              <a:noFill/>
            </a:ln>
          </a:insideH>
          <a:insideV>
            <a:ln w="9525" cmpd="sng">
              <a:solidFill>
                <a:srgbClr val="00B0F0">
                  <a:lumMod val="40000"/>
                  <a:lumOff val="60000"/>
                </a:srgbClr>
              </a:solidFill>
              <a:prstDash val="solid"/>
            </a:ln>
          </a:insideV>
        </a:tcBdr>
        <a:fill>
          <a:solidFill>
            <a:srgbClr val="00B0F0"/>
          </a:solidFill>
        </a:fill>
      </a:tcStyle>
    </a:firstRow>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57e85b0fa3c414e" /><Relationship Type="http://schemas.openxmlformats.org/officeDocument/2006/relationships/slideMaster" Target="/ppt/slideMasters/slideMaster1.xml" Id="Rad17a1ad2ad946b6" /><Relationship Type="http://schemas.openxmlformats.org/officeDocument/2006/relationships/notesMaster" Target="/ppt/notesMasters/notesMaster1.xml" Id="R375030de20054739" /><Relationship Type="http://schemas.openxmlformats.org/officeDocument/2006/relationships/presProps" Target="/ppt/presProps.xml" Id="R573116e838b14c76" /><Relationship Type="http://schemas.openxmlformats.org/officeDocument/2006/relationships/viewProps" Target="/ppt/viewProps.xml" Id="Rd8a4396ce6134ae2" /><Relationship Type="http://schemas.openxmlformats.org/officeDocument/2006/relationships/tableStyles" Target="/ppt/tableStyles.xml" Id="R4baa77b1c15e4cae" /><Relationship Type="http://schemas.openxmlformats.org/officeDocument/2006/relationships/slide" Target="/ppt/slides/slide1.xml" Id="R4642c4ca699844fc" /><Relationship Type="http://schemas.openxmlformats.org/officeDocument/2006/relationships/slide" Target="/ppt/slides/slide2.xml" Id="Re76c09010260441b" /><Relationship Type="http://schemas.openxmlformats.org/officeDocument/2006/relationships/slide" Target="/ppt/slides/slide3.xml" Id="R1d7ba5fbeee84044" /><Relationship Type="http://schemas.openxmlformats.org/officeDocument/2006/relationships/slide" Target="/ppt/slides/slide4.xml" Id="R451c43104cf04ea2" /><Relationship Type="http://schemas.openxmlformats.org/officeDocument/2006/relationships/slide" Target="/ppt/slides/slide5.xml" Id="Rb614334a07474c26" /><Relationship Type="http://schemas.openxmlformats.org/officeDocument/2006/relationships/slide" Target="/ppt/slides/slide6.xml" Id="R645ea08049754ea9" /><Relationship Type="http://schemas.openxmlformats.org/officeDocument/2006/relationships/slide" Target="/ppt/slides/slide7.xml" Id="Ra6b8aebef3d744aa" /><Relationship Type="http://schemas.openxmlformats.org/officeDocument/2006/relationships/slide" Target="/ppt/slides/slide8.xml" Id="R716e6bd06f1d4310" /><Relationship Type="http://schemas.openxmlformats.org/officeDocument/2006/relationships/slide" Target="/ppt/slides/slide9.xml" Id="R89e3cd4568ec45ea" /><Relationship Type="http://schemas.openxmlformats.org/officeDocument/2006/relationships/slide" Target="/ppt/slides/slide10.xml" Id="R39e28852072340bb" /><Relationship Type="http://schemas.openxmlformats.org/officeDocument/2006/relationships/slide" Target="/ppt/slides/slide11.xml" Id="R6f2a333586c64fa5" /><Relationship Type="http://schemas.openxmlformats.org/officeDocument/2006/relationships/slide" Target="/ppt/slides/slide12.xml" Id="Ra19fa2c2a7e043cd" /><Relationship Type="http://schemas.openxmlformats.org/officeDocument/2006/relationships/slide" Target="/ppt/slides/slide13.xml" Id="R24af1f32a099407f" /><Relationship Type="http://schemas.openxmlformats.org/officeDocument/2006/relationships/slide" Target="/ppt/slides/slide14.xml" Id="R66ecbb22dd6e4819" /><Relationship Type="http://schemas.openxmlformats.org/officeDocument/2006/relationships/slide" Target="/ppt/slides/slide15.xml" Id="Rac733f8174c3482d" /><Relationship Type="http://schemas.openxmlformats.org/officeDocument/2006/relationships/slide" Target="/ppt/slides/slide16.xml" Id="Rc45516445fc0476b" /><Relationship Type="http://schemas.openxmlformats.org/officeDocument/2006/relationships/slide" Target="/ppt/slides/slide17.xml" Id="R798abcd8290e4b95" /><Relationship Type="http://schemas.openxmlformats.org/officeDocument/2006/relationships/slide" Target="/ppt/slides/slide18.xml" Id="Raaf33a0f5dc0441f" /><Relationship Type="http://schemas.openxmlformats.org/officeDocument/2006/relationships/slide" Target="/ppt/slides/slide19.xml" Id="R1adb33417d574830" /><Relationship Type="http://schemas.openxmlformats.org/officeDocument/2006/relationships/slide" Target="/ppt/slides/slide20.xml" Id="Ra09fca23811e4a86" /><Relationship Type="http://schemas.openxmlformats.org/officeDocument/2006/relationships/slide" Target="/ppt/slides/slide21.xml" Id="R478b3b36cba6483b" /><Relationship Type="http://schemas.openxmlformats.org/officeDocument/2006/relationships/slide" Target="/ppt/slides/slide22.xml" Id="Refa4605cfa7f40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249944b01d4b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a2a2cd1c10462a" /><Relationship Type="http://schemas.openxmlformats.org/officeDocument/2006/relationships/notesMaster" Target="/ppt/notesMasters/notesMaster1.xml" Id="Ra10bb3144ef04e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c5c7a31fe44104" /><Relationship Type="http://schemas.openxmlformats.org/officeDocument/2006/relationships/notesMaster" Target="/ppt/notesMasters/notesMaster1.xml" Id="Rca167d1fd7b94d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15523671094772" /><Relationship Type="http://schemas.openxmlformats.org/officeDocument/2006/relationships/notesMaster" Target="/ppt/notesMasters/notesMaster1.xml" Id="Rb49ddddda0d645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98b7c280c74696" /><Relationship Type="http://schemas.openxmlformats.org/officeDocument/2006/relationships/notesMaster" Target="/ppt/notesMasters/notesMaster1.xml" Id="Raa9a93aec7234c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0e1502925a4fd7" /><Relationship Type="http://schemas.openxmlformats.org/officeDocument/2006/relationships/notesMaster" Target="/ppt/notesMasters/notesMaster1.xml" Id="R25fe24b727a04a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59727eb6554026" /><Relationship Type="http://schemas.openxmlformats.org/officeDocument/2006/relationships/notesMaster" Target="/ppt/notesMasters/notesMaster1.xml" Id="R903bd5a988f547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0502b43f054002" /><Relationship Type="http://schemas.openxmlformats.org/officeDocument/2006/relationships/notesMaster" Target="/ppt/notesMasters/notesMaster1.xml" Id="Rb8606f0dd1844e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349e83dfdc4c53" /><Relationship Type="http://schemas.openxmlformats.org/officeDocument/2006/relationships/notesMaster" Target="/ppt/notesMasters/notesMaster1.xml" Id="R2b2510951e3441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5aa4761cfd420d" /><Relationship Type="http://schemas.openxmlformats.org/officeDocument/2006/relationships/notesMaster" Target="/ppt/notesMasters/notesMaster1.xml" Id="R635e787a7f2b45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9d696dc72142ac" /><Relationship Type="http://schemas.openxmlformats.org/officeDocument/2006/relationships/notesMaster" Target="/ppt/notesMasters/notesMaster1.xml" Id="R8762a4d2133846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3f0919d82b4b92" /><Relationship Type="http://schemas.openxmlformats.org/officeDocument/2006/relationships/notesMaster" Target="/ppt/notesMasters/notesMaster1.xml" Id="R04c610a31dd948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887253d1fa74a88" /><Relationship Type="http://schemas.openxmlformats.org/officeDocument/2006/relationships/notesMaster" Target="/ppt/notesMasters/notesMaster1.xml" Id="R36e03387eba8448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948daf96334481" /><Relationship Type="http://schemas.openxmlformats.org/officeDocument/2006/relationships/notesMaster" Target="/ppt/notesMasters/notesMaster1.xml" Id="R043d06e5a89a4f7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e99bbb2c114039" /><Relationship Type="http://schemas.openxmlformats.org/officeDocument/2006/relationships/notesMaster" Target="/ppt/notesMasters/notesMaster1.xml" Id="R24fb30aeb4f641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f87bed12e1449b2" /><Relationship Type="http://schemas.openxmlformats.org/officeDocument/2006/relationships/notesMaster" Target="/ppt/notesMasters/notesMaster1.xml" Id="R2b348671bd504e8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d8ff97466d442c0" /><Relationship Type="http://schemas.openxmlformats.org/officeDocument/2006/relationships/notesMaster" Target="/ppt/notesMasters/notesMaster1.xml" Id="Rbc005459a2674a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9221484d5164199" /><Relationship Type="http://schemas.openxmlformats.org/officeDocument/2006/relationships/notesMaster" Target="/ppt/notesMasters/notesMaster1.xml" Id="R306ab7dbe864403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18384ccd747458b" /><Relationship Type="http://schemas.openxmlformats.org/officeDocument/2006/relationships/notesMaster" Target="/ppt/notesMasters/notesMaster1.xml" Id="Ra12815a4c8c647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36038e993474d74" /><Relationship Type="http://schemas.openxmlformats.org/officeDocument/2006/relationships/notesMaster" Target="/ppt/notesMasters/notesMaster1.xml" Id="Rb5f7fee9fd4c415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be5bede854b40d0" /><Relationship Type="http://schemas.openxmlformats.org/officeDocument/2006/relationships/notesMaster" Target="/ppt/notesMasters/notesMaster1.xml" Id="R90448e3db6604a5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98bdffe6719405a" /><Relationship Type="http://schemas.openxmlformats.org/officeDocument/2006/relationships/notesMaster" Target="/ppt/notesMasters/notesMaster1.xml" Id="R533575cb189f49c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4c3f008b79b43ee" /><Relationship Type="http://schemas.openxmlformats.org/officeDocument/2006/relationships/notesMaster" Target="/ppt/notesMasters/notesMaster1.xml" Id="R992c580188294c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fc7639ef0d4a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f71bad106940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391305859b41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c886469857439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b21eeb1b2b4f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5e070790dc4a5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e5223b38a7949d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2f6d3bae49e4c7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d3bbd5623c0416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5e8e1a32c4a48d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e657f84866148a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7cdfa059761b4d88"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6612e24831cb4331"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D95F9EB-DCCC-4AF5-AF72-99661F4A3362}"/>
              </a:ext>
            </a:extLst>
          </p:cNvPr>
          <p:cNvSpPr>
            <a:spLocks xmlns:a="http://schemas.openxmlformats.org/drawingml/2006/main" noGrp="1"/>
          </p:cNvSpPr>
          <p:nvPr>
            <p:ph type="ctrTitle" idx="0"/>
          </p:nvPr>
        </p:nvSpPr>
        <p:spPr>
          <a:xfrm xmlns:a="http://schemas.openxmlformats.org/drawingml/2006/main">
            <a:off x="1198800" y="914400"/>
            <a:ext cx="9799200" cy="2570400"/>
          </a:xfrm>
        </p:spPr>
        <p:txBody>
          <a:bodyPr xmlns:a="http://schemas.openxmlformats.org/drawingml/2006/main" lIns="90000" tIns="46800" rIns="90000" bIns="46800" anchor="b">
            <a:normAutofit/>
          </a:bodyPr>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55668E81-5DCF-4F8F-A909-2367F82D7350}"/>
              </a:ext>
            </a:extLst>
          </p:cNvPr>
          <p:cNvSpPr>
            <a:spLocks xmlns:a="http://schemas.openxmlformats.org/drawingml/2006/main" noGrp="1"/>
          </p:cNvSpPr>
          <p:nvPr>
            <p:ph type="subTitle" idx="1"/>
          </p:nvPr>
        </p:nvSpPr>
        <p:spPr>
          <a:xfrm xmlns:a="http://schemas.openxmlformats.org/drawingml/2006/main">
            <a:off x="1198800" y="3560400"/>
            <a:ext cx="9799200" cy="1472400"/>
          </a:xfrm>
        </p:spPr>
        <p:txBody>
          <a:bodyPr xmlns:a="http://schemas.openxmlformats.org/drawingml/2006/main" lIns="90000" tIns="46800" rIns="90000" bIns="46800">
            <a:normAutofit/>
          </a:bodyPr>
          <a:lstStyle xmlns:a="http://schemas.openxmlformats.org/drawingml/2006/main">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16" name="日期占位符 15">
            <a:extLst xmlns:a="http://schemas.openxmlformats.org/drawingml/2006/main">
              <a:ext uri="{FF2B5EF4-FFF2-40B4-BE49-F238E27FC236}">
                <a16:creationId xmlns:a16="http://schemas.microsoft.com/office/drawing/2014/main" id="{A858D5F3-7CFA-4153-A448-99D9462BFD0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17" name="页脚占位符 16">
            <a:extLst xmlns:a="http://schemas.openxmlformats.org/drawingml/2006/main">
              <a:ext uri="{FF2B5EF4-FFF2-40B4-BE49-F238E27FC236}">
                <a16:creationId xmlns:a16="http://schemas.microsoft.com/office/drawing/2014/main" id="{CB561CF8-8832-4EB2-B130-37C9405EB4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18" name="灯片编号占位符 17">
            <a:extLst xmlns:a="http://schemas.openxmlformats.org/drawingml/2006/main">
              <a:ext uri="{FF2B5EF4-FFF2-40B4-BE49-F238E27FC236}">
                <a16:creationId xmlns:a16="http://schemas.microsoft.com/office/drawing/2014/main" id="{658FF047-A800-4B03-A498-FE65A63E0D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9ED02F0-5C76-4CE1-AE7A-A05F27D7B62A}"/>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p>
        </p:txBody>
      </p:sp>
      <p:sp>
        <p:nvSpPr>
          <p:cNvPr id="3" name="内容占位符 2">
            <a:extLst xmlns:a="http://schemas.openxmlformats.org/drawingml/2006/main">
              <a:ext uri="{FF2B5EF4-FFF2-40B4-BE49-F238E27FC236}">
                <a16:creationId xmlns:a16="http://schemas.microsoft.com/office/drawing/2014/main" id="{02795099-0194-4426-A32D-17FAE5F5419C}"/>
              </a:ext>
            </a:extLst>
          </p:cNvPr>
          <p:cNvSpPr>
            <a:spLocks xmlns:a="http://schemas.openxmlformats.org/drawingml/2006/main" noGrp="1"/>
          </p:cNvSpPr>
          <p:nvPr>
            <p:ph idx="1"/>
          </p:nvPr>
        </p:nvSpPr>
        <p:spPr>
          <a:xfrm xmlns:a="http://schemas.openxmlformats.org/drawingml/2006/main">
            <a:off x="608400" y="1490400"/>
            <a:ext cx="10969200" cy="4759200"/>
          </a:xfrm>
        </p:spPr>
        <p:txBody>
          <a:bodyPr xmlns:a="http://schemas.openxmlformats.org/drawingml/2006/main" vert="horz" lIns="90000" tIns="46800" rIns="90000" bIns="4680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78BE2D65-BE8F-4F84-80BD-F2A997E0B7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DAEB10D1-D489-4426-B686-4496C4F46E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37662FF3-96FA-49D8-A05E-1DCA155381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C878BAC-0CE8-4B91-AB0B-BB9C95CF0BBA}"/>
              </a:ext>
            </a:extLst>
          </p:cNvPr>
          <p:cNvSpPr>
            <a:spLocks xmlns:a="http://schemas.openxmlformats.org/drawingml/2006/main" noGrp="1"/>
          </p:cNvSpPr>
          <p:nvPr>
            <p:ph type="title" idx="0" hasCustomPrompt="1"/>
          </p:nvPr>
        </p:nvSpPr>
        <p:spPr>
          <a:xfrm xmlns:a="http://schemas.openxmlformats.org/drawingml/2006/main">
            <a:off x="1990800" y="3848400"/>
            <a:ext cx="7768800" cy="766800"/>
          </a:xfrm>
        </p:spPr>
        <p:txBody>
          <a:bodyPr xmlns:a="http://schemas.openxmlformats.org/drawingml/2006/main" lIns="90000" tIns="46800" rIns="90000" bIns="46800" anchor="b">
            <a:normAutofit/>
          </a:bodyPr>
          <a:lstStyle xmlns:a="http://schemas.openxmlformats.org/drawingml/2006/main">
            <a:lvl1pPr>
              <a:buNone/>
              <a:defRPr sz="4400"/>
            </a:lvl1pPr>
          </a:lstStyle>
          <a:p xmlns:a="http://schemas.openxmlformats.org/drawingml/2006/main">
            <a:r>
              <a:t>单击此处编辑标题</a:t>
            </a:r>
          </a:p>
        </p:txBody>
      </p:sp>
      <p:sp>
        <p:nvSpPr>
          <p:cNvPr id="3" name="文本占位符 2">
            <a:extLst xmlns:a="http://schemas.openxmlformats.org/drawingml/2006/main">
              <a:ext uri="{FF2B5EF4-FFF2-40B4-BE49-F238E27FC236}">
                <a16:creationId xmlns:a16="http://schemas.microsoft.com/office/drawing/2014/main" id="{FA123D36-D9AF-4CE8-B075-0F3573055D71}"/>
              </a:ext>
            </a:extLst>
          </p:cNvPr>
          <p:cNvSpPr>
            <a:spLocks xmlns:a="http://schemas.openxmlformats.org/drawingml/2006/main" noGrp="1"/>
          </p:cNvSpPr>
          <p:nvPr>
            <p:ph type="body" idx="1" hasCustomPrompt="1"/>
          </p:nvPr>
        </p:nvSpPr>
        <p:spPr>
          <a:xfrm xmlns:a="http://schemas.openxmlformats.org/drawingml/2006/main">
            <a:off x="1990800" y="4615200"/>
            <a:ext cx="7768800" cy="867600"/>
          </a:xfrm>
        </p:spPr>
        <p:txBody>
          <a:bodyPr xmlns:a="http://schemas.openxmlformats.org/drawingml/2006/main" lIns="90000" tIns="46800" rIns="90000" bIns="46800">
            <a:normAutofit/>
          </a:bodyPr>
          <a:lstStyle xmlns:a="http://schemas.openxmlformats.org/drawingml/2006/main">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单击此处编辑文本</a:t>
            </a:r>
          </a:p>
        </p:txBody>
      </p:sp>
      <p:sp>
        <p:nvSpPr>
          <p:cNvPr id="4" name="日期占位符 3">
            <a:extLst xmlns:a="http://schemas.openxmlformats.org/drawingml/2006/main">
              <a:ext uri="{FF2B5EF4-FFF2-40B4-BE49-F238E27FC236}">
                <a16:creationId xmlns:a16="http://schemas.microsoft.com/office/drawing/2014/main" id="{1010DF6C-CBE2-4B1C-BA71-9E40558F84D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0703E2CC-4766-4414-A9A5-B28E2BA93D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48FA5879-0B77-4BDD-B8BD-B849BD305E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C22459C-7DB1-4358-82F9-F657E9BDFCDA}"/>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p>
        </p:txBody>
      </p:sp>
      <p:sp>
        <p:nvSpPr>
          <p:cNvPr id="3" name="内容占位符 2">
            <a:extLst xmlns:a="http://schemas.openxmlformats.org/drawingml/2006/main">
              <a:ext uri="{FF2B5EF4-FFF2-40B4-BE49-F238E27FC236}">
                <a16:creationId xmlns:a16="http://schemas.microsoft.com/office/drawing/2014/main" id="{C788279E-9731-4E96-8316-4F1FBD69CD72}"/>
              </a:ext>
            </a:extLst>
          </p:cNvPr>
          <p:cNvSpPr>
            <a:spLocks xmlns:a="http://schemas.openxmlformats.org/drawingml/2006/main" noGrp="1"/>
          </p:cNvSpPr>
          <p:nvPr>
            <p:ph idx="1"/>
          </p:nvPr>
        </p:nvSpPr>
        <p:spPr>
          <a:xfrm xmlns:a="http://schemas.openxmlformats.org/drawingml/2006/main">
            <a:off x="608400" y="1501200"/>
            <a:ext cx="5176800" cy="4748400"/>
          </a:xfrm>
        </p:spPr>
        <p:txBody>
          <a:bodyPr xmlns:a="http://schemas.openxmlformats.org/drawingml/2006/main" vert="horz" lIns="90000" tIns="46800" rIns="90000" bIns="4680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内容占位符 3">
            <a:extLst xmlns:a="http://schemas.openxmlformats.org/drawingml/2006/main">
              <a:ext uri="{FF2B5EF4-FFF2-40B4-BE49-F238E27FC236}">
                <a16:creationId xmlns:a16="http://schemas.microsoft.com/office/drawing/2014/main" id="{5035A1D9-EB24-468D-938D-8E0023E3F558}"/>
              </a:ext>
            </a:extLst>
          </p:cNvPr>
          <p:cNvSpPr>
            <a:spLocks xmlns:a="http://schemas.openxmlformats.org/drawingml/2006/main" noGrp="1"/>
          </p:cNvSpPr>
          <p:nvPr>
            <p:ph idx="2"/>
          </p:nvPr>
        </p:nvSpPr>
        <p:spPr>
          <a:xfrm xmlns:a="http://schemas.openxmlformats.org/drawingml/2006/main">
            <a:off x="6411600" y="1501200"/>
            <a:ext cx="5176800" cy="4748400"/>
          </a:xfrm>
        </p:spPr>
        <p:txBody>
          <a:bodyPr xmlns:a="http://schemas.openxmlformats.org/drawingml/2006/main" lIns="90000" tIns="46800" rIns="90000" bIns="4680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日期占位符 4">
            <a:extLst xmlns:a="http://schemas.openxmlformats.org/drawingml/2006/main">
              <a:ext uri="{FF2B5EF4-FFF2-40B4-BE49-F238E27FC236}">
                <a16:creationId xmlns:a16="http://schemas.microsoft.com/office/drawing/2014/main" id="{22CC7973-607E-4296-AEBC-4F7A731CF9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页脚占位符 5">
            <a:extLst xmlns:a="http://schemas.openxmlformats.org/drawingml/2006/main">
              <a:ext uri="{FF2B5EF4-FFF2-40B4-BE49-F238E27FC236}">
                <a16:creationId xmlns:a16="http://schemas.microsoft.com/office/drawing/2014/main" id="{35B83E90-06EC-4862-A97B-9465AFE8F9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灯片编号占位符 6">
            <a:extLst xmlns:a="http://schemas.openxmlformats.org/drawingml/2006/main">
              <a:ext uri="{FF2B5EF4-FFF2-40B4-BE49-F238E27FC236}">
                <a16:creationId xmlns:a16="http://schemas.microsoft.com/office/drawing/2014/main" id="{14A23F50-84F4-4BED-93C8-1E37A49CBD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0CF3D25-ADCE-437A-A82F-AB352679A336}"/>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p>
        </p:txBody>
      </p:sp>
      <p:sp>
        <p:nvSpPr>
          <p:cNvPr id="3" name="文本占位符 2">
            <a:extLst xmlns:a="http://schemas.openxmlformats.org/drawingml/2006/main">
              <a:ext uri="{FF2B5EF4-FFF2-40B4-BE49-F238E27FC236}">
                <a16:creationId xmlns:a16="http://schemas.microsoft.com/office/drawing/2014/main" id="{EC1B8DC3-C3E8-457C-A8EF-C4E8F3427563}"/>
              </a:ext>
            </a:extLst>
          </p:cNvPr>
          <p:cNvSpPr>
            <a:spLocks xmlns:a="http://schemas.openxmlformats.org/drawingml/2006/main" noGrp="1"/>
          </p:cNvSpPr>
          <p:nvPr>
            <p:ph type="body" idx="1" hasCustomPrompt="1"/>
          </p:nvPr>
        </p:nvSpPr>
        <p:spPr>
          <a:xfrm xmlns:a="http://schemas.openxmlformats.org/drawingml/2006/main">
            <a:off x="608400" y="1429200"/>
            <a:ext cx="5342400" cy="381600"/>
          </a:xfrm>
        </p:spPr>
        <p:txBody>
          <a:bodyPr xmlns:a="http://schemas.openxmlformats.org/drawingml/2006/main" lIns="101600" tIns="38100" rIns="76200" bIns="38100" anchor="t">
            <a:normAutofit/>
          </a:bodyPr>
          <a:lstStyle xmlns:a="http://schemas.openxmlformats.org/drawingml/2006/main">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单击此处编辑文本</a:t>
            </a:r>
          </a:p>
        </p:txBody>
      </p:sp>
      <p:sp>
        <p:nvSpPr>
          <p:cNvPr id="4" name="内容占位符 3">
            <a:extLst xmlns:a="http://schemas.openxmlformats.org/drawingml/2006/main">
              <a:ext uri="{FF2B5EF4-FFF2-40B4-BE49-F238E27FC236}">
                <a16:creationId xmlns:a16="http://schemas.microsoft.com/office/drawing/2014/main" id="{8AF5533B-934F-43EC-B78C-A12B54947621}"/>
              </a:ext>
            </a:extLst>
          </p:cNvPr>
          <p:cNvSpPr>
            <a:spLocks xmlns:a="http://schemas.openxmlformats.org/drawingml/2006/main" noGrp="1"/>
          </p:cNvSpPr>
          <p:nvPr>
            <p:ph idx="2"/>
          </p:nvPr>
        </p:nvSpPr>
        <p:spPr>
          <a:xfrm xmlns:a="http://schemas.openxmlformats.org/drawingml/2006/main">
            <a:off x="608400" y="1854000"/>
            <a:ext cx="5342400" cy="4395600"/>
          </a:xfrm>
        </p:spPr>
        <p:txBody>
          <a:bodyPr xmlns:a="http://schemas.openxmlformats.org/drawingml/2006/main" vert="horz" lIns="101600" tIns="0" rIns="82550" bIns="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文本占位符 4">
            <a:extLst xmlns:a="http://schemas.openxmlformats.org/drawingml/2006/main">
              <a:ext uri="{FF2B5EF4-FFF2-40B4-BE49-F238E27FC236}">
                <a16:creationId xmlns:a16="http://schemas.microsoft.com/office/drawing/2014/main" id="{80D2A224-BB57-4DF8-9D04-B1EED32B1226}"/>
              </a:ext>
            </a:extLst>
          </p:cNvPr>
          <p:cNvSpPr>
            <a:spLocks xmlns:a="http://schemas.openxmlformats.org/drawingml/2006/main" noGrp="1"/>
          </p:cNvSpPr>
          <p:nvPr>
            <p:ph type="body" idx="3" hasCustomPrompt="1"/>
          </p:nvPr>
        </p:nvSpPr>
        <p:spPr>
          <a:xfrm xmlns:a="http://schemas.openxmlformats.org/drawingml/2006/main">
            <a:off x="6235750" y="1421729"/>
            <a:ext cx="5342400" cy="381600"/>
          </a:xfrm>
        </p:spPr>
        <p:txBody>
          <a:bodyPr xmlns:a="http://schemas.openxmlformats.org/drawingml/2006/main" vert="horz" lIns="101600" tIns="38100" rIns="76200" bIns="38100" anchor="t">
            <a:normAutofit/>
          </a:bodyPr>
          <a:lstStyle xmlns:a="http://schemas.openxmlformats.org/drawingml/2006/main">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单击此处编辑文本</a:t>
            </a:r>
          </a:p>
        </p:txBody>
      </p:sp>
      <p:sp>
        <p:nvSpPr>
          <p:cNvPr id="6" name="内容占位符 5">
            <a:extLst xmlns:a="http://schemas.openxmlformats.org/drawingml/2006/main">
              <a:ext uri="{FF2B5EF4-FFF2-40B4-BE49-F238E27FC236}">
                <a16:creationId xmlns:a16="http://schemas.microsoft.com/office/drawing/2014/main" id="{975EABBF-F739-4642-B405-E67ACA8FC683}"/>
              </a:ext>
            </a:extLst>
          </p:cNvPr>
          <p:cNvSpPr>
            <a:spLocks xmlns:a="http://schemas.openxmlformats.org/drawingml/2006/main" noGrp="1"/>
          </p:cNvSpPr>
          <p:nvPr>
            <p:ph idx="4"/>
          </p:nvPr>
        </p:nvSpPr>
        <p:spPr>
          <a:xfrm xmlns:a="http://schemas.openxmlformats.org/drawingml/2006/main">
            <a:off x="6235750" y="1854000"/>
            <a:ext cx="5342400" cy="4395600"/>
          </a:xfrm>
        </p:spPr>
        <p:txBody>
          <a:bodyPr xmlns:a="http://schemas.openxmlformats.org/drawingml/2006/main" vert="horz" lIns="101600" tIns="0" rIns="82550" bIns="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7" name="日期占位符 6">
            <a:extLst xmlns:a="http://schemas.openxmlformats.org/drawingml/2006/main">
              <a:ext uri="{FF2B5EF4-FFF2-40B4-BE49-F238E27FC236}">
                <a16:creationId xmlns:a16="http://schemas.microsoft.com/office/drawing/2014/main" id="{92A02995-3E96-4DF2-832D-EC817760333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8" name="页脚占位符 7">
            <a:extLst xmlns:a="http://schemas.openxmlformats.org/drawingml/2006/main">
              <a:ext uri="{FF2B5EF4-FFF2-40B4-BE49-F238E27FC236}">
                <a16:creationId xmlns:a16="http://schemas.microsoft.com/office/drawing/2014/main" id="{7E9A46BE-1893-4454-8FE6-BC7FDEC777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灯片编号占位符 8">
            <a:extLst xmlns:a="http://schemas.openxmlformats.org/drawingml/2006/main">
              <a:ext uri="{FF2B5EF4-FFF2-40B4-BE49-F238E27FC236}">
                <a16:creationId xmlns:a16="http://schemas.microsoft.com/office/drawing/2014/main" id="{D3BD11CA-03A5-4604-A34E-9AD3AABE73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413406A-5C15-4FC2-808C-4C6E4B6F5BA7}"/>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p>
        </p:txBody>
      </p:sp>
      <p:sp>
        <p:nvSpPr>
          <p:cNvPr id="3" name="日期占位符 2">
            <a:extLst xmlns:a="http://schemas.openxmlformats.org/drawingml/2006/main">
              <a:ext uri="{FF2B5EF4-FFF2-40B4-BE49-F238E27FC236}">
                <a16:creationId xmlns:a16="http://schemas.microsoft.com/office/drawing/2014/main" id="{B07E69D0-8471-4893-BA3E-95EE4F8C8B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823B1B51-A760-43E5-9848-C45EC33AB8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A143E40D-B774-4196-80CF-5784CEE1B7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1C0C4B08-0338-4B54-939E-D231B680133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3" name="页脚占位符 2">
            <a:extLst xmlns:a="http://schemas.openxmlformats.org/drawingml/2006/main">
              <a:ext uri="{FF2B5EF4-FFF2-40B4-BE49-F238E27FC236}">
                <a16:creationId xmlns:a16="http://schemas.microsoft.com/office/drawing/2014/main" id="{E7E9C09E-E2C5-4A6D-9ADC-4EB3B06DCE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灯片编号占位符 3">
            <a:extLst xmlns:a="http://schemas.openxmlformats.org/drawingml/2006/main">
              <a:ext uri="{FF2B5EF4-FFF2-40B4-BE49-F238E27FC236}">
                <a16:creationId xmlns:a16="http://schemas.microsoft.com/office/drawing/2014/main" id="{0692B142-7C83-4B2C-9BEB-E347DB9857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preserve="1" userDrawn="1">
  <p:cSld name="图片与标题">
    <p:spTree>
      <p:nvGrpSpPr>
        <p:cNvPr id="1" name=""/>
        <p:cNvGrpSpPr/>
        <p:nvPr/>
      </p:nvGrpSpPr>
      <p:grpSpPr>
        <a:xfrm xmlns:a="http://schemas.openxmlformats.org/drawingml/2006/main"/>
      </p:grpSpPr>
      <p:sp>
        <p:nvSpPr>
          <p:cNvPr id="3" name="图片占位符 2">
            <a:extLst xmlns:a="http://schemas.openxmlformats.org/drawingml/2006/main">
              <a:ext uri="{FF2B5EF4-FFF2-40B4-BE49-F238E27FC236}">
                <a16:creationId xmlns:a16="http://schemas.microsoft.com/office/drawing/2014/main" id="{44EC53C3-8C3E-45DE-B98A-712A1E493A99}"/>
              </a:ext>
            </a:extLst>
          </p:cNvPr>
          <p:cNvSpPr>
            <a:spLocks xmlns:a="http://schemas.openxmlformats.org/drawingml/2006/main" noGrp="1"/>
          </p:cNvSpPr>
          <p:nvPr>
            <p:ph type="pic" idx="1"/>
          </p:nvPr>
        </p:nvSpPr>
        <p:spPr>
          <a:xfrm xmlns:a="http://schemas.openxmlformats.org/drawingml/2006/main">
            <a:off x="608400" y="1555200"/>
            <a:ext cx="5233077" cy="4608000"/>
          </a:xfrm>
        </p:spPr>
        <p:txBody>
          <a:bodyPr xmlns:a="http://schemas.openxmlformats.org/drawingml/2006/main" vert="horz" lIns="90000" tIns="46800" rIns="90000" bIns="46800">
            <a:normAutofit/>
          </a:bodyPr>
          <a:lstStyle xmlns:a="http://schemas.openxmlformats.org/drawingml/2006/main">
            <a:lvl1pPr>
              <a:buNone/>
              <a:defRPr sz="1600"/>
            </a:lvl1pPr>
          </a:lstStyle>
          <a:p xmlns:a="http://schemas.openxmlformats.org/drawingml/2006/main">
            <a:pPr lvl="0">
              <a:buNone/>
            </a:pPr>
          </a:p>
        </p:txBody>
      </p:sp>
      <p:sp>
        <p:nvSpPr>
          <p:cNvPr id="4" name="文本占位符 3">
            <a:extLst xmlns:a="http://schemas.openxmlformats.org/drawingml/2006/main">
              <a:ext uri="{FF2B5EF4-FFF2-40B4-BE49-F238E27FC236}">
                <a16:creationId xmlns:a16="http://schemas.microsoft.com/office/drawing/2014/main" id="{2258CCE6-85B7-4F46-8F03-4F2510005816}"/>
              </a:ext>
            </a:extLst>
          </p:cNvPr>
          <p:cNvSpPr>
            <a:spLocks xmlns:a="http://schemas.openxmlformats.org/drawingml/2006/main" noGrp="1"/>
          </p:cNvSpPr>
          <p:nvPr>
            <p:ph type="body" idx="2"/>
          </p:nvPr>
        </p:nvSpPr>
        <p:spPr>
          <a:xfrm xmlns:a="http://schemas.openxmlformats.org/drawingml/2006/main">
            <a:off x="6350400" y="1555200"/>
            <a:ext cx="5227200" cy="4608000"/>
          </a:xfrm>
        </p:spPr>
        <p:txBody>
          <a:bodyPr xmlns:a="http://schemas.openxmlformats.org/drawingml/2006/main" vert="horz" lIns="90000" tIns="46800" rIns="90000" bIns="46800">
            <a:normAutofit/>
          </a:bodyPr>
          <a:lstStyle xmlns:a="http://schemas.openxmlformats.org/drawingml/2006/main">
            <a:lvl1pPr>
              <a:buNone/>
              <a:defRPr sz="1600"/>
            </a:lvl1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A97FA678-667E-42A0-B293-D8EF67458E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页脚占位符 5">
            <a:extLst xmlns:a="http://schemas.openxmlformats.org/drawingml/2006/main">
              <a:ext uri="{FF2B5EF4-FFF2-40B4-BE49-F238E27FC236}">
                <a16:creationId xmlns:a16="http://schemas.microsoft.com/office/drawing/2014/main" id="{F87B91BC-DCA2-402A-9FC5-1E779E9D81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灯片编号占位符 6">
            <a:extLst xmlns:a="http://schemas.openxmlformats.org/drawingml/2006/main">
              <a:ext uri="{FF2B5EF4-FFF2-40B4-BE49-F238E27FC236}">
                <a16:creationId xmlns:a16="http://schemas.microsoft.com/office/drawing/2014/main" id="{A71E0788-C2E6-4E17-BF94-3A82CCBF06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
        <p:nvSpPr>
          <p:cNvPr id="9" name="标题 8">
            <a:extLst xmlns:a="http://schemas.openxmlformats.org/drawingml/2006/main">
              <a:ext uri="{FF2B5EF4-FFF2-40B4-BE49-F238E27FC236}">
                <a16:creationId xmlns:a16="http://schemas.microsoft.com/office/drawing/2014/main" id="{B8EA77D5-8C67-412D-B161-190223C31F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Tree>
  </p:cSld>
</p:sldLayout>
</file>

<file path=ppt/slideLayouts/slideLayout9.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A7D0E4E9-274C-4105-AC41-E7040BDB76FD}"/>
              </a:ext>
            </a:extLst>
          </p:cNvPr>
          <p:cNvSpPr>
            <a:spLocks xmlns:a="http://schemas.openxmlformats.org/drawingml/2006/main" noGrp="1"/>
          </p:cNvSpPr>
          <p:nvPr>
            <p:ph type="title" idx="0" hasCustomPrompt="1"/>
          </p:nvPr>
        </p:nvSpPr>
        <p:spPr>
          <a:xfrm xmlns:a="http://schemas.openxmlformats.org/drawingml/2006/main">
            <a:off x="10234800" y="914400"/>
            <a:ext cx="1044000" cy="5029200"/>
          </a:xfrm>
        </p:spPr>
        <p:txBody>
          <a:bodyPr xmlns:a="http://schemas.openxmlformats.org/drawingml/2006/main" vert="eaVert" lIns="90000" tIns="46800" rIns="90000" bIns="46800" anchor="ctr">
            <a:normAutofit/>
          </a:bodyPr>
          <a:lstStyle xmlns:a="http://schemas.openxmlformats.org/drawingml/2006/main">
            <a:lvl1pPr>
              <a:buNone/>
              <a:defRPr sz="2800"/>
            </a:lvl1pPr>
          </a:lstStyle>
          <a:p xmlns:a="http://schemas.openxmlformats.org/drawingml/2006/main">
            <a:pPr lvl="0">
              <a:buNone/>
            </a:pPr>
            <a:r>
              <a:t>单击此处编辑标题</a:t>
            </a:r>
          </a:p>
        </p:txBody>
      </p:sp>
      <p:sp>
        <p:nvSpPr>
          <p:cNvPr id="3" name="竖排文字占位符 2">
            <a:extLst xmlns:a="http://schemas.openxmlformats.org/drawingml/2006/main">
              <a:ext uri="{FF2B5EF4-FFF2-40B4-BE49-F238E27FC236}">
                <a16:creationId xmlns:a16="http://schemas.microsoft.com/office/drawing/2014/main" id="{1D1E4D00-5700-495E-B227-9F43E18F5856}"/>
              </a:ext>
            </a:extLst>
          </p:cNvPr>
          <p:cNvSpPr>
            <a:spLocks xmlns:a="http://schemas.openxmlformats.org/drawingml/2006/main" noGrp="1"/>
          </p:cNvSpPr>
          <p:nvPr>
            <p:ph type="body" idx="1"/>
          </p:nvPr>
        </p:nvSpPr>
        <p:spPr>
          <a:xfrm xmlns:a="http://schemas.openxmlformats.org/drawingml/2006/main">
            <a:off x="914400" y="914400"/>
            <a:ext cx="9169200" cy="5029200"/>
          </a:xfrm>
        </p:spPr>
        <p:txBody>
          <a:bodyPr xmlns:a="http://schemas.openxmlformats.org/drawingml/2006/main" vert="eaVert" lIns="46800" tIns="46800" rIns="46800" bIns="46800"/>
          <a:lstStyle xmlns:a="http://schemas.openxmlformats.org/drawingml/2006/main">
            <a:lvl1pPr marL="228600" indent="-228600">
              <a:spcAft>
                <a:spcPts val="1000"/>
              </a:spcAft>
              <a:buNone/>
              <a:defRPr spc="300"/>
            </a:lvl1pPr>
            <a:lvl2pPr marL="685800" indent="-228600">
              <a:buNone/>
              <a:defRPr spc="300"/>
            </a:lvl2pPr>
            <a:lvl3pPr marL="1143000" indent="-228600">
              <a:buNone/>
              <a:defRPr spc="300"/>
            </a:lvl3pPr>
            <a:lvl4pPr marL="1600200" indent="-228600">
              <a:buNone/>
              <a:defRPr spc="300"/>
            </a:lvl4pPr>
            <a:lvl5pPr marL="2057400" indent="-228600">
              <a:buNone/>
              <a:defRPr spc="300"/>
            </a:lvl5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B6EEEA63-00D3-4BEE-A7DE-00097BBE3E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991791D3-DDA6-4859-9120-E5C157742C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F1862742-6454-4695-89D3-902BD44F0F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preserve="1" userDrawn="1">
  <p:cSld name="内容">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6ED256D2-EDB1-40A7-AA58-F0E1EBC8A6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4B1C7234-D771-4FC5-9DB1-EF12E1A3EF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4963D169-2F63-42AF-A419-88735498458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
        <p:nvSpPr>
          <p:cNvPr id="7" name="内容占位符 6">
            <a:extLst xmlns:a="http://schemas.openxmlformats.org/drawingml/2006/main">
              <a:ext uri="{FF2B5EF4-FFF2-40B4-BE49-F238E27FC236}">
                <a16:creationId xmlns:a16="http://schemas.microsoft.com/office/drawing/2014/main" id="{3DCBC78C-8966-4685-84CC-53A1BD1AF940}"/>
              </a:ext>
            </a:extLst>
          </p:cNvPr>
          <p:cNvSpPr>
            <a:spLocks xmlns:a="http://schemas.openxmlformats.org/drawingml/2006/main" noGrp="1"/>
          </p:cNvSpPr>
          <p:nvPr>
            <p:ph idx="13"/>
          </p:nvPr>
        </p:nvSpPr>
        <p:spPr>
          <a:xfrm xmlns:a="http://schemas.openxmlformats.org/drawingml/2006/main">
            <a:off x="608400" y="774000"/>
            <a:ext cx="10972800" cy="5482800"/>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Tree>
  </p:cSld>
</p:sldLayout>
</file>

<file path=ppt/slideLayouts/slideLayout11.xml><?xml version="1.0" encoding="utf-8"?>
<p:sldLayout xmlns:p="http://schemas.openxmlformats.org/presentationml/2006/main" preserve="1" userDrawn="1">
  <p:cSld name="末尾幻灯片">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C22B1B53-8A64-4903-8622-393CD3938AE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4D922597-AF0D-418C-91EC-4DB50C14B76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FAA7A7D6-B589-490A-B076-DF55872FC0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
        <p:nvSpPr>
          <p:cNvPr id="2" name="标题 1">
            <a:extLst xmlns:a="http://schemas.openxmlformats.org/drawingml/2006/main">
              <a:ext uri="{FF2B5EF4-FFF2-40B4-BE49-F238E27FC236}">
                <a16:creationId xmlns:a16="http://schemas.microsoft.com/office/drawing/2014/main" id="{AF691420-9AC5-40E8-ABED-B094EA6FD06E}"/>
              </a:ext>
            </a:extLst>
          </p:cNvPr>
          <p:cNvSpPr>
            <a:spLocks xmlns:a="http://schemas.openxmlformats.org/drawingml/2006/main" noGrp="1"/>
          </p:cNvSpPr>
          <p:nvPr>
            <p:ph type="title" idx="0" hasCustomPrompt="1"/>
          </p:nvPr>
        </p:nvSpPr>
        <p:spPr>
          <a:xfrm xmlns:a="http://schemas.openxmlformats.org/drawingml/2006/main">
            <a:off x="1198800" y="2484000"/>
            <a:ext cx="9799200" cy="1018800"/>
          </a:xfrm>
        </p:spPr>
        <p:txBody>
          <a:bodyPr xmlns:a="http://schemas.openxmlformats.org/drawingml/2006/main" vert="horz" lIns="90000" tIns="46800" rIns="90000" bIns="46800" anchor="t">
            <a:normAutofit/>
          </a:bodyPr>
          <a:lstStyle xmlns:a="http://schemas.openxmlformats.org/drawingml/2006/main">
            <a:lvl1pPr algn="ctr">
              <a:buNone/>
              <a:defRPr sz="6000"/>
            </a:lvl1pPr>
          </a:lstStyle>
          <a:p xmlns:a="http://schemas.openxmlformats.org/drawingml/2006/main">
            <a:pPr lvl="0">
              <a:buNone/>
            </a:pPr>
            <a:r>
              <a:t>单击此处编辑标题</a:t>
            </a:r>
          </a:p>
        </p:txBody>
      </p:sp>
      <p:sp>
        <p:nvSpPr>
          <p:cNvPr id="7" name="文本占位符 6">
            <a:extLst xmlns:a="http://schemas.openxmlformats.org/drawingml/2006/main">
              <a:ext uri="{FF2B5EF4-FFF2-40B4-BE49-F238E27FC236}">
                <a16:creationId xmlns:a16="http://schemas.microsoft.com/office/drawing/2014/main" id="{8F7D3096-CF53-4507-95F0-0EAAD746A607}"/>
              </a:ext>
            </a:extLst>
          </p:cNvPr>
          <p:cNvSpPr>
            <a:spLocks xmlns:a="http://schemas.openxmlformats.org/drawingml/2006/main" noGrp="1"/>
          </p:cNvSpPr>
          <p:nvPr>
            <p:ph type="body" idx="13"/>
          </p:nvPr>
        </p:nvSpPr>
        <p:spPr>
          <a:xfrm xmlns:a="http://schemas.openxmlformats.org/drawingml/2006/main">
            <a:off x="1198800" y="3560400"/>
            <a:ext cx="9799200" cy="471600"/>
          </a:xfrm>
        </p:spPr>
        <p:txBody>
          <a:bodyPr xmlns:a="http://schemas.openxmlformats.org/drawingml/2006/main" lIns="90000" tIns="46800" rIns="90000" bIns="46800">
            <a:normAutofit/>
          </a:bodyPr>
          <a:lstStyle xmlns:a="http://schemas.openxmlformats.org/drawingml/2006/main">
            <a:lvl1pPr algn="ctr">
              <a:lnSpc>
                <a:spcPct val="110000"/>
              </a:lnSpc>
              <a:buNone/>
              <a:defRPr sz="2400" spc="200"/>
            </a:lvl1pPr>
          </a:lstStyle>
          <a:p xmlns:a="http://schemas.openxmlformats.org/drawingml/2006/main">
            <a:pPr lvl="0">
              <a:buNone/>
            </a:pPr>
            <a:r>
              <a:t>单击此处编辑母版文本样式</a:t>
            </a:r>
          </a:p>
        </p:txBody>
      </p:sp>
    </p:spTree>
  </p:cSld>
</p:sldLayout>
</file>

<file path=ppt/slideLayouts/slideLayout12.xml><?xml version="1.0" encoding="utf-8"?>
<p:sldLayout xmlns:p="http://schemas.openxmlformats.org/presentationml/2006/main">
  <p:cSld name="自定义版式">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D21A432-9604-44C6-A0CF-DF00EBB411BE}"/>
              </a:ext>
            </a:extLst>
          </p:cNvPr>
          <p:cNvSpPr>
            <a:spLocks xmlns:a="http://schemas.openxmlformats.org/drawingml/2006/main" noGrp="1"/>
          </p:cNvSpPr>
          <p:nvPr>
            <p:ph type="title" idx="0"/>
          </p:nvPr>
        </p:nvSpPr>
        <p:spPr>
          <a:xfrm xmlns:a="http://schemas.openxmlformats.org/drawingml/2006/main">
            <a:off x="143503" y="303690"/>
            <a:ext cx="10972800" cy="562146"/>
          </a:xfrm>
          <a:prstGeom xmlns:a="http://schemas.openxmlformats.org/drawingml/2006/main" prst="rect">
            <a:avLst/>
          </a:prstGeom>
        </p:spPr>
        <p:txBody>
          <a:bodyPr xmlns:a="http://schemas.openxmlformats.org/drawingml/2006/main">
            <a:noAutofit/>
          </a:bodyPr>
          <a:lstStyle xmlns:a="http://schemas.openxmlformats.org/drawingml/2006/main">
            <a:lvl1pPr>
              <a:buNone/>
              <a:defRPr sz="2400" b="0">
                <a:latin typeface="微软雅黑"/>
                <a:ea typeface="微软雅黑"/>
                <a:cs typeface="微软雅黑"/>
              </a:defRPr>
            </a:lvl1pPr>
          </a:lstStyle>
          <a:p xmlns:a="http://schemas.openxmlformats.org/drawingml/2006/main">
            <a:r>
              <a:t>单击此处编辑母版标题样式</a:t>
            </a:r>
          </a:p>
        </p:txBody>
      </p:sp>
      <p:sp>
        <p:nvSpPr>
          <p:cNvPr id="6" name="日期占位符 1">
            <a:extLst xmlns:a="http://schemas.openxmlformats.org/drawingml/2006/main">
              <a:ext uri="{FF2B5EF4-FFF2-40B4-BE49-F238E27FC236}">
                <a16:creationId xmlns:a16="http://schemas.microsoft.com/office/drawing/2014/main" id="{0A969C48-0B11-447C-A244-D1C189B2C996}"/>
              </a:ext>
            </a:extLst>
          </p:cNvPr>
          <p:cNvSpPr>
            <a:spLocks xmlns:a="http://schemas.openxmlformats.org/drawingml/2006/main" noGrp="1"/>
          </p:cNvSpPr>
          <p:nvPr>
            <p:ph type="dt" idx="10"/>
          </p:nvPr>
        </p:nvSpPr>
        <p:spPr>
          <a:xfrm xmlns:a="http://schemas.openxmlformats.org/drawingml/2006/main">
            <a:off x="8969375" y="6408739"/>
            <a:ext cx="2560639" cy="365125"/>
          </a:xfrm>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ct val="0"/>
              </a:spcBef>
              <a:spcAft>
                <a:spcPct val="0"/>
              </a:spcAft>
              <a:buClrTx/>
              <a:buSzTx/>
              <a:buFont typeface="Arial"/>
              <a:buNone/>
            </a:pPr>
          </a:p>
        </p:txBody>
      </p:sp>
      <p:sp>
        <p:nvSpPr>
          <p:cNvPr id="7" name="页脚占位符 2">
            <a:extLst xmlns:a="http://schemas.openxmlformats.org/drawingml/2006/main">
              <a:ext uri="{FF2B5EF4-FFF2-40B4-BE49-F238E27FC236}">
                <a16:creationId xmlns:a16="http://schemas.microsoft.com/office/drawing/2014/main" id="{E9C27DB2-B6DC-4314-9762-B8270D023FA1}"/>
              </a:ext>
            </a:extLst>
          </p:cNvPr>
          <p:cNvSpPr>
            <a:spLocks xmlns:a="http://schemas.openxmlformats.org/drawingml/2006/main" noGrp="1"/>
          </p:cNvSpPr>
          <p:nvPr>
            <p:ph type="ftr" idx="11"/>
          </p:nvPr>
        </p:nvSpPr>
        <p:spPr>
          <a:xfrm xmlns:a="http://schemas.openxmlformats.org/drawingml/2006/main">
            <a:off x="5840413" y="6408739"/>
            <a:ext cx="3133725" cy="36512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ct val="0"/>
              </a:spcBef>
              <a:spcAft>
                <a:spcPct val="0"/>
              </a:spcAft>
              <a:buClrTx/>
              <a:buSzTx/>
              <a:buFont typeface="Arial"/>
              <a:buNone/>
            </a:pPr>
          </a:p>
        </p:txBody>
      </p:sp>
      <p:sp>
        <p:nvSpPr>
          <p:cNvPr id="8" name="灯片编号占位符 3">
            <a:extLst xmlns:a="http://schemas.openxmlformats.org/drawingml/2006/main">
              <a:ext uri="{FF2B5EF4-FFF2-40B4-BE49-F238E27FC236}">
                <a16:creationId xmlns:a16="http://schemas.microsoft.com/office/drawing/2014/main" id="{0FC02E4D-8188-438B-9BE0-3EC96D72D623}"/>
              </a:ext>
            </a:extLst>
          </p:cNvPr>
          <p:cNvSpPr>
            <a:spLocks xmlns:a="http://schemas.openxmlformats.org/drawingml/2006/main" noGrp="1"/>
          </p:cNvSpPr>
          <p:nvPr>
            <p:ph type="sldNum" idx="12"/>
          </p:nvPr>
        </p:nvSpPr>
        <p:spPr>
          <a:xfrm xmlns:a="http://schemas.openxmlformats.org/drawingml/2006/main">
            <a:off x="11530013" y="6408739"/>
            <a:ext cx="487363" cy="365125"/>
          </a:xfrm>
        </p:spPr>
        <p:txBody>
          <a:bodyPr xmlns:a="http://schemas.openxmlformats.org/drawingml/2006/main"/>
          <a:lstStyle xmlns:a="http://schemas.openxmlformats.org/drawingml/2006/main"/>
          <a:p xmlns:a="http://schemas.openxmlformats.org/drawingml/2006/main">
            <a:pPr lvl="0">
              <a:buNone/>
            </a:pPr>
          </a:p>
        </p:txBody>
      </p:sp>
      <p:sp>
        <p:nvSpPr>
          <p:cNvPr id="9" name="直接连接符 4">
            <a:extLst xmlns:a="http://schemas.openxmlformats.org/drawingml/2006/main">
              <a:ext uri="{FF2B5EF4-FFF2-40B4-BE49-F238E27FC236}">
                <a16:creationId xmlns:a16="http://schemas.microsoft.com/office/drawing/2014/main" id="{59BA6B9F-1CF3-44CA-8056-AAB916229CD0}"/>
              </a:ext>
            </a:extLst>
          </p:cNvPr>
          <p:cNvSpPr>
            <a:spLocks xmlns:a="http://schemas.openxmlformats.org/drawingml/2006/main" noGrp="1"/>
          </p:cNvSpPr>
          <p:nvPr/>
        </p:nvSpPr>
        <p:spPr>
          <a:xfrm xmlns:a="http://schemas.openxmlformats.org/drawingml/2006/main" flipH="1">
            <a:off x="143503" y="6480174"/>
            <a:ext cx="11907208" cy="1"/>
          </a:xfrm>
          <a:prstGeom xmlns:a="http://schemas.openxmlformats.org/drawingml/2006/main" prst="line">
            <a:avLst/>
          </a:prstGeom>
          <a:ln xmlns:a="http://schemas.openxmlformats.org/drawingml/2006/main" w="15875" cmpd="sng">
            <a:gradFill>
              <a:gsLst>
                <a:gs pos="0">
                  <a:schemeClr val="accent1">
                    <a:lumMod val="5000"/>
                    <a:lumOff val="95000"/>
                  </a:schemeClr>
                </a:gs>
                <a:gs pos="74000">
                  <a:schemeClr val="accent1">
                    <a:lumMod val="45000"/>
                    <a:lumOff val="55000"/>
                  </a:schemeClr>
                </a:gs>
                <a:gs pos="83000">
                  <a:srgbClr val="41AAD6">
                    <a:alpha val="79000"/>
                  </a:srgbClr>
                </a:gs>
                <a:gs pos="100000">
                  <a:srgbClr val="41AAD6"/>
                </a:gs>
              </a:gsLst>
              <a:lin ang="5400000" scaled="1"/>
            </a:gradFill>
            <a:prstDash val="solid"/>
            <a:headEnd type="none" w="med" len="med"/>
            <a:tailEnd type="none" w="med" len="med"/>
          </a:ln>
        </p:spPr>
      </p:sp>
      <p:sp>
        <p:nvSpPr>
          <p:cNvPr id="10" name="Freeform 5">
            <a:extLst xmlns:a="http://schemas.openxmlformats.org/drawingml/2006/main">
              <a:ext uri="{FF2B5EF4-FFF2-40B4-BE49-F238E27FC236}">
                <a16:creationId xmlns:a16="http://schemas.microsoft.com/office/drawing/2014/main" id="{BF795A18-7C7D-4CAB-B9A7-1E474CE3C6C2}"/>
              </a:ext>
            </a:extLst>
          </p:cNvPr>
          <p:cNvSpPr>
            <a:spLocks xmlns:a="http://schemas.openxmlformats.org/drawingml/2006/main" noGrp="1"/>
          </p:cNvSpPr>
          <p:nvPr/>
        </p:nvSpPr>
        <p:spPr>
          <a:xfrm xmlns:a="http://schemas.openxmlformats.org/drawingml/2006/main">
            <a:off x="7458076" y="5657851"/>
            <a:ext cx="4252913" cy="822325"/>
          </a:xfrm>
          <a:custGeom xmlns:a="http://schemas.openxmlformats.org/drawingml/2006/main">
            <a:gdLst>
              <a:gd name="txL" fmla="*/ 0 w 8000"/>
              <a:gd name="txT" fmla="*/ 0 h 1542"/>
              <a:gd name="txR" fmla="*/ 8000 w 8000"/>
              <a:gd name="txB" fmla="*/ 1542 h 1542"/>
            </a:gdLst>
            <a:rect l="txL" t="txT" r="txR" b="txB"/>
            <a:pathLst>
              <a:path w="8000" h="1542">
                <a:moveTo>
                  <a:pt x="7978" y="1472"/>
                </a:moveTo>
                <a:cubicBezTo>
                  <a:pt x="7978" y="1462"/>
                  <a:pt x="7978" y="1462"/>
                  <a:pt x="7978" y="1462"/>
                </a:cubicBezTo>
                <a:cubicBezTo>
                  <a:pt x="7966" y="1462"/>
                  <a:pt x="7966" y="1462"/>
                  <a:pt x="7966" y="1462"/>
                </a:cubicBezTo>
                <a:cubicBezTo>
                  <a:pt x="7966" y="1436"/>
                  <a:pt x="7966" y="1436"/>
                  <a:pt x="7966" y="1436"/>
                </a:cubicBezTo>
                <a:cubicBezTo>
                  <a:pt x="7955" y="1436"/>
                  <a:pt x="7955" y="1436"/>
                  <a:pt x="7955" y="1436"/>
                </a:cubicBezTo>
                <a:cubicBezTo>
                  <a:pt x="7955" y="1420"/>
                  <a:pt x="7955" y="1420"/>
                  <a:pt x="7955" y="1420"/>
                </a:cubicBezTo>
                <a:cubicBezTo>
                  <a:pt x="7941" y="1420"/>
                  <a:pt x="7941" y="1420"/>
                  <a:pt x="7941" y="1420"/>
                </a:cubicBezTo>
                <a:cubicBezTo>
                  <a:pt x="7941" y="1428"/>
                  <a:pt x="7941" y="1428"/>
                  <a:pt x="7941" y="1428"/>
                </a:cubicBezTo>
                <a:cubicBezTo>
                  <a:pt x="7933" y="1428"/>
                  <a:pt x="7933" y="1428"/>
                  <a:pt x="7933" y="1428"/>
                </a:cubicBezTo>
                <a:cubicBezTo>
                  <a:pt x="7933" y="1418"/>
                  <a:pt x="7933" y="1418"/>
                  <a:pt x="7933" y="1418"/>
                </a:cubicBezTo>
                <a:cubicBezTo>
                  <a:pt x="7916" y="1418"/>
                  <a:pt x="7916" y="1418"/>
                  <a:pt x="7916" y="1418"/>
                </a:cubicBezTo>
                <a:cubicBezTo>
                  <a:pt x="7916" y="1433"/>
                  <a:pt x="7916" y="1433"/>
                  <a:pt x="7916" y="1433"/>
                </a:cubicBezTo>
                <a:cubicBezTo>
                  <a:pt x="7895" y="1433"/>
                  <a:pt x="7895" y="1433"/>
                  <a:pt x="7895" y="1433"/>
                </a:cubicBezTo>
                <a:cubicBezTo>
                  <a:pt x="7895" y="1335"/>
                  <a:pt x="7895" y="1335"/>
                  <a:pt x="7895" y="1335"/>
                </a:cubicBezTo>
                <a:cubicBezTo>
                  <a:pt x="7879" y="1335"/>
                  <a:pt x="7879" y="1335"/>
                  <a:pt x="7879" y="1335"/>
                </a:cubicBezTo>
                <a:cubicBezTo>
                  <a:pt x="7855" y="1316"/>
                  <a:pt x="7855" y="1316"/>
                  <a:pt x="7855" y="1316"/>
                </a:cubicBezTo>
                <a:cubicBezTo>
                  <a:pt x="7855" y="1300"/>
                  <a:pt x="7855" y="1300"/>
                  <a:pt x="7855" y="1300"/>
                </a:cubicBezTo>
                <a:cubicBezTo>
                  <a:pt x="7843" y="1300"/>
                  <a:pt x="7843" y="1300"/>
                  <a:pt x="7843" y="1300"/>
                </a:cubicBezTo>
                <a:cubicBezTo>
                  <a:pt x="7843" y="1315"/>
                  <a:pt x="7843" y="1315"/>
                  <a:pt x="7843" y="1315"/>
                </a:cubicBezTo>
                <a:cubicBezTo>
                  <a:pt x="7832" y="1315"/>
                  <a:pt x="7832" y="1315"/>
                  <a:pt x="7832" y="1315"/>
                </a:cubicBezTo>
                <a:cubicBezTo>
                  <a:pt x="7832" y="1300"/>
                  <a:pt x="7832" y="1300"/>
                  <a:pt x="7832" y="1300"/>
                </a:cubicBezTo>
                <a:cubicBezTo>
                  <a:pt x="7821" y="1300"/>
                  <a:pt x="7821" y="1300"/>
                  <a:pt x="7821" y="1300"/>
                </a:cubicBezTo>
                <a:cubicBezTo>
                  <a:pt x="7821" y="1315"/>
                  <a:pt x="7821" y="1315"/>
                  <a:pt x="7821" y="1315"/>
                </a:cubicBezTo>
                <a:cubicBezTo>
                  <a:pt x="7806" y="1335"/>
                  <a:pt x="7806" y="1335"/>
                  <a:pt x="7806" y="1335"/>
                </a:cubicBezTo>
                <a:cubicBezTo>
                  <a:pt x="7789" y="1335"/>
                  <a:pt x="7789" y="1335"/>
                  <a:pt x="7789" y="1335"/>
                </a:cubicBezTo>
                <a:cubicBezTo>
                  <a:pt x="7789" y="1436"/>
                  <a:pt x="7789" y="1436"/>
                  <a:pt x="7789" y="1436"/>
                </a:cubicBezTo>
                <a:cubicBezTo>
                  <a:pt x="7749" y="1436"/>
                  <a:pt x="7749" y="1436"/>
                  <a:pt x="7749" y="1436"/>
                </a:cubicBezTo>
                <a:cubicBezTo>
                  <a:pt x="7749" y="1345"/>
                  <a:pt x="7749" y="1345"/>
                  <a:pt x="7749" y="1345"/>
                </a:cubicBezTo>
                <a:cubicBezTo>
                  <a:pt x="7738" y="1345"/>
                  <a:pt x="7738" y="1345"/>
                  <a:pt x="7738" y="1345"/>
                </a:cubicBezTo>
                <a:cubicBezTo>
                  <a:pt x="7738" y="1352"/>
                  <a:pt x="7738" y="1352"/>
                  <a:pt x="7738" y="1352"/>
                </a:cubicBezTo>
                <a:cubicBezTo>
                  <a:pt x="7724" y="1352"/>
                  <a:pt x="7724" y="1352"/>
                  <a:pt x="7724" y="1352"/>
                </a:cubicBezTo>
                <a:cubicBezTo>
                  <a:pt x="7724" y="1337"/>
                  <a:pt x="7724" y="1337"/>
                  <a:pt x="7724" y="1337"/>
                </a:cubicBezTo>
                <a:cubicBezTo>
                  <a:pt x="7713" y="1337"/>
                  <a:pt x="7713" y="1337"/>
                  <a:pt x="7713" y="1337"/>
                </a:cubicBezTo>
                <a:cubicBezTo>
                  <a:pt x="7713" y="1321"/>
                  <a:pt x="7713" y="1321"/>
                  <a:pt x="7713" y="1321"/>
                </a:cubicBezTo>
                <a:cubicBezTo>
                  <a:pt x="7697" y="1321"/>
                  <a:pt x="7697" y="1321"/>
                  <a:pt x="7697" y="1321"/>
                </a:cubicBezTo>
                <a:cubicBezTo>
                  <a:pt x="7697" y="1336"/>
                  <a:pt x="7697" y="1336"/>
                  <a:pt x="7697" y="1336"/>
                </a:cubicBezTo>
                <a:cubicBezTo>
                  <a:pt x="7687" y="1336"/>
                  <a:pt x="7687" y="1336"/>
                  <a:pt x="7687" y="1336"/>
                </a:cubicBezTo>
                <a:cubicBezTo>
                  <a:pt x="7687" y="1324"/>
                  <a:pt x="7687" y="1324"/>
                  <a:pt x="7687" y="1324"/>
                </a:cubicBezTo>
                <a:cubicBezTo>
                  <a:pt x="7673" y="1324"/>
                  <a:pt x="7673" y="1324"/>
                  <a:pt x="7673" y="1324"/>
                </a:cubicBezTo>
                <a:cubicBezTo>
                  <a:pt x="7673" y="1336"/>
                  <a:pt x="7673" y="1336"/>
                  <a:pt x="7673" y="1336"/>
                </a:cubicBezTo>
                <a:cubicBezTo>
                  <a:pt x="7659" y="1336"/>
                  <a:pt x="7659" y="1336"/>
                  <a:pt x="7659" y="1336"/>
                </a:cubicBezTo>
                <a:cubicBezTo>
                  <a:pt x="7659" y="1326"/>
                  <a:pt x="7659" y="1326"/>
                  <a:pt x="7659" y="1326"/>
                </a:cubicBezTo>
                <a:cubicBezTo>
                  <a:pt x="7645" y="1326"/>
                  <a:pt x="7645" y="1326"/>
                  <a:pt x="7645" y="1326"/>
                </a:cubicBezTo>
                <a:cubicBezTo>
                  <a:pt x="7645" y="1356"/>
                  <a:pt x="7645" y="1356"/>
                  <a:pt x="7645" y="1356"/>
                </a:cubicBezTo>
                <a:cubicBezTo>
                  <a:pt x="7616" y="1356"/>
                  <a:pt x="7616" y="1356"/>
                  <a:pt x="7616" y="1356"/>
                </a:cubicBezTo>
                <a:cubicBezTo>
                  <a:pt x="7616" y="1439"/>
                  <a:pt x="7616" y="1439"/>
                  <a:pt x="7616" y="1439"/>
                </a:cubicBezTo>
                <a:cubicBezTo>
                  <a:pt x="7581" y="1439"/>
                  <a:pt x="7581" y="1439"/>
                  <a:pt x="7581" y="1439"/>
                </a:cubicBezTo>
                <a:cubicBezTo>
                  <a:pt x="7581" y="1337"/>
                  <a:pt x="7581" y="1337"/>
                  <a:pt x="7581" y="1337"/>
                </a:cubicBezTo>
                <a:cubicBezTo>
                  <a:pt x="7557" y="1337"/>
                  <a:pt x="7557" y="1337"/>
                  <a:pt x="7557" y="1337"/>
                </a:cubicBezTo>
                <a:cubicBezTo>
                  <a:pt x="7538" y="1313"/>
                  <a:pt x="7538" y="1313"/>
                  <a:pt x="7538" y="1313"/>
                </a:cubicBezTo>
                <a:cubicBezTo>
                  <a:pt x="7497" y="1313"/>
                  <a:pt x="7497" y="1313"/>
                  <a:pt x="7497" y="1313"/>
                </a:cubicBezTo>
                <a:cubicBezTo>
                  <a:pt x="7497" y="1416"/>
                  <a:pt x="7497" y="1416"/>
                  <a:pt x="7497" y="1416"/>
                </a:cubicBezTo>
                <a:cubicBezTo>
                  <a:pt x="7483" y="1416"/>
                  <a:pt x="7483" y="1416"/>
                  <a:pt x="7483" y="1416"/>
                </a:cubicBezTo>
                <a:cubicBezTo>
                  <a:pt x="7483" y="1314"/>
                  <a:pt x="7483" y="1314"/>
                  <a:pt x="7483" y="1314"/>
                </a:cubicBezTo>
                <a:cubicBezTo>
                  <a:pt x="7465" y="1285"/>
                  <a:pt x="7465" y="1285"/>
                  <a:pt x="7465" y="1285"/>
                </a:cubicBezTo>
                <a:cubicBezTo>
                  <a:pt x="7452" y="1285"/>
                  <a:pt x="7452" y="1285"/>
                  <a:pt x="7452" y="1285"/>
                </a:cubicBezTo>
                <a:cubicBezTo>
                  <a:pt x="7452" y="1291"/>
                  <a:pt x="7452" y="1291"/>
                  <a:pt x="7452" y="1291"/>
                </a:cubicBezTo>
                <a:cubicBezTo>
                  <a:pt x="7441" y="1291"/>
                  <a:pt x="7441" y="1291"/>
                  <a:pt x="7441" y="1291"/>
                </a:cubicBezTo>
                <a:cubicBezTo>
                  <a:pt x="7441" y="1287"/>
                  <a:pt x="7441" y="1287"/>
                  <a:pt x="7441" y="1287"/>
                </a:cubicBezTo>
                <a:cubicBezTo>
                  <a:pt x="7430" y="1287"/>
                  <a:pt x="7430" y="1287"/>
                  <a:pt x="7430" y="1287"/>
                </a:cubicBezTo>
                <a:cubicBezTo>
                  <a:pt x="7430" y="1301"/>
                  <a:pt x="7430" y="1301"/>
                  <a:pt x="7430" y="1301"/>
                </a:cubicBezTo>
                <a:cubicBezTo>
                  <a:pt x="7383" y="1301"/>
                  <a:pt x="7383" y="1301"/>
                  <a:pt x="7383" y="1301"/>
                </a:cubicBezTo>
                <a:cubicBezTo>
                  <a:pt x="7383" y="1286"/>
                  <a:pt x="7383" y="1286"/>
                  <a:pt x="7383" y="1286"/>
                </a:cubicBezTo>
                <a:cubicBezTo>
                  <a:pt x="7370" y="1261"/>
                  <a:pt x="7370" y="1261"/>
                  <a:pt x="7370" y="1261"/>
                </a:cubicBezTo>
                <a:cubicBezTo>
                  <a:pt x="7326" y="1261"/>
                  <a:pt x="7326" y="1261"/>
                  <a:pt x="7326" y="1261"/>
                </a:cubicBezTo>
                <a:cubicBezTo>
                  <a:pt x="7326" y="1286"/>
                  <a:pt x="7326" y="1286"/>
                  <a:pt x="7326" y="1286"/>
                </a:cubicBezTo>
                <a:cubicBezTo>
                  <a:pt x="7297" y="1286"/>
                  <a:pt x="7297" y="1286"/>
                  <a:pt x="7297" y="1286"/>
                </a:cubicBezTo>
                <a:cubicBezTo>
                  <a:pt x="7297" y="1303"/>
                  <a:pt x="7297" y="1303"/>
                  <a:pt x="7297" y="1303"/>
                </a:cubicBezTo>
                <a:cubicBezTo>
                  <a:pt x="7292" y="1303"/>
                  <a:pt x="7292" y="1303"/>
                  <a:pt x="7292" y="1303"/>
                </a:cubicBezTo>
                <a:cubicBezTo>
                  <a:pt x="7292" y="1358"/>
                  <a:pt x="7292" y="1358"/>
                  <a:pt x="7292" y="1358"/>
                </a:cubicBezTo>
                <a:cubicBezTo>
                  <a:pt x="7281" y="1358"/>
                  <a:pt x="7281" y="1358"/>
                  <a:pt x="7281" y="1358"/>
                </a:cubicBezTo>
                <a:cubicBezTo>
                  <a:pt x="7281" y="1302"/>
                  <a:pt x="7281" y="1302"/>
                  <a:pt x="7281" y="1302"/>
                </a:cubicBezTo>
                <a:cubicBezTo>
                  <a:pt x="7273" y="1302"/>
                  <a:pt x="7273" y="1302"/>
                  <a:pt x="7273" y="1302"/>
                </a:cubicBezTo>
                <a:cubicBezTo>
                  <a:pt x="7273" y="1279"/>
                  <a:pt x="7273" y="1279"/>
                  <a:pt x="7273" y="1279"/>
                </a:cubicBezTo>
                <a:cubicBezTo>
                  <a:pt x="7210" y="1279"/>
                  <a:pt x="7210" y="1279"/>
                  <a:pt x="7210" y="1279"/>
                </a:cubicBezTo>
                <a:cubicBezTo>
                  <a:pt x="7210" y="1303"/>
                  <a:pt x="7210" y="1303"/>
                  <a:pt x="7210" y="1303"/>
                </a:cubicBezTo>
                <a:cubicBezTo>
                  <a:pt x="7179" y="1303"/>
                  <a:pt x="7179" y="1303"/>
                  <a:pt x="7179" y="1303"/>
                </a:cubicBezTo>
                <a:cubicBezTo>
                  <a:pt x="7179" y="1323"/>
                  <a:pt x="7179" y="1323"/>
                  <a:pt x="7179" y="1323"/>
                </a:cubicBezTo>
                <a:cubicBezTo>
                  <a:pt x="7170" y="1323"/>
                  <a:pt x="7170" y="1323"/>
                  <a:pt x="7170" y="1323"/>
                </a:cubicBezTo>
                <a:cubicBezTo>
                  <a:pt x="7170" y="1352"/>
                  <a:pt x="7170" y="1352"/>
                  <a:pt x="7170" y="1352"/>
                </a:cubicBezTo>
                <a:cubicBezTo>
                  <a:pt x="7090" y="1352"/>
                  <a:pt x="7090" y="1352"/>
                  <a:pt x="7090" y="1352"/>
                </a:cubicBezTo>
                <a:cubicBezTo>
                  <a:pt x="7090" y="1362"/>
                  <a:pt x="7090" y="1362"/>
                  <a:pt x="7090" y="1362"/>
                </a:cubicBezTo>
                <a:cubicBezTo>
                  <a:pt x="7069" y="1362"/>
                  <a:pt x="7069" y="1362"/>
                  <a:pt x="7069" y="1362"/>
                </a:cubicBezTo>
                <a:cubicBezTo>
                  <a:pt x="7069" y="1308"/>
                  <a:pt x="7069" y="1308"/>
                  <a:pt x="7069" y="1308"/>
                </a:cubicBezTo>
                <a:cubicBezTo>
                  <a:pt x="7036" y="1308"/>
                  <a:pt x="7036" y="1308"/>
                  <a:pt x="7036" y="1308"/>
                </a:cubicBezTo>
                <a:cubicBezTo>
                  <a:pt x="7036" y="1291"/>
                  <a:pt x="7036" y="1291"/>
                  <a:pt x="7036" y="1291"/>
                </a:cubicBezTo>
                <a:cubicBezTo>
                  <a:pt x="7010" y="1291"/>
                  <a:pt x="7010" y="1291"/>
                  <a:pt x="7010" y="1291"/>
                </a:cubicBezTo>
                <a:cubicBezTo>
                  <a:pt x="7010" y="1305"/>
                  <a:pt x="7010" y="1305"/>
                  <a:pt x="7010" y="1305"/>
                </a:cubicBezTo>
                <a:cubicBezTo>
                  <a:pt x="6993" y="1305"/>
                  <a:pt x="6993" y="1305"/>
                  <a:pt x="6993" y="1305"/>
                </a:cubicBezTo>
                <a:cubicBezTo>
                  <a:pt x="6993" y="1400"/>
                  <a:pt x="6993" y="1400"/>
                  <a:pt x="6993" y="1400"/>
                </a:cubicBezTo>
                <a:cubicBezTo>
                  <a:pt x="6972" y="1400"/>
                  <a:pt x="6972" y="1400"/>
                  <a:pt x="6972" y="1400"/>
                </a:cubicBezTo>
                <a:cubicBezTo>
                  <a:pt x="6972" y="1391"/>
                  <a:pt x="6972" y="1391"/>
                  <a:pt x="6972" y="1391"/>
                </a:cubicBezTo>
                <a:cubicBezTo>
                  <a:pt x="6952" y="1391"/>
                  <a:pt x="6952" y="1391"/>
                  <a:pt x="6952" y="1391"/>
                </a:cubicBezTo>
                <a:cubicBezTo>
                  <a:pt x="6952" y="1405"/>
                  <a:pt x="6952" y="1405"/>
                  <a:pt x="6952" y="1405"/>
                </a:cubicBezTo>
                <a:cubicBezTo>
                  <a:pt x="6936" y="1405"/>
                  <a:pt x="6936" y="1405"/>
                  <a:pt x="6936" y="1405"/>
                </a:cubicBezTo>
                <a:cubicBezTo>
                  <a:pt x="6936" y="1375"/>
                  <a:pt x="6936" y="1375"/>
                  <a:pt x="6936" y="1375"/>
                </a:cubicBezTo>
                <a:cubicBezTo>
                  <a:pt x="6922" y="1375"/>
                  <a:pt x="6922" y="1375"/>
                  <a:pt x="6922" y="1375"/>
                </a:cubicBezTo>
                <a:cubicBezTo>
                  <a:pt x="6922" y="1357"/>
                  <a:pt x="6922" y="1357"/>
                  <a:pt x="6922" y="1357"/>
                </a:cubicBezTo>
                <a:cubicBezTo>
                  <a:pt x="6906" y="1357"/>
                  <a:pt x="6906" y="1357"/>
                  <a:pt x="6906" y="1357"/>
                </a:cubicBezTo>
                <a:cubicBezTo>
                  <a:pt x="6886" y="1357"/>
                  <a:pt x="6886" y="1357"/>
                  <a:pt x="6886" y="1357"/>
                </a:cubicBezTo>
                <a:cubicBezTo>
                  <a:pt x="6886" y="1348"/>
                  <a:pt x="6886" y="1348"/>
                  <a:pt x="6886" y="1348"/>
                </a:cubicBezTo>
                <a:cubicBezTo>
                  <a:pt x="6852" y="1348"/>
                  <a:pt x="6852" y="1348"/>
                  <a:pt x="6852" y="1348"/>
                </a:cubicBezTo>
                <a:cubicBezTo>
                  <a:pt x="6852" y="1334"/>
                  <a:pt x="6852" y="1334"/>
                  <a:pt x="6852" y="1334"/>
                </a:cubicBezTo>
                <a:cubicBezTo>
                  <a:pt x="6839" y="1334"/>
                  <a:pt x="6839" y="1334"/>
                  <a:pt x="6839" y="1334"/>
                </a:cubicBezTo>
                <a:cubicBezTo>
                  <a:pt x="6839" y="1344"/>
                  <a:pt x="6839" y="1344"/>
                  <a:pt x="6839" y="1344"/>
                </a:cubicBezTo>
                <a:cubicBezTo>
                  <a:pt x="6786" y="1344"/>
                  <a:pt x="6786" y="1344"/>
                  <a:pt x="6786" y="1344"/>
                </a:cubicBezTo>
                <a:cubicBezTo>
                  <a:pt x="6786" y="1355"/>
                  <a:pt x="6786" y="1355"/>
                  <a:pt x="6786" y="1355"/>
                </a:cubicBezTo>
                <a:cubicBezTo>
                  <a:pt x="6776" y="1355"/>
                  <a:pt x="6776" y="1355"/>
                  <a:pt x="6776" y="1355"/>
                </a:cubicBezTo>
                <a:cubicBezTo>
                  <a:pt x="6776" y="1370"/>
                  <a:pt x="6776" y="1370"/>
                  <a:pt x="6776" y="1370"/>
                </a:cubicBezTo>
                <a:cubicBezTo>
                  <a:pt x="6766" y="1380"/>
                  <a:pt x="6766" y="1380"/>
                  <a:pt x="6766" y="1380"/>
                </a:cubicBezTo>
                <a:cubicBezTo>
                  <a:pt x="6766" y="1411"/>
                  <a:pt x="6766" y="1411"/>
                  <a:pt x="6766" y="1411"/>
                </a:cubicBezTo>
                <a:cubicBezTo>
                  <a:pt x="6755" y="1411"/>
                  <a:pt x="6755" y="1411"/>
                  <a:pt x="6755" y="1411"/>
                </a:cubicBezTo>
                <a:cubicBezTo>
                  <a:pt x="6755" y="1381"/>
                  <a:pt x="6755" y="1381"/>
                  <a:pt x="6755" y="1381"/>
                </a:cubicBezTo>
                <a:cubicBezTo>
                  <a:pt x="6744" y="1367"/>
                  <a:pt x="6744" y="1367"/>
                  <a:pt x="6744" y="1367"/>
                </a:cubicBezTo>
                <a:cubicBezTo>
                  <a:pt x="6744" y="1291"/>
                  <a:pt x="6744" y="1291"/>
                  <a:pt x="6744" y="1291"/>
                </a:cubicBezTo>
                <a:cubicBezTo>
                  <a:pt x="6727" y="1291"/>
                  <a:pt x="6727" y="1291"/>
                  <a:pt x="6727" y="1291"/>
                </a:cubicBezTo>
                <a:cubicBezTo>
                  <a:pt x="6727" y="1217"/>
                  <a:pt x="6727" y="1217"/>
                  <a:pt x="6727" y="1217"/>
                </a:cubicBezTo>
                <a:cubicBezTo>
                  <a:pt x="6670" y="1217"/>
                  <a:pt x="6670" y="1217"/>
                  <a:pt x="6670" y="1217"/>
                </a:cubicBezTo>
                <a:cubicBezTo>
                  <a:pt x="6670" y="1194"/>
                  <a:pt x="6670" y="1194"/>
                  <a:pt x="6670" y="1194"/>
                </a:cubicBezTo>
                <a:cubicBezTo>
                  <a:pt x="6640" y="1194"/>
                  <a:pt x="6640" y="1194"/>
                  <a:pt x="6640" y="1194"/>
                </a:cubicBezTo>
                <a:cubicBezTo>
                  <a:pt x="6640" y="1246"/>
                  <a:pt x="6640" y="1246"/>
                  <a:pt x="6640" y="1246"/>
                </a:cubicBezTo>
                <a:cubicBezTo>
                  <a:pt x="6625" y="1246"/>
                  <a:pt x="6625" y="1246"/>
                  <a:pt x="6625" y="1246"/>
                </a:cubicBezTo>
                <a:cubicBezTo>
                  <a:pt x="6625" y="1229"/>
                  <a:pt x="6625" y="1229"/>
                  <a:pt x="6625" y="1229"/>
                </a:cubicBezTo>
                <a:cubicBezTo>
                  <a:pt x="6625" y="1229"/>
                  <a:pt x="6614" y="1229"/>
                  <a:pt x="6609" y="1229"/>
                </a:cubicBezTo>
                <a:cubicBezTo>
                  <a:pt x="6604" y="1229"/>
                  <a:pt x="6604" y="1246"/>
                  <a:pt x="6604" y="1246"/>
                </a:cubicBezTo>
                <a:cubicBezTo>
                  <a:pt x="6604" y="1293"/>
                  <a:pt x="6604" y="1293"/>
                  <a:pt x="6604" y="1293"/>
                </a:cubicBezTo>
                <a:cubicBezTo>
                  <a:pt x="6562" y="1293"/>
                  <a:pt x="6562" y="1293"/>
                  <a:pt x="6562" y="1293"/>
                </a:cubicBezTo>
                <a:cubicBezTo>
                  <a:pt x="6562" y="1130"/>
                  <a:pt x="6562" y="1130"/>
                  <a:pt x="6562" y="1130"/>
                </a:cubicBezTo>
                <a:cubicBezTo>
                  <a:pt x="6505" y="1130"/>
                  <a:pt x="6505" y="1130"/>
                  <a:pt x="6505" y="1130"/>
                </a:cubicBezTo>
                <a:cubicBezTo>
                  <a:pt x="6505" y="1157"/>
                  <a:pt x="6505" y="1157"/>
                  <a:pt x="6505" y="1157"/>
                </a:cubicBezTo>
                <a:cubicBezTo>
                  <a:pt x="6481" y="1157"/>
                  <a:pt x="6477" y="1169"/>
                  <a:pt x="6477" y="1169"/>
                </a:cubicBezTo>
                <a:cubicBezTo>
                  <a:pt x="6450" y="1169"/>
                  <a:pt x="6450" y="1169"/>
                  <a:pt x="6450" y="1169"/>
                </a:cubicBezTo>
                <a:cubicBezTo>
                  <a:pt x="6450" y="1202"/>
                  <a:pt x="6450" y="1202"/>
                  <a:pt x="6450" y="1202"/>
                </a:cubicBezTo>
                <a:cubicBezTo>
                  <a:pt x="6438" y="1202"/>
                  <a:pt x="6438" y="1202"/>
                  <a:pt x="6438" y="1202"/>
                </a:cubicBezTo>
                <a:cubicBezTo>
                  <a:pt x="6438" y="1333"/>
                  <a:pt x="6438" y="1333"/>
                  <a:pt x="6438" y="1333"/>
                </a:cubicBezTo>
                <a:cubicBezTo>
                  <a:pt x="6414" y="1333"/>
                  <a:pt x="6414" y="1333"/>
                  <a:pt x="6414" y="1333"/>
                </a:cubicBezTo>
                <a:cubicBezTo>
                  <a:pt x="6414" y="1314"/>
                  <a:pt x="6414" y="1314"/>
                  <a:pt x="6414" y="1314"/>
                </a:cubicBezTo>
                <a:cubicBezTo>
                  <a:pt x="6401" y="1301"/>
                  <a:pt x="6401" y="1301"/>
                  <a:pt x="6401" y="1301"/>
                </a:cubicBezTo>
                <a:cubicBezTo>
                  <a:pt x="6394" y="1301"/>
                  <a:pt x="6394" y="1301"/>
                  <a:pt x="6394" y="1301"/>
                </a:cubicBezTo>
                <a:cubicBezTo>
                  <a:pt x="6381" y="1311"/>
                  <a:pt x="6381" y="1311"/>
                  <a:pt x="6381" y="1311"/>
                </a:cubicBezTo>
                <a:cubicBezTo>
                  <a:pt x="6381" y="1078"/>
                  <a:pt x="6381" y="1078"/>
                  <a:pt x="6381" y="1078"/>
                </a:cubicBezTo>
                <a:cubicBezTo>
                  <a:pt x="6322" y="1065"/>
                  <a:pt x="6322" y="1065"/>
                  <a:pt x="6322" y="1065"/>
                </a:cubicBezTo>
                <a:cubicBezTo>
                  <a:pt x="6297" y="1065"/>
                  <a:pt x="6297" y="1065"/>
                  <a:pt x="6297" y="1065"/>
                </a:cubicBezTo>
                <a:cubicBezTo>
                  <a:pt x="6297" y="1080"/>
                  <a:pt x="6297" y="1080"/>
                  <a:pt x="6297" y="1080"/>
                </a:cubicBezTo>
                <a:cubicBezTo>
                  <a:pt x="6280" y="1080"/>
                  <a:pt x="6280" y="1080"/>
                  <a:pt x="6280" y="1080"/>
                </a:cubicBezTo>
                <a:cubicBezTo>
                  <a:pt x="6280" y="1135"/>
                  <a:pt x="6280" y="1135"/>
                  <a:pt x="6280" y="1135"/>
                </a:cubicBezTo>
                <a:cubicBezTo>
                  <a:pt x="6264" y="1135"/>
                  <a:pt x="6264" y="1135"/>
                  <a:pt x="6264" y="1135"/>
                </a:cubicBezTo>
                <a:cubicBezTo>
                  <a:pt x="6264" y="1207"/>
                  <a:pt x="6264" y="1207"/>
                  <a:pt x="6264" y="1207"/>
                </a:cubicBezTo>
                <a:cubicBezTo>
                  <a:pt x="6242" y="1207"/>
                  <a:pt x="6242" y="1207"/>
                  <a:pt x="6242" y="1207"/>
                </a:cubicBezTo>
                <a:cubicBezTo>
                  <a:pt x="6242" y="1181"/>
                  <a:pt x="6242" y="1181"/>
                  <a:pt x="6242" y="1181"/>
                </a:cubicBezTo>
                <a:cubicBezTo>
                  <a:pt x="6214" y="1181"/>
                  <a:pt x="6214" y="1181"/>
                  <a:pt x="6214" y="1181"/>
                </a:cubicBezTo>
                <a:cubicBezTo>
                  <a:pt x="6214" y="1098"/>
                  <a:pt x="6214" y="1098"/>
                  <a:pt x="6214" y="1098"/>
                </a:cubicBezTo>
                <a:cubicBezTo>
                  <a:pt x="6196" y="1098"/>
                  <a:pt x="6196" y="1098"/>
                  <a:pt x="6196" y="1098"/>
                </a:cubicBezTo>
                <a:cubicBezTo>
                  <a:pt x="6196" y="1048"/>
                  <a:pt x="6196" y="1048"/>
                  <a:pt x="6196" y="1048"/>
                </a:cubicBezTo>
                <a:cubicBezTo>
                  <a:pt x="6114" y="1039"/>
                  <a:pt x="6114" y="1039"/>
                  <a:pt x="6114" y="1039"/>
                </a:cubicBezTo>
                <a:cubicBezTo>
                  <a:pt x="6114" y="1024"/>
                  <a:pt x="6114" y="1024"/>
                  <a:pt x="6114" y="1024"/>
                </a:cubicBezTo>
                <a:cubicBezTo>
                  <a:pt x="5961" y="1014"/>
                  <a:pt x="5961" y="1014"/>
                  <a:pt x="5961" y="1014"/>
                </a:cubicBezTo>
                <a:cubicBezTo>
                  <a:pt x="5961" y="823"/>
                  <a:pt x="5961" y="823"/>
                  <a:pt x="5961" y="823"/>
                </a:cubicBezTo>
                <a:cubicBezTo>
                  <a:pt x="5826" y="790"/>
                  <a:pt x="5826" y="790"/>
                  <a:pt x="5826" y="790"/>
                </a:cubicBezTo>
                <a:cubicBezTo>
                  <a:pt x="5688" y="818"/>
                  <a:pt x="5688" y="818"/>
                  <a:pt x="5688" y="818"/>
                </a:cubicBezTo>
                <a:cubicBezTo>
                  <a:pt x="5688" y="1359"/>
                  <a:pt x="5688" y="1359"/>
                  <a:pt x="5688" y="1359"/>
                </a:cubicBezTo>
                <a:cubicBezTo>
                  <a:pt x="5605" y="1359"/>
                  <a:pt x="5605" y="1359"/>
                  <a:pt x="5605" y="1359"/>
                </a:cubicBezTo>
                <a:cubicBezTo>
                  <a:pt x="5605" y="451"/>
                  <a:pt x="5605" y="451"/>
                  <a:pt x="5605" y="451"/>
                </a:cubicBezTo>
                <a:cubicBezTo>
                  <a:pt x="5468" y="487"/>
                  <a:pt x="5468" y="487"/>
                  <a:pt x="5468" y="487"/>
                </a:cubicBezTo>
                <a:cubicBezTo>
                  <a:pt x="5468" y="1274"/>
                  <a:pt x="5468" y="1274"/>
                  <a:pt x="5468" y="1274"/>
                </a:cubicBezTo>
                <a:cubicBezTo>
                  <a:pt x="5414" y="1274"/>
                  <a:pt x="5414" y="1274"/>
                  <a:pt x="5414" y="1274"/>
                </a:cubicBezTo>
                <a:cubicBezTo>
                  <a:pt x="5414" y="683"/>
                  <a:pt x="5414" y="683"/>
                  <a:pt x="5414" y="683"/>
                </a:cubicBezTo>
                <a:cubicBezTo>
                  <a:pt x="5404" y="683"/>
                  <a:pt x="5404" y="683"/>
                  <a:pt x="5404" y="683"/>
                </a:cubicBezTo>
                <a:cubicBezTo>
                  <a:pt x="5404" y="674"/>
                  <a:pt x="5404" y="674"/>
                  <a:pt x="5404" y="674"/>
                </a:cubicBezTo>
                <a:cubicBezTo>
                  <a:pt x="5396" y="674"/>
                  <a:pt x="5396" y="674"/>
                  <a:pt x="5396" y="674"/>
                </a:cubicBezTo>
                <a:cubicBezTo>
                  <a:pt x="5396" y="655"/>
                  <a:pt x="5396" y="655"/>
                  <a:pt x="5396" y="655"/>
                </a:cubicBezTo>
                <a:cubicBezTo>
                  <a:pt x="5384" y="655"/>
                  <a:pt x="5384" y="655"/>
                  <a:pt x="5384" y="655"/>
                </a:cubicBezTo>
                <a:cubicBezTo>
                  <a:pt x="5384" y="634"/>
                  <a:pt x="5384" y="634"/>
                  <a:pt x="5384" y="634"/>
                </a:cubicBezTo>
                <a:cubicBezTo>
                  <a:pt x="5367" y="634"/>
                  <a:pt x="5367" y="634"/>
                  <a:pt x="5367" y="634"/>
                </a:cubicBezTo>
                <a:cubicBezTo>
                  <a:pt x="5367" y="615"/>
                  <a:pt x="5367" y="615"/>
                  <a:pt x="5367" y="615"/>
                </a:cubicBezTo>
                <a:cubicBezTo>
                  <a:pt x="5360" y="615"/>
                  <a:pt x="5360" y="615"/>
                  <a:pt x="5360" y="615"/>
                </a:cubicBezTo>
                <a:cubicBezTo>
                  <a:pt x="5360" y="593"/>
                  <a:pt x="5360" y="593"/>
                  <a:pt x="5360" y="593"/>
                </a:cubicBezTo>
                <a:cubicBezTo>
                  <a:pt x="5353" y="532"/>
                  <a:pt x="5353" y="532"/>
                  <a:pt x="5353" y="532"/>
                </a:cubicBezTo>
                <a:cubicBezTo>
                  <a:pt x="5346" y="593"/>
                  <a:pt x="5346" y="593"/>
                  <a:pt x="5346" y="593"/>
                </a:cubicBezTo>
                <a:cubicBezTo>
                  <a:pt x="5346" y="615"/>
                  <a:pt x="5346" y="615"/>
                  <a:pt x="5346" y="615"/>
                </a:cubicBezTo>
                <a:cubicBezTo>
                  <a:pt x="5339" y="615"/>
                  <a:pt x="5339" y="615"/>
                  <a:pt x="5339" y="615"/>
                </a:cubicBezTo>
                <a:cubicBezTo>
                  <a:pt x="5339" y="634"/>
                  <a:pt x="5339" y="634"/>
                  <a:pt x="5339" y="634"/>
                </a:cubicBezTo>
                <a:cubicBezTo>
                  <a:pt x="5322" y="634"/>
                  <a:pt x="5322" y="634"/>
                  <a:pt x="5322" y="634"/>
                </a:cubicBezTo>
                <a:cubicBezTo>
                  <a:pt x="5322" y="655"/>
                  <a:pt x="5322" y="655"/>
                  <a:pt x="5322" y="655"/>
                </a:cubicBezTo>
                <a:cubicBezTo>
                  <a:pt x="5310" y="655"/>
                  <a:pt x="5310" y="655"/>
                  <a:pt x="5310" y="655"/>
                </a:cubicBezTo>
                <a:cubicBezTo>
                  <a:pt x="5310" y="674"/>
                  <a:pt x="5310" y="674"/>
                  <a:pt x="5310" y="674"/>
                </a:cubicBezTo>
                <a:cubicBezTo>
                  <a:pt x="5302" y="674"/>
                  <a:pt x="5302" y="674"/>
                  <a:pt x="5302" y="674"/>
                </a:cubicBezTo>
                <a:cubicBezTo>
                  <a:pt x="5302" y="683"/>
                  <a:pt x="5302" y="683"/>
                  <a:pt x="5302" y="683"/>
                </a:cubicBezTo>
                <a:cubicBezTo>
                  <a:pt x="5292" y="683"/>
                  <a:pt x="5292" y="683"/>
                  <a:pt x="5292" y="683"/>
                </a:cubicBezTo>
                <a:cubicBezTo>
                  <a:pt x="5292" y="1274"/>
                  <a:pt x="5292" y="1274"/>
                  <a:pt x="5292" y="1274"/>
                </a:cubicBezTo>
                <a:cubicBezTo>
                  <a:pt x="5260" y="1274"/>
                  <a:pt x="5260" y="1274"/>
                  <a:pt x="5260" y="1274"/>
                </a:cubicBezTo>
                <a:cubicBezTo>
                  <a:pt x="5260" y="792"/>
                  <a:pt x="5260" y="792"/>
                  <a:pt x="5260" y="792"/>
                </a:cubicBezTo>
                <a:cubicBezTo>
                  <a:pt x="5098" y="792"/>
                  <a:pt x="5098" y="792"/>
                  <a:pt x="5098" y="792"/>
                </a:cubicBezTo>
                <a:cubicBezTo>
                  <a:pt x="5073" y="817"/>
                  <a:pt x="5073" y="817"/>
                  <a:pt x="5073" y="817"/>
                </a:cubicBezTo>
                <a:cubicBezTo>
                  <a:pt x="5073" y="1219"/>
                  <a:pt x="5073" y="1219"/>
                  <a:pt x="5073" y="1219"/>
                </a:cubicBezTo>
                <a:cubicBezTo>
                  <a:pt x="5044" y="1219"/>
                  <a:pt x="5044" y="1219"/>
                  <a:pt x="5044" y="1219"/>
                </a:cubicBezTo>
                <a:cubicBezTo>
                  <a:pt x="5031" y="1237"/>
                  <a:pt x="5031" y="1237"/>
                  <a:pt x="5031" y="1237"/>
                </a:cubicBezTo>
                <a:cubicBezTo>
                  <a:pt x="5031" y="1419"/>
                  <a:pt x="5031" y="1419"/>
                  <a:pt x="5031" y="1419"/>
                </a:cubicBezTo>
                <a:cubicBezTo>
                  <a:pt x="5007" y="1419"/>
                  <a:pt x="5007" y="1419"/>
                  <a:pt x="5007" y="1419"/>
                </a:cubicBezTo>
                <a:cubicBezTo>
                  <a:pt x="5007" y="1089"/>
                  <a:pt x="5007" y="1089"/>
                  <a:pt x="5007" y="1089"/>
                </a:cubicBezTo>
                <a:cubicBezTo>
                  <a:pt x="4993" y="1089"/>
                  <a:pt x="4993" y="1089"/>
                  <a:pt x="4993" y="1089"/>
                </a:cubicBezTo>
                <a:cubicBezTo>
                  <a:pt x="4993" y="1050"/>
                  <a:pt x="4993" y="1050"/>
                  <a:pt x="4993" y="1050"/>
                </a:cubicBezTo>
                <a:cubicBezTo>
                  <a:pt x="4981" y="1050"/>
                  <a:pt x="4981" y="1050"/>
                  <a:pt x="4981" y="1050"/>
                </a:cubicBezTo>
                <a:cubicBezTo>
                  <a:pt x="4981" y="1026"/>
                  <a:pt x="4981" y="1026"/>
                  <a:pt x="4981" y="1026"/>
                </a:cubicBezTo>
                <a:cubicBezTo>
                  <a:pt x="4959" y="1026"/>
                  <a:pt x="4959" y="1026"/>
                  <a:pt x="4959" y="1026"/>
                </a:cubicBezTo>
                <a:cubicBezTo>
                  <a:pt x="4945" y="1016"/>
                  <a:pt x="4945" y="1016"/>
                  <a:pt x="4945" y="1016"/>
                </a:cubicBezTo>
                <a:cubicBezTo>
                  <a:pt x="4945" y="887"/>
                  <a:pt x="4945" y="887"/>
                  <a:pt x="4945" y="887"/>
                </a:cubicBezTo>
                <a:cubicBezTo>
                  <a:pt x="4841" y="919"/>
                  <a:pt x="4841" y="919"/>
                  <a:pt x="4841" y="919"/>
                </a:cubicBezTo>
                <a:cubicBezTo>
                  <a:pt x="4819" y="902"/>
                  <a:pt x="4819" y="902"/>
                  <a:pt x="4819" y="902"/>
                </a:cubicBezTo>
                <a:cubicBezTo>
                  <a:pt x="4819" y="685"/>
                  <a:pt x="4819" y="685"/>
                  <a:pt x="4819" y="685"/>
                </a:cubicBezTo>
                <a:cubicBezTo>
                  <a:pt x="4750" y="668"/>
                  <a:pt x="4750" y="668"/>
                  <a:pt x="4750" y="668"/>
                </a:cubicBezTo>
                <a:cubicBezTo>
                  <a:pt x="4616" y="723"/>
                  <a:pt x="4616" y="723"/>
                  <a:pt x="4616" y="723"/>
                </a:cubicBezTo>
                <a:cubicBezTo>
                  <a:pt x="4616" y="734"/>
                  <a:pt x="4616" y="734"/>
                  <a:pt x="4616" y="734"/>
                </a:cubicBezTo>
                <a:cubicBezTo>
                  <a:pt x="4593" y="720"/>
                  <a:pt x="4593" y="720"/>
                  <a:pt x="4593" y="720"/>
                </a:cubicBezTo>
                <a:cubicBezTo>
                  <a:pt x="4574" y="720"/>
                  <a:pt x="4574" y="720"/>
                  <a:pt x="4574" y="720"/>
                </a:cubicBezTo>
                <a:cubicBezTo>
                  <a:pt x="4574" y="739"/>
                  <a:pt x="4574" y="739"/>
                  <a:pt x="4574" y="739"/>
                </a:cubicBezTo>
                <a:cubicBezTo>
                  <a:pt x="4551" y="739"/>
                  <a:pt x="4551" y="739"/>
                  <a:pt x="4551" y="739"/>
                </a:cubicBezTo>
                <a:cubicBezTo>
                  <a:pt x="4551" y="807"/>
                  <a:pt x="4551" y="807"/>
                  <a:pt x="4551" y="807"/>
                </a:cubicBezTo>
                <a:cubicBezTo>
                  <a:pt x="4540" y="807"/>
                  <a:pt x="4540" y="807"/>
                  <a:pt x="4540" y="807"/>
                </a:cubicBezTo>
                <a:cubicBezTo>
                  <a:pt x="4540" y="1250"/>
                  <a:pt x="4540" y="1250"/>
                  <a:pt x="4540" y="1250"/>
                </a:cubicBezTo>
                <a:cubicBezTo>
                  <a:pt x="4523" y="1250"/>
                  <a:pt x="4523" y="1250"/>
                  <a:pt x="4523" y="1250"/>
                </a:cubicBezTo>
                <a:cubicBezTo>
                  <a:pt x="4516" y="1237"/>
                  <a:pt x="4516" y="1237"/>
                  <a:pt x="4516" y="1237"/>
                </a:cubicBezTo>
                <a:cubicBezTo>
                  <a:pt x="4516" y="1205"/>
                  <a:pt x="4516" y="1205"/>
                  <a:pt x="4516" y="1205"/>
                </a:cubicBezTo>
                <a:cubicBezTo>
                  <a:pt x="4499" y="1205"/>
                  <a:pt x="4499" y="1205"/>
                  <a:pt x="4499" y="1205"/>
                </a:cubicBezTo>
                <a:cubicBezTo>
                  <a:pt x="4499" y="1238"/>
                  <a:pt x="4499" y="1238"/>
                  <a:pt x="4499" y="1238"/>
                </a:cubicBezTo>
                <a:cubicBezTo>
                  <a:pt x="4495" y="1234"/>
                  <a:pt x="4495" y="1234"/>
                  <a:pt x="4495" y="1234"/>
                </a:cubicBezTo>
                <a:cubicBezTo>
                  <a:pt x="4495" y="1245"/>
                  <a:pt x="4495" y="1245"/>
                  <a:pt x="4495" y="1245"/>
                </a:cubicBezTo>
                <a:cubicBezTo>
                  <a:pt x="4482" y="1245"/>
                  <a:pt x="4482" y="1245"/>
                  <a:pt x="4482" y="1245"/>
                </a:cubicBezTo>
                <a:cubicBezTo>
                  <a:pt x="4482" y="1255"/>
                  <a:pt x="4482" y="1255"/>
                  <a:pt x="4482" y="1255"/>
                </a:cubicBezTo>
                <a:cubicBezTo>
                  <a:pt x="4474" y="1255"/>
                  <a:pt x="4474" y="1255"/>
                  <a:pt x="4474" y="1255"/>
                </a:cubicBezTo>
                <a:cubicBezTo>
                  <a:pt x="4474" y="1263"/>
                  <a:pt x="4474" y="1263"/>
                  <a:pt x="4474" y="1263"/>
                </a:cubicBezTo>
                <a:cubicBezTo>
                  <a:pt x="4452" y="1263"/>
                  <a:pt x="4452" y="1263"/>
                  <a:pt x="4452" y="1263"/>
                </a:cubicBezTo>
                <a:cubicBezTo>
                  <a:pt x="4452" y="1251"/>
                  <a:pt x="4452" y="1251"/>
                  <a:pt x="4452" y="1251"/>
                </a:cubicBezTo>
                <a:cubicBezTo>
                  <a:pt x="4468" y="1248"/>
                  <a:pt x="4468" y="1248"/>
                  <a:pt x="4468" y="1248"/>
                </a:cubicBezTo>
                <a:cubicBezTo>
                  <a:pt x="4468" y="1242"/>
                  <a:pt x="4468" y="1242"/>
                  <a:pt x="4468" y="1242"/>
                </a:cubicBezTo>
                <a:cubicBezTo>
                  <a:pt x="4407" y="1242"/>
                  <a:pt x="4407" y="1242"/>
                  <a:pt x="4407" y="1242"/>
                </a:cubicBezTo>
                <a:cubicBezTo>
                  <a:pt x="4409" y="1247"/>
                  <a:pt x="4409" y="1247"/>
                  <a:pt x="4409" y="1247"/>
                </a:cubicBezTo>
                <a:cubicBezTo>
                  <a:pt x="4421" y="1249"/>
                  <a:pt x="4421" y="1249"/>
                  <a:pt x="4421" y="1249"/>
                </a:cubicBezTo>
                <a:cubicBezTo>
                  <a:pt x="4421" y="1260"/>
                  <a:pt x="4421" y="1260"/>
                  <a:pt x="4421" y="1260"/>
                </a:cubicBezTo>
                <a:cubicBezTo>
                  <a:pt x="4398" y="1265"/>
                  <a:pt x="4398" y="1265"/>
                  <a:pt x="4398" y="1265"/>
                </a:cubicBezTo>
                <a:cubicBezTo>
                  <a:pt x="4369" y="1201"/>
                  <a:pt x="4369" y="1201"/>
                  <a:pt x="4369" y="1201"/>
                </a:cubicBezTo>
                <a:cubicBezTo>
                  <a:pt x="4369" y="1161"/>
                  <a:pt x="4369" y="1161"/>
                  <a:pt x="4369" y="1161"/>
                </a:cubicBezTo>
                <a:cubicBezTo>
                  <a:pt x="4369" y="948"/>
                  <a:pt x="4369" y="948"/>
                  <a:pt x="4369" y="948"/>
                </a:cubicBezTo>
                <a:cubicBezTo>
                  <a:pt x="4369" y="948"/>
                  <a:pt x="4379" y="944"/>
                  <a:pt x="4379" y="932"/>
                </a:cubicBezTo>
                <a:cubicBezTo>
                  <a:pt x="4379" y="920"/>
                  <a:pt x="4346" y="917"/>
                  <a:pt x="4333" y="917"/>
                </a:cubicBezTo>
                <a:cubicBezTo>
                  <a:pt x="4320" y="917"/>
                  <a:pt x="4287" y="920"/>
                  <a:pt x="4287" y="932"/>
                </a:cubicBezTo>
                <a:cubicBezTo>
                  <a:pt x="4287" y="944"/>
                  <a:pt x="4297" y="948"/>
                  <a:pt x="4297" y="948"/>
                </a:cubicBezTo>
                <a:cubicBezTo>
                  <a:pt x="4297" y="1161"/>
                  <a:pt x="4297" y="1161"/>
                  <a:pt x="4297" y="1161"/>
                </a:cubicBezTo>
                <a:cubicBezTo>
                  <a:pt x="4286" y="1161"/>
                  <a:pt x="4286" y="1161"/>
                  <a:pt x="4286" y="1161"/>
                </a:cubicBezTo>
                <a:cubicBezTo>
                  <a:pt x="4286" y="1131"/>
                  <a:pt x="4286" y="1131"/>
                  <a:pt x="4286" y="1131"/>
                </a:cubicBezTo>
                <a:cubicBezTo>
                  <a:pt x="4238" y="1091"/>
                  <a:pt x="4238" y="1091"/>
                  <a:pt x="4238" y="1091"/>
                </a:cubicBezTo>
                <a:cubicBezTo>
                  <a:pt x="4238" y="974"/>
                  <a:pt x="4238" y="974"/>
                  <a:pt x="4238" y="974"/>
                </a:cubicBezTo>
                <a:cubicBezTo>
                  <a:pt x="4223" y="974"/>
                  <a:pt x="4223" y="974"/>
                  <a:pt x="4223" y="974"/>
                </a:cubicBezTo>
                <a:cubicBezTo>
                  <a:pt x="4166" y="1010"/>
                  <a:pt x="4166" y="1010"/>
                  <a:pt x="4166" y="1010"/>
                </a:cubicBezTo>
                <a:cubicBezTo>
                  <a:pt x="4166" y="995"/>
                  <a:pt x="4166" y="995"/>
                  <a:pt x="4166" y="995"/>
                </a:cubicBezTo>
                <a:cubicBezTo>
                  <a:pt x="4087" y="995"/>
                  <a:pt x="4087" y="995"/>
                  <a:pt x="4087" y="995"/>
                </a:cubicBezTo>
                <a:cubicBezTo>
                  <a:pt x="4087" y="1012"/>
                  <a:pt x="4087" y="1012"/>
                  <a:pt x="4087" y="1012"/>
                </a:cubicBezTo>
                <a:cubicBezTo>
                  <a:pt x="4069" y="1012"/>
                  <a:pt x="4069" y="1012"/>
                  <a:pt x="4069" y="1012"/>
                </a:cubicBezTo>
                <a:cubicBezTo>
                  <a:pt x="4069" y="1130"/>
                  <a:pt x="4069" y="1130"/>
                  <a:pt x="4069" y="1130"/>
                </a:cubicBezTo>
                <a:cubicBezTo>
                  <a:pt x="4046" y="1117"/>
                  <a:pt x="4046" y="1117"/>
                  <a:pt x="4046" y="1117"/>
                </a:cubicBezTo>
                <a:cubicBezTo>
                  <a:pt x="4046" y="1088"/>
                  <a:pt x="4046" y="1088"/>
                  <a:pt x="4046" y="1088"/>
                </a:cubicBezTo>
                <a:cubicBezTo>
                  <a:pt x="4039" y="1088"/>
                  <a:pt x="4039" y="1088"/>
                  <a:pt x="4039" y="1088"/>
                </a:cubicBezTo>
                <a:cubicBezTo>
                  <a:pt x="4039" y="1118"/>
                  <a:pt x="4039" y="1118"/>
                  <a:pt x="4039" y="1118"/>
                </a:cubicBezTo>
                <a:cubicBezTo>
                  <a:pt x="4032" y="1118"/>
                  <a:pt x="4032" y="1118"/>
                  <a:pt x="4032" y="1118"/>
                </a:cubicBezTo>
                <a:cubicBezTo>
                  <a:pt x="4032" y="1061"/>
                  <a:pt x="4032" y="1061"/>
                  <a:pt x="4032" y="1061"/>
                </a:cubicBezTo>
                <a:cubicBezTo>
                  <a:pt x="3989" y="1061"/>
                  <a:pt x="3989" y="1061"/>
                  <a:pt x="3989" y="1061"/>
                </a:cubicBezTo>
                <a:cubicBezTo>
                  <a:pt x="3989" y="1052"/>
                  <a:pt x="3984" y="1018"/>
                  <a:pt x="3943" y="995"/>
                </a:cubicBezTo>
                <a:cubicBezTo>
                  <a:pt x="3943" y="975"/>
                  <a:pt x="3943" y="975"/>
                  <a:pt x="3943" y="975"/>
                </a:cubicBezTo>
                <a:cubicBezTo>
                  <a:pt x="3933" y="975"/>
                  <a:pt x="3933" y="975"/>
                  <a:pt x="3933" y="975"/>
                </a:cubicBezTo>
                <a:cubicBezTo>
                  <a:pt x="3923" y="975"/>
                  <a:pt x="3923" y="975"/>
                  <a:pt x="3923" y="975"/>
                </a:cubicBezTo>
                <a:cubicBezTo>
                  <a:pt x="3923" y="995"/>
                  <a:pt x="3923" y="995"/>
                  <a:pt x="3923" y="995"/>
                </a:cubicBezTo>
                <a:cubicBezTo>
                  <a:pt x="3882" y="1018"/>
                  <a:pt x="3877" y="1052"/>
                  <a:pt x="3877" y="1061"/>
                </a:cubicBezTo>
                <a:cubicBezTo>
                  <a:pt x="3877" y="1070"/>
                  <a:pt x="3885" y="1078"/>
                  <a:pt x="3885" y="1078"/>
                </a:cubicBezTo>
                <a:cubicBezTo>
                  <a:pt x="3859" y="1078"/>
                  <a:pt x="3859" y="1078"/>
                  <a:pt x="3859" y="1078"/>
                </a:cubicBezTo>
                <a:cubicBezTo>
                  <a:pt x="3846" y="1078"/>
                  <a:pt x="3846" y="1078"/>
                  <a:pt x="3846" y="1078"/>
                </a:cubicBezTo>
                <a:cubicBezTo>
                  <a:pt x="3809" y="1051"/>
                  <a:pt x="3809" y="1051"/>
                  <a:pt x="3809" y="1051"/>
                </a:cubicBezTo>
                <a:cubicBezTo>
                  <a:pt x="3781" y="1070"/>
                  <a:pt x="3781" y="1070"/>
                  <a:pt x="3781" y="1070"/>
                </a:cubicBezTo>
                <a:cubicBezTo>
                  <a:pt x="3770" y="1080"/>
                  <a:pt x="3770" y="1080"/>
                  <a:pt x="3770" y="1080"/>
                </a:cubicBezTo>
                <a:cubicBezTo>
                  <a:pt x="3742" y="1080"/>
                  <a:pt x="3742" y="1080"/>
                  <a:pt x="3742" y="1080"/>
                </a:cubicBezTo>
                <a:cubicBezTo>
                  <a:pt x="3742" y="1095"/>
                  <a:pt x="3742" y="1095"/>
                  <a:pt x="3742" y="1095"/>
                </a:cubicBezTo>
                <a:cubicBezTo>
                  <a:pt x="3759" y="1095"/>
                  <a:pt x="3763" y="1109"/>
                  <a:pt x="3763" y="1109"/>
                </a:cubicBezTo>
                <a:cubicBezTo>
                  <a:pt x="3763" y="1133"/>
                  <a:pt x="3763" y="1133"/>
                  <a:pt x="3763" y="1133"/>
                </a:cubicBezTo>
                <a:cubicBezTo>
                  <a:pt x="3734" y="1133"/>
                  <a:pt x="3734" y="1133"/>
                  <a:pt x="3734" y="1133"/>
                </a:cubicBezTo>
                <a:cubicBezTo>
                  <a:pt x="3734" y="1123"/>
                  <a:pt x="3734" y="1123"/>
                  <a:pt x="3734" y="1123"/>
                </a:cubicBezTo>
                <a:cubicBezTo>
                  <a:pt x="3673" y="1123"/>
                  <a:pt x="3673" y="1123"/>
                  <a:pt x="3673" y="1123"/>
                </a:cubicBezTo>
                <a:cubicBezTo>
                  <a:pt x="3673" y="1147"/>
                  <a:pt x="3673" y="1147"/>
                  <a:pt x="3673" y="1147"/>
                </a:cubicBezTo>
                <a:cubicBezTo>
                  <a:pt x="3635" y="1147"/>
                  <a:pt x="3635" y="1147"/>
                  <a:pt x="3635" y="1147"/>
                </a:cubicBezTo>
                <a:cubicBezTo>
                  <a:pt x="3635" y="1405"/>
                  <a:pt x="3635" y="1405"/>
                  <a:pt x="3635" y="1405"/>
                </a:cubicBezTo>
                <a:cubicBezTo>
                  <a:pt x="3585" y="1405"/>
                  <a:pt x="3585" y="1405"/>
                  <a:pt x="3585" y="1405"/>
                </a:cubicBezTo>
                <a:cubicBezTo>
                  <a:pt x="3585" y="1415"/>
                  <a:pt x="3585" y="1415"/>
                  <a:pt x="3585" y="1415"/>
                </a:cubicBezTo>
                <a:cubicBezTo>
                  <a:pt x="3576" y="1415"/>
                  <a:pt x="3576" y="1415"/>
                  <a:pt x="3576" y="1415"/>
                </a:cubicBezTo>
                <a:cubicBezTo>
                  <a:pt x="3576" y="1437"/>
                  <a:pt x="3576" y="1437"/>
                  <a:pt x="3576" y="1437"/>
                </a:cubicBezTo>
                <a:cubicBezTo>
                  <a:pt x="3565" y="1437"/>
                  <a:pt x="3565" y="1437"/>
                  <a:pt x="3565" y="1437"/>
                </a:cubicBezTo>
                <a:cubicBezTo>
                  <a:pt x="3565" y="1403"/>
                  <a:pt x="3565" y="1403"/>
                  <a:pt x="3565" y="1403"/>
                </a:cubicBezTo>
                <a:cubicBezTo>
                  <a:pt x="3528" y="1403"/>
                  <a:pt x="3528" y="1403"/>
                  <a:pt x="3528" y="1403"/>
                </a:cubicBezTo>
                <a:cubicBezTo>
                  <a:pt x="3528" y="1259"/>
                  <a:pt x="3528" y="1259"/>
                  <a:pt x="3528" y="1259"/>
                </a:cubicBezTo>
                <a:cubicBezTo>
                  <a:pt x="3478" y="1259"/>
                  <a:pt x="3478" y="1259"/>
                  <a:pt x="3478" y="1259"/>
                </a:cubicBezTo>
                <a:cubicBezTo>
                  <a:pt x="3478" y="1245"/>
                  <a:pt x="3478" y="1245"/>
                  <a:pt x="3478" y="1245"/>
                </a:cubicBezTo>
                <a:cubicBezTo>
                  <a:pt x="3463" y="1245"/>
                  <a:pt x="3463" y="1245"/>
                  <a:pt x="3463" y="1245"/>
                </a:cubicBezTo>
                <a:cubicBezTo>
                  <a:pt x="3463" y="1255"/>
                  <a:pt x="3463" y="1255"/>
                  <a:pt x="3463" y="1255"/>
                </a:cubicBezTo>
                <a:cubicBezTo>
                  <a:pt x="3455" y="1255"/>
                  <a:pt x="3455" y="1255"/>
                  <a:pt x="3455" y="1255"/>
                </a:cubicBezTo>
                <a:cubicBezTo>
                  <a:pt x="3456" y="1251"/>
                  <a:pt x="3456" y="1248"/>
                  <a:pt x="3456" y="1245"/>
                </a:cubicBezTo>
                <a:cubicBezTo>
                  <a:pt x="3456" y="1211"/>
                  <a:pt x="3436" y="1182"/>
                  <a:pt x="3407" y="1168"/>
                </a:cubicBezTo>
                <a:cubicBezTo>
                  <a:pt x="3407" y="700"/>
                  <a:pt x="3407" y="700"/>
                  <a:pt x="3407" y="700"/>
                </a:cubicBezTo>
                <a:cubicBezTo>
                  <a:pt x="3431" y="687"/>
                  <a:pt x="3447" y="662"/>
                  <a:pt x="3447" y="634"/>
                </a:cubicBezTo>
                <a:cubicBezTo>
                  <a:pt x="3447" y="597"/>
                  <a:pt x="3421" y="567"/>
                  <a:pt x="3387" y="560"/>
                </a:cubicBezTo>
                <a:cubicBezTo>
                  <a:pt x="3383" y="429"/>
                  <a:pt x="3383" y="429"/>
                  <a:pt x="3383" y="429"/>
                </a:cubicBezTo>
                <a:cubicBezTo>
                  <a:pt x="3391" y="425"/>
                  <a:pt x="3397" y="417"/>
                  <a:pt x="3397" y="407"/>
                </a:cubicBezTo>
                <a:cubicBezTo>
                  <a:pt x="3397" y="400"/>
                  <a:pt x="3394" y="393"/>
                  <a:pt x="3390" y="389"/>
                </a:cubicBezTo>
                <a:cubicBezTo>
                  <a:pt x="3390" y="372"/>
                  <a:pt x="3390" y="372"/>
                  <a:pt x="3390" y="372"/>
                </a:cubicBezTo>
                <a:cubicBezTo>
                  <a:pt x="3382" y="372"/>
                  <a:pt x="3382" y="372"/>
                  <a:pt x="3382" y="372"/>
                </a:cubicBezTo>
                <a:cubicBezTo>
                  <a:pt x="3382" y="269"/>
                  <a:pt x="3382" y="269"/>
                  <a:pt x="3382" y="269"/>
                </a:cubicBezTo>
                <a:cubicBezTo>
                  <a:pt x="3377" y="269"/>
                  <a:pt x="3377" y="269"/>
                  <a:pt x="3377" y="269"/>
                </a:cubicBezTo>
                <a:cubicBezTo>
                  <a:pt x="3377" y="187"/>
                  <a:pt x="3377" y="187"/>
                  <a:pt x="3377" y="187"/>
                </a:cubicBezTo>
                <a:cubicBezTo>
                  <a:pt x="3377" y="187"/>
                  <a:pt x="3385" y="187"/>
                  <a:pt x="3385" y="177"/>
                </a:cubicBezTo>
                <a:cubicBezTo>
                  <a:pt x="3385" y="167"/>
                  <a:pt x="3377" y="170"/>
                  <a:pt x="3377" y="170"/>
                </a:cubicBezTo>
                <a:cubicBezTo>
                  <a:pt x="3372" y="0"/>
                  <a:pt x="3372" y="0"/>
                  <a:pt x="3372" y="0"/>
                </a:cubicBezTo>
                <a:cubicBezTo>
                  <a:pt x="3367" y="170"/>
                  <a:pt x="3367" y="170"/>
                  <a:pt x="3367" y="170"/>
                </a:cubicBezTo>
                <a:cubicBezTo>
                  <a:pt x="3367" y="170"/>
                  <a:pt x="3359" y="167"/>
                  <a:pt x="3359" y="177"/>
                </a:cubicBezTo>
                <a:cubicBezTo>
                  <a:pt x="3359" y="187"/>
                  <a:pt x="3367" y="187"/>
                  <a:pt x="3367" y="187"/>
                </a:cubicBezTo>
                <a:cubicBezTo>
                  <a:pt x="3367" y="269"/>
                  <a:pt x="3367" y="269"/>
                  <a:pt x="3367" y="269"/>
                </a:cubicBezTo>
                <a:cubicBezTo>
                  <a:pt x="3362" y="269"/>
                  <a:pt x="3362" y="269"/>
                  <a:pt x="3362" y="269"/>
                </a:cubicBezTo>
                <a:cubicBezTo>
                  <a:pt x="3362" y="372"/>
                  <a:pt x="3362" y="372"/>
                  <a:pt x="3362" y="372"/>
                </a:cubicBezTo>
                <a:cubicBezTo>
                  <a:pt x="3354" y="372"/>
                  <a:pt x="3354" y="372"/>
                  <a:pt x="3354" y="372"/>
                </a:cubicBezTo>
                <a:cubicBezTo>
                  <a:pt x="3354" y="389"/>
                  <a:pt x="3354" y="389"/>
                  <a:pt x="3354" y="389"/>
                </a:cubicBezTo>
                <a:cubicBezTo>
                  <a:pt x="3350" y="393"/>
                  <a:pt x="3347" y="400"/>
                  <a:pt x="3347" y="407"/>
                </a:cubicBezTo>
                <a:cubicBezTo>
                  <a:pt x="3347" y="417"/>
                  <a:pt x="3353" y="425"/>
                  <a:pt x="3361" y="429"/>
                </a:cubicBezTo>
                <a:cubicBezTo>
                  <a:pt x="3357" y="560"/>
                  <a:pt x="3357" y="560"/>
                  <a:pt x="3357" y="560"/>
                </a:cubicBezTo>
                <a:cubicBezTo>
                  <a:pt x="3323" y="567"/>
                  <a:pt x="3297" y="597"/>
                  <a:pt x="3297" y="634"/>
                </a:cubicBezTo>
                <a:cubicBezTo>
                  <a:pt x="3297" y="659"/>
                  <a:pt x="3310" y="681"/>
                  <a:pt x="3329" y="695"/>
                </a:cubicBezTo>
                <a:cubicBezTo>
                  <a:pt x="3329" y="1173"/>
                  <a:pt x="3329" y="1173"/>
                  <a:pt x="3329" y="1173"/>
                </a:cubicBezTo>
                <a:cubicBezTo>
                  <a:pt x="3304" y="1187"/>
                  <a:pt x="3288" y="1214"/>
                  <a:pt x="3288" y="1245"/>
                </a:cubicBezTo>
                <a:cubicBezTo>
                  <a:pt x="3288" y="1275"/>
                  <a:pt x="3304" y="1302"/>
                  <a:pt x="3329" y="1317"/>
                </a:cubicBezTo>
                <a:cubicBezTo>
                  <a:pt x="3329" y="1343"/>
                  <a:pt x="3329" y="1343"/>
                  <a:pt x="3329" y="1343"/>
                </a:cubicBezTo>
                <a:cubicBezTo>
                  <a:pt x="3287" y="1479"/>
                  <a:pt x="3287" y="1479"/>
                  <a:pt x="3287" y="1479"/>
                </a:cubicBezTo>
                <a:cubicBezTo>
                  <a:pt x="3180" y="1479"/>
                  <a:pt x="3180" y="1479"/>
                  <a:pt x="3180" y="1479"/>
                </a:cubicBezTo>
                <a:cubicBezTo>
                  <a:pt x="3180" y="1420"/>
                  <a:pt x="3180" y="1420"/>
                  <a:pt x="3180" y="1420"/>
                </a:cubicBezTo>
                <a:cubicBezTo>
                  <a:pt x="3132" y="1420"/>
                  <a:pt x="3132" y="1420"/>
                  <a:pt x="3132" y="1420"/>
                </a:cubicBezTo>
                <a:cubicBezTo>
                  <a:pt x="3132" y="1479"/>
                  <a:pt x="3132" y="1479"/>
                  <a:pt x="3132" y="1479"/>
                </a:cubicBezTo>
                <a:cubicBezTo>
                  <a:pt x="2997" y="1479"/>
                  <a:pt x="2997" y="1479"/>
                  <a:pt x="2997" y="1479"/>
                </a:cubicBezTo>
                <a:cubicBezTo>
                  <a:pt x="2997" y="1395"/>
                  <a:pt x="2997" y="1395"/>
                  <a:pt x="2997" y="1395"/>
                </a:cubicBezTo>
                <a:cubicBezTo>
                  <a:pt x="2850" y="1372"/>
                  <a:pt x="2850" y="1372"/>
                  <a:pt x="2850" y="1372"/>
                </a:cubicBezTo>
                <a:cubicBezTo>
                  <a:pt x="2850" y="1279"/>
                  <a:pt x="2850" y="1279"/>
                  <a:pt x="2850" y="1279"/>
                </a:cubicBezTo>
                <a:cubicBezTo>
                  <a:pt x="2844" y="1271"/>
                  <a:pt x="2844" y="1271"/>
                  <a:pt x="2844" y="1271"/>
                </a:cubicBezTo>
                <a:cubicBezTo>
                  <a:pt x="2844" y="1227"/>
                  <a:pt x="2844" y="1227"/>
                  <a:pt x="2844" y="1227"/>
                </a:cubicBezTo>
                <a:cubicBezTo>
                  <a:pt x="2838" y="1223"/>
                  <a:pt x="2838" y="1223"/>
                  <a:pt x="2838" y="1223"/>
                </a:cubicBezTo>
                <a:cubicBezTo>
                  <a:pt x="2838" y="1194"/>
                  <a:pt x="2838" y="1194"/>
                  <a:pt x="2838" y="1194"/>
                </a:cubicBezTo>
                <a:cubicBezTo>
                  <a:pt x="2818" y="1177"/>
                  <a:pt x="2818" y="1177"/>
                  <a:pt x="2818" y="1177"/>
                </a:cubicBezTo>
                <a:cubicBezTo>
                  <a:pt x="2803" y="1177"/>
                  <a:pt x="2803" y="1177"/>
                  <a:pt x="2803" y="1177"/>
                </a:cubicBezTo>
                <a:cubicBezTo>
                  <a:pt x="2797" y="1119"/>
                  <a:pt x="2797" y="1119"/>
                  <a:pt x="2797" y="1119"/>
                </a:cubicBezTo>
                <a:cubicBezTo>
                  <a:pt x="2791" y="1177"/>
                  <a:pt x="2791" y="1177"/>
                  <a:pt x="2791" y="1177"/>
                </a:cubicBezTo>
                <a:cubicBezTo>
                  <a:pt x="2776" y="1177"/>
                  <a:pt x="2776" y="1177"/>
                  <a:pt x="2776" y="1177"/>
                </a:cubicBezTo>
                <a:cubicBezTo>
                  <a:pt x="2756" y="1194"/>
                  <a:pt x="2756" y="1194"/>
                  <a:pt x="2756" y="1194"/>
                </a:cubicBezTo>
                <a:cubicBezTo>
                  <a:pt x="2756" y="1223"/>
                  <a:pt x="2756" y="1223"/>
                  <a:pt x="2756" y="1223"/>
                </a:cubicBezTo>
                <a:cubicBezTo>
                  <a:pt x="2750" y="1227"/>
                  <a:pt x="2750" y="1227"/>
                  <a:pt x="2750" y="1227"/>
                </a:cubicBezTo>
                <a:cubicBezTo>
                  <a:pt x="2750" y="1271"/>
                  <a:pt x="2750" y="1271"/>
                  <a:pt x="2750" y="1271"/>
                </a:cubicBezTo>
                <a:cubicBezTo>
                  <a:pt x="2744" y="1279"/>
                  <a:pt x="2744" y="1279"/>
                  <a:pt x="2744" y="1279"/>
                </a:cubicBezTo>
                <a:cubicBezTo>
                  <a:pt x="2744" y="1341"/>
                  <a:pt x="2744" y="1341"/>
                  <a:pt x="2744" y="1341"/>
                </a:cubicBezTo>
                <a:cubicBezTo>
                  <a:pt x="2744" y="1341"/>
                  <a:pt x="2733" y="1330"/>
                  <a:pt x="2701" y="1330"/>
                </a:cubicBezTo>
                <a:cubicBezTo>
                  <a:pt x="2658" y="1330"/>
                  <a:pt x="2628" y="1372"/>
                  <a:pt x="2628" y="1372"/>
                </a:cubicBezTo>
                <a:cubicBezTo>
                  <a:pt x="2572" y="1372"/>
                  <a:pt x="2572" y="1372"/>
                  <a:pt x="2572" y="1372"/>
                </a:cubicBezTo>
                <a:cubicBezTo>
                  <a:pt x="2572" y="1389"/>
                  <a:pt x="2572" y="1389"/>
                  <a:pt x="2572" y="1389"/>
                </a:cubicBezTo>
                <a:cubicBezTo>
                  <a:pt x="2553" y="1389"/>
                  <a:pt x="2553" y="1389"/>
                  <a:pt x="2553" y="1389"/>
                </a:cubicBezTo>
                <a:cubicBezTo>
                  <a:pt x="2553" y="1382"/>
                  <a:pt x="2553" y="1382"/>
                  <a:pt x="2553" y="1382"/>
                </a:cubicBezTo>
                <a:cubicBezTo>
                  <a:pt x="2510" y="1382"/>
                  <a:pt x="2510" y="1382"/>
                  <a:pt x="2510" y="1382"/>
                </a:cubicBezTo>
                <a:cubicBezTo>
                  <a:pt x="2502" y="1393"/>
                  <a:pt x="2502" y="1393"/>
                  <a:pt x="2502" y="1393"/>
                </a:cubicBezTo>
                <a:cubicBezTo>
                  <a:pt x="2478" y="1393"/>
                  <a:pt x="2478" y="1393"/>
                  <a:pt x="2478" y="1393"/>
                </a:cubicBezTo>
                <a:cubicBezTo>
                  <a:pt x="2478" y="1402"/>
                  <a:pt x="2478" y="1402"/>
                  <a:pt x="2478" y="1402"/>
                </a:cubicBezTo>
                <a:cubicBezTo>
                  <a:pt x="2470" y="1402"/>
                  <a:pt x="2470" y="1402"/>
                  <a:pt x="2470" y="1402"/>
                </a:cubicBezTo>
                <a:cubicBezTo>
                  <a:pt x="2470" y="1378"/>
                  <a:pt x="2470" y="1378"/>
                  <a:pt x="2470" y="1378"/>
                </a:cubicBezTo>
                <a:cubicBezTo>
                  <a:pt x="2443" y="1378"/>
                  <a:pt x="2443" y="1378"/>
                  <a:pt x="2443" y="1378"/>
                </a:cubicBezTo>
                <a:cubicBezTo>
                  <a:pt x="2432" y="1388"/>
                  <a:pt x="2432" y="1388"/>
                  <a:pt x="2432" y="1388"/>
                </a:cubicBezTo>
                <a:cubicBezTo>
                  <a:pt x="2417" y="1388"/>
                  <a:pt x="2417" y="1388"/>
                  <a:pt x="2417" y="1388"/>
                </a:cubicBezTo>
                <a:cubicBezTo>
                  <a:pt x="2408" y="1375"/>
                  <a:pt x="2408" y="1375"/>
                  <a:pt x="2408" y="1375"/>
                </a:cubicBezTo>
                <a:cubicBezTo>
                  <a:pt x="2393" y="1375"/>
                  <a:pt x="2393" y="1375"/>
                  <a:pt x="2393" y="1375"/>
                </a:cubicBezTo>
                <a:cubicBezTo>
                  <a:pt x="2381" y="1388"/>
                  <a:pt x="2381" y="1388"/>
                  <a:pt x="2381" y="1388"/>
                </a:cubicBezTo>
                <a:cubicBezTo>
                  <a:pt x="2365" y="1388"/>
                  <a:pt x="2365" y="1388"/>
                  <a:pt x="2365" y="1388"/>
                </a:cubicBezTo>
                <a:cubicBezTo>
                  <a:pt x="2365" y="1465"/>
                  <a:pt x="2365" y="1465"/>
                  <a:pt x="2365" y="1465"/>
                </a:cubicBezTo>
                <a:cubicBezTo>
                  <a:pt x="2310" y="1465"/>
                  <a:pt x="2310" y="1465"/>
                  <a:pt x="2310" y="1465"/>
                </a:cubicBezTo>
                <a:cubicBezTo>
                  <a:pt x="2310" y="1440"/>
                  <a:pt x="2310" y="1440"/>
                  <a:pt x="2310" y="1440"/>
                </a:cubicBezTo>
                <a:cubicBezTo>
                  <a:pt x="2284" y="1420"/>
                  <a:pt x="2284" y="1420"/>
                  <a:pt x="2284" y="1420"/>
                </a:cubicBezTo>
                <a:cubicBezTo>
                  <a:pt x="2279" y="1380"/>
                  <a:pt x="2279" y="1380"/>
                  <a:pt x="2279" y="1380"/>
                </a:cubicBezTo>
                <a:cubicBezTo>
                  <a:pt x="2273" y="1419"/>
                  <a:pt x="2273" y="1419"/>
                  <a:pt x="2273" y="1419"/>
                </a:cubicBezTo>
                <a:cubicBezTo>
                  <a:pt x="2243" y="1441"/>
                  <a:pt x="2243" y="1441"/>
                  <a:pt x="2243" y="1441"/>
                </a:cubicBezTo>
                <a:cubicBezTo>
                  <a:pt x="2243" y="1457"/>
                  <a:pt x="2243" y="1457"/>
                  <a:pt x="2243" y="1457"/>
                </a:cubicBezTo>
                <a:cubicBezTo>
                  <a:pt x="2199" y="1457"/>
                  <a:pt x="2199" y="1457"/>
                  <a:pt x="2199" y="1457"/>
                </a:cubicBezTo>
                <a:cubicBezTo>
                  <a:pt x="2199" y="1401"/>
                  <a:pt x="2199" y="1401"/>
                  <a:pt x="2199" y="1401"/>
                </a:cubicBezTo>
                <a:cubicBezTo>
                  <a:pt x="2177" y="1401"/>
                  <a:pt x="2177" y="1401"/>
                  <a:pt x="2177" y="1401"/>
                </a:cubicBezTo>
                <a:cubicBezTo>
                  <a:pt x="2177" y="1391"/>
                  <a:pt x="2177" y="1391"/>
                  <a:pt x="2177" y="1391"/>
                </a:cubicBezTo>
                <a:cubicBezTo>
                  <a:pt x="2152" y="1391"/>
                  <a:pt x="2152" y="1391"/>
                  <a:pt x="2152" y="1391"/>
                </a:cubicBezTo>
                <a:cubicBezTo>
                  <a:pt x="2152" y="1409"/>
                  <a:pt x="2152" y="1409"/>
                  <a:pt x="2152" y="1409"/>
                </a:cubicBezTo>
                <a:cubicBezTo>
                  <a:pt x="2139" y="1409"/>
                  <a:pt x="2139" y="1409"/>
                  <a:pt x="2139" y="1409"/>
                </a:cubicBezTo>
                <a:cubicBezTo>
                  <a:pt x="2139" y="1371"/>
                  <a:pt x="2139" y="1371"/>
                  <a:pt x="2139" y="1371"/>
                </a:cubicBezTo>
                <a:cubicBezTo>
                  <a:pt x="2093" y="1371"/>
                  <a:pt x="2093" y="1371"/>
                  <a:pt x="2093" y="1371"/>
                </a:cubicBezTo>
                <a:cubicBezTo>
                  <a:pt x="2093" y="1436"/>
                  <a:pt x="2093" y="1436"/>
                  <a:pt x="2093" y="1436"/>
                </a:cubicBezTo>
                <a:cubicBezTo>
                  <a:pt x="2077" y="1436"/>
                  <a:pt x="2077" y="1436"/>
                  <a:pt x="2077" y="1436"/>
                </a:cubicBezTo>
                <a:cubicBezTo>
                  <a:pt x="2077" y="1453"/>
                  <a:pt x="2077" y="1453"/>
                  <a:pt x="2077" y="1453"/>
                </a:cubicBezTo>
                <a:cubicBezTo>
                  <a:pt x="2068" y="1453"/>
                  <a:pt x="2068" y="1453"/>
                  <a:pt x="2068" y="1453"/>
                </a:cubicBezTo>
                <a:cubicBezTo>
                  <a:pt x="2068" y="1463"/>
                  <a:pt x="2068" y="1463"/>
                  <a:pt x="2068" y="1463"/>
                </a:cubicBezTo>
                <a:cubicBezTo>
                  <a:pt x="2055" y="1463"/>
                  <a:pt x="2055" y="1463"/>
                  <a:pt x="2055" y="1463"/>
                </a:cubicBezTo>
                <a:cubicBezTo>
                  <a:pt x="2055" y="1453"/>
                  <a:pt x="2055" y="1453"/>
                  <a:pt x="2055" y="1453"/>
                </a:cubicBezTo>
                <a:cubicBezTo>
                  <a:pt x="2033" y="1453"/>
                  <a:pt x="2033" y="1453"/>
                  <a:pt x="2033" y="1453"/>
                </a:cubicBezTo>
                <a:cubicBezTo>
                  <a:pt x="2033" y="1461"/>
                  <a:pt x="2033" y="1461"/>
                  <a:pt x="2033" y="1461"/>
                </a:cubicBezTo>
                <a:cubicBezTo>
                  <a:pt x="2004" y="1461"/>
                  <a:pt x="2004" y="1461"/>
                  <a:pt x="2004" y="1461"/>
                </a:cubicBezTo>
                <a:cubicBezTo>
                  <a:pt x="2004" y="1471"/>
                  <a:pt x="2004" y="1471"/>
                  <a:pt x="2004" y="1471"/>
                </a:cubicBezTo>
                <a:cubicBezTo>
                  <a:pt x="1996" y="1471"/>
                  <a:pt x="1996" y="1471"/>
                  <a:pt x="1996" y="1471"/>
                </a:cubicBezTo>
                <a:cubicBezTo>
                  <a:pt x="1996" y="1463"/>
                  <a:pt x="1996" y="1463"/>
                  <a:pt x="1996" y="1463"/>
                </a:cubicBezTo>
                <a:cubicBezTo>
                  <a:pt x="1983" y="1463"/>
                  <a:pt x="1983" y="1463"/>
                  <a:pt x="1983" y="1463"/>
                </a:cubicBezTo>
                <a:cubicBezTo>
                  <a:pt x="1983" y="1479"/>
                  <a:pt x="1983" y="1479"/>
                  <a:pt x="1983" y="1479"/>
                </a:cubicBezTo>
                <a:cubicBezTo>
                  <a:pt x="1975" y="1479"/>
                  <a:pt x="1975" y="1479"/>
                  <a:pt x="1975" y="1479"/>
                </a:cubicBezTo>
                <a:cubicBezTo>
                  <a:pt x="1975" y="1343"/>
                  <a:pt x="1975" y="1343"/>
                  <a:pt x="1975" y="1343"/>
                </a:cubicBezTo>
                <a:cubicBezTo>
                  <a:pt x="1952" y="1343"/>
                  <a:pt x="1952" y="1343"/>
                  <a:pt x="1952" y="1343"/>
                </a:cubicBezTo>
                <a:cubicBezTo>
                  <a:pt x="1952" y="1352"/>
                  <a:pt x="1952" y="1352"/>
                  <a:pt x="1952" y="1352"/>
                </a:cubicBezTo>
                <a:cubicBezTo>
                  <a:pt x="1943" y="1352"/>
                  <a:pt x="1943" y="1352"/>
                  <a:pt x="1943" y="1352"/>
                </a:cubicBezTo>
                <a:cubicBezTo>
                  <a:pt x="1935" y="1335"/>
                  <a:pt x="1935" y="1335"/>
                  <a:pt x="1935" y="1335"/>
                </a:cubicBezTo>
                <a:cubicBezTo>
                  <a:pt x="1921" y="1335"/>
                  <a:pt x="1921" y="1335"/>
                  <a:pt x="1921" y="1335"/>
                </a:cubicBezTo>
                <a:cubicBezTo>
                  <a:pt x="1912" y="1352"/>
                  <a:pt x="1912" y="1352"/>
                  <a:pt x="1912" y="1352"/>
                </a:cubicBezTo>
                <a:cubicBezTo>
                  <a:pt x="1877" y="1352"/>
                  <a:pt x="1877" y="1352"/>
                  <a:pt x="1877" y="1352"/>
                </a:cubicBezTo>
                <a:cubicBezTo>
                  <a:pt x="1877" y="1456"/>
                  <a:pt x="1877" y="1456"/>
                  <a:pt x="1877" y="1456"/>
                </a:cubicBezTo>
                <a:cubicBezTo>
                  <a:pt x="1805" y="1456"/>
                  <a:pt x="1805" y="1456"/>
                  <a:pt x="1805" y="1456"/>
                </a:cubicBezTo>
                <a:cubicBezTo>
                  <a:pt x="1791" y="1441"/>
                  <a:pt x="1791" y="1441"/>
                  <a:pt x="1791" y="1441"/>
                </a:cubicBezTo>
                <a:cubicBezTo>
                  <a:pt x="1781" y="1452"/>
                  <a:pt x="1781" y="1452"/>
                  <a:pt x="1781" y="1452"/>
                </a:cubicBezTo>
                <a:cubicBezTo>
                  <a:pt x="1771" y="1452"/>
                  <a:pt x="1771" y="1452"/>
                  <a:pt x="1771" y="1452"/>
                </a:cubicBezTo>
                <a:cubicBezTo>
                  <a:pt x="1756" y="1437"/>
                  <a:pt x="1756" y="1437"/>
                  <a:pt x="1756" y="1437"/>
                </a:cubicBezTo>
                <a:cubicBezTo>
                  <a:pt x="1744" y="1437"/>
                  <a:pt x="1744" y="1437"/>
                  <a:pt x="1744" y="1437"/>
                </a:cubicBezTo>
                <a:cubicBezTo>
                  <a:pt x="1731" y="1448"/>
                  <a:pt x="1731" y="1448"/>
                  <a:pt x="1731" y="1448"/>
                </a:cubicBezTo>
                <a:cubicBezTo>
                  <a:pt x="1699" y="1448"/>
                  <a:pt x="1699" y="1448"/>
                  <a:pt x="1699" y="1448"/>
                </a:cubicBezTo>
                <a:cubicBezTo>
                  <a:pt x="1699" y="1437"/>
                  <a:pt x="1699" y="1437"/>
                  <a:pt x="1699" y="1437"/>
                </a:cubicBezTo>
                <a:cubicBezTo>
                  <a:pt x="1673" y="1437"/>
                  <a:pt x="1673" y="1437"/>
                  <a:pt x="1673" y="1437"/>
                </a:cubicBezTo>
                <a:cubicBezTo>
                  <a:pt x="1673" y="1469"/>
                  <a:pt x="1673" y="1469"/>
                  <a:pt x="1673" y="1469"/>
                </a:cubicBezTo>
                <a:cubicBezTo>
                  <a:pt x="1656" y="1469"/>
                  <a:pt x="1656" y="1469"/>
                  <a:pt x="1656" y="1469"/>
                </a:cubicBezTo>
                <a:cubicBezTo>
                  <a:pt x="1656" y="1459"/>
                  <a:pt x="1656" y="1459"/>
                  <a:pt x="1656" y="1459"/>
                </a:cubicBezTo>
                <a:cubicBezTo>
                  <a:pt x="1619" y="1459"/>
                  <a:pt x="1619" y="1459"/>
                  <a:pt x="1619" y="1459"/>
                </a:cubicBezTo>
                <a:cubicBezTo>
                  <a:pt x="1619" y="1448"/>
                  <a:pt x="1619" y="1448"/>
                  <a:pt x="1619" y="1448"/>
                </a:cubicBezTo>
                <a:cubicBezTo>
                  <a:pt x="1587" y="1448"/>
                  <a:pt x="1587" y="1448"/>
                  <a:pt x="1587" y="1448"/>
                </a:cubicBezTo>
                <a:cubicBezTo>
                  <a:pt x="1587" y="1459"/>
                  <a:pt x="1587" y="1459"/>
                  <a:pt x="1587" y="1459"/>
                </a:cubicBezTo>
                <a:cubicBezTo>
                  <a:pt x="1563" y="1459"/>
                  <a:pt x="1563" y="1459"/>
                  <a:pt x="1563" y="1459"/>
                </a:cubicBezTo>
                <a:cubicBezTo>
                  <a:pt x="1563" y="1407"/>
                  <a:pt x="1563" y="1407"/>
                  <a:pt x="1563" y="1407"/>
                </a:cubicBezTo>
                <a:cubicBezTo>
                  <a:pt x="1531" y="1393"/>
                  <a:pt x="1531" y="1393"/>
                  <a:pt x="1531" y="1393"/>
                </a:cubicBezTo>
                <a:cubicBezTo>
                  <a:pt x="1531" y="1408"/>
                  <a:pt x="1531" y="1408"/>
                  <a:pt x="1531" y="1408"/>
                </a:cubicBezTo>
                <a:cubicBezTo>
                  <a:pt x="1524" y="1408"/>
                  <a:pt x="1524" y="1408"/>
                  <a:pt x="1524" y="1408"/>
                </a:cubicBezTo>
                <a:cubicBezTo>
                  <a:pt x="1524" y="1331"/>
                  <a:pt x="1524" y="1331"/>
                  <a:pt x="1524" y="1331"/>
                </a:cubicBezTo>
                <a:cubicBezTo>
                  <a:pt x="1507" y="1331"/>
                  <a:pt x="1507" y="1331"/>
                  <a:pt x="1507" y="1331"/>
                </a:cubicBezTo>
                <a:cubicBezTo>
                  <a:pt x="1507" y="1307"/>
                  <a:pt x="1507" y="1307"/>
                  <a:pt x="1507" y="1307"/>
                </a:cubicBezTo>
                <a:cubicBezTo>
                  <a:pt x="1479" y="1307"/>
                  <a:pt x="1479" y="1307"/>
                  <a:pt x="1479" y="1307"/>
                </a:cubicBezTo>
                <a:cubicBezTo>
                  <a:pt x="1479" y="1281"/>
                  <a:pt x="1479" y="1281"/>
                  <a:pt x="1479" y="1281"/>
                </a:cubicBezTo>
                <a:cubicBezTo>
                  <a:pt x="1465" y="1281"/>
                  <a:pt x="1465" y="1281"/>
                  <a:pt x="1465" y="1281"/>
                </a:cubicBezTo>
                <a:cubicBezTo>
                  <a:pt x="1465" y="1307"/>
                  <a:pt x="1465" y="1307"/>
                  <a:pt x="1465" y="1307"/>
                </a:cubicBezTo>
                <a:cubicBezTo>
                  <a:pt x="1443" y="1307"/>
                  <a:pt x="1443" y="1307"/>
                  <a:pt x="1443" y="1307"/>
                </a:cubicBezTo>
                <a:cubicBezTo>
                  <a:pt x="1443" y="1265"/>
                  <a:pt x="1443" y="1265"/>
                  <a:pt x="1443" y="1265"/>
                </a:cubicBezTo>
                <a:cubicBezTo>
                  <a:pt x="1443" y="1265"/>
                  <a:pt x="1412" y="1232"/>
                  <a:pt x="1389" y="1232"/>
                </a:cubicBezTo>
                <a:cubicBezTo>
                  <a:pt x="1367" y="1232"/>
                  <a:pt x="1337" y="1269"/>
                  <a:pt x="1337" y="1269"/>
                </a:cubicBezTo>
                <a:cubicBezTo>
                  <a:pt x="1337" y="1359"/>
                  <a:pt x="1337" y="1359"/>
                  <a:pt x="1337" y="1359"/>
                </a:cubicBezTo>
                <a:cubicBezTo>
                  <a:pt x="1315" y="1359"/>
                  <a:pt x="1315" y="1359"/>
                  <a:pt x="1315" y="1359"/>
                </a:cubicBezTo>
                <a:cubicBezTo>
                  <a:pt x="1315" y="1417"/>
                  <a:pt x="1315" y="1417"/>
                  <a:pt x="1315" y="1417"/>
                </a:cubicBezTo>
                <a:cubicBezTo>
                  <a:pt x="1275" y="1432"/>
                  <a:pt x="1275" y="1432"/>
                  <a:pt x="1275" y="1432"/>
                </a:cubicBezTo>
                <a:cubicBezTo>
                  <a:pt x="1275" y="1445"/>
                  <a:pt x="1275" y="1445"/>
                  <a:pt x="1275" y="1445"/>
                </a:cubicBezTo>
                <a:cubicBezTo>
                  <a:pt x="1267" y="1445"/>
                  <a:pt x="1267" y="1445"/>
                  <a:pt x="1267" y="1445"/>
                </a:cubicBezTo>
                <a:cubicBezTo>
                  <a:pt x="1267" y="1421"/>
                  <a:pt x="1267" y="1421"/>
                  <a:pt x="1267" y="1421"/>
                </a:cubicBezTo>
                <a:cubicBezTo>
                  <a:pt x="1253" y="1421"/>
                  <a:pt x="1253" y="1421"/>
                  <a:pt x="1253" y="1421"/>
                </a:cubicBezTo>
                <a:cubicBezTo>
                  <a:pt x="1235" y="1395"/>
                  <a:pt x="1235" y="1395"/>
                  <a:pt x="1235" y="1395"/>
                </a:cubicBezTo>
                <a:cubicBezTo>
                  <a:pt x="1213" y="1416"/>
                  <a:pt x="1213" y="1416"/>
                  <a:pt x="1213" y="1416"/>
                </a:cubicBezTo>
                <a:cubicBezTo>
                  <a:pt x="1213" y="1399"/>
                  <a:pt x="1213" y="1399"/>
                  <a:pt x="1213" y="1399"/>
                </a:cubicBezTo>
                <a:cubicBezTo>
                  <a:pt x="1200" y="1399"/>
                  <a:pt x="1200" y="1399"/>
                  <a:pt x="1200" y="1399"/>
                </a:cubicBezTo>
                <a:cubicBezTo>
                  <a:pt x="1200" y="1409"/>
                  <a:pt x="1200" y="1409"/>
                  <a:pt x="1200" y="1409"/>
                </a:cubicBezTo>
                <a:cubicBezTo>
                  <a:pt x="1189" y="1409"/>
                  <a:pt x="1189" y="1409"/>
                  <a:pt x="1189" y="1409"/>
                </a:cubicBezTo>
                <a:cubicBezTo>
                  <a:pt x="1189" y="1392"/>
                  <a:pt x="1189" y="1392"/>
                  <a:pt x="1189" y="1392"/>
                </a:cubicBezTo>
                <a:cubicBezTo>
                  <a:pt x="1164" y="1392"/>
                  <a:pt x="1164" y="1392"/>
                  <a:pt x="1164" y="1392"/>
                </a:cubicBezTo>
                <a:cubicBezTo>
                  <a:pt x="1164" y="1401"/>
                  <a:pt x="1164" y="1401"/>
                  <a:pt x="1164" y="1401"/>
                </a:cubicBezTo>
                <a:cubicBezTo>
                  <a:pt x="1155" y="1401"/>
                  <a:pt x="1155" y="1401"/>
                  <a:pt x="1155" y="1401"/>
                </a:cubicBezTo>
                <a:cubicBezTo>
                  <a:pt x="1155" y="1417"/>
                  <a:pt x="1155" y="1417"/>
                  <a:pt x="1155" y="1417"/>
                </a:cubicBezTo>
                <a:cubicBezTo>
                  <a:pt x="1133" y="1417"/>
                  <a:pt x="1133" y="1417"/>
                  <a:pt x="1133" y="1417"/>
                </a:cubicBezTo>
                <a:cubicBezTo>
                  <a:pt x="1133" y="1397"/>
                  <a:pt x="1133" y="1397"/>
                  <a:pt x="1133" y="1397"/>
                </a:cubicBezTo>
                <a:cubicBezTo>
                  <a:pt x="1123" y="1397"/>
                  <a:pt x="1123" y="1397"/>
                  <a:pt x="1123" y="1397"/>
                </a:cubicBezTo>
                <a:cubicBezTo>
                  <a:pt x="1112" y="1385"/>
                  <a:pt x="1112" y="1385"/>
                  <a:pt x="1112" y="1385"/>
                </a:cubicBezTo>
                <a:cubicBezTo>
                  <a:pt x="1104" y="1391"/>
                  <a:pt x="1104" y="1391"/>
                  <a:pt x="1104" y="1391"/>
                </a:cubicBezTo>
                <a:cubicBezTo>
                  <a:pt x="1095" y="1391"/>
                  <a:pt x="1095" y="1391"/>
                  <a:pt x="1095" y="1391"/>
                </a:cubicBezTo>
                <a:cubicBezTo>
                  <a:pt x="1076" y="1368"/>
                  <a:pt x="1076" y="1368"/>
                  <a:pt x="1076" y="1368"/>
                </a:cubicBezTo>
                <a:cubicBezTo>
                  <a:pt x="1063" y="1389"/>
                  <a:pt x="1063" y="1389"/>
                  <a:pt x="1063" y="1389"/>
                </a:cubicBezTo>
                <a:cubicBezTo>
                  <a:pt x="1051" y="1389"/>
                  <a:pt x="1051" y="1389"/>
                  <a:pt x="1051" y="1389"/>
                </a:cubicBezTo>
                <a:cubicBezTo>
                  <a:pt x="1051" y="1371"/>
                  <a:pt x="1051" y="1371"/>
                  <a:pt x="1051" y="1371"/>
                </a:cubicBezTo>
                <a:cubicBezTo>
                  <a:pt x="1031" y="1371"/>
                  <a:pt x="1031" y="1371"/>
                  <a:pt x="1031" y="1371"/>
                </a:cubicBezTo>
                <a:cubicBezTo>
                  <a:pt x="1031" y="1391"/>
                  <a:pt x="1031" y="1391"/>
                  <a:pt x="1031" y="1391"/>
                </a:cubicBezTo>
                <a:cubicBezTo>
                  <a:pt x="1020" y="1403"/>
                  <a:pt x="1020" y="1403"/>
                  <a:pt x="1020" y="1403"/>
                </a:cubicBezTo>
                <a:cubicBezTo>
                  <a:pt x="1012" y="1403"/>
                  <a:pt x="1012" y="1403"/>
                  <a:pt x="1012" y="1403"/>
                </a:cubicBezTo>
                <a:cubicBezTo>
                  <a:pt x="1012" y="1376"/>
                  <a:pt x="1012" y="1376"/>
                  <a:pt x="1012" y="1376"/>
                </a:cubicBezTo>
                <a:cubicBezTo>
                  <a:pt x="999" y="1376"/>
                  <a:pt x="999" y="1376"/>
                  <a:pt x="999" y="1376"/>
                </a:cubicBezTo>
                <a:cubicBezTo>
                  <a:pt x="988" y="1359"/>
                  <a:pt x="988" y="1359"/>
                  <a:pt x="988" y="1359"/>
                </a:cubicBezTo>
                <a:cubicBezTo>
                  <a:pt x="969" y="1381"/>
                  <a:pt x="969" y="1381"/>
                  <a:pt x="969" y="1381"/>
                </a:cubicBezTo>
                <a:cubicBezTo>
                  <a:pt x="969" y="1224"/>
                  <a:pt x="969" y="1224"/>
                  <a:pt x="969" y="1224"/>
                </a:cubicBezTo>
                <a:cubicBezTo>
                  <a:pt x="943" y="1224"/>
                  <a:pt x="943" y="1224"/>
                  <a:pt x="943" y="1224"/>
                </a:cubicBezTo>
                <a:cubicBezTo>
                  <a:pt x="943" y="1212"/>
                  <a:pt x="943" y="1212"/>
                  <a:pt x="943" y="1212"/>
                </a:cubicBezTo>
                <a:cubicBezTo>
                  <a:pt x="969" y="1212"/>
                  <a:pt x="969" y="1212"/>
                  <a:pt x="969" y="1212"/>
                </a:cubicBezTo>
                <a:cubicBezTo>
                  <a:pt x="969" y="1204"/>
                  <a:pt x="969" y="1204"/>
                  <a:pt x="969" y="1204"/>
                </a:cubicBezTo>
                <a:cubicBezTo>
                  <a:pt x="847" y="1204"/>
                  <a:pt x="847" y="1204"/>
                  <a:pt x="847" y="1204"/>
                </a:cubicBezTo>
                <a:cubicBezTo>
                  <a:pt x="847" y="1211"/>
                  <a:pt x="847" y="1211"/>
                  <a:pt x="847" y="1211"/>
                </a:cubicBezTo>
                <a:cubicBezTo>
                  <a:pt x="857" y="1211"/>
                  <a:pt x="857" y="1211"/>
                  <a:pt x="857" y="1211"/>
                </a:cubicBezTo>
                <a:cubicBezTo>
                  <a:pt x="857" y="1224"/>
                  <a:pt x="857" y="1224"/>
                  <a:pt x="857" y="1224"/>
                </a:cubicBezTo>
                <a:cubicBezTo>
                  <a:pt x="843" y="1224"/>
                  <a:pt x="843" y="1224"/>
                  <a:pt x="843" y="1224"/>
                </a:cubicBezTo>
                <a:cubicBezTo>
                  <a:pt x="843" y="1375"/>
                  <a:pt x="843" y="1375"/>
                  <a:pt x="843" y="1375"/>
                </a:cubicBezTo>
                <a:cubicBezTo>
                  <a:pt x="828" y="1375"/>
                  <a:pt x="828" y="1375"/>
                  <a:pt x="828" y="1375"/>
                </a:cubicBezTo>
                <a:cubicBezTo>
                  <a:pt x="828" y="1387"/>
                  <a:pt x="828" y="1387"/>
                  <a:pt x="828" y="1387"/>
                </a:cubicBezTo>
                <a:cubicBezTo>
                  <a:pt x="816" y="1387"/>
                  <a:pt x="816" y="1387"/>
                  <a:pt x="816" y="1387"/>
                </a:cubicBezTo>
                <a:cubicBezTo>
                  <a:pt x="816" y="1403"/>
                  <a:pt x="816" y="1403"/>
                  <a:pt x="816" y="1403"/>
                </a:cubicBezTo>
                <a:cubicBezTo>
                  <a:pt x="804" y="1403"/>
                  <a:pt x="804" y="1403"/>
                  <a:pt x="804" y="1403"/>
                </a:cubicBezTo>
                <a:cubicBezTo>
                  <a:pt x="787" y="1393"/>
                  <a:pt x="787" y="1393"/>
                  <a:pt x="787" y="1393"/>
                </a:cubicBezTo>
                <a:cubicBezTo>
                  <a:pt x="787" y="1193"/>
                  <a:pt x="787" y="1193"/>
                  <a:pt x="787" y="1193"/>
                </a:cubicBezTo>
                <a:cubicBezTo>
                  <a:pt x="691" y="1193"/>
                  <a:pt x="691" y="1193"/>
                  <a:pt x="691" y="1193"/>
                </a:cubicBezTo>
                <a:cubicBezTo>
                  <a:pt x="691" y="1427"/>
                  <a:pt x="691" y="1427"/>
                  <a:pt x="691" y="1427"/>
                </a:cubicBezTo>
                <a:cubicBezTo>
                  <a:pt x="664" y="1427"/>
                  <a:pt x="664" y="1427"/>
                  <a:pt x="664" y="1427"/>
                </a:cubicBezTo>
                <a:cubicBezTo>
                  <a:pt x="664" y="1445"/>
                  <a:pt x="664" y="1445"/>
                  <a:pt x="664" y="1445"/>
                </a:cubicBezTo>
                <a:cubicBezTo>
                  <a:pt x="640" y="1445"/>
                  <a:pt x="640" y="1445"/>
                  <a:pt x="640" y="1445"/>
                </a:cubicBezTo>
                <a:cubicBezTo>
                  <a:pt x="640" y="1436"/>
                  <a:pt x="640" y="1436"/>
                  <a:pt x="640" y="1436"/>
                </a:cubicBezTo>
                <a:cubicBezTo>
                  <a:pt x="625" y="1436"/>
                  <a:pt x="625" y="1436"/>
                  <a:pt x="625" y="1436"/>
                </a:cubicBezTo>
                <a:cubicBezTo>
                  <a:pt x="625" y="1237"/>
                  <a:pt x="625" y="1237"/>
                  <a:pt x="625" y="1237"/>
                </a:cubicBezTo>
                <a:cubicBezTo>
                  <a:pt x="601" y="1237"/>
                  <a:pt x="601" y="1237"/>
                  <a:pt x="601" y="1237"/>
                </a:cubicBezTo>
                <a:cubicBezTo>
                  <a:pt x="601" y="1228"/>
                  <a:pt x="601" y="1228"/>
                  <a:pt x="601" y="1228"/>
                </a:cubicBezTo>
                <a:cubicBezTo>
                  <a:pt x="536" y="1228"/>
                  <a:pt x="536" y="1228"/>
                  <a:pt x="536" y="1228"/>
                </a:cubicBezTo>
                <a:cubicBezTo>
                  <a:pt x="536" y="1241"/>
                  <a:pt x="536" y="1241"/>
                  <a:pt x="536" y="1241"/>
                </a:cubicBezTo>
                <a:cubicBezTo>
                  <a:pt x="515" y="1241"/>
                  <a:pt x="515" y="1241"/>
                  <a:pt x="515" y="1241"/>
                </a:cubicBezTo>
                <a:cubicBezTo>
                  <a:pt x="515" y="1227"/>
                  <a:pt x="515" y="1227"/>
                  <a:pt x="515" y="1227"/>
                </a:cubicBezTo>
                <a:cubicBezTo>
                  <a:pt x="501" y="1227"/>
                  <a:pt x="501" y="1227"/>
                  <a:pt x="501" y="1227"/>
                </a:cubicBezTo>
                <a:cubicBezTo>
                  <a:pt x="501" y="1227"/>
                  <a:pt x="487" y="1169"/>
                  <a:pt x="456" y="1169"/>
                </a:cubicBezTo>
                <a:cubicBezTo>
                  <a:pt x="425" y="1169"/>
                  <a:pt x="401" y="1224"/>
                  <a:pt x="401" y="1224"/>
                </a:cubicBezTo>
                <a:cubicBezTo>
                  <a:pt x="392" y="1224"/>
                  <a:pt x="392" y="1224"/>
                  <a:pt x="392" y="1224"/>
                </a:cubicBezTo>
                <a:cubicBezTo>
                  <a:pt x="392" y="1243"/>
                  <a:pt x="392" y="1243"/>
                  <a:pt x="392" y="1243"/>
                </a:cubicBezTo>
                <a:cubicBezTo>
                  <a:pt x="373" y="1243"/>
                  <a:pt x="373" y="1243"/>
                  <a:pt x="373" y="1243"/>
                </a:cubicBezTo>
                <a:cubicBezTo>
                  <a:pt x="373" y="1233"/>
                  <a:pt x="373" y="1233"/>
                  <a:pt x="373" y="1233"/>
                </a:cubicBezTo>
                <a:cubicBezTo>
                  <a:pt x="320" y="1233"/>
                  <a:pt x="320" y="1233"/>
                  <a:pt x="320" y="1233"/>
                </a:cubicBezTo>
                <a:cubicBezTo>
                  <a:pt x="320" y="1245"/>
                  <a:pt x="320" y="1245"/>
                  <a:pt x="320" y="1245"/>
                </a:cubicBezTo>
                <a:cubicBezTo>
                  <a:pt x="303" y="1245"/>
                  <a:pt x="303" y="1245"/>
                  <a:pt x="303" y="1245"/>
                </a:cubicBezTo>
                <a:cubicBezTo>
                  <a:pt x="288" y="1257"/>
                  <a:pt x="288" y="1257"/>
                  <a:pt x="288" y="1257"/>
                </a:cubicBezTo>
                <a:cubicBezTo>
                  <a:pt x="288" y="1331"/>
                  <a:pt x="288" y="1331"/>
                  <a:pt x="288" y="1331"/>
                </a:cubicBezTo>
                <a:cubicBezTo>
                  <a:pt x="268" y="1331"/>
                  <a:pt x="268" y="1331"/>
                  <a:pt x="268" y="1331"/>
                </a:cubicBezTo>
                <a:cubicBezTo>
                  <a:pt x="268" y="1373"/>
                  <a:pt x="268" y="1373"/>
                  <a:pt x="268" y="1373"/>
                </a:cubicBezTo>
                <a:cubicBezTo>
                  <a:pt x="252" y="1373"/>
                  <a:pt x="252" y="1373"/>
                  <a:pt x="252" y="1373"/>
                </a:cubicBezTo>
                <a:cubicBezTo>
                  <a:pt x="252" y="1325"/>
                  <a:pt x="252" y="1325"/>
                  <a:pt x="252" y="1325"/>
                </a:cubicBezTo>
                <a:cubicBezTo>
                  <a:pt x="236" y="1325"/>
                  <a:pt x="236" y="1325"/>
                  <a:pt x="236" y="1325"/>
                </a:cubicBezTo>
                <a:cubicBezTo>
                  <a:pt x="236" y="1342"/>
                  <a:pt x="236" y="1342"/>
                  <a:pt x="236" y="1342"/>
                </a:cubicBezTo>
                <a:cubicBezTo>
                  <a:pt x="218" y="1342"/>
                  <a:pt x="218" y="1342"/>
                  <a:pt x="218" y="1342"/>
                </a:cubicBezTo>
                <a:cubicBezTo>
                  <a:pt x="218" y="1331"/>
                  <a:pt x="218" y="1331"/>
                  <a:pt x="218" y="1331"/>
                </a:cubicBezTo>
                <a:cubicBezTo>
                  <a:pt x="195" y="1331"/>
                  <a:pt x="195" y="1331"/>
                  <a:pt x="195" y="1331"/>
                </a:cubicBezTo>
                <a:cubicBezTo>
                  <a:pt x="195" y="1312"/>
                  <a:pt x="195" y="1312"/>
                  <a:pt x="195" y="1312"/>
                </a:cubicBezTo>
                <a:cubicBezTo>
                  <a:pt x="182" y="1299"/>
                  <a:pt x="182" y="1299"/>
                  <a:pt x="182" y="1299"/>
                </a:cubicBezTo>
                <a:cubicBezTo>
                  <a:pt x="168" y="1283"/>
                  <a:pt x="168" y="1283"/>
                  <a:pt x="168" y="1283"/>
                </a:cubicBezTo>
                <a:cubicBezTo>
                  <a:pt x="134" y="1283"/>
                  <a:pt x="134" y="1283"/>
                  <a:pt x="134" y="1283"/>
                </a:cubicBezTo>
                <a:cubicBezTo>
                  <a:pt x="102" y="1307"/>
                  <a:pt x="102" y="1307"/>
                  <a:pt x="102" y="1307"/>
                </a:cubicBezTo>
                <a:cubicBezTo>
                  <a:pt x="78" y="1307"/>
                  <a:pt x="78" y="1307"/>
                  <a:pt x="78" y="1307"/>
                </a:cubicBezTo>
                <a:cubicBezTo>
                  <a:pt x="78" y="1401"/>
                  <a:pt x="78" y="1401"/>
                  <a:pt x="78" y="1401"/>
                </a:cubicBezTo>
                <a:cubicBezTo>
                  <a:pt x="56" y="1357"/>
                  <a:pt x="56" y="1357"/>
                  <a:pt x="56" y="1357"/>
                </a:cubicBezTo>
                <a:cubicBezTo>
                  <a:pt x="56" y="1333"/>
                  <a:pt x="56" y="1333"/>
                  <a:pt x="56" y="1333"/>
                </a:cubicBezTo>
                <a:cubicBezTo>
                  <a:pt x="0" y="1333"/>
                  <a:pt x="0" y="1333"/>
                  <a:pt x="0" y="1333"/>
                </a:cubicBezTo>
                <a:cubicBezTo>
                  <a:pt x="0" y="1542"/>
                  <a:pt x="0" y="1542"/>
                  <a:pt x="0" y="1542"/>
                </a:cubicBezTo>
                <a:cubicBezTo>
                  <a:pt x="8000" y="1542"/>
                  <a:pt x="8000" y="1542"/>
                  <a:pt x="8000" y="1542"/>
                </a:cubicBezTo>
                <a:cubicBezTo>
                  <a:pt x="8000" y="1472"/>
                  <a:pt x="8000" y="1472"/>
                  <a:pt x="8000" y="1472"/>
                </a:cubicBezTo>
                <a:lnTo>
                  <a:pt x="7978" y="1472"/>
                </a:lnTo>
                <a:close/>
                <a:moveTo>
                  <a:pt x="3369" y="1457"/>
                </a:moveTo>
                <a:cubicBezTo>
                  <a:pt x="3356" y="1457"/>
                  <a:pt x="3356" y="1457"/>
                  <a:pt x="3356" y="1457"/>
                </a:cubicBezTo>
                <a:cubicBezTo>
                  <a:pt x="3356" y="1408"/>
                  <a:pt x="3356" y="1408"/>
                  <a:pt x="3356" y="1408"/>
                </a:cubicBezTo>
                <a:cubicBezTo>
                  <a:pt x="3369" y="1408"/>
                  <a:pt x="3369" y="1408"/>
                  <a:pt x="3369" y="1408"/>
                </a:cubicBezTo>
                <a:lnTo>
                  <a:pt x="3369" y="1457"/>
                </a:lnTo>
                <a:close/>
                <a:moveTo>
                  <a:pt x="3369" y="1389"/>
                </a:moveTo>
                <a:cubicBezTo>
                  <a:pt x="3356" y="1389"/>
                  <a:pt x="3356" y="1389"/>
                  <a:pt x="3356" y="1389"/>
                </a:cubicBezTo>
                <a:cubicBezTo>
                  <a:pt x="3356" y="1335"/>
                  <a:pt x="3356" y="1335"/>
                  <a:pt x="3356" y="1335"/>
                </a:cubicBezTo>
                <a:cubicBezTo>
                  <a:pt x="3369" y="1335"/>
                  <a:pt x="3369" y="1335"/>
                  <a:pt x="3369" y="1335"/>
                </a:cubicBezTo>
                <a:lnTo>
                  <a:pt x="3369" y="1389"/>
                </a:lnTo>
                <a:close/>
                <a:moveTo>
                  <a:pt x="3356" y="1141"/>
                </a:moveTo>
                <a:cubicBezTo>
                  <a:pt x="3356" y="1098"/>
                  <a:pt x="3356" y="1098"/>
                  <a:pt x="3356" y="1098"/>
                </a:cubicBezTo>
                <a:cubicBezTo>
                  <a:pt x="3356" y="1098"/>
                  <a:pt x="3373" y="1103"/>
                  <a:pt x="3373" y="1119"/>
                </a:cubicBezTo>
                <a:cubicBezTo>
                  <a:pt x="3373" y="1136"/>
                  <a:pt x="3356" y="1141"/>
                  <a:pt x="3356" y="1141"/>
                </a:cubicBezTo>
                <a:close/>
                <a:moveTo>
                  <a:pt x="3356" y="1060"/>
                </a:moveTo>
                <a:cubicBezTo>
                  <a:pt x="3356" y="1024"/>
                  <a:pt x="3356" y="1024"/>
                  <a:pt x="3356" y="1024"/>
                </a:cubicBezTo>
                <a:cubicBezTo>
                  <a:pt x="3356" y="1024"/>
                  <a:pt x="3373" y="1029"/>
                  <a:pt x="3373" y="1042"/>
                </a:cubicBezTo>
                <a:cubicBezTo>
                  <a:pt x="3373" y="1055"/>
                  <a:pt x="3356" y="1060"/>
                  <a:pt x="3356" y="1060"/>
                </a:cubicBezTo>
                <a:close/>
                <a:moveTo>
                  <a:pt x="3356" y="988"/>
                </a:moveTo>
                <a:cubicBezTo>
                  <a:pt x="3356" y="950"/>
                  <a:pt x="3356" y="950"/>
                  <a:pt x="3356" y="950"/>
                </a:cubicBezTo>
                <a:cubicBezTo>
                  <a:pt x="3356" y="950"/>
                  <a:pt x="3373" y="953"/>
                  <a:pt x="3373" y="969"/>
                </a:cubicBezTo>
                <a:cubicBezTo>
                  <a:pt x="3373" y="985"/>
                  <a:pt x="3356" y="988"/>
                  <a:pt x="3356" y="988"/>
                </a:cubicBezTo>
                <a:close/>
                <a:moveTo>
                  <a:pt x="3356" y="911"/>
                </a:moveTo>
                <a:cubicBezTo>
                  <a:pt x="3356" y="872"/>
                  <a:pt x="3356" y="872"/>
                  <a:pt x="3356" y="872"/>
                </a:cubicBezTo>
                <a:cubicBezTo>
                  <a:pt x="3356" y="872"/>
                  <a:pt x="3373" y="878"/>
                  <a:pt x="3373" y="891"/>
                </a:cubicBezTo>
                <a:cubicBezTo>
                  <a:pt x="3373" y="905"/>
                  <a:pt x="3356" y="911"/>
                  <a:pt x="3356" y="911"/>
                </a:cubicBezTo>
                <a:close/>
                <a:moveTo>
                  <a:pt x="3356" y="835"/>
                </a:moveTo>
                <a:cubicBezTo>
                  <a:pt x="3356" y="796"/>
                  <a:pt x="3356" y="796"/>
                  <a:pt x="3356" y="796"/>
                </a:cubicBezTo>
                <a:cubicBezTo>
                  <a:pt x="3356" y="796"/>
                  <a:pt x="3373" y="800"/>
                  <a:pt x="3373" y="815"/>
                </a:cubicBezTo>
                <a:cubicBezTo>
                  <a:pt x="3373" y="831"/>
                  <a:pt x="3356" y="835"/>
                  <a:pt x="3356" y="835"/>
                </a:cubicBezTo>
                <a:close/>
                <a:moveTo>
                  <a:pt x="3356" y="756"/>
                </a:moveTo>
                <a:cubicBezTo>
                  <a:pt x="3356" y="718"/>
                  <a:pt x="3356" y="718"/>
                  <a:pt x="3356" y="718"/>
                </a:cubicBezTo>
                <a:cubicBezTo>
                  <a:pt x="3356" y="718"/>
                  <a:pt x="3373" y="720"/>
                  <a:pt x="3373" y="737"/>
                </a:cubicBezTo>
                <a:cubicBezTo>
                  <a:pt x="3373" y="754"/>
                  <a:pt x="3356" y="756"/>
                  <a:pt x="3356" y="756"/>
                </a:cubicBezTo>
                <a:close/>
                <a:moveTo>
                  <a:pt x="5556" y="570"/>
                </a:moveTo>
                <a:cubicBezTo>
                  <a:pt x="5508" y="582"/>
                  <a:pt x="5508" y="582"/>
                  <a:pt x="5508" y="582"/>
                </a:cubicBezTo>
                <a:cubicBezTo>
                  <a:pt x="5490" y="529"/>
                  <a:pt x="5490" y="529"/>
                  <a:pt x="5490" y="529"/>
                </a:cubicBezTo>
                <a:cubicBezTo>
                  <a:pt x="5566" y="508"/>
                  <a:pt x="5566" y="508"/>
                  <a:pt x="5566" y="508"/>
                </a:cubicBezTo>
                <a:lnTo>
                  <a:pt x="5556" y="570"/>
                </a:lnTo>
                <a:close/>
              </a:path>
            </a:pathLst>
          </a:custGeom>
          <a:noFill xmlns:a="http://schemas.openxmlformats.org/drawingml/2006/main"/>
          <a:ln xmlns:a="http://schemas.openxmlformats.org/drawingml/2006/main" w="9525" cmpd="sng">
            <a:solidFill>
              <a:srgbClr val="41AAD6"/>
            </a:solidFill>
            <a:prstDash val="solid"/>
            <a:headEnd type="none" w="med" len="med"/>
            <a:tailEnd type="none" w="med" len="med"/>
          </a:ln>
        </p:spPr>
        <p:txBody>
          <a:bodyPr xmlns:a="http://schemas.openxmlformats.org/drawingml/2006/main"/>
          <a:lstStyle xmlns:a="http://schemas.openxmlformats.org/drawingml/2006/main"/>
          <a:p xmlns:a="http://schemas.openxmlformats.org/drawingml/2006/main"/>
        </p:txBody>
      </p:sp>
      <p:sp>
        <p:nvSpPr>
          <p:cNvPr id="12" name="矩形 11">
            <a:extLst xmlns:a="http://schemas.openxmlformats.org/drawingml/2006/main">
              <a:ext uri="{FF2B5EF4-FFF2-40B4-BE49-F238E27FC236}">
                <a16:creationId xmlns:a16="http://schemas.microsoft.com/office/drawing/2014/main" id="{1FF82866-6896-44E5-8DF6-995FC4745434}"/>
              </a:ext>
            </a:extLst>
          </p:cNvPr>
          <p:cNvSpPr>
            <a:spLocks xmlns:a="http://schemas.openxmlformats.org/drawingml/2006/main" noGrp="1"/>
          </p:cNvSpPr>
          <p:nvPr/>
        </p:nvSpPr>
        <p:spPr>
          <a:xfrm xmlns:a="http://schemas.openxmlformats.org/drawingml/2006/main">
            <a:off x="0" y="332742"/>
            <a:ext cx="60959" cy="504042"/>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3.xml><?xml version="1.0" encoding="utf-8"?>
<p:sldLayout xmlns:p="http://schemas.openxmlformats.org/presentationml/2006/main" userDrawn="1">
  <p:cSld name="2_封面页">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74f65c58e744ea" /><Relationship Type="http://schemas.openxmlformats.org/officeDocument/2006/relationships/slideLayout" Target="/ppt/slideLayouts/slideLayout1.xml" Id="R6c81b3d393c24cf4" /><Relationship Type="http://schemas.openxmlformats.org/officeDocument/2006/relationships/slideLayout" Target="/ppt/slideLayouts/slideLayout2.xml" Id="R427e016c53af4e16" /><Relationship Type="http://schemas.openxmlformats.org/officeDocument/2006/relationships/slideLayout" Target="/ppt/slideLayouts/slideLayout3.xml" Id="Rebdbeccba5594bee" /><Relationship Type="http://schemas.openxmlformats.org/officeDocument/2006/relationships/slideLayout" Target="/ppt/slideLayouts/slideLayout4.xml" Id="R63953db40b3742b4" /><Relationship Type="http://schemas.openxmlformats.org/officeDocument/2006/relationships/slideLayout" Target="/ppt/slideLayouts/slideLayout5.xml" Id="R763222bbf59141a9" /><Relationship Type="http://schemas.openxmlformats.org/officeDocument/2006/relationships/slideLayout" Target="/ppt/slideLayouts/slideLayout6.xml" Id="Re039cc8a414b4f58" /><Relationship Type="http://schemas.openxmlformats.org/officeDocument/2006/relationships/slideLayout" Target="/ppt/slideLayouts/slideLayout7.xml" Id="Re745655e8edb41e6" /><Relationship Type="http://schemas.openxmlformats.org/officeDocument/2006/relationships/slideLayout" Target="/ppt/slideLayouts/slideLayout8.xml" Id="R70dda37916014c96" /><Relationship Type="http://schemas.openxmlformats.org/officeDocument/2006/relationships/slideLayout" Target="/ppt/slideLayouts/slideLayout9.xml" Id="R2e766e49216d44c1" /><Relationship Type="http://schemas.openxmlformats.org/officeDocument/2006/relationships/slideLayout" Target="/ppt/slideLayouts/slideLayout10.xml" Id="R4cd3744a9715487b" /><Relationship Type="http://schemas.openxmlformats.org/officeDocument/2006/relationships/slideLayout" Target="/ppt/slideLayouts/slideLayout11.xml" Id="R8d2ca999c55949d3" /><Relationship Type="http://schemas.openxmlformats.org/officeDocument/2006/relationships/slideLayout" Target="/ppt/slideLayouts/slideLayout12.xml" Id="R827e166fe26c4b73" /><Relationship Type="http://schemas.openxmlformats.org/officeDocument/2006/relationships/slideLayout" Target="/ppt/slideLayouts/slideLayout13.xml" Id="R7255ab6e81ed452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815BCE30-7728-40FD-B703-808371BCB74E}"/>
              </a:ext>
            </a:extLst>
          </p:cNvPr>
          <p:cNvSpPr>
            <a:spLocks xmlns:a="http://schemas.openxmlformats.org/drawingml/2006/main" noGrp="1"/>
          </p:cNvSpPr>
          <p:nvPr>
            <p:ph type="title" idx="0"/>
          </p:nvPr>
        </p:nvSpPr>
        <p:spPr>
          <a:xfrm xmlns:a="http://schemas.openxmlformats.org/drawingml/2006/main">
            <a:off x="608400" y="608400"/>
            <a:ext cx="10969200" cy="705600"/>
          </a:xfrm>
          <a:prstGeom xmlns:a="http://schemas.openxmlformats.org/drawingml/2006/main" prst="rect">
            <a:avLst/>
          </a:prstGeom>
        </p:spPr>
        <p:txBody>
          <a:bodyPr xmlns:a="http://schemas.openxmlformats.org/drawingml/2006/main" vert="horz" lIns="90170" tIns="46990" rIns="90170" bIns="4699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AB04F9C2-894A-4FD2-8755-0C22E613F895}"/>
              </a:ext>
            </a:extLst>
          </p:cNvPr>
          <p:cNvSpPr>
            <a:spLocks xmlns:a="http://schemas.openxmlformats.org/drawingml/2006/main" noGrp="1"/>
          </p:cNvSpPr>
          <p:nvPr>
            <p:ph type="body" idx="1"/>
          </p:nvPr>
        </p:nvSpPr>
        <p:spPr>
          <a:xfrm xmlns:a="http://schemas.openxmlformats.org/drawingml/2006/main">
            <a:off x="608400" y="1490400"/>
            <a:ext cx="10969200" cy="4759200"/>
          </a:xfrm>
          <a:prstGeom xmlns:a="http://schemas.openxmlformats.org/drawingml/2006/main" prst="rect">
            <a:avLst/>
          </a:prstGeom>
        </p:spPr>
        <p:txBody>
          <a:bodyPr xmlns:a="http://schemas.openxmlformats.org/drawingml/2006/main" vert="horz" lIns="90000" tIns="46800" rIns="90000" bIns="4680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96C3C124-8B86-450B-851C-F15B1F307B82}"/>
              </a:ext>
            </a:extLst>
          </p:cNvPr>
          <p:cNvSpPr>
            <a:spLocks xmlns:a="http://schemas.openxmlformats.org/drawingml/2006/main" noGrp="1"/>
          </p:cNvSpPr>
          <p:nvPr>
            <p:ph type="dt" idx="2"/>
          </p:nvPr>
        </p:nvSpPr>
        <p:spPr>
          <a:xfrm xmlns:a="http://schemas.openxmlformats.org/drawingml/2006/main">
            <a:off x="612000" y="6314400"/>
            <a:ext cx="2700000" cy="3168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a:buNone/>
              <a:defRPr sz="1000" baseline="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E17CFEAC-C0FE-49B5-AEA5-7577603D96E8}"/>
              </a:ext>
            </a:extLst>
          </p:cNvPr>
          <p:cNvSpPr>
            <a:spLocks xmlns:a="http://schemas.openxmlformats.org/drawingml/2006/main" noGrp="1"/>
          </p:cNvSpPr>
          <p:nvPr>
            <p:ph type="ftr" idx="3"/>
          </p:nvPr>
        </p:nvSpPr>
        <p:spPr>
          <a:xfrm xmlns:a="http://schemas.openxmlformats.org/drawingml/2006/main">
            <a:off x="4116000" y="6314400"/>
            <a:ext cx="3960000" cy="3168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ctr">
              <a:buNone/>
              <a:defRPr sz="1000" baseline="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9D7AE450-F860-4C0D-A411-8BC04A82E95A}"/>
              </a:ext>
            </a:extLst>
          </p:cNvPr>
          <p:cNvSpPr>
            <a:spLocks xmlns:a="http://schemas.openxmlformats.org/drawingml/2006/main" noGrp="1"/>
          </p:cNvSpPr>
          <p:nvPr>
            <p:ph type="sldNum" idx="4"/>
          </p:nvPr>
        </p:nvSpPr>
        <p:spPr>
          <a:xfrm xmlns:a="http://schemas.openxmlformats.org/drawingml/2006/main">
            <a:off x="8877600" y="6314400"/>
            <a:ext cx="2700000" cy="3168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r">
              <a:buNone/>
              <a:defRPr sz="1000" baseline="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81b3d393c24cf4"/>
    <p:sldLayoutId xmlns:r="http://schemas.openxmlformats.org/officeDocument/2006/relationships" id="2147483650" r:id="R427e016c53af4e16"/>
    <p:sldLayoutId xmlns:r="http://schemas.openxmlformats.org/officeDocument/2006/relationships" id="2147483651" r:id="Rebdbeccba5594bee"/>
    <p:sldLayoutId xmlns:r="http://schemas.openxmlformats.org/officeDocument/2006/relationships" id="2147483652" r:id="R63953db40b3742b4"/>
    <p:sldLayoutId xmlns:r="http://schemas.openxmlformats.org/officeDocument/2006/relationships" id="2147483653" r:id="R763222bbf59141a9"/>
    <p:sldLayoutId xmlns:r="http://schemas.openxmlformats.org/officeDocument/2006/relationships" id="2147483654" r:id="Re039cc8a414b4f58"/>
    <p:sldLayoutId xmlns:r="http://schemas.openxmlformats.org/officeDocument/2006/relationships" id="2147483655" r:id="Re745655e8edb41e6"/>
    <p:sldLayoutId xmlns:r="http://schemas.openxmlformats.org/officeDocument/2006/relationships" id="2147483656" r:id="R70dda37916014c96"/>
    <p:sldLayoutId xmlns:r="http://schemas.openxmlformats.org/officeDocument/2006/relationships" id="2147483657" r:id="R2e766e49216d44c1"/>
    <p:sldLayoutId xmlns:r="http://schemas.openxmlformats.org/officeDocument/2006/relationships" id="2147483658" r:id="R4cd3744a9715487b"/>
    <p:sldLayoutId xmlns:r="http://schemas.openxmlformats.org/officeDocument/2006/relationships" id="2147483659" r:id="R8d2ca999c55949d3"/>
    <p:sldLayoutId xmlns:r="http://schemas.openxmlformats.org/officeDocument/2006/relationships" id="2147483660" r:id="R827e166fe26c4b73"/>
    <p:sldLayoutId xmlns:r="http://schemas.openxmlformats.org/officeDocument/2006/relationships" id="2147483661" r:id="R7255ab6e81ed4521"/>
  </p:sldLayoutIdLst>
  <p:txStyles>
    <p:titleStyle>
      <a:lvl1pPr xmlns:a="http://schemas.openxmlformats.org/drawingml/2006/main" algn="l" defTabSz="914400">
        <a:lnSpc>
          <a:spcPct val="100000"/>
        </a:lnSpc>
        <a:spcBef>
          <a:spcPct val="0"/>
        </a:spcBef>
        <a:buNone/>
        <a:defRPr sz="3600" b="0" u="none" kern="1200" cap="none" spc="300" baseline="0">
          <a:solidFill>
            <a:schemeClr val="tx1">
              <a:lumMod val="85000"/>
              <a:lumOff val="15000"/>
            </a:schemeClr>
          </a:solidFill>
          <a:latin typeface="+mj-lt"/>
          <a:ea typeface="+mj-lt"/>
          <a:cs typeface="+mj-lt"/>
        </a:defRPr>
      </a:lvl1pPr>
    </p:titleStyle>
    <p:bodyStyle>
      <a:lvl1pPr xmlns:a="http://schemas.openxmlformats.org/drawingml/2006/main" marL="228600" indent="-228600" algn="l" defTabSz="914400">
        <a:lnSpc>
          <a:spcPct val="130000"/>
        </a:lnSpc>
        <a:spcBef>
          <a:spcPts val="0"/>
        </a:spcBef>
        <a:spcAft>
          <a:spcPts val="1000"/>
        </a:spcAft>
        <a:buFont typeface="Arial"/>
        <a:buChar char="●"/>
        <a:defRPr sz="1800" u="none" kern="1200" cap="none" spc="150" baseline="0">
          <a:solidFill>
            <a:schemeClr val="tx1">
              <a:lumMod val="65000"/>
              <a:lumOff val="35000"/>
            </a:schemeClr>
          </a:solidFill>
          <a:latin typeface="+mn-lt"/>
          <a:ea typeface="+mn-lt"/>
          <a:cs typeface="+mn-lt"/>
        </a:defRPr>
      </a:lvl1pPr>
      <a:lvl2pPr xmlns:a="http://schemas.openxmlformats.org/drawingml/2006/main" marL="685800" indent="-228600" algn="l" defTabSz="914400">
        <a:lnSpc>
          <a:spcPct val="120000"/>
        </a:lnSpc>
        <a:spcBef>
          <a:spcPts val="0"/>
        </a:spcBef>
        <a:spcAft>
          <a:spcPts val="600"/>
        </a:spcAft>
        <a:buFont typeface="Arial"/>
        <a:buChar char="●"/>
        <a:tabLst>
          <a:tab pos="1609725" algn="l"/>
          <a:tab pos="1609725" algn="l"/>
          <a:tab pos="1609725" algn="l"/>
          <a:tab pos="1609725" algn="l"/>
        </a:tabLst>
        <a:defRPr sz="1600" u="none" kern="1200" cap="none" spc="150" baseline="0">
          <a:solidFill>
            <a:schemeClr val="tx1">
              <a:lumMod val="65000"/>
              <a:lumOff val="35000"/>
            </a:schemeClr>
          </a:solidFill>
          <a:latin typeface="+mn-lt"/>
          <a:ea typeface="+mn-lt"/>
          <a:cs typeface="+mn-lt"/>
        </a:defRPr>
      </a:lvl2pPr>
      <a:lvl3pPr xmlns:a="http://schemas.openxmlformats.org/drawingml/2006/main" marL="1143000" indent="-228600" algn="l" defTabSz="914400">
        <a:lnSpc>
          <a:spcPct val="120000"/>
        </a:lnSpc>
        <a:spcBef>
          <a:spcPts val="0"/>
        </a:spcBef>
        <a:spcAft>
          <a:spcPts val="600"/>
        </a:spcAft>
        <a:buFont typeface="Arial"/>
        <a:buChar char="●"/>
        <a:defRPr sz="1600" u="none" kern="1200" cap="none" spc="150" baseline="0">
          <a:solidFill>
            <a:schemeClr val="tx1">
              <a:lumMod val="65000"/>
              <a:lumOff val="35000"/>
            </a:schemeClr>
          </a:solidFill>
          <a:latin typeface="+mn-lt"/>
          <a:ea typeface="+mn-lt"/>
          <a:cs typeface="+mn-lt"/>
        </a:defRPr>
      </a:lvl3pPr>
      <a:lvl4pPr xmlns:a="http://schemas.openxmlformats.org/drawingml/2006/main" marL="1600200" indent="-228600" algn="l" defTabSz="914400">
        <a:lnSpc>
          <a:spcPct val="120000"/>
        </a:lnSpc>
        <a:spcBef>
          <a:spcPts val="0"/>
        </a:spcBef>
        <a:spcAft>
          <a:spcPts val="300"/>
        </a:spcAft>
        <a:buFont typeface="Wingdings"/>
        <a:buChar char=""/>
        <a:defRPr sz="1400" u="none" kern="1200" cap="none" spc="150" baseline="0">
          <a:solidFill>
            <a:schemeClr val="tx1">
              <a:lumMod val="65000"/>
              <a:lumOff val="35000"/>
            </a:schemeClr>
          </a:solidFill>
          <a:latin typeface="+mn-lt"/>
          <a:ea typeface="+mn-lt"/>
          <a:cs typeface="+mn-lt"/>
        </a:defRPr>
      </a:lvl4pPr>
      <a:lvl5pPr xmlns:a="http://schemas.openxmlformats.org/drawingml/2006/main" marL="2057400" indent="-228600" algn="l" defTabSz="914400">
        <a:lnSpc>
          <a:spcPct val="120000"/>
        </a:lnSpc>
        <a:spcBef>
          <a:spcPts val="0"/>
        </a:spcBef>
        <a:spcAft>
          <a:spcPts val="300"/>
        </a:spcAft>
        <a:buFont typeface="Arial"/>
        <a:buChar char="•"/>
        <a:defRPr sz="1400" u="none" kern="1200" cap="none" spc="150" baseline="0">
          <a:solidFill>
            <a:schemeClr val="tx1">
              <a:lumMod val="65000"/>
              <a:lumOff val="35000"/>
            </a:schemeClr>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3.xml" Id="Rd43d48efc1224845" /><Relationship Type="http://schemas.openxmlformats.org/officeDocument/2006/relationships/image" Target="/ppt/media/image.png" Id="R90e0f7b0c6c44c4a" /><Relationship Type="http://schemas.openxmlformats.org/officeDocument/2006/relationships/notesSlide" Target="/ppt/notesSlides/notesSlide1.xml" Id="R732eefe3c42d46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c065de1a454f97" /><Relationship Type="http://schemas.openxmlformats.org/officeDocument/2006/relationships/notesSlide" Target="/ppt/notesSlides/notesSlide2.xml" Id="Rd05b8dcd56d140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078b3df96446f9" /><Relationship Type="http://schemas.openxmlformats.org/officeDocument/2006/relationships/notesSlide" Target="/ppt/notesSlides/notesSlide3.xml" Id="R777ebc95e0da4e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2c81b26af054c09" /><Relationship Type="http://schemas.openxmlformats.org/officeDocument/2006/relationships/notesSlide" Target="/ppt/notesSlides/notesSlide4.xml" Id="Rab98ae1e5f6d4f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955477c12764c66" /><Relationship Type="http://schemas.openxmlformats.org/officeDocument/2006/relationships/notesSlide" Target="/ppt/notesSlides/notesSlide5.xml" Id="Rad19067faf0146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6bcb8a5699c4f70" /><Relationship Type="http://schemas.openxmlformats.org/officeDocument/2006/relationships/notesSlide" Target="/ppt/notesSlides/notesSlide6.xml" Id="R4f31a7eb20eb45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f0fc73db034ee6" /><Relationship Type="http://schemas.openxmlformats.org/officeDocument/2006/relationships/notesSlide" Target="/ppt/notesSlides/notesSlide7.xml" Id="Re1a113d8c3cd49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95e37836795468a" /><Relationship Type="http://schemas.openxmlformats.org/officeDocument/2006/relationships/notesSlide" Target="/ppt/notesSlides/notesSlide8.xml" Id="R329bc701d66644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d426fb88c7e41d9" /><Relationship Type="http://schemas.openxmlformats.org/officeDocument/2006/relationships/notesSlide" Target="/ppt/notesSlides/notesSlide9.xml" Id="Rfbde742ed6634e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e3fba21662541a9" /><Relationship Type="http://schemas.openxmlformats.org/officeDocument/2006/relationships/notesSlide" Target="/ppt/notesSlides/notesSlide10.xml" Id="Rf378044192f143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83ec188a4464491" /><Relationship Type="http://schemas.openxmlformats.org/officeDocument/2006/relationships/notesSlide" Target="/ppt/notesSlides/notesSlide11.xml" Id="R31f3b398487146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8297bb86de4580" /><Relationship Type="http://schemas.openxmlformats.org/officeDocument/2006/relationships/notesSlide" Target="/ppt/notesSlides/notesSlide12.xml" Id="Rafd2438904e249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b17ef7e5b164b33" /><Relationship Type="http://schemas.openxmlformats.org/officeDocument/2006/relationships/notesSlide" Target="/ppt/notesSlides/notesSlide13.xml" Id="Re3c458e5f3494d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dfe359953804fd3" /><Relationship Type="http://schemas.openxmlformats.org/officeDocument/2006/relationships/notesSlide" Target="/ppt/notesSlides/notesSlide14.xml" Id="R357f6cc756804e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02e516bcdea4cb2" /><Relationship Type="http://schemas.openxmlformats.org/officeDocument/2006/relationships/notesSlide" Target="/ppt/notesSlides/notesSlide15.xml" Id="Re99ba50519c041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a8850cdaf9843ba" /><Relationship Type="http://schemas.openxmlformats.org/officeDocument/2006/relationships/notesSlide" Target="/ppt/notesSlides/notesSlide16.xml" Id="R1fe0d60ea2384d6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2bd5fa36ac34853" /><Relationship Type="http://schemas.openxmlformats.org/officeDocument/2006/relationships/notesSlide" Target="/ppt/notesSlides/notesSlide17.xml" Id="R9cb878584af94a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259b724b00947d6" /><Relationship Type="http://schemas.openxmlformats.org/officeDocument/2006/relationships/notesSlide" Target="/ppt/notesSlides/notesSlide18.xml" Id="R8967ea6ea28e4a6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4948627331843e0" /><Relationship Type="http://schemas.openxmlformats.org/officeDocument/2006/relationships/notesSlide" Target="/ppt/notesSlides/notesSlide19.xml" Id="Raf7c2c2f08d8404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8ec69f7b05244a3" /><Relationship Type="http://schemas.openxmlformats.org/officeDocument/2006/relationships/notesSlide" Target="/ppt/notesSlides/notesSlide20.xml" Id="R46b7fb33057c4a5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d943e683db549f3" /><Relationship Type="http://schemas.openxmlformats.org/officeDocument/2006/relationships/image" Target="/ppt/media/image2.png" Id="R0a51324e869b4d3a" /><Relationship Type="http://schemas.openxmlformats.org/officeDocument/2006/relationships/notesSlide" Target="/ppt/notesSlides/notesSlide21.xml" Id="Rb422ed69a0b5453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c65da88aade4920" /><Relationship Type="http://schemas.openxmlformats.org/officeDocument/2006/relationships/image" Target="/ppt/media/image.png" Id="R3799ae27c9a14f25" /><Relationship Type="http://schemas.openxmlformats.org/officeDocument/2006/relationships/notesSlide" Target="/ppt/notesSlides/notesSlide22.xml" Id="R4907db74a71f42a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Freeform 5">
            <a:extLst xmlns:a="http://schemas.openxmlformats.org/drawingml/2006/main">
              <a:ext uri="{FF2B5EF4-FFF2-40B4-BE49-F238E27FC236}">
                <a16:creationId xmlns:a16="http://schemas.microsoft.com/office/drawing/2014/main" id="{0C453642-01AE-4E21-B436-E6DFA4E38D9E}"/>
              </a:ext>
            </a:extLst>
          </p:cNvPr>
          <p:cNvSpPr>
            <a:spLocks xmlns:a="http://schemas.openxmlformats.org/drawingml/2006/main" noGrp="1"/>
          </p:cNvSpPr>
          <p:nvPr/>
        </p:nvSpPr>
        <p:spPr>
          <a:xfrm xmlns:a="http://schemas.openxmlformats.org/drawingml/2006/main">
            <a:off x="-20955" y="133350"/>
            <a:ext cx="12211050" cy="2352675"/>
          </a:xfrm>
          <a:custGeom xmlns:a="http://schemas.openxmlformats.org/drawingml/2006/main">
            <a:gdLst>
              <a:gd name="txL" fmla="*/ 0 w 8000"/>
              <a:gd name="txT" fmla="*/ 0 h 1542"/>
              <a:gd name="txR" fmla="*/ 8000 w 8000"/>
              <a:gd name="txB" fmla="*/ 1542 h 1542"/>
            </a:gdLst>
            <a:rect l="txL" t="txT" r="txR" b="txB"/>
            <a:pathLst>
              <a:path w="8000" h="1542">
                <a:moveTo>
                  <a:pt x="7978" y="1472"/>
                </a:moveTo>
                <a:cubicBezTo>
                  <a:pt x="7978" y="1462"/>
                  <a:pt x="7978" y="1462"/>
                  <a:pt x="7978" y="1462"/>
                </a:cubicBezTo>
                <a:cubicBezTo>
                  <a:pt x="7966" y="1462"/>
                  <a:pt x="7966" y="1462"/>
                  <a:pt x="7966" y="1462"/>
                </a:cubicBezTo>
                <a:cubicBezTo>
                  <a:pt x="7966" y="1436"/>
                  <a:pt x="7966" y="1436"/>
                  <a:pt x="7966" y="1436"/>
                </a:cubicBezTo>
                <a:cubicBezTo>
                  <a:pt x="7955" y="1436"/>
                  <a:pt x="7955" y="1436"/>
                  <a:pt x="7955" y="1436"/>
                </a:cubicBezTo>
                <a:cubicBezTo>
                  <a:pt x="7955" y="1420"/>
                  <a:pt x="7955" y="1420"/>
                  <a:pt x="7955" y="1420"/>
                </a:cubicBezTo>
                <a:cubicBezTo>
                  <a:pt x="7941" y="1420"/>
                  <a:pt x="7941" y="1420"/>
                  <a:pt x="7941" y="1420"/>
                </a:cubicBezTo>
                <a:cubicBezTo>
                  <a:pt x="7941" y="1428"/>
                  <a:pt x="7941" y="1428"/>
                  <a:pt x="7941" y="1428"/>
                </a:cubicBezTo>
                <a:cubicBezTo>
                  <a:pt x="7933" y="1428"/>
                  <a:pt x="7933" y="1428"/>
                  <a:pt x="7933" y="1428"/>
                </a:cubicBezTo>
                <a:cubicBezTo>
                  <a:pt x="7933" y="1418"/>
                  <a:pt x="7933" y="1418"/>
                  <a:pt x="7933" y="1418"/>
                </a:cubicBezTo>
                <a:cubicBezTo>
                  <a:pt x="7916" y="1418"/>
                  <a:pt x="7916" y="1418"/>
                  <a:pt x="7916" y="1418"/>
                </a:cubicBezTo>
                <a:cubicBezTo>
                  <a:pt x="7916" y="1433"/>
                  <a:pt x="7916" y="1433"/>
                  <a:pt x="7916" y="1433"/>
                </a:cubicBezTo>
                <a:cubicBezTo>
                  <a:pt x="7895" y="1433"/>
                  <a:pt x="7895" y="1433"/>
                  <a:pt x="7895" y="1433"/>
                </a:cubicBezTo>
                <a:cubicBezTo>
                  <a:pt x="7895" y="1335"/>
                  <a:pt x="7895" y="1335"/>
                  <a:pt x="7895" y="1335"/>
                </a:cubicBezTo>
                <a:cubicBezTo>
                  <a:pt x="7879" y="1335"/>
                  <a:pt x="7879" y="1335"/>
                  <a:pt x="7879" y="1335"/>
                </a:cubicBezTo>
                <a:cubicBezTo>
                  <a:pt x="7855" y="1316"/>
                  <a:pt x="7855" y="1316"/>
                  <a:pt x="7855" y="1316"/>
                </a:cubicBezTo>
                <a:cubicBezTo>
                  <a:pt x="7855" y="1300"/>
                  <a:pt x="7855" y="1300"/>
                  <a:pt x="7855" y="1300"/>
                </a:cubicBezTo>
                <a:cubicBezTo>
                  <a:pt x="7843" y="1300"/>
                  <a:pt x="7843" y="1300"/>
                  <a:pt x="7843" y="1300"/>
                </a:cubicBezTo>
                <a:cubicBezTo>
                  <a:pt x="7843" y="1315"/>
                  <a:pt x="7843" y="1315"/>
                  <a:pt x="7843" y="1315"/>
                </a:cubicBezTo>
                <a:cubicBezTo>
                  <a:pt x="7832" y="1315"/>
                  <a:pt x="7832" y="1315"/>
                  <a:pt x="7832" y="1315"/>
                </a:cubicBezTo>
                <a:cubicBezTo>
                  <a:pt x="7832" y="1300"/>
                  <a:pt x="7832" y="1300"/>
                  <a:pt x="7832" y="1300"/>
                </a:cubicBezTo>
                <a:cubicBezTo>
                  <a:pt x="7821" y="1300"/>
                  <a:pt x="7821" y="1300"/>
                  <a:pt x="7821" y="1300"/>
                </a:cubicBezTo>
                <a:cubicBezTo>
                  <a:pt x="7821" y="1315"/>
                  <a:pt x="7821" y="1315"/>
                  <a:pt x="7821" y="1315"/>
                </a:cubicBezTo>
                <a:cubicBezTo>
                  <a:pt x="7806" y="1335"/>
                  <a:pt x="7806" y="1335"/>
                  <a:pt x="7806" y="1335"/>
                </a:cubicBezTo>
                <a:cubicBezTo>
                  <a:pt x="7789" y="1335"/>
                  <a:pt x="7789" y="1335"/>
                  <a:pt x="7789" y="1335"/>
                </a:cubicBezTo>
                <a:cubicBezTo>
                  <a:pt x="7789" y="1436"/>
                  <a:pt x="7789" y="1436"/>
                  <a:pt x="7789" y="1436"/>
                </a:cubicBezTo>
                <a:cubicBezTo>
                  <a:pt x="7749" y="1436"/>
                  <a:pt x="7749" y="1436"/>
                  <a:pt x="7749" y="1436"/>
                </a:cubicBezTo>
                <a:cubicBezTo>
                  <a:pt x="7749" y="1345"/>
                  <a:pt x="7749" y="1345"/>
                  <a:pt x="7749" y="1345"/>
                </a:cubicBezTo>
                <a:cubicBezTo>
                  <a:pt x="7738" y="1345"/>
                  <a:pt x="7738" y="1345"/>
                  <a:pt x="7738" y="1345"/>
                </a:cubicBezTo>
                <a:cubicBezTo>
                  <a:pt x="7738" y="1352"/>
                  <a:pt x="7738" y="1352"/>
                  <a:pt x="7738" y="1352"/>
                </a:cubicBezTo>
                <a:cubicBezTo>
                  <a:pt x="7724" y="1352"/>
                  <a:pt x="7724" y="1352"/>
                  <a:pt x="7724" y="1352"/>
                </a:cubicBezTo>
                <a:cubicBezTo>
                  <a:pt x="7724" y="1337"/>
                  <a:pt x="7724" y="1337"/>
                  <a:pt x="7724" y="1337"/>
                </a:cubicBezTo>
                <a:cubicBezTo>
                  <a:pt x="7713" y="1337"/>
                  <a:pt x="7713" y="1337"/>
                  <a:pt x="7713" y="1337"/>
                </a:cubicBezTo>
                <a:cubicBezTo>
                  <a:pt x="7713" y="1321"/>
                  <a:pt x="7713" y="1321"/>
                  <a:pt x="7713" y="1321"/>
                </a:cubicBezTo>
                <a:cubicBezTo>
                  <a:pt x="7697" y="1321"/>
                  <a:pt x="7697" y="1321"/>
                  <a:pt x="7697" y="1321"/>
                </a:cubicBezTo>
                <a:cubicBezTo>
                  <a:pt x="7697" y="1336"/>
                  <a:pt x="7697" y="1336"/>
                  <a:pt x="7697" y="1336"/>
                </a:cubicBezTo>
                <a:cubicBezTo>
                  <a:pt x="7687" y="1336"/>
                  <a:pt x="7687" y="1336"/>
                  <a:pt x="7687" y="1336"/>
                </a:cubicBezTo>
                <a:cubicBezTo>
                  <a:pt x="7687" y="1324"/>
                  <a:pt x="7687" y="1324"/>
                  <a:pt x="7687" y="1324"/>
                </a:cubicBezTo>
                <a:cubicBezTo>
                  <a:pt x="7673" y="1324"/>
                  <a:pt x="7673" y="1324"/>
                  <a:pt x="7673" y="1324"/>
                </a:cubicBezTo>
                <a:cubicBezTo>
                  <a:pt x="7673" y="1336"/>
                  <a:pt x="7673" y="1336"/>
                  <a:pt x="7673" y="1336"/>
                </a:cubicBezTo>
                <a:cubicBezTo>
                  <a:pt x="7659" y="1336"/>
                  <a:pt x="7659" y="1336"/>
                  <a:pt x="7659" y="1336"/>
                </a:cubicBezTo>
                <a:cubicBezTo>
                  <a:pt x="7659" y="1326"/>
                  <a:pt x="7659" y="1326"/>
                  <a:pt x="7659" y="1326"/>
                </a:cubicBezTo>
                <a:cubicBezTo>
                  <a:pt x="7645" y="1326"/>
                  <a:pt x="7645" y="1326"/>
                  <a:pt x="7645" y="1326"/>
                </a:cubicBezTo>
                <a:cubicBezTo>
                  <a:pt x="7645" y="1356"/>
                  <a:pt x="7645" y="1356"/>
                  <a:pt x="7645" y="1356"/>
                </a:cubicBezTo>
                <a:cubicBezTo>
                  <a:pt x="7616" y="1356"/>
                  <a:pt x="7616" y="1356"/>
                  <a:pt x="7616" y="1356"/>
                </a:cubicBezTo>
                <a:cubicBezTo>
                  <a:pt x="7616" y="1439"/>
                  <a:pt x="7616" y="1439"/>
                  <a:pt x="7616" y="1439"/>
                </a:cubicBezTo>
                <a:cubicBezTo>
                  <a:pt x="7581" y="1439"/>
                  <a:pt x="7581" y="1439"/>
                  <a:pt x="7581" y="1439"/>
                </a:cubicBezTo>
                <a:cubicBezTo>
                  <a:pt x="7581" y="1337"/>
                  <a:pt x="7581" y="1337"/>
                  <a:pt x="7581" y="1337"/>
                </a:cubicBezTo>
                <a:cubicBezTo>
                  <a:pt x="7557" y="1337"/>
                  <a:pt x="7557" y="1337"/>
                  <a:pt x="7557" y="1337"/>
                </a:cubicBezTo>
                <a:cubicBezTo>
                  <a:pt x="7538" y="1313"/>
                  <a:pt x="7538" y="1313"/>
                  <a:pt x="7538" y="1313"/>
                </a:cubicBezTo>
                <a:cubicBezTo>
                  <a:pt x="7497" y="1313"/>
                  <a:pt x="7497" y="1313"/>
                  <a:pt x="7497" y="1313"/>
                </a:cubicBezTo>
                <a:cubicBezTo>
                  <a:pt x="7497" y="1416"/>
                  <a:pt x="7497" y="1416"/>
                  <a:pt x="7497" y="1416"/>
                </a:cubicBezTo>
                <a:cubicBezTo>
                  <a:pt x="7483" y="1416"/>
                  <a:pt x="7483" y="1416"/>
                  <a:pt x="7483" y="1416"/>
                </a:cubicBezTo>
                <a:cubicBezTo>
                  <a:pt x="7483" y="1314"/>
                  <a:pt x="7483" y="1314"/>
                  <a:pt x="7483" y="1314"/>
                </a:cubicBezTo>
                <a:cubicBezTo>
                  <a:pt x="7465" y="1285"/>
                  <a:pt x="7465" y="1285"/>
                  <a:pt x="7465" y="1285"/>
                </a:cubicBezTo>
                <a:cubicBezTo>
                  <a:pt x="7452" y="1285"/>
                  <a:pt x="7452" y="1285"/>
                  <a:pt x="7452" y="1285"/>
                </a:cubicBezTo>
                <a:cubicBezTo>
                  <a:pt x="7452" y="1291"/>
                  <a:pt x="7452" y="1291"/>
                  <a:pt x="7452" y="1291"/>
                </a:cubicBezTo>
                <a:cubicBezTo>
                  <a:pt x="7441" y="1291"/>
                  <a:pt x="7441" y="1291"/>
                  <a:pt x="7441" y="1291"/>
                </a:cubicBezTo>
                <a:cubicBezTo>
                  <a:pt x="7441" y="1287"/>
                  <a:pt x="7441" y="1287"/>
                  <a:pt x="7441" y="1287"/>
                </a:cubicBezTo>
                <a:cubicBezTo>
                  <a:pt x="7430" y="1287"/>
                  <a:pt x="7430" y="1287"/>
                  <a:pt x="7430" y="1287"/>
                </a:cubicBezTo>
                <a:cubicBezTo>
                  <a:pt x="7430" y="1301"/>
                  <a:pt x="7430" y="1301"/>
                  <a:pt x="7430" y="1301"/>
                </a:cubicBezTo>
                <a:cubicBezTo>
                  <a:pt x="7383" y="1301"/>
                  <a:pt x="7383" y="1301"/>
                  <a:pt x="7383" y="1301"/>
                </a:cubicBezTo>
                <a:cubicBezTo>
                  <a:pt x="7383" y="1286"/>
                  <a:pt x="7383" y="1286"/>
                  <a:pt x="7383" y="1286"/>
                </a:cubicBezTo>
                <a:cubicBezTo>
                  <a:pt x="7370" y="1261"/>
                  <a:pt x="7370" y="1261"/>
                  <a:pt x="7370" y="1261"/>
                </a:cubicBezTo>
                <a:cubicBezTo>
                  <a:pt x="7326" y="1261"/>
                  <a:pt x="7326" y="1261"/>
                  <a:pt x="7326" y="1261"/>
                </a:cubicBezTo>
                <a:cubicBezTo>
                  <a:pt x="7326" y="1286"/>
                  <a:pt x="7326" y="1286"/>
                  <a:pt x="7326" y="1286"/>
                </a:cubicBezTo>
                <a:cubicBezTo>
                  <a:pt x="7297" y="1286"/>
                  <a:pt x="7297" y="1286"/>
                  <a:pt x="7297" y="1286"/>
                </a:cubicBezTo>
                <a:cubicBezTo>
                  <a:pt x="7297" y="1303"/>
                  <a:pt x="7297" y="1303"/>
                  <a:pt x="7297" y="1303"/>
                </a:cubicBezTo>
                <a:cubicBezTo>
                  <a:pt x="7292" y="1303"/>
                  <a:pt x="7292" y="1303"/>
                  <a:pt x="7292" y="1303"/>
                </a:cubicBezTo>
                <a:cubicBezTo>
                  <a:pt x="7292" y="1358"/>
                  <a:pt x="7292" y="1358"/>
                  <a:pt x="7292" y="1358"/>
                </a:cubicBezTo>
                <a:cubicBezTo>
                  <a:pt x="7281" y="1358"/>
                  <a:pt x="7281" y="1358"/>
                  <a:pt x="7281" y="1358"/>
                </a:cubicBezTo>
                <a:cubicBezTo>
                  <a:pt x="7281" y="1302"/>
                  <a:pt x="7281" y="1302"/>
                  <a:pt x="7281" y="1302"/>
                </a:cubicBezTo>
                <a:cubicBezTo>
                  <a:pt x="7273" y="1302"/>
                  <a:pt x="7273" y="1302"/>
                  <a:pt x="7273" y="1302"/>
                </a:cubicBezTo>
                <a:cubicBezTo>
                  <a:pt x="7273" y="1279"/>
                  <a:pt x="7273" y="1279"/>
                  <a:pt x="7273" y="1279"/>
                </a:cubicBezTo>
                <a:cubicBezTo>
                  <a:pt x="7210" y="1279"/>
                  <a:pt x="7210" y="1279"/>
                  <a:pt x="7210" y="1279"/>
                </a:cubicBezTo>
                <a:cubicBezTo>
                  <a:pt x="7210" y="1303"/>
                  <a:pt x="7210" y="1303"/>
                  <a:pt x="7210" y="1303"/>
                </a:cubicBezTo>
                <a:cubicBezTo>
                  <a:pt x="7179" y="1303"/>
                  <a:pt x="7179" y="1303"/>
                  <a:pt x="7179" y="1303"/>
                </a:cubicBezTo>
                <a:cubicBezTo>
                  <a:pt x="7179" y="1323"/>
                  <a:pt x="7179" y="1323"/>
                  <a:pt x="7179" y="1323"/>
                </a:cubicBezTo>
                <a:cubicBezTo>
                  <a:pt x="7170" y="1323"/>
                  <a:pt x="7170" y="1323"/>
                  <a:pt x="7170" y="1323"/>
                </a:cubicBezTo>
                <a:cubicBezTo>
                  <a:pt x="7170" y="1352"/>
                  <a:pt x="7170" y="1352"/>
                  <a:pt x="7170" y="1352"/>
                </a:cubicBezTo>
                <a:cubicBezTo>
                  <a:pt x="7090" y="1352"/>
                  <a:pt x="7090" y="1352"/>
                  <a:pt x="7090" y="1352"/>
                </a:cubicBezTo>
                <a:cubicBezTo>
                  <a:pt x="7090" y="1362"/>
                  <a:pt x="7090" y="1362"/>
                  <a:pt x="7090" y="1362"/>
                </a:cubicBezTo>
                <a:cubicBezTo>
                  <a:pt x="7069" y="1362"/>
                  <a:pt x="7069" y="1362"/>
                  <a:pt x="7069" y="1362"/>
                </a:cubicBezTo>
                <a:cubicBezTo>
                  <a:pt x="7069" y="1308"/>
                  <a:pt x="7069" y="1308"/>
                  <a:pt x="7069" y="1308"/>
                </a:cubicBezTo>
                <a:cubicBezTo>
                  <a:pt x="7036" y="1308"/>
                  <a:pt x="7036" y="1308"/>
                  <a:pt x="7036" y="1308"/>
                </a:cubicBezTo>
                <a:cubicBezTo>
                  <a:pt x="7036" y="1291"/>
                  <a:pt x="7036" y="1291"/>
                  <a:pt x="7036" y="1291"/>
                </a:cubicBezTo>
                <a:cubicBezTo>
                  <a:pt x="7010" y="1291"/>
                  <a:pt x="7010" y="1291"/>
                  <a:pt x="7010" y="1291"/>
                </a:cubicBezTo>
                <a:cubicBezTo>
                  <a:pt x="7010" y="1305"/>
                  <a:pt x="7010" y="1305"/>
                  <a:pt x="7010" y="1305"/>
                </a:cubicBezTo>
                <a:cubicBezTo>
                  <a:pt x="6993" y="1305"/>
                  <a:pt x="6993" y="1305"/>
                  <a:pt x="6993" y="1305"/>
                </a:cubicBezTo>
                <a:cubicBezTo>
                  <a:pt x="6993" y="1400"/>
                  <a:pt x="6993" y="1400"/>
                  <a:pt x="6993" y="1400"/>
                </a:cubicBezTo>
                <a:cubicBezTo>
                  <a:pt x="6972" y="1400"/>
                  <a:pt x="6972" y="1400"/>
                  <a:pt x="6972" y="1400"/>
                </a:cubicBezTo>
                <a:cubicBezTo>
                  <a:pt x="6972" y="1391"/>
                  <a:pt x="6972" y="1391"/>
                  <a:pt x="6972" y="1391"/>
                </a:cubicBezTo>
                <a:cubicBezTo>
                  <a:pt x="6952" y="1391"/>
                  <a:pt x="6952" y="1391"/>
                  <a:pt x="6952" y="1391"/>
                </a:cubicBezTo>
                <a:cubicBezTo>
                  <a:pt x="6952" y="1405"/>
                  <a:pt x="6952" y="1405"/>
                  <a:pt x="6952" y="1405"/>
                </a:cubicBezTo>
                <a:cubicBezTo>
                  <a:pt x="6936" y="1405"/>
                  <a:pt x="6936" y="1405"/>
                  <a:pt x="6936" y="1405"/>
                </a:cubicBezTo>
                <a:cubicBezTo>
                  <a:pt x="6936" y="1375"/>
                  <a:pt x="6936" y="1375"/>
                  <a:pt x="6936" y="1375"/>
                </a:cubicBezTo>
                <a:cubicBezTo>
                  <a:pt x="6922" y="1375"/>
                  <a:pt x="6922" y="1375"/>
                  <a:pt x="6922" y="1375"/>
                </a:cubicBezTo>
                <a:cubicBezTo>
                  <a:pt x="6922" y="1357"/>
                  <a:pt x="6922" y="1357"/>
                  <a:pt x="6922" y="1357"/>
                </a:cubicBezTo>
                <a:cubicBezTo>
                  <a:pt x="6906" y="1357"/>
                  <a:pt x="6906" y="1357"/>
                  <a:pt x="6906" y="1357"/>
                </a:cubicBezTo>
                <a:cubicBezTo>
                  <a:pt x="6886" y="1357"/>
                  <a:pt x="6886" y="1357"/>
                  <a:pt x="6886" y="1357"/>
                </a:cubicBezTo>
                <a:cubicBezTo>
                  <a:pt x="6886" y="1348"/>
                  <a:pt x="6886" y="1348"/>
                  <a:pt x="6886" y="1348"/>
                </a:cubicBezTo>
                <a:cubicBezTo>
                  <a:pt x="6852" y="1348"/>
                  <a:pt x="6852" y="1348"/>
                  <a:pt x="6852" y="1348"/>
                </a:cubicBezTo>
                <a:cubicBezTo>
                  <a:pt x="6852" y="1334"/>
                  <a:pt x="6852" y="1334"/>
                  <a:pt x="6852" y="1334"/>
                </a:cubicBezTo>
                <a:cubicBezTo>
                  <a:pt x="6839" y="1334"/>
                  <a:pt x="6839" y="1334"/>
                  <a:pt x="6839" y="1334"/>
                </a:cubicBezTo>
                <a:cubicBezTo>
                  <a:pt x="6839" y="1344"/>
                  <a:pt x="6839" y="1344"/>
                  <a:pt x="6839" y="1344"/>
                </a:cubicBezTo>
                <a:cubicBezTo>
                  <a:pt x="6786" y="1344"/>
                  <a:pt x="6786" y="1344"/>
                  <a:pt x="6786" y="1344"/>
                </a:cubicBezTo>
                <a:cubicBezTo>
                  <a:pt x="6786" y="1355"/>
                  <a:pt x="6786" y="1355"/>
                  <a:pt x="6786" y="1355"/>
                </a:cubicBezTo>
                <a:cubicBezTo>
                  <a:pt x="6776" y="1355"/>
                  <a:pt x="6776" y="1355"/>
                  <a:pt x="6776" y="1355"/>
                </a:cubicBezTo>
                <a:cubicBezTo>
                  <a:pt x="6776" y="1370"/>
                  <a:pt x="6776" y="1370"/>
                  <a:pt x="6776" y="1370"/>
                </a:cubicBezTo>
                <a:cubicBezTo>
                  <a:pt x="6766" y="1380"/>
                  <a:pt x="6766" y="1380"/>
                  <a:pt x="6766" y="1380"/>
                </a:cubicBezTo>
                <a:cubicBezTo>
                  <a:pt x="6766" y="1411"/>
                  <a:pt x="6766" y="1411"/>
                  <a:pt x="6766" y="1411"/>
                </a:cubicBezTo>
                <a:cubicBezTo>
                  <a:pt x="6755" y="1411"/>
                  <a:pt x="6755" y="1411"/>
                  <a:pt x="6755" y="1411"/>
                </a:cubicBezTo>
                <a:cubicBezTo>
                  <a:pt x="6755" y="1381"/>
                  <a:pt x="6755" y="1381"/>
                  <a:pt x="6755" y="1381"/>
                </a:cubicBezTo>
                <a:cubicBezTo>
                  <a:pt x="6744" y="1367"/>
                  <a:pt x="6744" y="1367"/>
                  <a:pt x="6744" y="1367"/>
                </a:cubicBezTo>
                <a:cubicBezTo>
                  <a:pt x="6744" y="1291"/>
                  <a:pt x="6744" y="1291"/>
                  <a:pt x="6744" y="1291"/>
                </a:cubicBezTo>
                <a:cubicBezTo>
                  <a:pt x="6727" y="1291"/>
                  <a:pt x="6727" y="1291"/>
                  <a:pt x="6727" y="1291"/>
                </a:cubicBezTo>
                <a:cubicBezTo>
                  <a:pt x="6727" y="1217"/>
                  <a:pt x="6727" y="1217"/>
                  <a:pt x="6727" y="1217"/>
                </a:cubicBezTo>
                <a:cubicBezTo>
                  <a:pt x="6670" y="1217"/>
                  <a:pt x="6670" y="1217"/>
                  <a:pt x="6670" y="1217"/>
                </a:cubicBezTo>
                <a:cubicBezTo>
                  <a:pt x="6670" y="1194"/>
                  <a:pt x="6670" y="1194"/>
                  <a:pt x="6670" y="1194"/>
                </a:cubicBezTo>
                <a:cubicBezTo>
                  <a:pt x="6640" y="1194"/>
                  <a:pt x="6640" y="1194"/>
                  <a:pt x="6640" y="1194"/>
                </a:cubicBezTo>
                <a:cubicBezTo>
                  <a:pt x="6640" y="1246"/>
                  <a:pt x="6640" y="1246"/>
                  <a:pt x="6640" y="1246"/>
                </a:cubicBezTo>
                <a:cubicBezTo>
                  <a:pt x="6625" y="1246"/>
                  <a:pt x="6625" y="1246"/>
                  <a:pt x="6625" y="1246"/>
                </a:cubicBezTo>
                <a:cubicBezTo>
                  <a:pt x="6625" y="1229"/>
                  <a:pt x="6625" y="1229"/>
                  <a:pt x="6625" y="1229"/>
                </a:cubicBezTo>
                <a:cubicBezTo>
                  <a:pt x="6625" y="1229"/>
                  <a:pt x="6614" y="1229"/>
                  <a:pt x="6609" y="1229"/>
                </a:cubicBezTo>
                <a:cubicBezTo>
                  <a:pt x="6604" y="1229"/>
                  <a:pt x="6604" y="1246"/>
                  <a:pt x="6604" y="1246"/>
                </a:cubicBezTo>
                <a:cubicBezTo>
                  <a:pt x="6604" y="1293"/>
                  <a:pt x="6604" y="1293"/>
                  <a:pt x="6604" y="1293"/>
                </a:cubicBezTo>
                <a:cubicBezTo>
                  <a:pt x="6562" y="1293"/>
                  <a:pt x="6562" y="1293"/>
                  <a:pt x="6562" y="1293"/>
                </a:cubicBezTo>
                <a:cubicBezTo>
                  <a:pt x="6562" y="1130"/>
                  <a:pt x="6562" y="1130"/>
                  <a:pt x="6562" y="1130"/>
                </a:cubicBezTo>
                <a:cubicBezTo>
                  <a:pt x="6505" y="1130"/>
                  <a:pt x="6505" y="1130"/>
                  <a:pt x="6505" y="1130"/>
                </a:cubicBezTo>
                <a:cubicBezTo>
                  <a:pt x="6505" y="1157"/>
                  <a:pt x="6505" y="1157"/>
                  <a:pt x="6505" y="1157"/>
                </a:cubicBezTo>
                <a:cubicBezTo>
                  <a:pt x="6481" y="1157"/>
                  <a:pt x="6477" y="1169"/>
                  <a:pt x="6477" y="1169"/>
                </a:cubicBezTo>
                <a:cubicBezTo>
                  <a:pt x="6450" y="1169"/>
                  <a:pt x="6450" y="1169"/>
                  <a:pt x="6450" y="1169"/>
                </a:cubicBezTo>
                <a:cubicBezTo>
                  <a:pt x="6450" y="1202"/>
                  <a:pt x="6450" y="1202"/>
                  <a:pt x="6450" y="1202"/>
                </a:cubicBezTo>
                <a:cubicBezTo>
                  <a:pt x="6438" y="1202"/>
                  <a:pt x="6438" y="1202"/>
                  <a:pt x="6438" y="1202"/>
                </a:cubicBezTo>
                <a:cubicBezTo>
                  <a:pt x="6438" y="1333"/>
                  <a:pt x="6438" y="1333"/>
                  <a:pt x="6438" y="1333"/>
                </a:cubicBezTo>
                <a:cubicBezTo>
                  <a:pt x="6414" y="1333"/>
                  <a:pt x="6414" y="1333"/>
                  <a:pt x="6414" y="1333"/>
                </a:cubicBezTo>
                <a:cubicBezTo>
                  <a:pt x="6414" y="1314"/>
                  <a:pt x="6414" y="1314"/>
                  <a:pt x="6414" y="1314"/>
                </a:cubicBezTo>
                <a:cubicBezTo>
                  <a:pt x="6401" y="1301"/>
                  <a:pt x="6401" y="1301"/>
                  <a:pt x="6401" y="1301"/>
                </a:cubicBezTo>
                <a:cubicBezTo>
                  <a:pt x="6394" y="1301"/>
                  <a:pt x="6394" y="1301"/>
                  <a:pt x="6394" y="1301"/>
                </a:cubicBezTo>
                <a:cubicBezTo>
                  <a:pt x="6381" y="1311"/>
                  <a:pt x="6381" y="1311"/>
                  <a:pt x="6381" y="1311"/>
                </a:cubicBezTo>
                <a:cubicBezTo>
                  <a:pt x="6381" y="1078"/>
                  <a:pt x="6381" y="1078"/>
                  <a:pt x="6381" y="1078"/>
                </a:cubicBezTo>
                <a:cubicBezTo>
                  <a:pt x="6322" y="1065"/>
                  <a:pt x="6322" y="1065"/>
                  <a:pt x="6322" y="1065"/>
                </a:cubicBezTo>
                <a:cubicBezTo>
                  <a:pt x="6297" y="1065"/>
                  <a:pt x="6297" y="1065"/>
                  <a:pt x="6297" y="1065"/>
                </a:cubicBezTo>
                <a:cubicBezTo>
                  <a:pt x="6297" y="1080"/>
                  <a:pt x="6297" y="1080"/>
                  <a:pt x="6297" y="1080"/>
                </a:cubicBezTo>
                <a:cubicBezTo>
                  <a:pt x="6280" y="1080"/>
                  <a:pt x="6280" y="1080"/>
                  <a:pt x="6280" y="1080"/>
                </a:cubicBezTo>
                <a:cubicBezTo>
                  <a:pt x="6280" y="1135"/>
                  <a:pt x="6280" y="1135"/>
                  <a:pt x="6280" y="1135"/>
                </a:cubicBezTo>
                <a:cubicBezTo>
                  <a:pt x="6264" y="1135"/>
                  <a:pt x="6264" y="1135"/>
                  <a:pt x="6264" y="1135"/>
                </a:cubicBezTo>
                <a:cubicBezTo>
                  <a:pt x="6264" y="1207"/>
                  <a:pt x="6264" y="1207"/>
                  <a:pt x="6264" y="1207"/>
                </a:cubicBezTo>
                <a:cubicBezTo>
                  <a:pt x="6242" y="1207"/>
                  <a:pt x="6242" y="1207"/>
                  <a:pt x="6242" y="1207"/>
                </a:cubicBezTo>
                <a:cubicBezTo>
                  <a:pt x="6242" y="1181"/>
                  <a:pt x="6242" y="1181"/>
                  <a:pt x="6242" y="1181"/>
                </a:cubicBezTo>
                <a:cubicBezTo>
                  <a:pt x="6214" y="1181"/>
                  <a:pt x="6214" y="1181"/>
                  <a:pt x="6214" y="1181"/>
                </a:cubicBezTo>
                <a:cubicBezTo>
                  <a:pt x="6214" y="1098"/>
                  <a:pt x="6214" y="1098"/>
                  <a:pt x="6214" y="1098"/>
                </a:cubicBezTo>
                <a:cubicBezTo>
                  <a:pt x="6196" y="1098"/>
                  <a:pt x="6196" y="1098"/>
                  <a:pt x="6196" y="1098"/>
                </a:cubicBezTo>
                <a:cubicBezTo>
                  <a:pt x="6196" y="1048"/>
                  <a:pt x="6196" y="1048"/>
                  <a:pt x="6196" y="1048"/>
                </a:cubicBezTo>
                <a:cubicBezTo>
                  <a:pt x="6114" y="1039"/>
                  <a:pt x="6114" y="1039"/>
                  <a:pt x="6114" y="1039"/>
                </a:cubicBezTo>
                <a:cubicBezTo>
                  <a:pt x="6114" y="1024"/>
                  <a:pt x="6114" y="1024"/>
                  <a:pt x="6114" y="1024"/>
                </a:cubicBezTo>
                <a:cubicBezTo>
                  <a:pt x="5961" y="1014"/>
                  <a:pt x="5961" y="1014"/>
                  <a:pt x="5961" y="1014"/>
                </a:cubicBezTo>
                <a:cubicBezTo>
                  <a:pt x="5961" y="823"/>
                  <a:pt x="5961" y="823"/>
                  <a:pt x="5961" y="823"/>
                </a:cubicBezTo>
                <a:cubicBezTo>
                  <a:pt x="5826" y="790"/>
                  <a:pt x="5826" y="790"/>
                  <a:pt x="5826" y="790"/>
                </a:cubicBezTo>
                <a:cubicBezTo>
                  <a:pt x="5688" y="818"/>
                  <a:pt x="5688" y="818"/>
                  <a:pt x="5688" y="818"/>
                </a:cubicBezTo>
                <a:cubicBezTo>
                  <a:pt x="5688" y="1359"/>
                  <a:pt x="5688" y="1359"/>
                  <a:pt x="5688" y="1359"/>
                </a:cubicBezTo>
                <a:cubicBezTo>
                  <a:pt x="5605" y="1359"/>
                  <a:pt x="5605" y="1359"/>
                  <a:pt x="5605" y="1359"/>
                </a:cubicBezTo>
                <a:cubicBezTo>
                  <a:pt x="5605" y="451"/>
                  <a:pt x="5605" y="451"/>
                  <a:pt x="5605" y="451"/>
                </a:cubicBezTo>
                <a:cubicBezTo>
                  <a:pt x="5468" y="487"/>
                  <a:pt x="5468" y="487"/>
                  <a:pt x="5468" y="487"/>
                </a:cubicBezTo>
                <a:cubicBezTo>
                  <a:pt x="5468" y="1274"/>
                  <a:pt x="5468" y="1274"/>
                  <a:pt x="5468" y="1274"/>
                </a:cubicBezTo>
                <a:cubicBezTo>
                  <a:pt x="5414" y="1274"/>
                  <a:pt x="5414" y="1274"/>
                  <a:pt x="5414" y="1274"/>
                </a:cubicBezTo>
                <a:cubicBezTo>
                  <a:pt x="5414" y="683"/>
                  <a:pt x="5414" y="683"/>
                  <a:pt x="5414" y="683"/>
                </a:cubicBezTo>
                <a:cubicBezTo>
                  <a:pt x="5404" y="683"/>
                  <a:pt x="5404" y="683"/>
                  <a:pt x="5404" y="683"/>
                </a:cubicBezTo>
                <a:cubicBezTo>
                  <a:pt x="5404" y="674"/>
                  <a:pt x="5404" y="674"/>
                  <a:pt x="5404" y="674"/>
                </a:cubicBezTo>
                <a:cubicBezTo>
                  <a:pt x="5396" y="674"/>
                  <a:pt x="5396" y="674"/>
                  <a:pt x="5396" y="674"/>
                </a:cubicBezTo>
                <a:cubicBezTo>
                  <a:pt x="5396" y="655"/>
                  <a:pt x="5396" y="655"/>
                  <a:pt x="5396" y="655"/>
                </a:cubicBezTo>
                <a:cubicBezTo>
                  <a:pt x="5384" y="655"/>
                  <a:pt x="5384" y="655"/>
                  <a:pt x="5384" y="655"/>
                </a:cubicBezTo>
                <a:cubicBezTo>
                  <a:pt x="5384" y="634"/>
                  <a:pt x="5384" y="634"/>
                  <a:pt x="5384" y="634"/>
                </a:cubicBezTo>
                <a:cubicBezTo>
                  <a:pt x="5367" y="634"/>
                  <a:pt x="5367" y="634"/>
                  <a:pt x="5367" y="634"/>
                </a:cubicBezTo>
                <a:cubicBezTo>
                  <a:pt x="5367" y="615"/>
                  <a:pt x="5367" y="615"/>
                  <a:pt x="5367" y="615"/>
                </a:cubicBezTo>
                <a:cubicBezTo>
                  <a:pt x="5360" y="615"/>
                  <a:pt x="5360" y="615"/>
                  <a:pt x="5360" y="615"/>
                </a:cubicBezTo>
                <a:cubicBezTo>
                  <a:pt x="5360" y="593"/>
                  <a:pt x="5360" y="593"/>
                  <a:pt x="5360" y="593"/>
                </a:cubicBezTo>
                <a:cubicBezTo>
                  <a:pt x="5353" y="532"/>
                  <a:pt x="5353" y="532"/>
                  <a:pt x="5353" y="532"/>
                </a:cubicBezTo>
                <a:cubicBezTo>
                  <a:pt x="5346" y="593"/>
                  <a:pt x="5346" y="593"/>
                  <a:pt x="5346" y="593"/>
                </a:cubicBezTo>
                <a:cubicBezTo>
                  <a:pt x="5346" y="615"/>
                  <a:pt x="5346" y="615"/>
                  <a:pt x="5346" y="615"/>
                </a:cubicBezTo>
                <a:cubicBezTo>
                  <a:pt x="5339" y="615"/>
                  <a:pt x="5339" y="615"/>
                  <a:pt x="5339" y="615"/>
                </a:cubicBezTo>
                <a:cubicBezTo>
                  <a:pt x="5339" y="634"/>
                  <a:pt x="5339" y="634"/>
                  <a:pt x="5339" y="634"/>
                </a:cubicBezTo>
                <a:cubicBezTo>
                  <a:pt x="5322" y="634"/>
                  <a:pt x="5322" y="634"/>
                  <a:pt x="5322" y="634"/>
                </a:cubicBezTo>
                <a:cubicBezTo>
                  <a:pt x="5322" y="655"/>
                  <a:pt x="5322" y="655"/>
                  <a:pt x="5322" y="655"/>
                </a:cubicBezTo>
                <a:cubicBezTo>
                  <a:pt x="5310" y="655"/>
                  <a:pt x="5310" y="655"/>
                  <a:pt x="5310" y="655"/>
                </a:cubicBezTo>
                <a:cubicBezTo>
                  <a:pt x="5310" y="674"/>
                  <a:pt x="5310" y="674"/>
                  <a:pt x="5310" y="674"/>
                </a:cubicBezTo>
                <a:cubicBezTo>
                  <a:pt x="5302" y="674"/>
                  <a:pt x="5302" y="674"/>
                  <a:pt x="5302" y="674"/>
                </a:cubicBezTo>
                <a:cubicBezTo>
                  <a:pt x="5302" y="683"/>
                  <a:pt x="5302" y="683"/>
                  <a:pt x="5302" y="683"/>
                </a:cubicBezTo>
                <a:cubicBezTo>
                  <a:pt x="5292" y="683"/>
                  <a:pt x="5292" y="683"/>
                  <a:pt x="5292" y="683"/>
                </a:cubicBezTo>
                <a:cubicBezTo>
                  <a:pt x="5292" y="1274"/>
                  <a:pt x="5292" y="1274"/>
                  <a:pt x="5292" y="1274"/>
                </a:cubicBezTo>
                <a:cubicBezTo>
                  <a:pt x="5260" y="1274"/>
                  <a:pt x="5260" y="1274"/>
                  <a:pt x="5260" y="1274"/>
                </a:cubicBezTo>
                <a:cubicBezTo>
                  <a:pt x="5260" y="792"/>
                  <a:pt x="5260" y="792"/>
                  <a:pt x="5260" y="792"/>
                </a:cubicBezTo>
                <a:cubicBezTo>
                  <a:pt x="5098" y="792"/>
                  <a:pt x="5098" y="792"/>
                  <a:pt x="5098" y="792"/>
                </a:cubicBezTo>
                <a:cubicBezTo>
                  <a:pt x="5073" y="817"/>
                  <a:pt x="5073" y="817"/>
                  <a:pt x="5073" y="817"/>
                </a:cubicBezTo>
                <a:cubicBezTo>
                  <a:pt x="5073" y="1219"/>
                  <a:pt x="5073" y="1219"/>
                  <a:pt x="5073" y="1219"/>
                </a:cubicBezTo>
                <a:cubicBezTo>
                  <a:pt x="5044" y="1219"/>
                  <a:pt x="5044" y="1219"/>
                  <a:pt x="5044" y="1219"/>
                </a:cubicBezTo>
                <a:cubicBezTo>
                  <a:pt x="5031" y="1237"/>
                  <a:pt x="5031" y="1237"/>
                  <a:pt x="5031" y="1237"/>
                </a:cubicBezTo>
                <a:cubicBezTo>
                  <a:pt x="5031" y="1419"/>
                  <a:pt x="5031" y="1419"/>
                  <a:pt x="5031" y="1419"/>
                </a:cubicBezTo>
                <a:cubicBezTo>
                  <a:pt x="5007" y="1419"/>
                  <a:pt x="5007" y="1419"/>
                  <a:pt x="5007" y="1419"/>
                </a:cubicBezTo>
                <a:cubicBezTo>
                  <a:pt x="5007" y="1089"/>
                  <a:pt x="5007" y="1089"/>
                  <a:pt x="5007" y="1089"/>
                </a:cubicBezTo>
                <a:cubicBezTo>
                  <a:pt x="4993" y="1089"/>
                  <a:pt x="4993" y="1089"/>
                  <a:pt x="4993" y="1089"/>
                </a:cubicBezTo>
                <a:cubicBezTo>
                  <a:pt x="4993" y="1050"/>
                  <a:pt x="4993" y="1050"/>
                  <a:pt x="4993" y="1050"/>
                </a:cubicBezTo>
                <a:cubicBezTo>
                  <a:pt x="4981" y="1050"/>
                  <a:pt x="4981" y="1050"/>
                  <a:pt x="4981" y="1050"/>
                </a:cubicBezTo>
                <a:cubicBezTo>
                  <a:pt x="4981" y="1026"/>
                  <a:pt x="4981" y="1026"/>
                  <a:pt x="4981" y="1026"/>
                </a:cubicBezTo>
                <a:cubicBezTo>
                  <a:pt x="4959" y="1026"/>
                  <a:pt x="4959" y="1026"/>
                  <a:pt x="4959" y="1026"/>
                </a:cubicBezTo>
                <a:cubicBezTo>
                  <a:pt x="4945" y="1016"/>
                  <a:pt x="4945" y="1016"/>
                  <a:pt x="4945" y="1016"/>
                </a:cubicBezTo>
                <a:cubicBezTo>
                  <a:pt x="4945" y="887"/>
                  <a:pt x="4945" y="887"/>
                  <a:pt x="4945" y="887"/>
                </a:cubicBezTo>
                <a:cubicBezTo>
                  <a:pt x="4841" y="919"/>
                  <a:pt x="4841" y="919"/>
                  <a:pt x="4841" y="919"/>
                </a:cubicBezTo>
                <a:cubicBezTo>
                  <a:pt x="4819" y="902"/>
                  <a:pt x="4819" y="902"/>
                  <a:pt x="4819" y="902"/>
                </a:cubicBezTo>
                <a:cubicBezTo>
                  <a:pt x="4819" y="685"/>
                  <a:pt x="4819" y="685"/>
                  <a:pt x="4819" y="685"/>
                </a:cubicBezTo>
                <a:cubicBezTo>
                  <a:pt x="4750" y="668"/>
                  <a:pt x="4750" y="668"/>
                  <a:pt x="4750" y="668"/>
                </a:cubicBezTo>
                <a:cubicBezTo>
                  <a:pt x="4616" y="723"/>
                  <a:pt x="4616" y="723"/>
                  <a:pt x="4616" y="723"/>
                </a:cubicBezTo>
                <a:cubicBezTo>
                  <a:pt x="4616" y="734"/>
                  <a:pt x="4616" y="734"/>
                  <a:pt x="4616" y="734"/>
                </a:cubicBezTo>
                <a:cubicBezTo>
                  <a:pt x="4593" y="720"/>
                  <a:pt x="4593" y="720"/>
                  <a:pt x="4593" y="720"/>
                </a:cubicBezTo>
                <a:cubicBezTo>
                  <a:pt x="4574" y="720"/>
                  <a:pt x="4574" y="720"/>
                  <a:pt x="4574" y="720"/>
                </a:cubicBezTo>
                <a:cubicBezTo>
                  <a:pt x="4574" y="739"/>
                  <a:pt x="4574" y="739"/>
                  <a:pt x="4574" y="739"/>
                </a:cubicBezTo>
                <a:cubicBezTo>
                  <a:pt x="4551" y="739"/>
                  <a:pt x="4551" y="739"/>
                  <a:pt x="4551" y="739"/>
                </a:cubicBezTo>
                <a:cubicBezTo>
                  <a:pt x="4551" y="807"/>
                  <a:pt x="4551" y="807"/>
                  <a:pt x="4551" y="807"/>
                </a:cubicBezTo>
                <a:cubicBezTo>
                  <a:pt x="4540" y="807"/>
                  <a:pt x="4540" y="807"/>
                  <a:pt x="4540" y="807"/>
                </a:cubicBezTo>
                <a:cubicBezTo>
                  <a:pt x="4540" y="1250"/>
                  <a:pt x="4540" y="1250"/>
                  <a:pt x="4540" y="1250"/>
                </a:cubicBezTo>
                <a:cubicBezTo>
                  <a:pt x="4523" y="1250"/>
                  <a:pt x="4523" y="1250"/>
                  <a:pt x="4523" y="1250"/>
                </a:cubicBezTo>
                <a:cubicBezTo>
                  <a:pt x="4516" y="1237"/>
                  <a:pt x="4516" y="1237"/>
                  <a:pt x="4516" y="1237"/>
                </a:cubicBezTo>
                <a:cubicBezTo>
                  <a:pt x="4516" y="1205"/>
                  <a:pt x="4516" y="1205"/>
                  <a:pt x="4516" y="1205"/>
                </a:cubicBezTo>
                <a:cubicBezTo>
                  <a:pt x="4499" y="1205"/>
                  <a:pt x="4499" y="1205"/>
                  <a:pt x="4499" y="1205"/>
                </a:cubicBezTo>
                <a:cubicBezTo>
                  <a:pt x="4499" y="1238"/>
                  <a:pt x="4499" y="1238"/>
                  <a:pt x="4499" y="1238"/>
                </a:cubicBezTo>
                <a:cubicBezTo>
                  <a:pt x="4495" y="1234"/>
                  <a:pt x="4495" y="1234"/>
                  <a:pt x="4495" y="1234"/>
                </a:cubicBezTo>
                <a:cubicBezTo>
                  <a:pt x="4495" y="1245"/>
                  <a:pt x="4495" y="1245"/>
                  <a:pt x="4495" y="1245"/>
                </a:cubicBezTo>
                <a:cubicBezTo>
                  <a:pt x="4482" y="1245"/>
                  <a:pt x="4482" y="1245"/>
                  <a:pt x="4482" y="1245"/>
                </a:cubicBezTo>
                <a:cubicBezTo>
                  <a:pt x="4482" y="1255"/>
                  <a:pt x="4482" y="1255"/>
                  <a:pt x="4482" y="1255"/>
                </a:cubicBezTo>
                <a:cubicBezTo>
                  <a:pt x="4474" y="1255"/>
                  <a:pt x="4474" y="1255"/>
                  <a:pt x="4474" y="1255"/>
                </a:cubicBezTo>
                <a:cubicBezTo>
                  <a:pt x="4474" y="1263"/>
                  <a:pt x="4474" y="1263"/>
                  <a:pt x="4474" y="1263"/>
                </a:cubicBezTo>
                <a:cubicBezTo>
                  <a:pt x="4452" y="1263"/>
                  <a:pt x="4452" y="1263"/>
                  <a:pt x="4452" y="1263"/>
                </a:cubicBezTo>
                <a:cubicBezTo>
                  <a:pt x="4452" y="1251"/>
                  <a:pt x="4452" y="1251"/>
                  <a:pt x="4452" y="1251"/>
                </a:cubicBezTo>
                <a:cubicBezTo>
                  <a:pt x="4468" y="1248"/>
                  <a:pt x="4468" y="1248"/>
                  <a:pt x="4468" y="1248"/>
                </a:cubicBezTo>
                <a:cubicBezTo>
                  <a:pt x="4468" y="1242"/>
                  <a:pt x="4468" y="1242"/>
                  <a:pt x="4468" y="1242"/>
                </a:cubicBezTo>
                <a:cubicBezTo>
                  <a:pt x="4407" y="1242"/>
                  <a:pt x="4407" y="1242"/>
                  <a:pt x="4407" y="1242"/>
                </a:cubicBezTo>
                <a:cubicBezTo>
                  <a:pt x="4409" y="1247"/>
                  <a:pt x="4409" y="1247"/>
                  <a:pt x="4409" y="1247"/>
                </a:cubicBezTo>
                <a:cubicBezTo>
                  <a:pt x="4421" y="1249"/>
                  <a:pt x="4421" y="1249"/>
                  <a:pt x="4421" y="1249"/>
                </a:cubicBezTo>
                <a:cubicBezTo>
                  <a:pt x="4421" y="1260"/>
                  <a:pt x="4421" y="1260"/>
                  <a:pt x="4421" y="1260"/>
                </a:cubicBezTo>
                <a:cubicBezTo>
                  <a:pt x="4398" y="1265"/>
                  <a:pt x="4398" y="1265"/>
                  <a:pt x="4398" y="1265"/>
                </a:cubicBezTo>
                <a:cubicBezTo>
                  <a:pt x="4369" y="1201"/>
                  <a:pt x="4369" y="1201"/>
                  <a:pt x="4369" y="1201"/>
                </a:cubicBezTo>
                <a:cubicBezTo>
                  <a:pt x="4369" y="1161"/>
                  <a:pt x="4369" y="1161"/>
                  <a:pt x="4369" y="1161"/>
                </a:cubicBezTo>
                <a:cubicBezTo>
                  <a:pt x="4369" y="948"/>
                  <a:pt x="4369" y="948"/>
                  <a:pt x="4369" y="948"/>
                </a:cubicBezTo>
                <a:cubicBezTo>
                  <a:pt x="4369" y="948"/>
                  <a:pt x="4379" y="944"/>
                  <a:pt x="4379" y="932"/>
                </a:cubicBezTo>
                <a:cubicBezTo>
                  <a:pt x="4379" y="920"/>
                  <a:pt x="4346" y="917"/>
                  <a:pt x="4333" y="917"/>
                </a:cubicBezTo>
                <a:cubicBezTo>
                  <a:pt x="4320" y="917"/>
                  <a:pt x="4287" y="920"/>
                  <a:pt x="4287" y="932"/>
                </a:cubicBezTo>
                <a:cubicBezTo>
                  <a:pt x="4287" y="944"/>
                  <a:pt x="4297" y="948"/>
                  <a:pt x="4297" y="948"/>
                </a:cubicBezTo>
                <a:cubicBezTo>
                  <a:pt x="4297" y="1161"/>
                  <a:pt x="4297" y="1161"/>
                  <a:pt x="4297" y="1161"/>
                </a:cubicBezTo>
                <a:cubicBezTo>
                  <a:pt x="4286" y="1161"/>
                  <a:pt x="4286" y="1161"/>
                  <a:pt x="4286" y="1161"/>
                </a:cubicBezTo>
                <a:cubicBezTo>
                  <a:pt x="4286" y="1131"/>
                  <a:pt x="4286" y="1131"/>
                  <a:pt x="4286" y="1131"/>
                </a:cubicBezTo>
                <a:cubicBezTo>
                  <a:pt x="4238" y="1091"/>
                  <a:pt x="4238" y="1091"/>
                  <a:pt x="4238" y="1091"/>
                </a:cubicBezTo>
                <a:cubicBezTo>
                  <a:pt x="4238" y="974"/>
                  <a:pt x="4238" y="974"/>
                  <a:pt x="4238" y="974"/>
                </a:cubicBezTo>
                <a:cubicBezTo>
                  <a:pt x="4223" y="974"/>
                  <a:pt x="4223" y="974"/>
                  <a:pt x="4223" y="974"/>
                </a:cubicBezTo>
                <a:cubicBezTo>
                  <a:pt x="4166" y="1010"/>
                  <a:pt x="4166" y="1010"/>
                  <a:pt x="4166" y="1010"/>
                </a:cubicBezTo>
                <a:cubicBezTo>
                  <a:pt x="4166" y="995"/>
                  <a:pt x="4166" y="995"/>
                  <a:pt x="4166" y="995"/>
                </a:cubicBezTo>
                <a:cubicBezTo>
                  <a:pt x="4087" y="995"/>
                  <a:pt x="4087" y="995"/>
                  <a:pt x="4087" y="995"/>
                </a:cubicBezTo>
                <a:cubicBezTo>
                  <a:pt x="4087" y="1012"/>
                  <a:pt x="4087" y="1012"/>
                  <a:pt x="4087" y="1012"/>
                </a:cubicBezTo>
                <a:cubicBezTo>
                  <a:pt x="4069" y="1012"/>
                  <a:pt x="4069" y="1012"/>
                  <a:pt x="4069" y="1012"/>
                </a:cubicBezTo>
                <a:cubicBezTo>
                  <a:pt x="4069" y="1130"/>
                  <a:pt x="4069" y="1130"/>
                  <a:pt x="4069" y="1130"/>
                </a:cubicBezTo>
                <a:cubicBezTo>
                  <a:pt x="4046" y="1117"/>
                  <a:pt x="4046" y="1117"/>
                  <a:pt x="4046" y="1117"/>
                </a:cubicBezTo>
                <a:cubicBezTo>
                  <a:pt x="4046" y="1088"/>
                  <a:pt x="4046" y="1088"/>
                  <a:pt x="4046" y="1088"/>
                </a:cubicBezTo>
                <a:cubicBezTo>
                  <a:pt x="4039" y="1088"/>
                  <a:pt x="4039" y="1088"/>
                  <a:pt x="4039" y="1088"/>
                </a:cubicBezTo>
                <a:cubicBezTo>
                  <a:pt x="4039" y="1118"/>
                  <a:pt x="4039" y="1118"/>
                  <a:pt x="4039" y="1118"/>
                </a:cubicBezTo>
                <a:cubicBezTo>
                  <a:pt x="4032" y="1118"/>
                  <a:pt x="4032" y="1118"/>
                  <a:pt x="4032" y="1118"/>
                </a:cubicBezTo>
                <a:cubicBezTo>
                  <a:pt x="4032" y="1061"/>
                  <a:pt x="4032" y="1061"/>
                  <a:pt x="4032" y="1061"/>
                </a:cubicBezTo>
                <a:cubicBezTo>
                  <a:pt x="3989" y="1061"/>
                  <a:pt x="3989" y="1061"/>
                  <a:pt x="3989" y="1061"/>
                </a:cubicBezTo>
                <a:cubicBezTo>
                  <a:pt x="3989" y="1052"/>
                  <a:pt x="3984" y="1018"/>
                  <a:pt x="3943" y="995"/>
                </a:cubicBezTo>
                <a:cubicBezTo>
                  <a:pt x="3943" y="975"/>
                  <a:pt x="3943" y="975"/>
                  <a:pt x="3943" y="975"/>
                </a:cubicBezTo>
                <a:cubicBezTo>
                  <a:pt x="3933" y="975"/>
                  <a:pt x="3933" y="975"/>
                  <a:pt x="3933" y="975"/>
                </a:cubicBezTo>
                <a:cubicBezTo>
                  <a:pt x="3923" y="975"/>
                  <a:pt x="3923" y="975"/>
                  <a:pt x="3923" y="975"/>
                </a:cubicBezTo>
                <a:cubicBezTo>
                  <a:pt x="3923" y="995"/>
                  <a:pt x="3923" y="995"/>
                  <a:pt x="3923" y="995"/>
                </a:cubicBezTo>
                <a:cubicBezTo>
                  <a:pt x="3882" y="1018"/>
                  <a:pt x="3877" y="1052"/>
                  <a:pt x="3877" y="1061"/>
                </a:cubicBezTo>
                <a:cubicBezTo>
                  <a:pt x="3877" y="1070"/>
                  <a:pt x="3885" y="1078"/>
                  <a:pt x="3885" y="1078"/>
                </a:cubicBezTo>
                <a:cubicBezTo>
                  <a:pt x="3859" y="1078"/>
                  <a:pt x="3859" y="1078"/>
                  <a:pt x="3859" y="1078"/>
                </a:cubicBezTo>
                <a:cubicBezTo>
                  <a:pt x="3846" y="1078"/>
                  <a:pt x="3846" y="1078"/>
                  <a:pt x="3846" y="1078"/>
                </a:cubicBezTo>
                <a:cubicBezTo>
                  <a:pt x="3809" y="1051"/>
                  <a:pt x="3809" y="1051"/>
                  <a:pt x="3809" y="1051"/>
                </a:cubicBezTo>
                <a:cubicBezTo>
                  <a:pt x="3781" y="1070"/>
                  <a:pt x="3781" y="1070"/>
                  <a:pt x="3781" y="1070"/>
                </a:cubicBezTo>
                <a:cubicBezTo>
                  <a:pt x="3770" y="1080"/>
                  <a:pt x="3770" y="1080"/>
                  <a:pt x="3770" y="1080"/>
                </a:cubicBezTo>
                <a:cubicBezTo>
                  <a:pt x="3742" y="1080"/>
                  <a:pt x="3742" y="1080"/>
                  <a:pt x="3742" y="1080"/>
                </a:cubicBezTo>
                <a:cubicBezTo>
                  <a:pt x="3742" y="1095"/>
                  <a:pt x="3742" y="1095"/>
                  <a:pt x="3742" y="1095"/>
                </a:cubicBezTo>
                <a:cubicBezTo>
                  <a:pt x="3759" y="1095"/>
                  <a:pt x="3763" y="1109"/>
                  <a:pt x="3763" y="1109"/>
                </a:cubicBezTo>
                <a:cubicBezTo>
                  <a:pt x="3763" y="1133"/>
                  <a:pt x="3763" y="1133"/>
                  <a:pt x="3763" y="1133"/>
                </a:cubicBezTo>
                <a:cubicBezTo>
                  <a:pt x="3734" y="1133"/>
                  <a:pt x="3734" y="1133"/>
                  <a:pt x="3734" y="1133"/>
                </a:cubicBezTo>
                <a:cubicBezTo>
                  <a:pt x="3734" y="1123"/>
                  <a:pt x="3734" y="1123"/>
                  <a:pt x="3734" y="1123"/>
                </a:cubicBezTo>
                <a:cubicBezTo>
                  <a:pt x="3673" y="1123"/>
                  <a:pt x="3673" y="1123"/>
                  <a:pt x="3673" y="1123"/>
                </a:cubicBezTo>
                <a:cubicBezTo>
                  <a:pt x="3673" y="1147"/>
                  <a:pt x="3673" y="1147"/>
                  <a:pt x="3673" y="1147"/>
                </a:cubicBezTo>
                <a:cubicBezTo>
                  <a:pt x="3635" y="1147"/>
                  <a:pt x="3635" y="1147"/>
                  <a:pt x="3635" y="1147"/>
                </a:cubicBezTo>
                <a:cubicBezTo>
                  <a:pt x="3635" y="1405"/>
                  <a:pt x="3635" y="1405"/>
                  <a:pt x="3635" y="1405"/>
                </a:cubicBezTo>
                <a:cubicBezTo>
                  <a:pt x="3585" y="1405"/>
                  <a:pt x="3585" y="1405"/>
                  <a:pt x="3585" y="1405"/>
                </a:cubicBezTo>
                <a:cubicBezTo>
                  <a:pt x="3585" y="1415"/>
                  <a:pt x="3585" y="1415"/>
                  <a:pt x="3585" y="1415"/>
                </a:cubicBezTo>
                <a:cubicBezTo>
                  <a:pt x="3576" y="1415"/>
                  <a:pt x="3576" y="1415"/>
                  <a:pt x="3576" y="1415"/>
                </a:cubicBezTo>
                <a:cubicBezTo>
                  <a:pt x="3576" y="1437"/>
                  <a:pt x="3576" y="1437"/>
                  <a:pt x="3576" y="1437"/>
                </a:cubicBezTo>
                <a:cubicBezTo>
                  <a:pt x="3565" y="1437"/>
                  <a:pt x="3565" y="1437"/>
                  <a:pt x="3565" y="1437"/>
                </a:cubicBezTo>
                <a:cubicBezTo>
                  <a:pt x="3565" y="1403"/>
                  <a:pt x="3565" y="1403"/>
                  <a:pt x="3565" y="1403"/>
                </a:cubicBezTo>
                <a:cubicBezTo>
                  <a:pt x="3528" y="1403"/>
                  <a:pt x="3528" y="1403"/>
                  <a:pt x="3528" y="1403"/>
                </a:cubicBezTo>
                <a:cubicBezTo>
                  <a:pt x="3528" y="1259"/>
                  <a:pt x="3528" y="1259"/>
                  <a:pt x="3528" y="1259"/>
                </a:cubicBezTo>
                <a:cubicBezTo>
                  <a:pt x="3478" y="1259"/>
                  <a:pt x="3478" y="1259"/>
                  <a:pt x="3478" y="1259"/>
                </a:cubicBezTo>
                <a:cubicBezTo>
                  <a:pt x="3478" y="1245"/>
                  <a:pt x="3478" y="1245"/>
                  <a:pt x="3478" y="1245"/>
                </a:cubicBezTo>
                <a:cubicBezTo>
                  <a:pt x="3463" y="1245"/>
                  <a:pt x="3463" y="1245"/>
                  <a:pt x="3463" y="1245"/>
                </a:cubicBezTo>
                <a:cubicBezTo>
                  <a:pt x="3463" y="1255"/>
                  <a:pt x="3463" y="1255"/>
                  <a:pt x="3463" y="1255"/>
                </a:cubicBezTo>
                <a:cubicBezTo>
                  <a:pt x="3455" y="1255"/>
                  <a:pt x="3455" y="1255"/>
                  <a:pt x="3455" y="1255"/>
                </a:cubicBezTo>
                <a:cubicBezTo>
                  <a:pt x="3456" y="1251"/>
                  <a:pt x="3456" y="1248"/>
                  <a:pt x="3456" y="1245"/>
                </a:cubicBezTo>
                <a:cubicBezTo>
                  <a:pt x="3456" y="1211"/>
                  <a:pt x="3436" y="1182"/>
                  <a:pt x="3407" y="1168"/>
                </a:cubicBezTo>
                <a:cubicBezTo>
                  <a:pt x="3407" y="700"/>
                  <a:pt x="3407" y="700"/>
                  <a:pt x="3407" y="700"/>
                </a:cubicBezTo>
                <a:cubicBezTo>
                  <a:pt x="3431" y="687"/>
                  <a:pt x="3447" y="662"/>
                  <a:pt x="3447" y="634"/>
                </a:cubicBezTo>
                <a:cubicBezTo>
                  <a:pt x="3447" y="597"/>
                  <a:pt x="3421" y="567"/>
                  <a:pt x="3387" y="560"/>
                </a:cubicBezTo>
                <a:cubicBezTo>
                  <a:pt x="3383" y="429"/>
                  <a:pt x="3383" y="429"/>
                  <a:pt x="3383" y="429"/>
                </a:cubicBezTo>
                <a:cubicBezTo>
                  <a:pt x="3391" y="425"/>
                  <a:pt x="3397" y="417"/>
                  <a:pt x="3397" y="407"/>
                </a:cubicBezTo>
                <a:cubicBezTo>
                  <a:pt x="3397" y="400"/>
                  <a:pt x="3394" y="393"/>
                  <a:pt x="3390" y="389"/>
                </a:cubicBezTo>
                <a:cubicBezTo>
                  <a:pt x="3390" y="372"/>
                  <a:pt x="3390" y="372"/>
                  <a:pt x="3390" y="372"/>
                </a:cubicBezTo>
                <a:cubicBezTo>
                  <a:pt x="3382" y="372"/>
                  <a:pt x="3382" y="372"/>
                  <a:pt x="3382" y="372"/>
                </a:cubicBezTo>
                <a:cubicBezTo>
                  <a:pt x="3382" y="269"/>
                  <a:pt x="3382" y="269"/>
                  <a:pt x="3382" y="269"/>
                </a:cubicBezTo>
                <a:cubicBezTo>
                  <a:pt x="3377" y="269"/>
                  <a:pt x="3377" y="269"/>
                  <a:pt x="3377" y="269"/>
                </a:cubicBezTo>
                <a:cubicBezTo>
                  <a:pt x="3377" y="187"/>
                  <a:pt x="3377" y="187"/>
                  <a:pt x="3377" y="187"/>
                </a:cubicBezTo>
                <a:cubicBezTo>
                  <a:pt x="3377" y="187"/>
                  <a:pt x="3385" y="187"/>
                  <a:pt x="3385" y="177"/>
                </a:cubicBezTo>
                <a:cubicBezTo>
                  <a:pt x="3385" y="167"/>
                  <a:pt x="3377" y="170"/>
                  <a:pt x="3377" y="170"/>
                </a:cubicBezTo>
                <a:cubicBezTo>
                  <a:pt x="3372" y="0"/>
                  <a:pt x="3372" y="0"/>
                  <a:pt x="3372" y="0"/>
                </a:cubicBezTo>
                <a:cubicBezTo>
                  <a:pt x="3367" y="170"/>
                  <a:pt x="3367" y="170"/>
                  <a:pt x="3367" y="170"/>
                </a:cubicBezTo>
                <a:cubicBezTo>
                  <a:pt x="3367" y="170"/>
                  <a:pt x="3359" y="167"/>
                  <a:pt x="3359" y="177"/>
                </a:cubicBezTo>
                <a:cubicBezTo>
                  <a:pt x="3359" y="187"/>
                  <a:pt x="3367" y="187"/>
                  <a:pt x="3367" y="187"/>
                </a:cubicBezTo>
                <a:cubicBezTo>
                  <a:pt x="3367" y="269"/>
                  <a:pt x="3367" y="269"/>
                  <a:pt x="3367" y="269"/>
                </a:cubicBezTo>
                <a:cubicBezTo>
                  <a:pt x="3362" y="269"/>
                  <a:pt x="3362" y="269"/>
                  <a:pt x="3362" y="269"/>
                </a:cubicBezTo>
                <a:cubicBezTo>
                  <a:pt x="3362" y="372"/>
                  <a:pt x="3362" y="372"/>
                  <a:pt x="3362" y="372"/>
                </a:cubicBezTo>
                <a:cubicBezTo>
                  <a:pt x="3354" y="372"/>
                  <a:pt x="3354" y="372"/>
                  <a:pt x="3354" y="372"/>
                </a:cubicBezTo>
                <a:cubicBezTo>
                  <a:pt x="3354" y="389"/>
                  <a:pt x="3354" y="389"/>
                  <a:pt x="3354" y="389"/>
                </a:cubicBezTo>
                <a:cubicBezTo>
                  <a:pt x="3350" y="393"/>
                  <a:pt x="3347" y="400"/>
                  <a:pt x="3347" y="407"/>
                </a:cubicBezTo>
                <a:cubicBezTo>
                  <a:pt x="3347" y="417"/>
                  <a:pt x="3353" y="425"/>
                  <a:pt x="3361" y="429"/>
                </a:cubicBezTo>
                <a:cubicBezTo>
                  <a:pt x="3357" y="560"/>
                  <a:pt x="3357" y="560"/>
                  <a:pt x="3357" y="560"/>
                </a:cubicBezTo>
                <a:cubicBezTo>
                  <a:pt x="3323" y="567"/>
                  <a:pt x="3297" y="597"/>
                  <a:pt x="3297" y="634"/>
                </a:cubicBezTo>
                <a:cubicBezTo>
                  <a:pt x="3297" y="659"/>
                  <a:pt x="3310" y="681"/>
                  <a:pt x="3329" y="695"/>
                </a:cubicBezTo>
                <a:cubicBezTo>
                  <a:pt x="3329" y="1173"/>
                  <a:pt x="3329" y="1173"/>
                  <a:pt x="3329" y="1173"/>
                </a:cubicBezTo>
                <a:cubicBezTo>
                  <a:pt x="3304" y="1187"/>
                  <a:pt x="3288" y="1214"/>
                  <a:pt x="3288" y="1245"/>
                </a:cubicBezTo>
                <a:cubicBezTo>
                  <a:pt x="3288" y="1275"/>
                  <a:pt x="3304" y="1302"/>
                  <a:pt x="3329" y="1317"/>
                </a:cubicBezTo>
                <a:cubicBezTo>
                  <a:pt x="3329" y="1343"/>
                  <a:pt x="3329" y="1343"/>
                  <a:pt x="3329" y="1343"/>
                </a:cubicBezTo>
                <a:cubicBezTo>
                  <a:pt x="3287" y="1479"/>
                  <a:pt x="3287" y="1479"/>
                  <a:pt x="3287" y="1479"/>
                </a:cubicBezTo>
                <a:cubicBezTo>
                  <a:pt x="3180" y="1479"/>
                  <a:pt x="3180" y="1479"/>
                  <a:pt x="3180" y="1479"/>
                </a:cubicBezTo>
                <a:cubicBezTo>
                  <a:pt x="3180" y="1420"/>
                  <a:pt x="3180" y="1420"/>
                  <a:pt x="3180" y="1420"/>
                </a:cubicBezTo>
                <a:cubicBezTo>
                  <a:pt x="3132" y="1420"/>
                  <a:pt x="3132" y="1420"/>
                  <a:pt x="3132" y="1420"/>
                </a:cubicBezTo>
                <a:cubicBezTo>
                  <a:pt x="3132" y="1479"/>
                  <a:pt x="3132" y="1479"/>
                  <a:pt x="3132" y="1479"/>
                </a:cubicBezTo>
                <a:cubicBezTo>
                  <a:pt x="2997" y="1479"/>
                  <a:pt x="2997" y="1479"/>
                  <a:pt x="2997" y="1479"/>
                </a:cubicBezTo>
                <a:cubicBezTo>
                  <a:pt x="2997" y="1395"/>
                  <a:pt x="2997" y="1395"/>
                  <a:pt x="2997" y="1395"/>
                </a:cubicBezTo>
                <a:cubicBezTo>
                  <a:pt x="2850" y="1372"/>
                  <a:pt x="2850" y="1372"/>
                  <a:pt x="2850" y="1372"/>
                </a:cubicBezTo>
                <a:cubicBezTo>
                  <a:pt x="2850" y="1279"/>
                  <a:pt x="2850" y="1279"/>
                  <a:pt x="2850" y="1279"/>
                </a:cubicBezTo>
                <a:cubicBezTo>
                  <a:pt x="2844" y="1271"/>
                  <a:pt x="2844" y="1271"/>
                  <a:pt x="2844" y="1271"/>
                </a:cubicBezTo>
                <a:cubicBezTo>
                  <a:pt x="2844" y="1227"/>
                  <a:pt x="2844" y="1227"/>
                  <a:pt x="2844" y="1227"/>
                </a:cubicBezTo>
                <a:cubicBezTo>
                  <a:pt x="2838" y="1223"/>
                  <a:pt x="2838" y="1223"/>
                  <a:pt x="2838" y="1223"/>
                </a:cubicBezTo>
                <a:cubicBezTo>
                  <a:pt x="2838" y="1194"/>
                  <a:pt x="2838" y="1194"/>
                  <a:pt x="2838" y="1194"/>
                </a:cubicBezTo>
                <a:cubicBezTo>
                  <a:pt x="2818" y="1177"/>
                  <a:pt x="2818" y="1177"/>
                  <a:pt x="2818" y="1177"/>
                </a:cubicBezTo>
                <a:cubicBezTo>
                  <a:pt x="2803" y="1177"/>
                  <a:pt x="2803" y="1177"/>
                  <a:pt x="2803" y="1177"/>
                </a:cubicBezTo>
                <a:cubicBezTo>
                  <a:pt x="2797" y="1119"/>
                  <a:pt x="2797" y="1119"/>
                  <a:pt x="2797" y="1119"/>
                </a:cubicBezTo>
                <a:cubicBezTo>
                  <a:pt x="2791" y="1177"/>
                  <a:pt x="2791" y="1177"/>
                  <a:pt x="2791" y="1177"/>
                </a:cubicBezTo>
                <a:cubicBezTo>
                  <a:pt x="2776" y="1177"/>
                  <a:pt x="2776" y="1177"/>
                  <a:pt x="2776" y="1177"/>
                </a:cubicBezTo>
                <a:cubicBezTo>
                  <a:pt x="2756" y="1194"/>
                  <a:pt x="2756" y="1194"/>
                  <a:pt x="2756" y="1194"/>
                </a:cubicBezTo>
                <a:cubicBezTo>
                  <a:pt x="2756" y="1223"/>
                  <a:pt x="2756" y="1223"/>
                  <a:pt x="2756" y="1223"/>
                </a:cubicBezTo>
                <a:cubicBezTo>
                  <a:pt x="2750" y="1227"/>
                  <a:pt x="2750" y="1227"/>
                  <a:pt x="2750" y="1227"/>
                </a:cubicBezTo>
                <a:cubicBezTo>
                  <a:pt x="2750" y="1271"/>
                  <a:pt x="2750" y="1271"/>
                  <a:pt x="2750" y="1271"/>
                </a:cubicBezTo>
                <a:cubicBezTo>
                  <a:pt x="2744" y="1279"/>
                  <a:pt x="2744" y="1279"/>
                  <a:pt x="2744" y="1279"/>
                </a:cubicBezTo>
                <a:cubicBezTo>
                  <a:pt x="2744" y="1341"/>
                  <a:pt x="2744" y="1341"/>
                  <a:pt x="2744" y="1341"/>
                </a:cubicBezTo>
                <a:cubicBezTo>
                  <a:pt x="2744" y="1341"/>
                  <a:pt x="2733" y="1330"/>
                  <a:pt x="2701" y="1330"/>
                </a:cubicBezTo>
                <a:cubicBezTo>
                  <a:pt x="2658" y="1330"/>
                  <a:pt x="2628" y="1372"/>
                  <a:pt x="2628" y="1372"/>
                </a:cubicBezTo>
                <a:cubicBezTo>
                  <a:pt x="2572" y="1372"/>
                  <a:pt x="2572" y="1372"/>
                  <a:pt x="2572" y="1372"/>
                </a:cubicBezTo>
                <a:cubicBezTo>
                  <a:pt x="2572" y="1389"/>
                  <a:pt x="2572" y="1389"/>
                  <a:pt x="2572" y="1389"/>
                </a:cubicBezTo>
                <a:cubicBezTo>
                  <a:pt x="2553" y="1389"/>
                  <a:pt x="2553" y="1389"/>
                  <a:pt x="2553" y="1389"/>
                </a:cubicBezTo>
                <a:cubicBezTo>
                  <a:pt x="2553" y="1382"/>
                  <a:pt x="2553" y="1382"/>
                  <a:pt x="2553" y="1382"/>
                </a:cubicBezTo>
                <a:cubicBezTo>
                  <a:pt x="2510" y="1382"/>
                  <a:pt x="2510" y="1382"/>
                  <a:pt x="2510" y="1382"/>
                </a:cubicBezTo>
                <a:cubicBezTo>
                  <a:pt x="2502" y="1393"/>
                  <a:pt x="2502" y="1393"/>
                  <a:pt x="2502" y="1393"/>
                </a:cubicBezTo>
                <a:cubicBezTo>
                  <a:pt x="2478" y="1393"/>
                  <a:pt x="2478" y="1393"/>
                  <a:pt x="2478" y="1393"/>
                </a:cubicBezTo>
                <a:cubicBezTo>
                  <a:pt x="2478" y="1402"/>
                  <a:pt x="2478" y="1402"/>
                  <a:pt x="2478" y="1402"/>
                </a:cubicBezTo>
                <a:cubicBezTo>
                  <a:pt x="2470" y="1402"/>
                  <a:pt x="2470" y="1402"/>
                  <a:pt x="2470" y="1402"/>
                </a:cubicBezTo>
                <a:cubicBezTo>
                  <a:pt x="2470" y="1378"/>
                  <a:pt x="2470" y="1378"/>
                  <a:pt x="2470" y="1378"/>
                </a:cubicBezTo>
                <a:cubicBezTo>
                  <a:pt x="2443" y="1378"/>
                  <a:pt x="2443" y="1378"/>
                  <a:pt x="2443" y="1378"/>
                </a:cubicBezTo>
                <a:cubicBezTo>
                  <a:pt x="2432" y="1388"/>
                  <a:pt x="2432" y="1388"/>
                  <a:pt x="2432" y="1388"/>
                </a:cubicBezTo>
                <a:cubicBezTo>
                  <a:pt x="2417" y="1388"/>
                  <a:pt x="2417" y="1388"/>
                  <a:pt x="2417" y="1388"/>
                </a:cubicBezTo>
                <a:cubicBezTo>
                  <a:pt x="2408" y="1375"/>
                  <a:pt x="2408" y="1375"/>
                  <a:pt x="2408" y="1375"/>
                </a:cubicBezTo>
                <a:cubicBezTo>
                  <a:pt x="2393" y="1375"/>
                  <a:pt x="2393" y="1375"/>
                  <a:pt x="2393" y="1375"/>
                </a:cubicBezTo>
                <a:cubicBezTo>
                  <a:pt x="2381" y="1388"/>
                  <a:pt x="2381" y="1388"/>
                  <a:pt x="2381" y="1388"/>
                </a:cubicBezTo>
                <a:cubicBezTo>
                  <a:pt x="2365" y="1388"/>
                  <a:pt x="2365" y="1388"/>
                  <a:pt x="2365" y="1388"/>
                </a:cubicBezTo>
                <a:cubicBezTo>
                  <a:pt x="2365" y="1465"/>
                  <a:pt x="2365" y="1465"/>
                  <a:pt x="2365" y="1465"/>
                </a:cubicBezTo>
                <a:cubicBezTo>
                  <a:pt x="2310" y="1465"/>
                  <a:pt x="2310" y="1465"/>
                  <a:pt x="2310" y="1465"/>
                </a:cubicBezTo>
                <a:cubicBezTo>
                  <a:pt x="2310" y="1440"/>
                  <a:pt x="2310" y="1440"/>
                  <a:pt x="2310" y="1440"/>
                </a:cubicBezTo>
                <a:cubicBezTo>
                  <a:pt x="2284" y="1420"/>
                  <a:pt x="2284" y="1420"/>
                  <a:pt x="2284" y="1420"/>
                </a:cubicBezTo>
                <a:cubicBezTo>
                  <a:pt x="2279" y="1380"/>
                  <a:pt x="2279" y="1380"/>
                  <a:pt x="2279" y="1380"/>
                </a:cubicBezTo>
                <a:cubicBezTo>
                  <a:pt x="2273" y="1419"/>
                  <a:pt x="2273" y="1419"/>
                  <a:pt x="2273" y="1419"/>
                </a:cubicBezTo>
                <a:cubicBezTo>
                  <a:pt x="2243" y="1441"/>
                  <a:pt x="2243" y="1441"/>
                  <a:pt x="2243" y="1441"/>
                </a:cubicBezTo>
                <a:cubicBezTo>
                  <a:pt x="2243" y="1457"/>
                  <a:pt x="2243" y="1457"/>
                  <a:pt x="2243" y="1457"/>
                </a:cubicBezTo>
                <a:cubicBezTo>
                  <a:pt x="2199" y="1457"/>
                  <a:pt x="2199" y="1457"/>
                  <a:pt x="2199" y="1457"/>
                </a:cubicBezTo>
                <a:cubicBezTo>
                  <a:pt x="2199" y="1401"/>
                  <a:pt x="2199" y="1401"/>
                  <a:pt x="2199" y="1401"/>
                </a:cubicBezTo>
                <a:cubicBezTo>
                  <a:pt x="2177" y="1401"/>
                  <a:pt x="2177" y="1401"/>
                  <a:pt x="2177" y="1401"/>
                </a:cubicBezTo>
                <a:cubicBezTo>
                  <a:pt x="2177" y="1391"/>
                  <a:pt x="2177" y="1391"/>
                  <a:pt x="2177" y="1391"/>
                </a:cubicBezTo>
                <a:cubicBezTo>
                  <a:pt x="2152" y="1391"/>
                  <a:pt x="2152" y="1391"/>
                  <a:pt x="2152" y="1391"/>
                </a:cubicBezTo>
                <a:cubicBezTo>
                  <a:pt x="2152" y="1409"/>
                  <a:pt x="2152" y="1409"/>
                  <a:pt x="2152" y="1409"/>
                </a:cubicBezTo>
                <a:cubicBezTo>
                  <a:pt x="2139" y="1409"/>
                  <a:pt x="2139" y="1409"/>
                  <a:pt x="2139" y="1409"/>
                </a:cubicBezTo>
                <a:cubicBezTo>
                  <a:pt x="2139" y="1371"/>
                  <a:pt x="2139" y="1371"/>
                  <a:pt x="2139" y="1371"/>
                </a:cubicBezTo>
                <a:cubicBezTo>
                  <a:pt x="2093" y="1371"/>
                  <a:pt x="2093" y="1371"/>
                  <a:pt x="2093" y="1371"/>
                </a:cubicBezTo>
                <a:cubicBezTo>
                  <a:pt x="2093" y="1436"/>
                  <a:pt x="2093" y="1436"/>
                  <a:pt x="2093" y="1436"/>
                </a:cubicBezTo>
                <a:cubicBezTo>
                  <a:pt x="2077" y="1436"/>
                  <a:pt x="2077" y="1436"/>
                  <a:pt x="2077" y="1436"/>
                </a:cubicBezTo>
                <a:cubicBezTo>
                  <a:pt x="2077" y="1453"/>
                  <a:pt x="2077" y="1453"/>
                  <a:pt x="2077" y="1453"/>
                </a:cubicBezTo>
                <a:cubicBezTo>
                  <a:pt x="2068" y="1453"/>
                  <a:pt x="2068" y="1453"/>
                  <a:pt x="2068" y="1453"/>
                </a:cubicBezTo>
                <a:cubicBezTo>
                  <a:pt x="2068" y="1463"/>
                  <a:pt x="2068" y="1463"/>
                  <a:pt x="2068" y="1463"/>
                </a:cubicBezTo>
                <a:cubicBezTo>
                  <a:pt x="2055" y="1463"/>
                  <a:pt x="2055" y="1463"/>
                  <a:pt x="2055" y="1463"/>
                </a:cubicBezTo>
                <a:cubicBezTo>
                  <a:pt x="2055" y="1453"/>
                  <a:pt x="2055" y="1453"/>
                  <a:pt x="2055" y="1453"/>
                </a:cubicBezTo>
                <a:cubicBezTo>
                  <a:pt x="2033" y="1453"/>
                  <a:pt x="2033" y="1453"/>
                  <a:pt x="2033" y="1453"/>
                </a:cubicBezTo>
                <a:cubicBezTo>
                  <a:pt x="2033" y="1461"/>
                  <a:pt x="2033" y="1461"/>
                  <a:pt x="2033" y="1461"/>
                </a:cubicBezTo>
                <a:cubicBezTo>
                  <a:pt x="2004" y="1461"/>
                  <a:pt x="2004" y="1461"/>
                  <a:pt x="2004" y="1461"/>
                </a:cubicBezTo>
                <a:cubicBezTo>
                  <a:pt x="2004" y="1471"/>
                  <a:pt x="2004" y="1471"/>
                  <a:pt x="2004" y="1471"/>
                </a:cubicBezTo>
                <a:cubicBezTo>
                  <a:pt x="1996" y="1471"/>
                  <a:pt x="1996" y="1471"/>
                  <a:pt x="1996" y="1471"/>
                </a:cubicBezTo>
                <a:cubicBezTo>
                  <a:pt x="1996" y="1463"/>
                  <a:pt x="1996" y="1463"/>
                  <a:pt x="1996" y="1463"/>
                </a:cubicBezTo>
                <a:cubicBezTo>
                  <a:pt x="1983" y="1463"/>
                  <a:pt x="1983" y="1463"/>
                  <a:pt x="1983" y="1463"/>
                </a:cubicBezTo>
                <a:cubicBezTo>
                  <a:pt x="1983" y="1479"/>
                  <a:pt x="1983" y="1479"/>
                  <a:pt x="1983" y="1479"/>
                </a:cubicBezTo>
                <a:cubicBezTo>
                  <a:pt x="1975" y="1479"/>
                  <a:pt x="1975" y="1479"/>
                  <a:pt x="1975" y="1479"/>
                </a:cubicBezTo>
                <a:cubicBezTo>
                  <a:pt x="1975" y="1343"/>
                  <a:pt x="1975" y="1343"/>
                  <a:pt x="1975" y="1343"/>
                </a:cubicBezTo>
                <a:cubicBezTo>
                  <a:pt x="1952" y="1343"/>
                  <a:pt x="1952" y="1343"/>
                  <a:pt x="1952" y="1343"/>
                </a:cubicBezTo>
                <a:cubicBezTo>
                  <a:pt x="1952" y="1352"/>
                  <a:pt x="1952" y="1352"/>
                  <a:pt x="1952" y="1352"/>
                </a:cubicBezTo>
                <a:cubicBezTo>
                  <a:pt x="1943" y="1352"/>
                  <a:pt x="1943" y="1352"/>
                  <a:pt x="1943" y="1352"/>
                </a:cubicBezTo>
                <a:cubicBezTo>
                  <a:pt x="1935" y="1335"/>
                  <a:pt x="1935" y="1335"/>
                  <a:pt x="1935" y="1335"/>
                </a:cubicBezTo>
                <a:cubicBezTo>
                  <a:pt x="1921" y="1335"/>
                  <a:pt x="1921" y="1335"/>
                  <a:pt x="1921" y="1335"/>
                </a:cubicBezTo>
                <a:cubicBezTo>
                  <a:pt x="1912" y="1352"/>
                  <a:pt x="1912" y="1352"/>
                  <a:pt x="1912" y="1352"/>
                </a:cubicBezTo>
                <a:cubicBezTo>
                  <a:pt x="1877" y="1352"/>
                  <a:pt x="1877" y="1352"/>
                  <a:pt x="1877" y="1352"/>
                </a:cubicBezTo>
                <a:cubicBezTo>
                  <a:pt x="1877" y="1456"/>
                  <a:pt x="1877" y="1456"/>
                  <a:pt x="1877" y="1456"/>
                </a:cubicBezTo>
                <a:cubicBezTo>
                  <a:pt x="1805" y="1456"/>
                  <a:pt x="1805" y="1456"/>
                  <a:pt x="1805" y="1456"/>
                </a:cubicBezTo>
                <a:cubicBezTo>
                  <a:pt x="1791" y="1441"/>
                  <a:pt x="1791" y="1441"/>
                  <a:pt x="1791" y="1441"/>
                </a:cubicBezTo>
                <a:cubicBezTo>
                  <a:pt x="1781" y="1452"/>
                  <a:pt x="1781" y="1452"/>
                  <a:pt x="1781" y="1452"/>
                </a:cubicBezTo>
                <a:cubicBezTo>
                  <a:pt x="1771" y="1452"/>
                  <a:pt x="1771" y="1452"/>
                  <a:pt x="1771" y="1452"/>
                </a:cubicBezTo>
                <a:cubicBezTo>
                  <a:pt x="1756" y="1437"/>
                  <a:pt x="1756" y="1437"/>
                  <a:pt x="1756" y="1437"/>
                </a:cubicBezTo>
                <a:cubicBezTo>
                  <a:pt x="1744" y="1437"/>
                  <a:pt x="1744" y="1437"/>
                  <a:pt x="1744" y="1437"/>
                </a:cubicBezTo>
                <a:cubicBezTo>
                  <a:pt x="1731" y="1448"/>
                  <a:pt x="1731" y="1448"/>
                  <a:pt x="1731" y="1448"/>
                </a:cubicBezTo>
                <a:cubicBezTo>
                  <a:pt x="1699" y="1448"/>
                  <a:pt x="1699" y="1448"/>
                  <a:pt x="1699" y="1448"/>
                </a:cubicBezTo>
                <a:cubicBezTo>
                  <a:pt x="1699" y="1437"/>
                  <a:pt x="1699" y="1437"/>
                  <a:pt x="1699" y="1437"/>
                </a:cubicBezTo>
                <a:cubicBezTo>
                  <a:pt x="1673" y="1437"/>
                  <a:pt x="1673" y="1437"/>
                  <a:pt x="1673" y="1437"/>
                </a:cubicBezTo>
                <a:cubicBezTo>
                  <a:pt x="1673" y="1469"/>
                  <a:pt x="1673" y="1469"/>
                  <a:pt x="1673" y="1469"/>
                </a:cubicBezTo>
                <a:cubicBezTo>
                  <a:pt x="1656" y="1469"/>
                  <a:pt x="1656" y="1469"/>
                  <a:pt x="1656" y="1469"/>
                </a:cubicBezTo>
                <a:cubicBezTo>
                  <a:pt x="1656" y="1459"/>
                  <a:pt x="1656" y="1459"/>
                  <a:pt x="1656" y="1459"/>
                </a:cubicBezTo>
                <a:cubicBezTo>
                  <a:pt x="1619" y="1459"/>
                  <a:pt x="1619" y="1459"/>
                  <a:pt x="1619" y="1459"/>
                </a:cubicBezTo>
                <a:cubicBezTo>
                  <a:pt x="1619" y="1448"/>
                  <a:pt x="1619" y="1448"/>
                  <a:pt x="1619" y="1448"/>
                </a:cubicBezTo>
                <a:cubicBezTo>
                  <a:pt x="1587" y="1448"/>
                  <a:pt x="1587" y="1448"/>
                  <a:pt x="1587" y="1448"/>
                </a:cubicBezTo>
                <a:cubicBezTo>
                  <a:pt x="1587" y="1459"/>
                  <a:pt x="1587" y="1459"/>
                  <a:pt x="1587" y="1459"/>
                </a:cubicBezTo>
                <a:cubicBezTo>
                  <a:pt x="1563" y="1459"/>
                  <a:pt x="1563" y="1459"/>
                  <a:pt x="1563" y="1459"/>
                </a:cubicBezTo>
                <a:cubicBezTo>
                  <a:pt x="1563" y="1407"/>
                  <a:pt x="1563" y="1407"/>
                  <a:pt x="1563" y="1407"/>
                </a:cubicBezTo>
                <a:cubicBezTo>
                  <a:pt x="1531" y="1393"/>
                  <a:pt x="1531" y="1393"/>
                  <a:pt x="1531" y="1393"/>
                </a:cubicBezTo>
                <a:cubicBezTo>
                  <a:pt x="1531" y="1408"/>
                  <a:pt x="1531" y="1408"/>
                  <a:pt x="1531" y="1408"/>
                </a:cubicBezTo>
                <a:cubicBezTo>
                  <a:pt x="1524" y="1408"/>
                  <a:pt x="1524" y="1408"/>
                  <a:pt x="1524" y="1408"/>
                </a:cubicBezTo>
                <a:cubicBezTo>
                  <a:pt x="1524" y="1331"/>
                  <a:pt x="1524" y="1331"/>
                  <a:pt x="1524" y="1331"/>
                </a:cubicBezTo>
                <a:cubicBezTo>
                  <a:pt x="1507" y="1331"/>
                  <a:pt x="1507" y="1331"/>
                  <a:pt x="1507" y="1331"/>
                </a:cubicBezTo>
                <a:cubicBezTo>
                  <a:pt x="1507" y="1307"/>
                  <a:pt x="1507" y="1307"/>
                  <a:pt x="1507" y="1307"/>
                </a:cubicBezTo>
                <a:cubicBezTo>
                  <a:pt x="1479" y="1307"/>
                  <a:pt x="1479" y="1307"/>
                  <a:pt x="1479" y="1307"/>
                </a:cubicBezTo>
                <a:cubicBezTo>
                  <a:pt x="1479" y="1281"/>
                  <a:pt x="1479" y="1281"/>
                  <a:pt x="1479" y="1281"/>
                </a:cubicBezTo>
                <a:cubicBezTo>
                  <a:pt x="1465" y="1281"/>
                  <a:pt x="1465" y="1281"/>
                  <a:pt x="1465" y="1281"/>
                </a:cubicBezTo>
                <a:cubicBezTo>
                  <a:pt x="1465" y="1307"/>
                  <a:pt x="1465" y="1307"/>
                  <a:pt x="1465" y="1307"/>
                </a:cubicBezTo>
                <a:cubicBezTo>
                  <a:pt x="1443" y="1307"/>
                  <a:pt x="1443" y="1307"/>
                  <a:pt x="1443" y="1307"/>
                </a:cubicBezTo>
                <a:cubicBezTo>
                  <a:pt x="1443" y="1265"/>
                  <a:pt x="1443" y="1265"/>
                  <a:pt x="1443" y="1265"/>
                </a:cubicBezTo>
                <a:cubicBezTo>
                  <a:pt x="1443" y="1265"/>
                  <a:pt x="1412" y="1232"/>
                  <a:pt x="1389" y="1232"/>
                </a:cubicBezTo>
                <a:cubicBezTo>
                  <a:pt x="1367" y="1232"/>
                  <a:pt x="1337" y="1269"/>
                  <a:pt x="1337" y="1269"/>
                </a:cubicBezTo>
                <a:cubicBezTo>
                  <a:pt x="1337" y="1359"/>
                  <a:pt x="1337" y="1359"/>
                  <a:pt x="1337" y="1359"/>
                </a:cubicBezTo>
                <a:cubicBezTo>
                  <a:pt x="1315" y="1359"/>
                  <a:pt x="1315" y="1359"/>
                  <a:pt x="1315" y="1359"/>
                </a:cubicBezTo>
                <a:cubicBezTo>
                  <a:pt x="1315" y="1417"/>
                  <a:pt x="1315" y="1417"/>
                  <a:pt x="1315" y="1417"/>
                </a:cubicBezTo>
                <a:cubicBezTo>
                  <a:pt x="1275" y="1432"/>
                  <a:pt x="1275" y="1432"/>
                  <a:pt x="1275" y="1432"/>
                </a:cubicBezTo>
                <a:cubicBezTo>
                  <a:pt x="1275" y="1445"/>
                  <a:pt x="1275" y="1445"/>
                  <a:pt x="1275" y="1445"/>
                </a:cubicBezTo>
                <a:cubicBezTo>
                  <a:pt x="1267" y="1445"/>
                  <a:pt x="1267" y="1445"/>
                  <a:pt x="1267" y="1445"/>
                </a:cubicBezTo>
                <a:cubicBezTo>
                  <a:pt x="1267" y="1421"/>
                  <a:pt x="1267" y="1421"/>
                  <a:pt x="1267" y="1421"/>
                </a:cubicBezTo>
                <a:cubicBezTo>
                  <a:pt x="1253" y="1421"/>
                  <a:pt x="1253" y="1421"/>
                  <a:pt x="1253" y="1421"/>
                </a:cubicBezTo>
                <a:cubicBezTo>
                  <a:pt x="1235" y="1395"/>
                  <a:pt x="1235" y="1395"/>
                  <a:pt x="1235" y="1395"/>
                </a:cubicBezTo>
                <a:cubicBezTo>
                  <a:pt x="1213" y="1416"/>
                  <a:pt x="1213" y="1416"/>
                  <a:pt x="1213" y="1416"/>
                </a:cubicBezTo>
                <a:cubicBezTo>
                  <a:pt x="1213" y="1399"/>
                  <a:pt x="1213" y="1399"/>
                  <a:pt x="1213" y="1399"/>
                </a:cubicBezTo>
                <a:cubicBezTo>
                  <a:pt x="1200" y="1399"/>
                  <a:pt x="1200" y="1399"/>
                  <a:pt x="1200" y="1399"/>
                </a:cubicBezTo>
                <a:cubicBezTo>
                  <a:pt x="1200" y="1409"/>
                  <a:pt x="1200" y="1409"/>
                  <a:pt x="1200" y="1409"/>
                </a:cubicBezTo>
                <a:cubicBezTo>
                  <a:pt x="1189" y="1409"/>
                  <a:pt x="1189" y="1409"/>
                  <a:pt x="1189" y="1409"/>
                </a:cubicBezTo>
                <a:cubicBezTo>
                  <a:pt x="1189" y="1392"/>
                  <a:pt x="1189" y="1392"/>
                  <a:pt x="1189" y="1392"/>
                </a:cubicBezTo>
                <a:cubicBezTo>
                  <a:pt x="1164" y="1392"/>
                  <a:pt x="1164" y="1392"/>
                  <a:pt x="1164" y="1392"/>
                </a:cubicBezTo>
                <a:cubicBezTo>
                  <a:pt x="1164" y="1401"/>
                  <a:pt x="1164" y="1401"/>
                  <a:pt x="1164" y="1401"/>
                </a:cubicBezTo>
                <a:cubicBezTo>
                  <a:pt x="1155" y="1401"/>
                  <a:pt x="1155" y="1401"/>
                  <a:pt x="1155" y="1401"/>
                </a:cubicBezTo>
                <a:cubicBezTo>
                  <a:pt x="1155" y="1417"/>
                  <a:pt x="1155" y="1417"/>
                  <a:pt x="1155" y="1417"/>
                </a:cubicBezTo>
                <a:cubicBezTo>
                  <a:pt x="1133" y="1417"/>
                  <a:pt x="1133" y="1417"/>
                  <a:pt x="1133" y="1417"/>
                </a:cubicBezTo>
                <a:cubicBezTo>
                  <a:pt x="1133" y="1397"/>
                  <a:pt x="1133" y="1397"/>
                  <a:pt x="1133" y="1397"/>
                </a:cubicBezTo>
                <a:cubicBezTo>
                  <a:pt x="1123" y="1397"/>
                  <a:pt x="1123" y="1397"/>
                  <a:pt x="1123" y="1397"/>
                </a:cubicBezTo>
                <a:cubicBezTo>
                  <a:pt x="1112" y="1385"/>
                  <a:pt x="1112" y="1385"/>
                  <a:pt x="1112" y="1385"/>
                </a:cubicBezTo>
                <a:cubicBezTo>
                  <a:pt x="1104" y="1391"/>
                  <a:pt x="1104" y="1391"/>
                  <a:pt x="1104" y="1391"/>
                </a:cubicBezTo>
                <a:cubicBezTo>
                  <a:pt x="1095" y="1391"/>
                  <a:pt x="1095" y="1391"/>
                  <a:pt x="1095" y="1391"/>
                </a:cubicBezTo>
                <a:cubicBezTo>
                  <a:pt x="1076" y="1368"/>
                  <a:pt x="1076" y="1368"/>
                  <a:pt x="1076" y="1368"/>
                </a:cubicBezTo>
                <a:cubicBezTo>
                  <a:pt x="1063" y="1389"/>
                  <a:pt x="1063" y="1389"/>
                  <a:pt x="1063" y="1389"/>
                </a:cubicBezTo>
                <a:cubicBezTo>
                  <a:pt x="1051" y="1389"/>
                  <a:pt x="1051" y="1389"/>
                  <a:pt x="1051" y="1389"/>
                </a:cubicBezTo>
                <a:cubicBezTo>
                  <a:pt x="1051" y="1371"/>
                  <a:pt x="1051" y="1371"/>
                  <a:pt x="1051" y="1371"/>
                </a:cubicBezTo>
                <a:cubicBezTo>
                  <a:pt x="1031" y="1371"/>
                  <a:pt x="1031" y="1371"/>
                  <a:pt x="1031" y="1371"/>
                </a:cubicBezTo>
                <a:cubicBezTo>
                  <a:pt x="1031" y="1391"/>
                  <a:pt x="1031" y="1391"/>
                  <a:pt x="1031" y="1391"/>
                </a:cubicBezTo>
                <a:cubicBezTo>
                  <a:pt x="1020" y="1403"/>
                  <a:pt x="1020" y="1403"/>
                  <a:pt x="1020" y="1403"/>
                </a:cubicBezTo>
                <a:cubicBezTo>
                  <a:pt x="1012" y="1403"/>
                  <a:pt x="1012" y="1403"/>
                  <a:pt x="1012" y="1403"/>
                </a:cubicBezTo>
                <a:cubicBezTo>
                  <a:pt x="1012" y="1376"/>
                  <a:pt x="1012" y="1376"/>
                  <a:pt x="1012" y="1376"/>
                </a:cubicBezTo>
                <a:cubicBezTo>
                  <a:pt x="999" y="1376"/>
                  <a:pt x="999" y="1376"/>
                  <a:pt x="999" y="1376"/>
                </a:cubicBezTo>
                <a:cubicBezTo>
                  <a:pt x="988" y="1359"/>
                  <a:pt x="988" y="1359"/>
                  <a:pt x="988" y="1359"/>
                </a:cubicBezTo>
                <a:cubicBezTo>
                  <a:pt x="969" y="1381"/>
                  <a:pt x="969" y="1381"/>
                  <a:pt x="969" y="1381"/>
                </a:cubicBezTo>
                <a:cubicBezTo>
                  <a:pt x="969" y="1224"/>
                  <a:pt x="969" y="1224"/>
                  <a:pt x="969" y="1224"/>
                </a:cubicBezTo>
                <a:cubicBezTo>
                  <a:pt x="943" y="1224"/>
                  <a:pt x="943" y="1224"/>
                  <a:pt x="943" y="1224"/>
                </a:cubicBezTo>
                <a:cubicBezTo>
                  <a:pt x="943" y="1212"/>
                  <a:pt x="943" y="1212"/>
                  <a:pt x="943" y="1212"/>
                </a:cubicBezTo>
                <a:cubicBezTo>
                  <a:pt x="969" y="1212"/>
                  <a:pt x="969" y="1212"/>
                  <a:pt x="969" y="1212"/>
                </a:cubicBezTo>
                <a:cubicBezTo>
                  <a:pt x="969" y="1204"/>
                  <a:pt x="969" y="1204"/>
                  <a:pt x="969" y="1204"/>
                </a:cubicBezTo>
                <a:cubicBezTo>
                  <a:pt x="847" y="1204"/>
                  <a:pt x="847" y="1204"/>
                  <a:pt x="847" y="1204"/>
                </a:cubicBezTo>
                <a:cubicBezTo>
                  <a:pt x="847" y="1211"/>
                  <a:pt x="847" y="1211"/>
                  <a:pt x="847" y="1211"/>
                </a:cubicBezTo>
                <a:cubicBezTo>
                  <a:pt x="857" y="1211"/>
                  <a:pt x="857" y="1211"/>
                  <a:pt x="857" y="1211"/>
                </a:cubicBezTo>
                <a:cubicBezTo>
                  <a:pt x="857" y="1224"/>
                  <a:pt x="857" y="1224"/>
                  <a:pt x="857" y="1224"/>
                </a:cubicBezTo>
                <a:cubicBezTo>
                  <a:pt x="843" y="1224"/>
                  <a:pt x="843" y="1224"/>
                  <a:pt x="843" y="1224"/>
                </a:cubicBezTo>
                <a:cubicBezTo>
                  <a:pt x="843" y="1375"/>
                  <a:pt x="843" y="1375"/>
                  <a:pt x="843" y="1375"/>
                </a:cubicBezTo>
                <a:cubicBezTo>
                  <a:pt x="828" y="1375"/>
                  <a:pt x="828" y="1375"/>
                  <a:pt x="828" y="1375"/>
                </a:cubicBezTo>
                <a:cubicBezTo>
                  <a:pt x="828" y="1387"/>
                  <a:pt x="828" y="1387"/>
                  <a:pt x="828" y="1387"/>
                </a:cubicBezTo>
                <a:cubicBezTo>
                  <a:pt x="816" y="1387"/>
                  <a:pt x="816" y="1387"/>
                  <a:pt x="816" y="1387"/>
                </a:cubicBezTo>
                <a:cubicBezTo>
                  <a:pt x="816" y="1403"/>
                  <a:pt x="816" y="1403"/>
                  <a:pt x="816" y="1403"/>
                </a:cubicBezTo>
                <a:cubicBezTo>
                  <a:pt x="804" y="1403"/>
                  <a:pt x="804" y="1403"/>
                  <a:pt x="804" y="1403"/>
                </a:cubicBezTo>
                <a:cubicBezTo>
                  <a:pt x="787" y="1393"/>
                  <a:pt x="787" y="1393"/>
                  <a:pt x="787" y="1393"/>
                </a:cubicBezTo>
                <a:cubicBezTo>
                  <a:pt x="787" y="1193"/>
                  <a:pt x="787" y="1193"/>
                  <a:pt x="787" y="1193"/>
                </a:cubicBezTo>
                <a:cubicBezTo>
                  <a:pt x="691" y="1193"/>
                  <a:pt x="691" y="1193"/>
                  <a:pt x="691" y="1193"/>
                </a:cubicBezTo>
                <a:cubicBezTo>
                  <a:pt x="691" y="1427"/>
                  <a:pt x="691" y="1427"/>
                  <a:pt x="691" y="1427"/>
                </a:cubicBezTo>
                <a:cubicBezTo>
                  <a:pt x="664" y="1427"/>
                  <a:pt x="664" y="1427"/>
                  <a:pt x="664" y="1427"/>
                </a:cubicBezTo>
                <a:cubicBezTo>
                  <a:pt x="664" y="1445"/>
                  <a:pt x="664" y="1445"/>
                  <a:pt x="664" y="1445"/>
                </a:cubicBezTo>
                <a:cubicBezTo>
                  <a:pt x="640" y="1445"/>
                  <a:pt x="640" y="1445"/>
                  <a:pt x="640" y="1445"/>
                </a:cubicBezTo>
                <a:cubicBezTo>
                  <a:pt x="640" y="1436"/>
                  <a:pt x="640" y="1436"/>
                  <a:pt x="640" y="1436"/>
                </a:cubicBezTo>
                <a:cubicBezTo>
                  <a:pt x="625" y="1436"/>
                  <a:pt x="625" y="1436"/>
                  <a:pt x="625" y="1436"/>
                </a:cubicBezTo>
                <a:cubicBezTo>
                  <a:pt x="625" y="1237"/>
                  <a:pt x="625" y="1237"/>
                  <a:pt x="625" y="1237"/>
                </a:cubicBezTo>
                <a:cubicBezTo>
                  <a:pt x="601" y="1237"/>
                  <a:pt x="601" y="1237"/>
                  <a:pt x="601" y="1237"/>
                </a:cubicBezTo>
                <a:cubicBezTo>
                  <a:pt x="601" y="1228"/>
                  <a:pt x="601" y="1228"/>
                  <a:pt x="601" y="1228"/>
                </a:cubicBezTo>
                <a:cubicBezTo>
                  <a:pt x="536" y="1228"/>
                  <a:pt x="536" y="1228"/>
                  <a:pt x="536" y="1228"/>
                </a:cubicBezTo>
                <a:cubicBezTo>
                  <a:pt x="536" y="1241"/>
                  <a:pt x="536" y="1241"/>
                  <a:pt x="536" y="1241"/>
                </a:cubicBezTo>
                <a:cubicBezTo>
                  <a:pt x="515" y="1241"/>
                  <a:pt x="515" y="1241"/>
                  <a:pt x="515" y="1241"/>
                </a:cubicBezTo>
                <a:cubicBezTo>
                  <a:pt x="515" y="1227"/>
                  <a:pt x="515" y="1227"/>
                  <a:pt x="515" y="1227"/>
                </a:cubicBezTo>
                <a:cubicBezTo>
                  <a:pt x="501" y="1227"/>
                  <a:pt x="501" y="1227"/>
                  <a:pt x="501" y="1227"/>
                </a:cubicBezTo>
                <a:cubicBezTo>
                  <a:pt x="501" y="1227"/>
                  <a:pt x="487" y="1169"/>
                  <a:pt x="456" y="1169"/>
                </a:cubicBezTo>
                <a:cubicBezTo>
                  <a:pt x="425" y="1169"/>
                  <a:pt x="401" y="1224"/>
                  <a:pt x="401" y="1224"/>
                </a:cubicBezTo>
                <a:cubicBezTo>
                  <a:pt x="392" y="1224"/>
                  <a:pt x="392" y="1224"/>
                  <a:pt x="392" y="1224"/>
                </a:cubicBezTo>
                <a:cubicBezTo>
                  <a:pt x="392" y="1243"/>
                  <a:pt x="392" y="1243"/>
                  <a:pt x="392" y="1243"/>
                </a:cubicBezTo>
                <a:cubicBezTo>
                  <a:pt x="373" y="1243"/>
                  <a:pt x="373" y="1243"/>
                  <a:pt x="373" y="1243"/>
                </a:cubicBezTo>
                <a:cubicBezTo>
                  <a:pt x="373" y="1233"/>
                  <a:pt x="373" y="1233"/>
                  <a:pt x="373" y="1233"/>
                </a:cubicBezTo>
                <a:cubicBezTo>
                  <a:pt x="320" y="1233"/>
                  <a:pt x="320" y="1233"/>
                  <a:pt x="320" y="1233"/>
                </a:cubicBezTo>
                <a:cubicBezTo>
                  <a:pt x="320" y="1245"/>
                  <a:pt x="320" y="1245"/>
                  <a:pt x="320" y="1245"/>
                </a:cubicBezTo>
                <a:cubicBezTo>
                  <a:pt x="303" y="1245"/>
                  <a:pt x="303" y="1245"/>
                  <a:pt x="303" y="1245"/>
                </a:cubicBezTo>
                <a:cubicBezTo>
                  <a:pt x="288" y="1257"/>
                  <a:pt x="288" y="1257"/>
                  <a:pt x="288" y="1257"/>
                </a:cubicBezTo>
                <a:cubicBezTo>
                  <a:pt x="288" y="1331"/>
                  <a:pt x="288" y="1331"/>
                  <a:pt x="288" y="1331"/>
                </a:cubicBezTo>
                <a:cubicBezTo>
                  <a:pt x="268" y="1331"/>
                  <a:pt x="268" y="1331"/>
                  <a:pt x="268" y="1331"/>
                </a:cubicBezTo>
                <a:cubicBezTo>
                  <a:pt x="268" y="1373"/>
                  <a:pt x="268" y="1373"/>
                  <a:pt x="268" y="1373"/>
                </a:cubicBezTo>
                <a:cubicBezTo>
                  <a:pt x="252" y="1373"/>
                  <a:pt x="252" y="1373"/>
                  <a:pt x="252" y="1373"/>
                </a:cubicBezTo>
                <a:cubicBezTo>
                  <a:pt x="252" y="1325"/>
                  <a:pt x="252" y="1325"/>
                  <a:pt x="252" y="1325"/>
                </a:cubicBezTo>
                <a:cubicBezTo>
                  <a:pt x="236" y="1325"/>
                  <a:pt x="236" y="1325"/>
                  <a:pt x="236" y="1325"/>
                </a:cubicBezTo>
                <a:cubicBezTo>
                  <a:pt x="236" y="1342"/>
                  <a:pt x="236" y="1342"/>
                  <a:pt x="236" y="1342"/>
                </a:cubicBezTo>
                <a:cubicBezTo>
                  <a:pt x="218" y="1342"/>
                  <a:pt x="218" y="1342"/>
                  <a:pt x="218" y="1342"/>
                </a:cubicBezTo>
                <a:cubicBezTo>
                  <a:pt x="218" y="1331"/>
                  <a:pt x="218" y="1331"/>
                  <a:pt x="218" y="1331"/>
                </a:cubicBezTo>
                <a:cubicBezTo>
                  <a:pt x="195" y="1331"/>
                  <a:pt x="195" y="1331"/>
                  <a:pt x="195" y="1331"/>
                </a:cubicBezTo>
                <a:cubicBezTo>
                  <a:pt x="195" y="1312"/>
                  <a:pt x="195" y="1312"/>
                  <a:pt x="195" y="1312"/>
                </a:cubicBezTo>
                <a:cubicBezTo>
                  <a:pt x="182" y="1299"/>
                  <a:pt x="182" y="1299"/>
                  <a:pt x="182" y="1299"/>
                </a:cubicBezTo>
                <a:cubicBezTo>
                  <a:pt x="168" y="1283"/>
                  <a:pt x="168" y="1283"/>
                  <a:pt x="168" y="1283"/>
                </a:cubicBezTo>
                <a:cubicBezTo>
                  <a:pt x="134" y="1283"/>
                  <a:pt x="134" y="1283"/>
                  <a:pt x="134" y="1283"/>
                </a:cubicBezTo>
                <a:cubicBezTo>
                  <a:pt x="102" y="1307"/>
                  <a:pt x="102" y="1307"/>
                  <a:pt x="102" y="1307"/>
                </a:cubicBezTo>
                <a:cubicBezTo>
                  <a:pt x="78" y="1307"/>
                  <a:pt x="78" y="1307"/>
                  <a:pt x="78" y="1307"/>
                </a:cubicBezTo>
                <a:cubicBezTo>
                  <a:pt x="78" y="1401"/>
                  <a:pt x="78" y="1401"/>
                  <a:pt x="78" y="1401"/>
                </a:cubicBezTo>
                <a:cubicBezTo>
                  <a:pt x="56" y="1357"/>
                  <a:pt x="56" y="1357"/>
                  <a:pt x="56" y="1357"/>
                </a:cubicBezTo>
                <a:cubicBezTo>
                  <a:pt x="56" y="1333"/>
                  <a:pt x="56" y="1333"/>
                  <a:pt x="56" y="1333"/>
                </a:cubicBezTo>
                <a:cubicBezTo>
                  <a:pt x="0" y="1333"/>
                  <a:pt x="0" y="1333"/>
                  <a:pt x="0" y="1333"/>
                </a:cubicBezTo>
                <a:cubicBezTo>
                  <a:pt x="0" y="1542"/>
                  <a:pt x="0" y="1542"/>
                  <a:pt x="0" y="1542"/>
                </a:cubicBezTo>
                <a:cubicBezTo>
                  <a:pt x="8000" y="1542"/>
                  <a:pt x="8000" y="1542"/>
                  <a:pt x="8000" y="1542"/>
                </a:cubicBezTo>
                <a:cubicBezTo>
                  <a:pt x="8000" y="1472"/>
                  <a:pt x="8000" y="1472"/>
                  <a:pt x="8000" y="1472"/>
                </a:cubicBezTo>
                <a:lnTo>
                  <a:pt x="7978" y="1472"/>
                </a:lnTo>
                <a:close/>
                <a:moveTo>
                  <a:pt x="3369" y="1457"/>
                </a:moveTo>
                <a:cubicBezTo>
                  <a:pt x="3356" y="1457"/>
                  <a:pt x="3356" y="1457"/>
                  <a:pt x="3356" y="1457"/>
                </a:cubicBezTo>
                <a:cubicBezTo>
                  <a:pt x="3356" y="1408"/>
                  <a:pt x="3356" y="1408"/>
                  <a:pt x="3356" y="1408"/>
                </a:cubicBezTo>
                <a:cubicBezTo>
                  <a:pt x="3369" y="1408"/>
                  <a:pt x="3369" y="1408"/>
                  <a:pt x="3369" y="1408"/>
                </a:cubicBezTo>
                <a:lnTo>
                  <a:pt x="3369" y="1457"/>
                </a:lnTo>
                <a:close/>
                <a:moveTo>
                  <a:pt x="3369" y="1389"/>
                </a:moveTo>
                <a:cubicBezTo>
                  <a:pt x="3356" y="1389"/>
                  <a:pt x="3356" y="1389"/>
                  <a:pt x="3356" y="1389"/>
                </a:cubicBezTo>
                <a:cubicBezTo>
                  <a:pt x="3356" y="1335"/>
                  <a:pt x="3356" y="1335"/>
                  <a:pt x="3356" y="1335"/>
                </a:cubicBezTo>
                <a:cubicBezTo>
                  <a:pt x="3369" y="1335"/>
                  <a:pt x="3369" y="1335"/>
                  <a:pt x="3369" y="1335"/>
                </a:cubicBezTo>
                <a:lnTo>
                  <a:pt x="3369" y="1389"/>
                </a:lnTo>
                <a:close/>
                <a:moveTo>
                  <a:pt x="3356" y="1141"/>
                </a:moveTo>
                <a:cubicBezTo>
                  <a:pt x="3356" y="1098"/>
                  <a:pt x="3356" y="1098"/>
                  <a:pt x="3356" y="1098"/>
                </a:cubicBezTo>
                <a:cubicBezTo>
                  <a:pt x="3356" y="1098"/>
                  <a:pt x="3373" y="1103"/>
                  <a:pt x="3373" y="1119"/>
                </a:cubicBezTo>
                <a:cubicBezTo>
                  <a:pt x="3373" y="1136"/>
                  <a:pt x="3356" y="1141"/>
                  <a:pt x="3356" y="1141"/>
                </a:cubicBezTo>
                <a:close/>
                <a:moveTo>
                  <a:pt x="3356" y="1060"/>
                </a:moveTo>
                <a:cubicBezTo>
                  <a:pt x="3356" y="1024"/>
                  <a:pt x="3356" y="1024"/>
                  <a:pt x="3356" y="1024"/>
                </a:cubicBezTo>
                <a:cubicBezTo>
                  <a:pt x="3356" y="1024"/>
                  <a:pt x="3373" y="1029"/>
                  <a:pt x="3373" y="1042"/>
                </a:cubicBezTo>
                <a:cubicBezTo>
                  <a:pt x="3373" y="1055"/>
                  <a:pt x="3356" y="1060"/>
                  <a:pt x="3356" y="1060"/>
                </a:cubicBezTo>
                <a:close/>
                <a:moveTo>
                  <a:pt x="3356" y="988"/>
                </a:moveTo>
                <a:cubicBezTo>
                  <a:pt x="3356" y="950"/>
                  <a:pt x="3356" y="950"/>
                  <a:pt x="3356" y="950"/>
                </a:cubicBezTo>
                <a:cubicBezTo>
                  <a:pt x="3356" y="950"/>
                  <a:pt x="3373" y="953"/>
                  <a:pt x="3373" y="969"/>
                </a:cubicBezTo>
                <a:cubicBezTo>
                  <a:pt x="3373" y="985"/>
                  <a:pt x="3356" y="988"/>
                  <a:pt x="3356" y="988"/>
                </a:cubicBezTo>
                <a:close/>
                <a:moveTo>
                  <a:pt x="3356" y="911"/>
                </a:moveTo>
                <a:cubicBezTo>
                  <a:pt x="3356" y="872"/>
                  <a:pt x="3356" y="872"/>
                  <a:pt x="3356" y="872"/>
                </a:cubicBezTo>
                <a:cubicBezTo>
                  <a:pt x="3356" y="872"/>
                  <a:pt x="3373" y="878"/>
                  <a:pt x="3373" y="891"/>
                </a:cubicBezTo>
                <a:cubicBezTo>
                  <a:pt x="3373" y="905"/>
                  <a:pt x="3356" y="911"/>
                  <a:pt x="3356" y="911"/>
                </a:cubicBezTo>
                <a:close/>
                <a:moveTo>
                  <a:pt x="3356" y="835"/>
                </a:moveTo>
                <a:cubicBezTo>
                  <a:pt x="3356" y="796"/>
                  <a:pt x="3356" y="796"/>
                  <a:pt x="3356" y="796"/>
                </a:cubicBezTo>
                <a:cubicBezTo>
                  <a:pt x="3356" y="796"/>
                  <a:pt x="3373" y="800"/>
                  <a:pt x="3373" y="815"/>
                </a:cubicBezTo>
                <a:cubicBezTo>
                  <a:pt x="3373" y="831"/>
                  <a:pt x="3356" y="835"/>
                  <a:pt x="3356" y="835"/>
                </a:cubicBezTo>
                <a:close/>
                <a:moveTo>
                  <a:pt x="3356" y="756"/>
                </a:moveTo>
                <a:cubicBezTo>
                  <a:pt x="3356" y="718"/>
                  <a:pt x="3356" y="718"/>
                  <a:pt x="3356" y="718"/>
                </a:cubicBezTo>
                <a:cubicBezTo>
                  <a:pt x="3356" y="718"/>
                  <a:pt x="3373" y="720"/>
                  <a:pt x="3373" y="737"/>
                </a:cubicBezTo>
                <a:cubicBezTo>
                  <a:pt x="3373" y="754"/>
                  <a:pt x="3356" y="756"/>
                  <a:pt x="3356" y="756"/>
                </a:cubicBezTo>
                <a:close/>
                <a:moveTo>
                  <a:pt x="5556" y="570"/>
                </a:moveTo>
                <a:cubicBezTo>
                  <a:pt x="5508" y="582"/>
                  <a:pt x="5508" y="582"/>
                  <a:pt x="5508" y="582"/>
                </a:cubicBezTo>
                <a:cubicBezTo>
                  <a:pt x="5490" y="529"/>
                  <a:pt x="5490" y="529"/>
                  <a:pt x="5490" y="529"/>
                </a:cubicBezTo>
                <a:cubicBezTo>
                  <a:pt x="5566" y="508"/>
                  <a:pt x="5566" y="508"/>
                  <a:pt x="5566" y="508"/>
                </a:cubicBezTo>
                <a:lnTo>
                  <a:pt x="5556" y="570"/>
                </a:lnTo>
                <a:close/>
              </a:path>
            </a:pathLst>
          </a:custGeom>
          <a:noFill xmlns:a="http://schemas.openxmlformats.org/drawingml/2006/main"/>
          <a:ln xmlns:a="http://schemas.openxmlformats.org/drawingml/2006/main" w="9525" cmpd="sng">
            <a:solidFill>
              <a:srgbClr val="D1CFBD"/>
            </a:solidFill>
            <a:prstDash val="solid"/>
            <a:headEnd type="none" w="med" len="med"/>
            <a:tailEnd type="none" w="med" len="med"/>
          </a:ln>
        </p:spPr>
        <p:txBody>
          <a:bodyPr xmlns:a="http://schemas.openxmlformats.org/drawingml/2006/main"/>
          <a:lstStyle xmlns:a="http://schemas.openxmlformats.org/drawingml/2006/main"/>
          <a:p xmlns:a="http://schemas.openxmlformats.org/drawingml/2006/main">
            <a:pPr marL="0" marR="0" lvl="0" indent="0" defTabSz="914400">
              <a:lnSpc>
                <a:spcPct val="100000"/>
              </a:lnSpc>
              <a:spcBef>
                <a:spcPct val="0"/>
              </a:spcBef>
              <a:spcAft>
                <a:spcPct val="0"/>
              </a:spcAft>
              <a:buClrTx/>
              <a:buSzTx/>
              <a:buFont typeface="Arial"/>
              <a:buNone/>
            </a:pPr>
          </a:p>
        </p:txBody>
      </p:sp>
      <p:sp>
        <p:nvSpPr>
          <p:cNvPr id="5" name="矩形 1">
            <a:extLst xmlns:a="http://schemas.openxmlformats.org/drawingml/2006/main">
              <a:ext uri="{FF2B5EF4-FFF2-40B4-BE49-F238E27FC236}">
                <a16:creationId xmlns:a16="http://schemas.microsoft.com/office/drawing/2014/main" id="{B04818EB-B9CC-4D7E-9674-590C8485638E}"/>
              </a:ext>
            </a:extLst>
          </p:cNvPr>
          <p:cNvSpPr>
            <a:spLocks xmlns:a="http://schemas.openxmlformats.org/drawingml/2006/main" noGrp="1"/>
          </p:cNvSpPr>
          <p:nvPr/>
        </p:nvSpPr>
        <p:spPr>
          <a:xfrm xmlns:a="http://schemas.openxmlformats.org/drawingml/2006/main">
            <a:off x="0" y="2692400"/>
            <a:ext cx="12192000" cy="1714500"/>
          </a:xfrm>
          <a:prstGeom xmlns:a="http://schemas.openxmlformats.org/drawingml/2006/main" prst="rect">
            <a:avLst/>
          </a:prstGeom>
          <a:solidFill xmlns:a="http://schemas.openxmlformats.org/drawingml/2006/main">
            <a:srgbClr val="0599D9"/>
          </a:solidFill>
          <a:ln xmlns:a="http://schemas.openxmlformats.org/drawingml/2006/main" w="9525">
            <a:solidFill>
              <a:srgbClr val="0599D9"/>
            </a:solidFill>
          </a:ln>
        </p:spPr>
        <p:txBody>
          <a:bodyPr xmlns:a="http://schemas.openxmlformats.org/drawingml/2006/main" lIns="121920" tIns="60960" rIns="121920" bIns="60960" anchor="ctr"/>
          <a:lstStyle xmlns:a="http://schemas.openxmlformats.org/drawingml/2006/main">
            <a:lvl1pPr marL="365125" indent="-255905" algn="l">
              <a:spcBef>
                <a:spcPts val="400"/>
              </a:spcBef>
              <a:spcAft>
                <a:spcPct val="0"/>
              </a:spcAft>
              <a:buClr>
                <a:schemeClr val="accent1"/>
              </a:buClr>
              <a:buSzPct val="68000"/>
              <a:buFont typeface="Wingdings 3"/>
              <a:buChar char=""/>
              <a:defRPr sz="2700" kern="1200">
                <a:solidFill>
                  <a:schemeClr val="tx1"/>
                </a:solidFill>
                <a:latin typeface="+mn-lt"/>
                <a:ea typeface="+mn-lt"/>
                <a:cs typeface="+mn-lt"/>
              </a:defRPr>
            </a:lvl1pPr>
            <a:lvl2pPr marL="621030" indent="-228600" algn="l">
              <a:spcBef>
                <a:spcPts val="325"/>
              </a:spcBef>
              <a:spcAft>
                <a:spcPct val="0"/>
              </a:spcAft>
              <a:buClr>
                <a:schemeClr val="accent1"/>
              </a:buClr>
              <a:buFont typeface="Verdana"/>
              <a:buChar char="◦"/>
              <a:defRPr sz="2300" kern="1200">
                <a:solidFill>
                  <a:schemeClr val="tx1"/>
                </a:solidFill>
                <a:latin typeface="+mn-lt"/>
                <a:ea typeface="+mn-lt"/>
                <a:cs typeface="+mn-lt"/>
              </a:defRPr>
            </a:lvl2pPr>
            <a:lvl3pPr marL="859155" indent="-228600" algn="l">
              <a:spcBef>
                <a:spcPts val="350"/>
              </a:spcBef>
              <a:spcAft>
                <a:spcPct val="0"/>
              </a:spcAft>
              <a:buClr>
                <a:schemeClr val="accent2"/>
              </a:buClr>
              <a:buSzPct val="100000"/>
              <a:buFont typeface="Wingdings 2"/>
              <a:buChar char=""/>
              <a:defRPr sz="2100" kern="1200">
                <a:solidFill>
                  <a:schemeClr val="tx1"/>
                </a:solidFill>
                <a:latin typeface="+mn-lt"/>
                <a:ea typeface="+mn-lt"/>
                <a:cs typeface="+mn-lt"/>
              </a:defRPr>
            </a:lvl3pPr>
            <a:lvl4pPr marL="1143000" indent="-228600" algn="l">
              <a:spcBef>
                <a:spcPts val="350"/>
              </a:spcBef>
              <a:spcAft>
                <a:spcPct val="0"/>
              </a:spcAft>
              <a:buClr>
                <a:schemeClr val="accent2"/>
              </a:buClr>
              <a:buFont typeface="Wingdings 2"/>
              <a:buChar char=""/>
              <a:defRPr sz="1900" kern="1200">
                <a:solidFill>
                  <a:schemeClr val="tx1"/>
                </a:solidFill>
                <a:latin typeface="+mn-lt"/>
                <a:ea typeface="+mn-lt"/>
                <a:cs typeface="+mn-lt"/>
              </a:defRPr>
            </a:lvl4pPr>
            <a:lvl5pPr marL="1371600" indent="-228600" algn="l">
              <a:spcBef>
                <a:spcPts val="350"/>
              </a:spcBef>
              <a:spcAft>
                <a:spcPct val="0"/>
              </a:spcAft>
              <a:buClr>
                <a:schemeClr val="accent2"/>
              </a:buClr>
              <a:buFont typeface="Wingdings 2"/>
              <a:buChar char=""/>
              <a:defRPr sz="2000" kern="1200">
                <a:solidFill>
                  <a:schemeClr val="tx1"/>
                </a:solidFill>
                <a:latin typeface="+mn-lt"/>
                <a:ea typeface="+mn-lt"/>
                <a:cs typeface="+mn-lt"/>
              </a:defRPr>
            </a:lvl5pPr>
          </a:lstStyle>
          <a:p xmlns:a="http://schemas.openxmlformats.org/drawingml/2006/main">
            <a:pPr marL="0" algn="ctr">
              <a:buClrTx/>
              <a:buSzTx/>
              <a:buNone/>
            </a:pPr>
            <a:r>
              <a:rPr sz="32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安监部部门会议</a:t>
            </a:r>
          </a:p>
          <a:p xmlns:a="http://schemas.openxmlformats.org/drawingml/2006/main">
            <a:pPr marL="0" algn="ctr">
              <a:buClrTx/>
              <a:buSzTx/>
              <a:buNone/>
            </a:pPr>
            <a:r>
              <a:rPr sz="24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2026</a:t>
            </a:r>
            <a:r>
              <a:rPr sz="24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年</a:t>
            </a:r>
            <a:r>
              <a:rPr sz="24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7</a:t>
            </a:r>
            <a:r>
              <a:rPr sz="24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月</a:t>
            </a:r>
            <a:r>
              <a:rPr sz="24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22</a:t>
            </a:r>
            <a:r>
              <a:rPr sz="2400" b="1">
                <a:ln w="11430"/>
                <a:solidFill>
                  <a:prstClr val="white"/>
                </a:solidFill>
                <a:effectLst>
                  <a:outerShdw blurRad="50800" dist="38100" dir="18900000" algn="bl" rotWithShape="0">
                    <a:prstClr val="black">
                      <a:alpha val="40000"/>
                    </a:prstClr>
                  </a:outerShdw>
                </a:effectLst>
                <a:latin typeface="微软雅黑"/>
                <a:ea typeface="微软雅黑"/>
                <a:cs typeface="微软雅黑"/>
              </a:rPr>
              <a:t>日</a:t>
            </a:r>
          </a:p>
        </p:txBody>
      </p:sp>
      <p:sp>
        <p:nvSpPr>
          <p:cNvPr id="6" name="直接连接符 24">
            <a:extLst xmlns:a="http://schemas.openxmlformats.org/drawingml/2006/main">
              <a:ext uri="{FF2B5EF4-FFF2-40B4-BE49-F238E27FC236}">
                <a16:creationId xmlns:a16="http://schemas.microsoft.com/office/drawing/2014/main" id="{564EBB6F-1B2E-4E38-8488-A17EF9F599E2}"/>
              </a:ext>
            </a:extLst>
          </p:cNvPr>
          <p:cNvSpPr>
            <a:spLocks xmlns:a="http://schemas.openxmlformats.org/drawingml/2006/main" noGrp="1"/>
          </p:cNvSpPr>
          <p:nvPr/>
        </p:nvSpPr>
        <p:spPr>
          <a:xfrm xmlns:a="http://schemas.openxmlformats.org/drawingml/2006/main">
            <a:off x="6985" y="5078730"/>
            <a:ext cx="12178665" cy="1270"/>
          </a:xfrm>
          <a:prstGeom xmlns:a="http://schemas.openxmlformats.org/drawingml/2006/main" prst="line">
            <a:avLst/>
          </a:prstGeom>
          <a:ln xmlns:a="http://schemas.openxmlformats.org/drawingml/2006/main" w="19050" cmpd="sng">
            <a:solidFill>
              <a:srgbClr val="28A9D6"/>
            </a:solidFill>
            <a:prstDash val="solid"/>
            <a:headEnd type="none" w="med" len="med"/>
            <a:tailEnd type="none" w="med" len="med"/>
          </a:ln>
        </p:spPr>
      </p:sp>
      <p:sp>
        <p:nvSpPr>
          <p:cNvPr id="8" name="直接连接符 27">
            <a:extLst xmlns:a="http://schemas.openxmlformats.org/drawingml/2006/main">
              <a:ext uri="{FF2B5EF4-FFF2-40B4-BE49-F238E27FC236}">
                <a16:creationId xmlns:a16="http://schemas.microsoft.com/office/drawing/2014/main" id="{44293ADE-DE98-4C21-BD0C-67A24E4A446B}"/>
              </a:ext>
            </a:extLst>
          </p:cNvPr>
          <p:cNvSpPr>
            <a:spLocks xmlns:a="http://schemas.openxmlformats.org/drawingml/2006/main" noGrp="1"/>
          </p:cNvSpPr>
          <p:nvPr/>
        </p:nvSpPr>
        <p:spPr>
          <a:xfrm xmlns:a="http://schemas.openxmlformats.org/drawingml/2006/main" rot="0" flipH="0" flipV="0">
            <a:off x="6986" y="5490210"/>
            <a:ext cx="4514848" cy="1267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9" name="直接连接符 29">
            <a:extLst xmlns:a="http://schemas.openxmlformats.org/drawingml/2006/main">
              <a:ext uri="{FF2B5EF4-FFF2-40B4-BE49-F238E27FC236}">
                <a16:creationId xmlns:a16="http://schemas.microsoft.com/office/drawing/2014/main" id="{114925D4-C26E-4FEE-A4A6-6FAB6A79D19A}"/>
              </a:ext>
            </a:extLst>
          </p:cNvPr>
          <p:cNvSpPr>
            <a:spLocks xmlns:a="http://schemas.openxmlformats.org/drawingml/2006/main" noGrp="1"/>
          </p:cNvSpPr>
          <p:nvPr/>
        </p:nvSpPr>
        <p:spPr>
          <a:xfrm xmlns:a="http://schemas.openxmlformats.org/drawingml/2006/main" rot="0" flipH="0" flipV="0">
            <a:off x="6985" y="5555154"/>
            <a:ext cx="4514850" cy="1267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0" name="直接连接符 31">
            <a:extLst xmlns:a="http://schemas.openxmlformats.org/drawingml/2006/main">
              <a:ext uri="{FF2B5EF4-FFF2-40B4-BE49-F238E27FC236}">
                <a16:creationId xmlns:a16="http://schemas.microsoft.com/office/drawing/2014/main" id="{BB94A115-563D-4FA2-B90D-14D7BD89A00F}"/>
              </a:ext>
            </a:extLst>
          </p:cNvPr>
          <p:cNvSpPr>
            <a:spLocks xmlns:a="http://schemas.openxmlformats.org/drawingml/2006/main" noGrp="1"/>
          </p:cNvSpPr>
          <p:nvPr/>
        </p:nvSpPr>
        <p:spPr>
          <a:xfrm xmlns:a="http://schemas.openxmlformats.org/drawingml/2006/main" rot="0" flipH="0" flipV="0">
            <a:off x="6985" y="5621683"/>
            <a:ext cx="4514850" cy="1267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2" name="直接连接符 39">
            <a:extLst xmlns:a="http://schemas.openxmlformats.org/drawingml/2006/main">
              <a:ext uri="{FF2B5EF4-FFF2-40B4-BE49-F238E27FC236}">
                <a16:creationId xmlns:a16="http://schemas.microsoft.com/office/drawing/2014/main" id="{045B6C5B-3131-439B-925A-261D00AD2C83}"/>
              </a:ext>
            </a:extLst>
          </p:cNvPr>
          <p:cNvSpPr>
            <a:spLocks xmlns:a="http://schemas.openxmlformats.org/drawingml/2006/main" noGrp="1"/>
          </p:cNvSpPr>
          <p:nvPr/>
        </p:nvSpPr>
        <p:spPr>
          <a:xfrm xmlns:a="http://schemas.openxmlformats.org/drawingml/2006/main" rot="0" flipH="0" flipV="0">
            <a:off x="7590155" y="5501005"/>
            <a:ext cx="4595495" cy="1306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3" name="直接连接符 40">
            <a:extLst xmlns:a="http://schemas.openxmlformats.org/drawingml/2006/main">
              <a:ext uri="{FF2B5EF4-FFF2-40B4-BE49-F238E27FC236}">
                <a16:creationId xmlns:a16="http://schemas.microsoft.com/office/drawing/2014/main" id="{56E4BE5D-D66D-4696-A571-01C228D8A77E}"/>
              </a:ext>
            </a:extLst>
          </p:cNvPr>
          <p:cNvSpPr>
            <a:spLocks xmlns:a="http://schemas.openxmlformats.org/drawingml/2006/main" noGrp="1"/>
          </p:cNvSpPr>
          <p:nvPr/>
        </p:nvSpPr>
        <p:spPr>
          <a:xfrm xmlns:a="http://schemas.openxmlformats.org/drawingml/2006/main" rot="0" flipH="0" flipV="0">
            <a:off x="7590155" y="5567952"/>
            <a:ext cx="4595495" cy="1306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4" name="直接连接符 41">
            <a:extLst xmlns:a="http://schemas.openxmlformats.org/drawingml/2006/main">
              <a:ext uri="{FF2B5EF4-FFF2-40B4-BE49-F238E27FC236}">
                <a16:creationId xmlns:a16="http://schemas.microsoft.com/office/drawing/2014/main" id="{7D331F9B-5687-4A2F-80C5-83565AE265DB}"/>
              </a:ext>
            </a:extLst>
          </p:cNvPr>
          <p:cNvSpPr>
            <a:spLocks xmlns:a="http://schemas.openxmlformats.org/drawingml/2006/main" noGrp="1"/>
          </p:cNvSpPr>
          <p:nvPr/>
        </p:nvSpPr>
        <p:spPr>
          <a:xfrm xmlns:a="http://schemas.openxmlformats.org/drawingml/2006/main" rot="0" flipH="0" flipV="1">
            <a:off x="7590155" y="5649595"/>
            <a:ext cx="4595495" cy="0"/>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pic>
        <p:nvPicPr>
          <p:cNvPr id="25" name="图片 1"/>
          <p:cNvPicPr>
            <a:picLocks xmlns:a="http://schemas.openxmlformats.org/drawingml/2006/main" noChangeAspect="1"/>
          </p:cNvPicPr>
          <p:nvPr/>
        </p:nvPicPr>
        <p:blipFill>
          <a:blip xmlns:r="http://schemas.openxmlformats.org/officeDocument/2006/relationships" xmlns:a="http://schemas.openxmlformats.org/drawingml/2006/main" r:embed="R90e0f7b0c6c44c4a"/>
          <a:stretch xmlns:a="http://schemas.openxmlformats.org/drawingml/2006/main">
            <a:fillRect l="0" t="0" r="0" b="0"/>
          </a:stretch>
        </p:blipFill>
        <p:spPr>
          <a:xfrm xmlns:a="http://schemas.openxmlformats.org/drawingml/2006/main">
            <a:off x="4513580" y="5448300"/>
            <a:ext cx="3044190" cy="294640"/>
          </a:xfrm>
          <a:prstGeom xmlns:a="http://schemas.openxmlformats.org/drawingml/2006/main" prst="rect">
            <a:avLst/>
          </a:prstGeom>
        </p:spPr>
      </p:pic>
    </p:spTree>
    <p:extLst>
      <p:ext uri="{BB962C8B-B14F-4D97-AF65-F5344CB8AC3E}">
        <p14:creationId xmlns:p14="http://schemas.microsoft.com/office/powerpoint/2010/main" val="8551580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8EDA4AC1-4018-4CC2-8E1F-B8A96DDB533A}"/>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9CDA494C-0C9A-45AD-87F1-F538207BC872}"/>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327B285F-37C7-4B03-A32E-4747B4456A2F}"/>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lgn="l">
              <a:lnSpc>
                <a:spcPct val="100000"/>
              </a:lnSpc>
              <a:spcBef>
                <a:spcPct val="20000"/>
              </a:spcBef>
              <a:buClrTx/>
              <a:buSzTx/>
              <a:buFontTx/>
              <a:buNone/>
            </a:pPr>
            <a:r>
              <a:rPr sz="2400" b="1">
                <a:solidFill>
                  <a:srgbClr val="0599D9"/>
                </a:solidFill>
                <a:latin typeface="微软雅黑"/>
                <a:ea typeface="微软雅黑"/>
                <a:cs typeface="微软雅黑"/>
              </a:rPr>
              <a:t>目录</a:t>
            </a:r>
          </a:p>
        </p:txBody>
      </p:sp>
      <p:sp>
        <p:nvSpPr>
          <p:cNvPr id="2" name="Freeform 11">
            <a:extLst xmlns:a="http://schemas.openxmlformats.org/drawingml/2006/main">
              <a:ext uri="{FF2B5EF4-FFF2-40B4-BE49-F238E27FC236}">
                <a16:creationId xmlns:a16="http://schemas.microsoft.com/office/drawing/2014/main" id="{F94B6AD1-EA70-405D-8CFA-6A375D8A2C0B}"/>
              </a:ext>
            </a:extLst>
          </p:cNvPr>
          <p:cNvSpPr>
            <a:spLocks xmlns:a="http://schemas.openxmlformats.org/drawingml/2006/main" noGrp="1"/>
          </p:cNvSpPr>
          <p:nvPr/>
        </p:nvSpPr>
        <p:spPr>
          <a:xfrm xmlns:a="http://schemas.openxmlformats.org/drawingml/2006/main">
            <a:off x="3551397" y="1990649"/>
            <a:ext cx="920359" cy="116273"/>
          </a:xfrm>
          <a:custGeom xmlns:a="http://schemas.openxmlformats.org/drawingml/2006/main">
            <a:gdLst>
              <a:gd name="T0" fmla="*/ 111 w 1156"/>
              <a:gd name="T1" fmla="*/ 0 h 142"/>
              <a:gd name="T2" fmla="*/ 1045 w 1156"/>
              <a:gd name="T3" fmla="*/ 0 h 142"/>
              <a:gd name="T4" fmla="*/ 1156 w 1156"/>
              <a:gd name="T5" fmla="*/ 142 h 142"/>
              <a:gd name="T6" fmla="*/ 0 w 1156"/>
              <a:gd name="T7" fmla="*/ 142 h 142"/>
              <a:gd name="T8" fmla="*/ 111 w 1156"/>
              <a:gd name="T9" fmla="*/ 0 h 142"/>
            </a:gdLst>
            <a:rect l="0" t="0" r="r" b="b"/>
            <a:pathLst>
              <a:path w="1156" h="142">
                <a:moveTo>
                  <a:pt x="111" y="0"/>
                </a:moveTo>
                <a:lnTo>
                  <a:pt x="1045" y="0"/>
                </a:lnTo>
                <a:lnTo>
                  <a:pt x="1156" y="142"/>
                </a:lnTo>
                <a:lnTo>
                  <a:pt x="0" y="142"/>
                </a:lnTo>
                <a:lnTo>
                  <a:pt x="111" y="0"/>
                </a:lnTo>
                <a:close/>
              </a:path>
            </a:pathLst>
          </a:cu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4" name="Freeform 10">
            <a:extLst xmlns:a="http://schemas.openxmlformats.org/drawingml/2006/main">
              <a:ext uri="{FF2B5EF4-FFF2-40B4-BE49-F238E27FC236}">
                <a16:creationId xmlns:a16="http://schemas.microsoft.com/office/drawing/2014/main" id="{996D62D2-5200-403B-B774-7FB57CAA18B5}"/>
              </a:ext>
            </a:extLst>
          </p:cNvPr>
          <p:cNvSpPr>
            <a:spLocks xmlns:a="http://schemas.openxmlformats.org/drawingml/2006/main" noGrp="1"/>
          </p:cNvSpPr>
          <p:nvPr/>
        </p:nvSpPr>
        <p:spPr>
          <a:xfrm xmlns:a="http://schemas.openxmlformats.org/drawingml/2006/main">
            <a:off x="3382491" y="2071037"/>
            <a:ext cx="6798869" cy="560731"/>
          </a:xfrm>
          <a:custGeom xmlns:a="http://schemas.openxmlformats.org/drawingml/2006/main">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xmlns:a="http://schemas.openxmlformats.org/drawingml/2006/main">
            <a:srgbClr val="FFFFFF"/>
          </a:solidFill>
          <a:ln xmlns:a="http://schemas.openxmlformats.org/drawingml/2006/main" w="10" cmpd="sng">
            <a:solidFill>
              <a:srgbClr val="A8A9AD"/>
            </a:solid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5" name="Rectangle 12">
            <a:extLst xmlns:a="http://schemas.openxmlformats.org/drawingml/2006/main">
              <a:ext uri="{FF2B5EF4-FFF2-40B4-BE49-F238E27FC236}">
                <a16:creationId xmlns:a16="http://schemas.microsoft.com/office/drawing/2014/main" id="{66798D76-56DD-4CAE-953B-389041941AE0}"/>
              </a:ext>
            </a:extLst>
          </p:cNvPr>
          <p:cNvSpPr>
            <a:spLocks xmlns:a="http://schemas.openxmlformats.org/drawingml/2006/main" noGrp="1"/>
          </p:cNvSpPr>
          <p:nvPr/>
        </p:nvSpPr>
        <p:spPr>
          <a:xfrm xmlns:a="http://schemas.openxmlformats.org/drawingml/2006/main">
            <a:off x="3639930" y="1936750"/>
            <a:ext cx="696984" cy="619032"/>
          </a:xfrm>
          <a:prstGeom xmlns:a="http://schemas.openxmlformats.org/drawingml/2006/main" prst="rect">
            <a:avLst/>
          </a:pr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marL="0" marR="0" lvl="0" indent="0" defTabSz="914400">
              <a:lnSpc>
                <a:spcPct val="100000"/>
              </a:lnSpc>
              <a:spcBef>
                <a:spcPct val="0"/>
              </a:spcBef>
              <a:spcAft>
                <a:spcPct val="0"/>
              </a:spcAft>
              <a:buClrTx/>
              <a:buSzTx/>
              <a:buFont typeface="Arial"/>
              <a:buNone/>
            </a:pPr>
          </a:p>
        </p:txBody>
      </p:sp>
      <p:sp>
        <p:nvSpPr>
          <p:cNvPr id="11" name="TextBox 105">
            <a:extLst xmlns:a="http://schemas.openxmlformats.org/drawingml/2006/main">
              <a:ext uri="{FF2B5EF4-FFF2-40B4-BE49-F238E27FC236}">
                <a16:creationId xmlns:a16="http://schemas.microsoft.com/office/drawing/2014/main" id="{E8B53A54-11CB-46F0-8E93-8639C9FD8F73}"/>
              </a:ext>
            </a:extLst>
          </p:cNvPr>
          <p:cNvSpPr>
            <a:spLocks xmlns:a="http://schemas.openxmlformats.org/drawingml/2006/main" noGrp="1"/>
          </p:cNvSpPr>
          <p:nvPr/>
        </p:nvSpPr>
        <p:spPr>
          <a:xfrm xmlns:a="http://schemas.openxmlformats.org/drawingml/2006/main">
            <a:off x="4599492" y="2126900"/>
            <a:ext cx="5775994"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effectLst>
                  <a:outerShdw blurRad="38100" dist="19050" dir="2700000" algn="tl" rotWithShape="0">
                    <a:schemeClr val="dk1">
                      <a:alpha val="40000"/>
                    </a:schemeClr>
                  </a:outerShdw>
                </a:effectLst>
                <a:latin typeface="微软雅黑"/>
                <a:ea typeface="微软雅黑"/>
                <a:cs typeface="微软雅黑"/>
              </a:rPr>
              <a:t>部门任务跟踪</a:t>
            </a:r>
          </a:p>
        </p:txBody>
      </p:sp>
      <p:sp>
        <p:nvSpPr>
          <p:cNvPr id="14" name="TextBox 106">
            <a:extLst xmlns:a="http://schemas.openxmlformats.org/drawingml/2006/main">
              <a:ext uri="{FF2B5EF4-FFF2-40B4-BE49-F238E27FC236}">
                <a16:creationId xmlns:a16="http://schemas.microsoft.com/office/drawing/2014/main" id="{86D2EF66-A7FD-412C-BB1B-84575491640B}"/>
              </a:ext>
            </a:extLst>
          </p:cNvPr>
          <p:cNvSpPr>
            <a:spLocks xmlns:a="http://schemas.openxmlformats.org/drawingml/2006/main" noGrp="1"/>
          </p:cNvSpPr>
          <p:nvPr/>
        </p:nvSpPr>
        <p:spPr>
          <a:xfrm xmlns:a="http://schemas.openxmlformats.org/drawingml/2006/main">
            <a:off x="3639830" y="2023074"/>
            <a:ext cx="503086"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solidFill>
                  <a:srgbClr val="FFFFFF"/>
                </a:solidFill>
                <a:latin typeface="微软雅黑"/>
                <a:ea typeface="微软雅黑"/>
                <a:cs typeface="微软雅黑"/>
              </a:rPr>
              <a:t>一</a:t>
            </a:r>
          </a:p>
        </p:txBody>
      </p:sp>
      <p:sp>
        <p:nvSpPr>
          <p:cNvPr id="26" name="Freeform 11">
            <a:extLst xmlns:a="http://schemas.openxmlformats.org/drawingml/2006/main">
              <a:ext uri="{FF2B5EF4-FFF2-40B4-BE49-F238E27FC236}">
                <a16:creationId xmlns:a16="http://schemas.microsoft.com/office/drawing/2014/main" id="{C00759B6-1AE6-4AD3-A60A-FDC935D1A48A}"/>
              </a:ext>
            </a:extLst>
          </p:cNvPr>
          <p:cNvSpPr>
            <a:spLocks xmlns:a="http://schemas.openxmlformats.org/drawingml/2006/main" noGrp="1"/>
          </p:cNvSpPr>
          <p:nvPr/>
        </p:nvSpPr>
        <p:spPr>
          <a:xfrm xmlns:a="http://schemas.openxmlformats.org/drawingml/2006/main">
            <a:off x="3551397" y="2781961"/>
            <a:ext cx="920359" cy="116273"/>
          </a:xfrm>
          <a:custGeom xmlns:a="http://schemas.openxmlformats.org/drawingml/2006/main">
            <a:gdLst>
              <a:gd name="T0" fmla="*/ 111 w 1156"/>
              <a:gd name="T1" fmla="*/ 0 h 142"/>
              <a:gd name="T2" fmla="*/ 1045 w 1156"/>
              <a:gd name="T3" fmla="*/ 0 h 142"/>
              <a:gd name="T4" fmla="*/ 1156 w 1156"/>
              <a:gd name="T5" fmla="*/ 142 h 142"/>
              <a:gd name="T6" fmla="*/ 0 w 1156"/>
              <a:gd name="T7" fmla="*/ 142 h 142"/>
              <a:gd name="T8" fmla="*/ 111 w 1156"/>
              <a:gd name="T9" fmla="*/ 0 h 142"/>
            </a:gdLst>
            <a:rect l="0" t="0" r="r" b="b"/>
            <a:pathLst>
              <a:path w="1156" h="142">
                <a:moveTo>
                  <a:pt x="111" y="0"/>
                </a:moveTo>
                <a:lnTo>
                  <a:pt x="1045" y="0"/>
                </a:lnTo>
                <a:lnTo>
                  <a:pt x="1156" y="142"/>
                </a:lnTo>
                <a:lnTo>
                  <a:pt x="0" y="142"/>
                </a:lnTo>
                <a:lnTo>
                  <a:pt x="111" y="0"/>
                </a:lnTo>
                <a:close/>
              </a:path>
            </a:pathLst>
          </a:cu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27" name="Freeform 10">
            <a:extLst xmlns:a="http://schemas.openxmlformats.org/drawingml/2006/main">
              <a:ext uri="{FF2B5EF4-FFF2-40B4-BE49-F238E27FC236}">
                <a16:creationId xmlns:a16="http://schemas.microsoft.com/office/drawing/2014/main" id="{09C32689-6AE8-4613-B7C3-7756591F75AE}"/>
              </a:ext>
            </a:extLst>
          </p:cNvPr>
          <p:cNvSpPr>
            <a:spLocks xmlns:a="http://schemas.openxmlformats.org/drawingml/2006/main" noGrp="1"/>
          </p:cNvSpPr>
          <p:nvPr/>
        </p:nvSpPr>
        <p:spPr>
          <a:xfrm xmlns:a="http://schemas.openxmlformats.org/drawingml/2006/main">
            <a:off x="3382491" y="2873486"/>
            <a:ext cx="6904333" cy="564007"/>
          </a:xfrm>
          <a:custGeom xmlns:a="http://schemas.openxmlformats.org/drawingml/2006/main">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xmlns:a="http://schemas.openxmlformats.org/drawingml/2006/main">
            <a:srgbClr val="FFFFFF"/>
          </a:solidFill>
          <a:ln xmlns:a="http://schemas.openxmlformats.org/drawingml/2006/main" w="10" cmpd="sng">
            <a:solidFill>
              <a:srgbClr val="A8A9AD"/>
            </a:solid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28" name="Rectangle 12">
            <a:extLst xmlns:a="http://schemas.openxmlformats.org/drawingml/2006/main">
              <a:ext uri="{FF2B5EF4-FFF2-40B4-BE49-F238E27FC236}">
                <a16:creationId xmlns:a16="http://schemas.microsoft.com/office/drawing/2014/main" id="{3CCC20C3-0158-4FAA-9170-B10CCDBA572C}"/>
              </a:ext>
            </a:extLst>
          </p:cNvPr>
          <p:cNvSpPr>
            <a:spLocks xmlns:a="http://schemas.openxmlformats.org/drawingml/2006/main" noGrp="1"/>
          </p:cNvSpPr>
          <p:nvPr/>
        </p:nvSpPr>
        <p:spPr>
          <a:xfrm xmlns:a="http://schemas.openxmlformats.org/drawingml/2006/main">
            <a:off x="3639930" y="2781778"/>
            <a:ext cx="683883" cy="569247"/>
          </a:xfrm>
          <a:prstGeom xmlns:a="http://schemas.openxmlformats.org/drawingml/2006/main" prst="rect">
            <a:avLst/>
          </a:pr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marL="0" marR="0" lvl="0" indent="0" defTabSz="914400">
              <a:lnSpc>
                <a:spcPct val="100000"/>
              </a:lnSpc>
              <a:spcBef>
                <a:spcPct val="0"/>
              </a:spcBef>
              <a:spcAft>
                <a:spcPct val="0"/>
              </a:spcAft>
              <a:buClrTx/>
              <a:buSzTx/>
              <a:buFont typeface="Arial"/>
              <a:buNone/>
            </a:pPr>
          </a:p>
        </p:txBody>
      </p:sp>
      <p:sp>
        <p:nvSpPr>
          <p:cNvPr id="29" name="TextBox 105">
            <a:extLst xmlns:a="http://schemas.openxmlformats.org/drawingml/2006/main">
              <a:ext uri="{FF2B5EF4-FFF2-40B4-BE49-F238E27FC236}">
                <a16:creationId xmlns:a16="http://schemas.microsoft.com/office/drawing/2014/main" id="{097C6E23-63D0-4FA8-BEC1-0E5DB8D4507F}"/>
              </a:ext>
            </a:extLst>
          </p:cNvPr>
          <p:cNvSpPr>
            <a:spLocks xmlns:a="http://schemas.openxmlformats.org/drawingml/2006/main" noGrp="1"/>
          </p:cNvSpPr>
          <p:nvPr/>
        </p:nvSpPr>
        <p:spPr>
          <a:xfrm xmlns:a="http://schemas.openxmlformats.org/drawingml/2006/main">
            <a:off x="4583217" y="2916720"/>
            <a:ext cx="5776320" cy="4362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o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effectLst>
                  <a:outerShdw blurRad="38100" dist="19050" dir="2700000" algn="tl" rotWithShape="0">
                    <a:schemeClr val="dk1">
                      <a:alpha val="40000"/>
                    </a:schemeClr>
                  </a:outerShdw>
                </a:effectLst>
                <a:latin typeface="微软雅黑"/>
                <a:ea typeface="微软雅黑"/>
                <a:cs typeface="微软雅黑"/>
              </a:rPr>
              <a:t>上周主要完成工作</a:t>
            </a:r>
          </a:p>
        </p:txBody>
      </p:sp>
      <p:sp>
        <p:nvSpPr>
          <p:cNvPr id="39" name="TextBox 106">
            <a:extLst xmlns:a="http://schemas.openxmlformats.org/drawingml/2006/main">
              <a:ext uri="{FF2B5EF4-FFF2-40B4-BE49-F238E27FC236}">
                <a16:creationId xmlns:a16="http://schemas.microsoft.com/office/drawing/2014/main" id="{2D2B5B0F-1AFA-44C6-959B-8DBD5D14DD84}"/>
              </a:ext>
            </a:extLst>
          </p:cNvPr>
          <p:cNvSpPr>
            <a:spLocks xmlns:a="http://schemas.openxmlformats.org/drawingml/2006/main" noGrp="1"/>
          </p:cNvSpPr>
          <p:nvPr/>
        </p:nvSpPr>
        <p:spPr>
          <a:xfrm xmlns:a="http://schemas.openxmlformats.org/drawingml/2006/main">
            <a:off x="3639830" y="2906750"/>
            <a:ext cx="503086"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solidFill>
                  <a:srgbClr val="FFFFFF"/>
                </a:solidFill>
                <a:latin typeface="微软雅黑"/>
                <a:ea typeface="微软雅黑"/>
                <a:cs typeface="微软雅黑"/>
              </a:rPr>
              <a:t>二</a:t>
            </a:r>
          </a:p>
        </p:txBody>
      </p:sp>
      <p:sp>
        <p:nvSpPr>
          <p:cNvPr id="45" name="Freeform 11">
            <a:extLst xmlns:a="http://schemas.openxmlformats.org/drawingml/2006/main">
              <a:ext uri="{FF2B5EF4-FFF2-40B4-BE49-F238E27FC236}">
                <a16:creationId xmlns:a16="http://schemas.microsoft.com/office/drawing/2014/main" id="{FD3A7BCF-B116-4FF1-AE3D-F4EF2A37B32B}"/>
              </a:ext>
            </a:extLst>
          </p:cNvPr>
          <p:cNvSpPr>
            <a:spLocks xmlns:a="http://schemas.openxmlformats.org/drawingml/2006/main" noGrp="1"/>
          </p:cNvSpPr>
          <p:nvPr/>
        </p:nvSpPr>
        <p:spPr>
          <a:xfrm xmlns:a="http://schemas.openxmlformats.org/drawingml/2006/main">
            <a:off x="3535675" y="3657121"/>
            <a:ext cx="920359" cy="116273"/>
          </a:xfrm>
          <a:custGeom xmlns:a="http://schemas.openxmlformats.org/drawingml/2006/main">
            <a:gdLst>
              <a:gd name="T0" fmla="*/ 111 w 1156"/>
              <a:gd name="T1" fmla="*/ 0 h 142"/>
              <a:gd name="T2" fmla="*/ 1045 w 1156"/>
              <a:gd name="T3" fmla="*/ 0 h 142"/>
              <a:gd name="T4" fmla="*/ 1156 w 1156"/>
              <a:gd name="T5" fmla="*/ 142 h 142"/>
              <a:gd name="T6" fmla="*/ 0 w 1156"/>
              <a:gd name="T7" fmla="*/ 142 h 142"/>
              <a:gd name="T8" fmla="*/ 111 w 1156"/>
              <a:gd name="T9" fmla="*/ 0 h 142"/>
            </a:gdLst>
            <a:rect l="0" t="0" r="r" b="b"/>
            <a:pathLst>
              <a:path w="1156" h="142">
                <a:moveTo>
                  <a:pt x="111" y="0"/>
                </a:moveTo>
                <a:lnTo>
                  <a:pt x="1045" y="0"/>
                </a:lnTo>
                <a:lnTo>
                  <a:pt x="1156" y="142"/>
                </a:lnTo>
                <a:lnTo>
                  <a:pt x="0" y="142"/>
                </a:lnTo>
                <a:lnTo>
                  <a:pt x="111" y="0"/>
                </a:lnTo>
                <a:close/>
              </a:path>
            </a:pathLst>
          </a:cu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56" name="Freeform 10">
            <a:extLst xmlns:a="http://schemas.openxmlformats.org/drawingml/2006/main">
              <a:ext uri="{FF2B5EF4-FFF2-40B4-BE49-F238E27FC236}">
                <a16:creationId xmlns:a16="http://schemas.microsoft.com/office/drawing/2014/main" id="{E812CE39-9212-4ED0-BB06-70FF32E02D05}"/>
              </a:ext>
            </a:extLst>
          </p:cNvPr>
          <p:cNvSpPr>
            <a:spLocks xmlns:a="http://schemas.openxmlformats.org/drawingml/2006/main" noGrp="1"/>
          </p:cNvSpPr>
          <p:nvPr/>
        </p:nvSpPr>
        <p:spPr>
          <a:xfrm xmlns:a="http://schemas.openxmlformats.org/drawingml/2006/main">
            <a:off x="3366770" y="3748646"/>
            <a:ext cx="6904333" cy="590864"/>
          </a:xfrm>
          <a:custGeom xmlns:a="http://schemas.openxmlformats.org/drawingml/2006/main">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xmlns:a="http://schemas.openxmlformats.org/drawingml/2006/main">
            <a:srgbClr val="FFFFFF"/>
          </a:solidFill>
          <a:ln xmlns:a="http://schemas.openxmlformats.org/drawingml/2006/main" w="10" cmpd="sng">
            <a:solidFill>
              <a:srgbClr val="A8A9AD"/>
            </a:solid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57" name="Rectangle 12">
            <a:extLst xmlns:a="http://schemas.openxmlformats.org/drawingml/2006/main">
              <a:ext uri="{FF2B5EF4-FFF2-40B4-BE49-F238E27FC236}">
                <a16:creationId xmlns:a16="http://schemas.microsoft.com/office/drawing/2014/main" id="{F2F83750-607A-46A8-95CA-1B5C3A6D5A07}"/>
              </a:ext>
            </a:extLst>
          </p:cNvPr>
          <p:cNvSpPr>
            <a:spLocks xmlns:a="http://schemas.openxmlformats.org/drawingml/2006/main" noGrp="1"/>
          </p:cNvSpPr>
          <p:nvPr/>
        </p:nvSpPr>
        <p:spPr>
          <a:xfrm xmlns:a="http://schemas.openxmlformats.org/drawingml/2006/main">
            <a:off x="3624209" y="3656938"/>
            <a:ext cx="712705" cy="596105"/>
          </a:xfrm>
          <a:prstGeom xmlns:a="http://schemas.openxmlformats.org/drawingml/2006/main" prst="rect">
            <a:avLst/>
          </a:pr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marL="0" marR="0" lvl="0" indent="0" defTabSz="914400">
              <a:lnSpc>
                <a:spcPct val="100000"/>
              </a:lnSpc>
              <a:spcBef>
                <a:spcPct val="0"/>
              </a:spcBef>
              <a:spcAft>
                <a:spcPct val="0"/>
              </a:spcAft>
              <a:buClrTx/>
              <a:buSzTx/>
              <a:buFont typeface="Arial"/>
              <a:buNone/>
            </a:pPr>
          </a:p>
        </p:txBody>
      </p:sp>
      <p:sp>
        <p:nvSpPr>
          <p:cNvPr id="58" name="TextBox 105">
            <a:extLst xmlns:a="http://schemas.openxmlformats.org/drawingml/2006/main">
              <a:ext uri="{FF2B5EF4-FFF2-40B4-BE49-F238E27FC236}">
                <a16:creationId xmlns:a16="http://schemas.microsoft.com/office/drawing/2014/main" id="{1CCF0903-701E-4432-AB45-E67A76D851D9}"/>
              </a:ext>
            </a:extLst>
          </p:cNvPr>
          <p:cNvSpPr>
            <a:spLocks xmlns:a="http://schemas.openxmlformats.org/drawingml/2006/main" noGrp="1"/>
          </p:cNvSpPr>
          <p:nvPr/>
        </p:nvSpPr>
        <p:spPr>
          <a:xfrm xmlns:a="http://schemas.openxmlformats.org/drawingml/2006/main">
            <a:off x="4583116" y="3797958"/>
            <a:ext cx="5775994"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effectLst>
                  <a:outerShdw blurRad="38100" dist="19050" dir="2700000" algn="tl" rotWithShape="0">
                    <a:schemeClr val="dk1">
                      <a:alpha val="40000"/>
                    </a:schemeClr>
                  </a:outerShdw>
                </a:effectLst>
                <a:latin typeface="微软雅黑"/>
                <a:ea typeface="微软雅黑"/>
                <a:cs typeface="微软雅黑"/>
              </a:rPr>
              <a:t>下周重点工作安排</a:t>
            </a:r>
          </a:p>
        </p:txBody>
      </p:sp>
      <p:sp>
        <p:nvSpPr>
          <p:cNvPr id="59" name="TextBox 106">
            <a:extLst xmlns:a="http://schemas.openxmlformats.org/drawingml/2006/main">
              <a:ext uri="{FF2B5EF4-FFF2-40B4-BE49-F238E27FC236}">
                <a16:creationId xmlns:a16="http://schemas.microsoft.com/office/drawing/2014/main" id="{839DC880-B683-45DB-9845-A9C3DFD590D3}"/>
              </a:ext>
            </a:extLst>
          </p:cNvPr>
          <p:cNvSpPr>
            <a:spLocks xmlns:a="http://schemas.openxmlformats.org/drawingml/2006/main" noGrp="1"/>
          </p:cNvSpPr>
          <p:nvPr/>
        </p:nvSpPr>
        <p:spPr>
          <a:xfrm xmlns:a="http://schemas.openxmlformats.org/drawingml/2006/main">
            <a:off x="3624109" y="3743261"/>
            <a:ext cx="503086"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solidFill>
                  <a:srgbClr val="FFFFFF"/>
                </a:solidFill>
                <a:latin typeface="微软雅黑"/>
                <a:ea typeface="微软雅黑"/>
                <a:cs typeface="微软雅黑"/>
              </a:rPr>
              <a:t>三</a:t>
            </a:r>
          </a:p>
        </p:txBody>
      </p:sp>
      <p:sp>
        <p:nvSpPr>
          <p:cNvPr id="60" name="Freeform 11">
            <a:extLst xmlns:a="http://schemas.openxmlformats.org/drawingml/2006/main">
              <a:ext uri="{FF2B5EF4-FFF2-40B4-BE49-F238E27FC236}">
                <a16:creationId xmlns:a16="http://schemas.microsoft.com/office/drawing/2014/main" id="{EE6B9010-16CE-46ED-A35B-2472876E19B1}"/>
              </a:ext>
            </a:extLst>
          </p:cNvPr>
          <p:cNvSpPr>
            <a:spLocks xmlns:a="http://schemas.openxmlformats.org/drawingml/2006/main" noGrp="1"/>
          </p:cNvSpPr>
          <p:nvPr/>
        </p:nvSpPr>
        <p:spPr>
          <a:xfrm xmlns:a="http://schemas.openxmlformats.org/drawingml/2006/main">
            <a:off x="3551397" y="4532904"/>
            <a:ext cx="920359" cy="116273"/>
          </a:xfrm>
          <a:custGeom xmlns:a="http://schemas.openxmlformats.org/drawingml/2006/main">
            <a:gdLst>
              <a:gd name="T0" fmla="*/ 111 w 1156"/>
              <a:gd name="T1" fmla="*/ 0 h 142"/>
              <a:gd name="T2" fmla="*/ 1045 w 1156"/>
              <a:gd name="T3" fmla="*/ 0 h 142"/>
              <a:gd name="T4" fmla="*/ 1156 w 1156"/>
              <a:gd name="T5" fmla="*/ 142 h 142"/>
              <a:gd name="T6" fmla="*/ 0 w 1156"/>
              <a:gd name="T7" fmla="*/ 142 h 142"/>
              <a:gd name="T8" fmla="*/ 111 w 1156"/>
              <a:gd name="T9" fmla="*/ 0 h 142"/>
            </a:gdLst>
            <a:rect l="0" t="0" r="r" b="b"/>
            <a:pathLst>
              <a:path w="1156" h="142">
                <a:moveTo>
                  <a:pt x="111" y="0"/>
                </a:moveTo>
                <a:lnTo>
                  <a:pt x="1045" y="0"/>
                </a:lnTo>
                <a:lnTo>
                  <a:pt x="1156" y="142"/>
                </a:lnTo>
                <a:lnTo>
                  <a:pt x="0" y="142"/>
                </a:lnTo>
                <a:lnTo>
                  <a:pt x="111" y="0"/>
                </a:lnTo>
                <a:close/>
              </a:path>
            </a:pathLst>
          </a:cu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61" name="Freeform 10">
            <a:extLst xmlns:a="http://schemas.openxmlformats.org/drawingml/2006/main">
              <a:ext uri="{FF2B5EF4-FFF2-40B4-BE49-F238E27FC236}">
                <a16:creationId xmlns:a16="http://schemas.microsoft.com/office/drawing/2014/main" id="{11B7FC69-A990-455B-A316-4567AF9F4378}"/>
              </a:ext>
            </a:extLst>
          </p:cNvPr>
          <p:cNvSpPr>
            <a:spLocks xmlns:a="http://schemas.openxmlformats.org/drawingml/2006/main" noGrp="1"/>
          </p:cNvSpPr>
          <p:nvPr/>
        </p:nvSpPr>
        <p:spPr>
          <a:xfrm xmlns:a="http://schemas.openxmlformats.org/drawingml/2006/main">
            <a:off x="3382491" y="4624428"/>
            <a:ext cx="6904333" cy="595450"/>
          </a:xfrm>
          <a:custGeom xmlns:a="http://schemas.openxmlformats.org/drawingml/2006/main">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xmlns:a="http://schemas.openxmlformats.org/drawingml/2006/main">
            <a:srgbClr val="FFFFFF"/>
          </a:solidFill>
          <a:ln xmlns:a="http://schemas.openxmlformats.org/drawingml/2006/main" w="10" cmpd="sng">
            <a:solidFill>
              <a:srgbClr val="A8A9AD"/>
            </a:solid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62" name="Rectangle 12">
            <a:extLst xmlns:a="http://schemas.openxmlformats.org/drawingml/2006/main">
              <a:ext uri="{FF2B5EF4-FFF2-40B4-BE49-F238E27FC236}">
                <a16:creationId xmlns:a16="http://schemas.microsoft.com/office/drawing/2014/main" id="{3EFAE617-033B-4AE2-9FFA-148F0E87EB5C}"/>
              </a:ext>
            </a:extLst>
          </p:cNvPr>
          <p:cNvSpPr>
            <a:spLocks xmlns:a="http://schemas.openxmlformats.org/drawingml/2006/main" noGrp="1"/>
          </p:cNvSpPr>
          <p:nvPr/>
        </p:nvSpPr>
        <p:spPr>
          <a:xfrm xmlns:a="http://schemas.openxmlformats.org/drawingml/2006/main">
            <a:off x="3639930" y="4532720"/>
            <a:ext cx="696984" cy="594140"/>
          </a:xfrm>
          <a:prstGeom xmlns:a="http://schemas.openxmlformats.org/drawingml/2006/main" prst="rect">
            <a:avLst/>
          </a:pr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marL="0" marR="0" lvl="0" indent="0" defTabSz="914400">
              <a:lnSpc>
                <a:spcPct val="100000"/>
              </a:lnSpc>
              <a:spcBef>
                <a:spcPct val="0"/>
              </a:spcBef>
              <a:spcAft>
                <a:spcPct val="0"/>
              </a:spcAft>
              <a:buClrTx/>
              <a:buSzTx/>
              <a:buFont typeface="Arial"/>
              <a:buNone/>
            </a:pPr>
          </a:p>
        </p:txBody>
      </p:sp>
      <p:sp>
        <p:nvSpPr>
          <p:cNvPr id="63" name="TextBox 105">
            <a:extLst xmlns:a="http://schemas.openxmlformats.org/drawingml/2006/main">
              <a:ext uri="{FF2B5EF4-FFF2-40B4-BE49-F238E27FC236}">
                <a16:creationId xmlns:a16="http://schemas.microsoft.com/office/drawing/2014/main" id="{653477E7-7489-43E9-AB8E-9F74D45E44C7}"/>
              </a:ext>
            </a:extLst>
          </p:cNvPr>
          <p:cNvSpPr>
            <a:spLocks xmlns:a="http://schemas.openxmlformats.org/drawingml/2006/main" noGrp="1"/>
          </p:cNvSpPr>
          <p:nvPr/>
        </p:nvSpPr>
        <p:spPr>
          <a:xfrm xmlns:a="http://schemas.openxmlformats.org/drawingml/2006/main">
            <a:off x="4599492" y="4672430"/>
            <a:ext cx="5775994"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effectLst>
                  <a:outerShdw blurRad="38100" dist="19050" dir="2700000" algn="tl" rotWithShape="0">
                    <a:schemeClr val="dk1">
                      <a:alpha val="40000"/>
                    </a:schemeClr>
                  </a:outerShdw>
                </a:effectLst>
                <a:latin typeface="微软雅黑"/>
                <a:ea typeface="微软雅黑"/>
                <a:cs typeface="微软雅黑"/>
              </a:rPr>
              <a:t>现场资料检查情况</a:t>
            </a:r>
          </a:p>
        </p:txBody>
      </p:sp>
      <p:sp>
        <p:nvSpPr>
          <p:cNvPr id="64" name="TextBox 106">
            <a:extLst xmlns:a="http://schemas.openxmlformats.org/drawingml/2006/main">
              <a:ext uri="{FF2B5EF4-FFF2-40B4-BE49-F238E27FC236}">
                <a16:creationId xmlns:a16="http://schemas.microsoft.com/office/drawing/2014/main" id="{158A9828-C5F6-4069-BDB0-C2E4CE84794A}"/>
              </a:ext>
            </a:extLst>
          </p:cNvPr>
          <p:cNvSpPr>
            <a:spLocks xmlns:a="http://schemas.openxmlformats.org/drawingml/2006/main" noGrp="1"/>
          </p:cNvSpPr>
          <p:nvPr/>
        </p:nvSpPr>
        <p:spPr>
          <a:xfrm xmlns:a="http://schemas.openxmlformats.org/drawingml/2006/main">
            <a:off x="3639830" y="4619043"/>
            <a:ext cx="503086"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solidFill>
                  <a:srgbClr val="FFFFFF"/>
                </a:solidFill>
                <a:latin typeface="微软雅黑"/>
                <a:ea typeface="微软雅黑"/>
                <a:cs typeface="微软雅黑"/>
              </a:rPr>
              <a:t>四</a:t>
            </a:r>
          </a:p>
        </p:txBody>
      </p:sp>
      <p:sp>
        <p:nvSpPr>
          <p:cNvPr id="16" name="文本框 15">
            <a:extLst xmlns:a="http://schemas.openxmlformats.org/drawingml/2006/main">
              <a:ext uri="{FF2B5EF4-FFF2-40B4-BE49-F238E27FC236}">
                <a16:creationId xmlns:a16="http://schemas.microsoft.com/office/drawing/2014/main" id="{921FFE95-30EB-4CB5-B172-19A8D75D5A89}"/>
              </a:ext>
            </a:extLst>
          </p:cNvPr>
          <p:cNvSpPr>
            <a:spLocks xmlns:a="http://schemas.openxmlformats.org/drawingml/2006/main" noGrp="1"/>
          </p:cNvSpPr>
          <p:nvPr/>
        </p:nvSpPr>
        <p:spPr>
          <a:xfrm xmlns:a="http://schemas.openxmlformats.org/drawingml/2006/main">
            <a:off x="3955415" y="5427980"/>
            <a:ext cx="4064000"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p:txBody>
      </p:sp>
      <p:sp>
        <p:nvSpPr>
          <p:cNvPr id="21" name="同心圆 20">
            <a:extLst xmlns:a="http://schemas.openxmlformats.org/drawingml/2006/main">
              <a:ext uri="{FF2B5EF4-FFF2-40B4-BE49-F238E27FC236}">
                <a16:creationId xmlns:a16="http://schemas.microsoft.com/office/drawing/2014/main" id="{A39808A8-4144-40CC-944F-C1702C8A1C86}"/>
              </a:ext>
            </a:extLst>
          </p:cNvPr>
          <p:cNvSpPr>
            <a:spLocks xmlns:a="http://schemas.openxmlformats.org/drawingml/2006/main" noGrp="1"/>
          </p:cNvSpPr>
          <p:nvPr/>
        </p:nvSpPr>
        <p:spPr>
          <a:xfrm xmlns:a="http://schemas.openxmlformats.org/drawingml/2006/main" rot="0" flipH="0" flipV="0">
            <a:off x="642855" y="2564783"/>
            <a:ext cx="2011680" cy="2011680"/>
          </a:xfrm>
          <a:prstGeom xmlns:a="http://schemas.openxmlformats.org/drawingml/2006/main" prst="donut">
            <a:avLst>
              <a:gd name="adj" fmla="val 4879"/>
            </a:avLst>
          </a:prstGeom>
          <a:gradFill xmlns:a="http://schemas.openxmlformats.org/drawingml/2006/main">
            <a:gsLst>
              <a:gs pos="0">
                <a:schemeClr val="bg1"/>
              </a:gs>
              <a:gs pos="55000">
                <a:schemeClr val="bg1">
                  <a:lumMod val="95000"/>
                </a:schemeClr>
              </a:gs>
              <a:gs pos="100000">
                <a:schemeClr val="bg1">
                  <a:lumMod val="65000"/>
                </a:schemeClr>
              </a:gs>
            </a:gsLst>
            <a:lin ang="81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椭圆 21">
            <a:extLst xmlns:a="http://schemas.openxmlformats.org/drawingml/2006/main">
              <a:ext uri="{FF2B5EF4-FFF2-40B4-BE49-F238E27FC236}">
                <a16:creationId xmlns:a16="http://schemas.microsoft.com/office/drawing/2014/main" id="{DB50E348-DCAF-438F-97C8-D30DA451F108}"/>
              </a:ext>
            </a:extLst>
          </p:cNvPr>
          <p:cNvSpPr>
            <a:spLocks xmlns:a="http://schemas.openxmlformats.org/drawingml/2006/main" noGrp="1"/>
          </p:cNvSpPr>
          <p:nvPr/>
        </p:nvSpPr>
        <p:spPr>
          <a:xfrm xmlns:a="http://schemas.openxmlformats.org/drawingml/2006/main" rot="0" flipH="0" flipV="0">
            <a:off x="686761" y="2608688"/>
            <a:ext cx="1923868" cy="1923868"/>
          </a:xfrm>
          <a:prstGeom xmlns:a="http://schemas.openxmlformats.org/drawingml/2006/main" prst="ellipse">
            <a:avLst/>
          </a:prstGeom>
          <a:gradFill xmlns:a="http://schemas.openxmlformats.org/drawingml/2006/main">
            <a:gsLst>
              <a:gs pos="0">
                <a:schemeClr val="bg1"/>
              </a:gs>
              <a:gs pos="51000">
                <a:schemeClr val="bg1">
                  <a:lumMod val="95000"/>
                </a:schemeClr>
              </a:gs>
              <a:gs pos="100000">
                <a:schemeClr val="bg1">
                  <a:lumMod val="75000"/>
                </a:schemeClr>
              </a:gs>
            </a:gsLst>
            <a:lin ang="189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椭圆 22">
            <a:extLst xmlns:a="http://schemas.openxmlformats.org/drawingml/2006/main">
              <a:ext uri="{FF2B5EF4-FFF2-40B4-BE49-F238E27FC236}">
                <a16:creationId xmlns:a16="http://schemas.microsoft.com/office/drawing/2014/main" id="{7926B944-3AB8-4E0D-96CC-CA88DBD7CB28}"/>
              </a:ext>
            </a:extLst>
          </p:cNvPr>
          <p:cNvSpPr>
            <a:spLocks xmlns:a="http://schemas.openxmlformats.org/drawingml/2006/main" noGrp="1"/>
          </p:cNvSpPr>
          <p:nvPr/>
        </p:nvSpPr>
        <p:spPr>
          <a:xfrm xmlns:a="http://schemas.openxmlformats.org/drawingml/2006/main" rot="0" flipH="0" flipV="0">
            <a:off x="826135" y="4446270"/>
            <a:ext cx="274955" cy="274955"/>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椭圆 5">
            <a:extLst xmlns:a="http://schemas.openxmlformats.org/drawingml/2006/main">
              <a:ext uri="{FF2B5EF4-FFF2-40B4-BE49-F238E27FC236}">
                <a16:creationId xmlns:a16="http://schemas.microsoft.com/office/drawing/2014/main" id="{5CCF89E0-C2A7-4CF5-B822-C85B1921605B}"/>
              </a:ext>
            </a:extLst>
          </p:cNvPr>
          <p:cNvSpPr>
            <a:spLocks xmlns:a="http://schemas.openxmlformats.org/drawingml/2006/main" noGrp="1"/>
          </p:cNvSpPr>
          <p:nvPr/>
        </p:nvSpPr>
        <p:spPr>
          <a:xfrm xmlns:a="http://schemas.openxmlformats.org/drawingml/2006/main" rot="0" flipH="0" flipV="0">
            <a:off x="1203960" y="4570095"/>
            <a:ext cx="137160" cy="137160"/>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椭圆 24">
            <a:extLst xmlns:a="http://schemas.openxmlformats.org/drawingml/2006/main">
              <a:ext uri="{FF2B5EF4-FFF2-40B4-BE49-F238E27FC236}">
                <a16:creationId xmlns:a16="http://schemas.microsoft.com/office/drawing/2014/main" id="{2808AB87-B370-4E73-9F54-8388BA92502A}"/>
              </a:ext>
            </a:extLst>
          </p:cNvPr>
          <p:cNvSpPr>
            <a:spLocks xmlns:a="http://schemas.openxmlformats.org/drawingml/2006/main" noGrp="1"/>
          </p:cNvSpPr>
          <p:nvPr/>
        </p:nvSpPr>
        <p:spPr>
          <a:xfrm xmlns:a="http://schemas.openxmlformats.org/drawingml/2006/main" rot="0" flipH="0" flipV="0">
            <a:off x="1377950" y="4375785"/>
            <a:ext cx="274955" cy="274955"/>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椭圆 7">
            <a:extLst xmlns:a="http://schemas.openxmlformats.org/drawingml/2006/main">
              <a:ext uri="{FF2B5EF4-FFF2-40B4-BE49-F238E27FC236}">
                <a16:creationId xmlns:a16="http://schemas.microsoft.com/office/drawing/2014/main" id="{D988C949-8203-4751-913A-62C0F3678085}"/>
              </a:ext>
            </a:extLst>
          </p:cNvPr>
          <p:cNvSpPr>
            <a:spLocks xmlns:a="http://schemas.openxmlformats.org/drawingml/2006/main" noGrp="1"/>
          </p:cNvSpPr>
          <p:nvPr/>
        </p:nvSpPr>
        <p:spPr>
          <a:xfrm xmlns:a="http://schemas.openxmlformats.org/drawingml/2006/main" rot="0" flipH="0" flipV="0">
            <a:off x="2010410" y="4497070"/>
            <a:ext cx="137160" cy="137160"/>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椭圆 9">
            <a:extLst xmlns:a="http://schemas.openxmlformats.org/drawingml/2006/main">
              <a:ext uri="{FF2B5EF4-FFF2-40B4-BE49-F238E27FC236}">
                <a16:creationId xmlns:a16="http://schemas.microsoft.com/office/drawing/2014/main" id="{6AE54627-0501-4B0C-B0DC-4FFB64BF3EAD}"/>
              </a:ext>
            </a:extLst>
          </p:cNvPr>
          <p:cNvSpPr>
            <a:spLocks xmlns:a="http://schemas.openxmlformats.org/drawingml/2006/main" noGrp="1"/>
          </p:cNvSpPr>
          <p:nvPr/>
        </p:nvSpPr>
        <p:spPr>
          <a:xfrm xmlns:a="http://schemas.openxmlformats.org/drawingml/2006/main" rot="0" flipH="0" flipV="0">
            <a:off x="551815" y="4257675"/>
            <a:ext cx="274955" cy="274955"/>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椭圆 11">
            <a:extLst xmlns:a="http://schemas.openxmlformats.org/drawingml/2006/main">
              <a:ext uri="{FF2B5EF4-FFF2-40B4-BE49-F238E27FC236}">
                <a16:creationId xmlns:a16="http://schemas.microsoft.com/office/drawing/2014/main" id="{2F306660-E10D-4C52-86A9-745FE3C38827}"/>
              </a:ext>
            </a:extLst>
          </p:cNvPr>
          <p:cNvSpPr>
            <a:spLocks xmlns:a="http://schemas.openxmlformats.org/drawingml/2006/main" noGrp="1"/>
          </p:cNvSpPr>
          <p:nvPr/>
        </p:nvSpPr>
        <p:spPr>
          <a:xfrm xmlns:a="http://schemas.openxmlformats.org/drawingml/2006/main" rot="0" flipH="0" flipV="0">
            <a:off x="844550" y="4300855"/>
            <a:ext cx="137160" cy="137160"/>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椭圆 29">
            <a:extLst xmlns:a="http://schemas.openxmlformats.org/drawingml/2006/main">
              <a:ext uri="{FF2B5EF4-FFF2-40B4-BE49-F238E27FC236}">
                <a16:creationId xmlns:a16="http://schemas.microsoft.com/office/drawing/2014/main" id="{41628150-582D-42BC-8D71-F738ADACC105}"/>
              </a:ext>
            </a:extLst>
          </p:cNvPr>
          <p:cNvSpPr>
            <a:spLocks xmlns:a="http://schemas.openxmlformats.org/drawingml/2006/main" noGrp="1"/>
          </p:cNvSpPr>
          <p:nvPr/>
        </p:nvSpPr>
        <p:spPr>
          <a:xfrm xmlns:a="http://schemas.openxmlformats.org/drawingml/2006/main" rot="0" flipH="0" flipV="0">
            <a:off x="2381250" y="4432300"/>
            <a:ext cx="274955" cy="274955"/>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椭圆 48">
            <a:extLst xmlns:a="http://schemas.openxmlformats.org/drawingml/2006/main">
              <a:ext uri="{FF2B5EF4-FFF2-40B4-BE49-F238E27FC236}">
                <a16:creationId xmlns:a16="http://schemas.microsoft.com/office/drawing/2014/main" id="{A000C14C-E049-4A7E-8528-B0E21FA8C8E4}"/>
              </a:ext>
            </a:extLst>
          </p:cNvPr>
          <p:cNvSpPr>
            <a:spLocks xmlns:a="http://schemas.openxmlformats.org/drawingml/2006/main" noGrp="1"/>
          </p:cNvSpPr>
          <p:nvPr/>
        </p:nvSpPr>
        <p:spPr>
          <a:xfrm xmlns:a="http://schemas.openxmlformats.org/drawingml/2006/main" rot="0" flipH="0" flipV="0">
            <a:off x="2747010" y="4070985"/>
            <a:ext cx="167005" cy="167005"/>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椭圆 49">
            <a:extLst xmlns:a="http://schemas.openxmlformats.org/drawingml/2006/main">
              <a:ext uri="{FF2B5EF4-FFF2-40B4-BE49-F238E27FC236}">
                <a16:creationId xmlns:a16="http://schemas.microsoft.com/office/drawing/2014/main" id="{E29E673D-4915-4C2A-95E5-A2554AE491BC}"/>
              </a:ext>
            </a:extLst>
          </p:cNvPr>
          <p:cNvSpPr>
            <a:spLocks xmlns:a="http://schemas.openxmlformats.org/drawingml/2006/main" noGrp="1"/>
          </p:cNvSpPr>
          <p:nvPr/>
        </p:nvSpPr>
        <p:spPr>
          <a:xfrm xmlns:a="http://schemas.openxmlformats.org/drawingml/2006/main" rot="0" flipH="0" flipV="0">
            <a:off x="2541905" y="4189095"/>
            <a:ext cx="137160" cy="137160"/>
          </a:xfrm>
          <a:prstGeom xmlns:a="http://schemas.openxmlformats.org/drawingml/2006/main" prst="ellipse">
            <a:avLst/>
          </a:prstGeom>
          <a:solidFill xmlns:a="http://schemas.openxmlformats.org/drawingml/2006/main">
            <a:srgbClr val="007CD0"/>
          </a:solidFill>
          <a:ln xmlns:a="http://schemas.openxmlformats.org/drawingml/2006/main">
            <a:noFill/>
          </a:ln>
          <a:effectLst xmlns:a="http://schemas.openxmlformats.org/drawingml/2006/main">
            <a:outerShdw blurRad="254000" dist="127000" dir="8100000" algn="tr" rotWithShape="0">
              <a:prstClr val="black">
                <a:alpha val="6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20">
            <a:extLst xmlns:a="http://schemas.openxmlformats.org/drawingml/2006/main">
              <a:ext uri="{FF2B5EF4-FFF2-40B4-BE49-F238E27FC236}">
                <a16:creationId xmlns:a16="http://schemas.microsoft.com/office/drawing/2014/main" id="{E49DA608-1C93-4DE2-A1AE-1CEC588DC86F}"/>
              </a:ext>
            </a:extLst>
          </p:cNvPr>
          <p:cNvSpPr>
            <a:spLocks xmlns:a="http://schemas.openxmlformats.org/drawingml/2006/main" noGrp="1"/>
          </p:cNvSpPr>
          <p:nvPr/>
        </p:nvSpPr>
        <p:spPr>
          <a:xfrm xmlns:a="http://schemas.openxmlformats.org/drawingml/2006/main" rot="0" flipH="0" flipV="0">
            <a:off x="839470" y="3284855"/>
            <a:ext cx="1648460" cy="5765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lvl1pPr>
              <a:lnSpc>
                <a:spcPts val="1300"/>
              </a:lnSpc>
              <a:buNone/>
              <a:defRPr sz="1000">
                <a:solidFill>
                  <a:schemeClr val="tx1">
                    <a:lumMod val="65000"/>
                    <a:lumOff val="35000"/>
                  </a:schemeClr>
                </a:solidFill>
                <a:latin typeface="微软雅黑"/>
                <a:ea typeface="微软雅黑"/>
                <a:cs typeface="微软雅黑"/>
              </a:defRPr>
            </a:lvl1pPr>
          </a:lstStyle>
          <a:p xmlns:a="http://schemas.openxmlformats.org/drawingml/2006/main">
            <a:pPr algn="ctr">
              <a:lnSpc>
                <a:spcPct val="100000"/>
              </a:lnSpc>
              <a:buNone/>
            </a:pPr>
            <a:r>
              <a:rPr sz="3750" b="1">
                <a:solidFill>
                  <a:schemeClr val="tx1"/>
                </a:solidFill>
              </a:rPr>
              <a:t>体系组</a:t>
            </a:r>
          </a:p>
        </p:txBody>
      </p:sp>
      <p:sp>
        <p:nvSpPr>
          <p:cNvPr id="17" name="Freeform 11">
            <a:extLst xmlns:a="http://schemas.openxmlformats.org/drawingml/2006/main">
              <a:ext uri="{FF2B5EF4-FFF2-40B4-BE49-F238E27FC236}">
                <a16:creationId xmlns:a16="http://schemas.microsoft.com/office/drawing/2014/main" id="{9DAF27B1-AEA3-4F5E-B176-9B351C11E545}"/>
              </a:ext>
            </a:extLst>
          </p:cNvPr>
          <p:cNvSpPr>
            <a:spLocks xmlns:a="http://schemas.openxmlformats.org/drawingml/2006/main" noGrp="1"/>
          </p:cNvSpPr>
          <p:nvPr/>
        </p:nvSpPr>
        <p:spPr>
          <a:xfrm xmlns:a="http://schemas.openxmlformats.org/drawingml/2006/main">
            <a:off x="3554572" y="5345704"/>
            <a:ext cx="920359" cy="116273"/>
          </a:xfrm>
          <a:custGeom xmlns:a="http://schemas.openxmlformats.org/drawingml/2006/main">
            <a:gdLst>
              <a:gd name="T0" fmla="*/ 111 w 1156"/>
              <a:gd name="T1" fmla="*/ 0 h 142"/>
              <a:gd name="T2" fmla="*/ 1045 w 1156"/>
              <a:gd name="T3" fmla="*/ 0 h 142"/>
              <a:gd name="T4" fmla="*/ 1156 w 1156"/>
              <a:gd name="T5" fmla="*/ 142 h 142"/>
              <a:gd name="T6" fmla="*/ 0 w 1156"/>
              <a:gd name="T7" fmla="*/ 142 h 142"/>
              <a:gd name="T8" fmla="*/ 111 w 1156"/>
              <a:gd name="T9" fmla="*/ 0 h 142"/>
            </a:gdLst>
            <a:rect l="0" t="0" r="r" b="b"/>
            <a:pathLst>
              <a:path w="1156" h="142">
                <a:moveTo>
                  <a:pt x="111" y="0"/>
                </a:moveTo>
                <a:lnTo>
                  <a:pt x="1045" y="0"/>
                </a:lnTo>
                <a:lnTo>
                  <a:pt x="1156" y="142"/>
                </a:lnTo>
                <a:lnTo>
                  <a:pt x="0" y="142"/>
                </a:lnTo>
                <a:lnTo>
                  <a:pt x="111" y="0"/>
                </a:lnTo>
                <a:close/>
              </a:path>
            </a:pathLst>
          </a:cu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18" name="Freeform 10">
            <a:extLst xmlns:a="http://schemas.openxmlformats.org/drawingml/2006/main">
              <a:ext uri="{FF2B5EF4-FFF2-40B4-BE49-F238E27FC236}">
                <a16:creationId xmlns:a16="http://schemas.microsoft.com/office/drawing/2014/main" id="{5D85D613-FCAC-439A-B383-6E0D253D18F5}"/>
              </a:ext>
            </a:extLst>
          </p:cNvPr>
          <p:cNvSpPr>
            <a:spLocks xmlns:a="http://schemas.openxmlformats.org/drawingml/2006/main" noGrp="1"/>
          </p:cNvSpPr>
          <p:nvPr/>
        </p:nvSpPr>
        <p:spPr>
          <a:xfrm xmlns:a="http://schemas.openxmlformats.org/drawingml/2006/main">
            <a:off x="3385666" y="5437228"/>
            <a:ext cx="6904333" cy="595450"/>
          </a:xfrm>
          <a:custGeom xmlns:a="http://schemas.openxmlformats.org/drawingml/2006/main">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solidFill xmlns:a="http://schemas.openxmlformats.org/drawingml/2006/main">
            <a:srgbClr val="FFFFFF"/>
          </a:solidFill>
          <a:ln xmlns:a="http://schemas.openxmlformats.org/drawingml/2006/main" w="10" cmpd="sng">
            <a:solidFill>
              <a:srgbClr val="A8A9AD"/>
            </a:solidFill>
          </a:ln>
        </p:spPr>
        <p:txBody>
          <a:bodyPr xmlns:a="http://schemas.openxmlformats.org/drawingml/2006/main"/>
          <a:lstStyle xmlns:a="http://schemas.openxmlformats.org/drawingml/2006/main"/>
          <a:p xmlns:a="http://schemas.openxmlformats.org/drawingml/2006/main">
            <a:pPr>
              <a:spcBef>
                <a:spcPct val="0"/>
              </a:spcBef>
              <a:spcAft>
                <a:spcPct val="0"/>
              </a:spcAft>
              <a:buFont typeface="Arial"/>
              <a:buNone/>
            </a:pPr>
          </a:p>
        </p:txBody>
      </p:sp>
      <p:sp>
        <p:nvSpPr>
          <p:cNvPr id="19" name="Rectangle 12">
            <a:extLst xmlns:a="http://schemas.openxmlformats.org/drawingml/2006/main">
              <a:ext uri="{FF2B5EF4-FFF2-40B4-BE49-F238E27FC236}">
                <a16:creationId xmlns:a16="http://schemas.microsoft.com/office/drawing/2014/main" id="{BFEA66AA-88FF-4EED-AB89-CA59D50A6FB5}"/>
              </a:ext>
            </a:extLst>
          </p:cNvPr>
          <p:cNvSpPr>
            <a:spLocks xmlns:a="http://schemas.openxmlformats.org/drawingml/2006/main" noGrp="1"/>
          </p:cNvSpPr>
          <p:nvPr/>
        </p:nvSpPr>
        <p:spPr>
          <a:xfrm xmlns:a="http://schemas.openxmlformats.org/drawingml/2006/main">
            <a:off x="3643105" y="5345520"/>
            <a:ext cx="696984" cy="594140"/>
          </a:xfrm>
          <a:prstGeom xmlns:a="http://schemas.openxmlformats.org/drawingml/2006/main" prst="rect">
            <a:avLst/>
          </a:prstGeom>
          <a:solidFill xmlns:a="http://schemas.openxmlformats.org/drawingml/2006/main">
            <a:srgbClr val="00B0F0"/>
          </a:solidFill>
          <a:ln xmlns:a="http://schemas.openxmlformats.org/drawingml/2006/main">
            <a:noFill/>
          </a:ln>
        </p:spPr>
        <p:txBody>
          <a:bodyPr xmlns:a="http://schemas.openxmlformats.org/drawingml/2006/main"/>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marL="0" marR="0" lvl="0" indent="0" defTabSz="914400">
              <a:lnSpc>
                <a:spcPct val="100000"/>
              </a:lnSpc>
              <a:spcBef>
                <a:spcPct val="0"/>
              </a:spcBef>
              <a:spcAft>
                <a:spcPct val="0"/>
              </a:spcAft>
              <a:buClrTx/>
              <a:buSzTx/>
              <a:buFont typeface="Arial"/>
              <a:buNone/>
            </a:pPr>
          </a:p>
        </p:txBody>
      </p:sp>
      <p:sp>
        <p:nvSpPr>
          <p:cNvPr id="31" name="TextBox 105">
            <a:extLst xmlns:a="http://schemas.openxmlformats.org/drawingml/2006/main">
              <a:ext uri="{FF2B5EF4-FFF2-40B4-BE49-F238E27FC236}">
                <a16:creationId xmlns:a16="http://schemas.microsoft.com/office/drawing/2014/main" id="{A059C1E7-22F8-498B-AE62-13BD6DBFCE85}"/>
              </a:ext>
            </a:extLst>
          </p:cNvPr>
          <p:cNvSpPr>
            <a:spLocks xmlns:a="http://schemas.openxmlformats.org/drawingml/2006/main" noGrp="1"/>
          </p:cNvSpPr>
          <p:nvPr/>
        </p:nvSpPr>
        <p:spPr>
          <a:xfrm xmlns:a="http://schemas.openxmlformats.org/drawingml/2006/main">
            <a:off x="4602667" y="5485230"/>
            <a:ext cx="5775994"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effectLst>
                  <a:outerShdw blurRad="38100" dist="19050" dir="2700000" algn="tl" rotWithShape="0">
                    <a:schemeClr val="dk1">
                      <a:alpha val="40000"/>
                    </a:schemeClr>
                  </a:outerShdw>
                </a:effectLst>
                <a:latin typeface="微软雅黑"/>
                <a:ea typeface="微软雅黑"/>
                <a:cs typeface="微软雅黑"/>
              </a:rPr>
              <a:t>其他任务项及宣贯</a:t>
            </a:r>
          </a:p>
        </p:txBody>
      </p:sp>
      <p:sp>
        <p:nvSpPr>
          <p:cNvPr id="32" name="TextBox 106">
            <a:extLst xmlns:a="http://schemas.openxmlformats.org/drawingml/2006/main">
              <a:ext uri="{FF2B5EF4-FFF2-40B4-BE49-F238E27FC236}">
                <a16:creationId xmlns:a16="http://schemas.microsoft.com/office/drawing/2014/main" id="{96ABE2A9-E750-4BD3-9960-1AF23805455A}"/>
              </a:ext>
            </a:extLst>
          </p:cNvPr>
          <p:cNvSpPr>
            <a:spLocks xmlns:a="http://schemas.openxmlformats.org/drawingml/2006/main" noGrp="1"/>
          </p:cNvSpPr>
          <p:nvPr/>
        </p:nvSpPr>
        <p:spPr>
          <a:xfrm xmlns:a="http://schemas.openxmlformats.org/drawingml/2006/main">
            <a:off x="3643005" y="5431843"/>
            <a:ext cx="503086" cy="460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spcBef>
                <a:spcPct val="0"/>
              </a:spcBef>
              <a:spcAft>
                <a:spcPct val="0"/>
              </a:spcAft>
              <a:buFont typeface="Arial"/>
              <a:buNone/>
              <a:defRPr>
                <a:solidFill>
                  <a:schemeClr val="tx1"/>
                </a:solidFill>
                <a:latin typeface="Arial"/>
                <a:ea typeface="Arial"/>
                <a:cs typeface="Arial"/>
              </a:defRPr>
            </a:lvl6pPr>
            <a:lvl7pPr marL="2971800" indent="-228600">
              <a:spcBef>
                <a:spcPct val="0"/>
              </a:spcBef>
              <a:spcAft>
                <a:spcPct val="0"/>
              </a:spcAft>
              <a:buFont typeface="Arial"/>
              <a:buNone/>
              <a:defRPr>
                <a:solidFill>
                  <a:schemeClr val="tx1"/>
                </a:solidFill>
                <a:latin typeface="Arial"/>
                <a:ea typeface="Arial"/>
                <a:cs typeface="Arial"/>
              </a:defRPr>
            </a:lvl7pPr>
            <a:lvl8pPr marL="3429000" indent="-228600">
              <a:spcBef>
                <a:spcPct val="0"/>
              </a:spcBef>
              <a:spcAft>
                <a:spcPct val="0"/>
              </a:spcAft>
              <a:buFont typeface="Arial"/>
              <a:buNone/>
              <a:defRPr>
                <a:solidFill>
                  <a:schemeClr val="tx1"/>
                </a:solidFill>
                <a:latin typeface="Arial"/>
                <a:ea typeface="Arial"/>
                <a:cs typeface="Arial"/>
              </a:defRPr>
            </a:lvl8pPr>
            <a:lvl9pPr marL="3886200" indent="-228600">
              <a:spcBef>
                <a:spcPct val="0"/>
              </a:spcBef>
              <a:spcAft>
                <a:spcPct val="0"/>
              </a:spcAft>
              <a:buFont typeface="Arial"/>
              <a:buNone/>
              <a:defRPr>
                <a:solidFill>
                  <a:schemeClr val="tx1"/>
                </a:solidFill>
                <a:latin typeface="Arial"/>
                <a:ea typeface="Arial"/>
                <a:cs typeface="Arial"/>
              </a:defRPr>
            </a:lvl9pPr>
          </a:lstStyle>
          <a:p xmlns:a="http://schemas.openxmlformats.org/drawingml/2006/main">
            <a:pPr>
              <a:spcBef>
                <a:spcPct val="0"/>
              </a:spcBef>
              <a:spcAft>
                <a:spcPct val="0"/>
              </a:spcAft>
              <a:buFont typeface="Arial"/>
              <a:buNone/>
            </a:pPr>
            <a:r>
              <a:rPr sz="2400" b="1">
                <a:solidFill>
                  <a:srgbClr val="FFFFFF"/>
                </a:solidFill>
                <a:latin typeface="微软雅黑"/>
                <a:ea typeface="微软雅黑"/>
                <a:cs typeface="微软雅黑"/>
              </a:rPr>
              <a:t>五</a:t>
            </a:r>
          </a:p>
        </p:txBody>
      </p:sp>
    </p:spTree>
    <p:extLst>
      <p:ext uri="{BB962C8B-B14F-4D97-AF65-F5344CB8AC3E}">
        <p14:creationId xmlns:p14="http://schemas.microsoft.com/office/powerpoint/2010/main" val="117289159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81AE067A-78EB-4481-89E3-E9DC6979AC10}"/>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248E3E4D-33F6-499B-8A7C-2DEE6FF3F11A}"/>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E86EAB79-09B4-452C-99D2-8ED285772350}"/>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一、</a:t>
            </a:r>
            <a:r>
              <a:rPr sz="2400" b="1">
                <a:solidFill>
                  <a:srgbClr val="0599D9">
                    <a:alpha val="100000"/>
                  </a:srgbClr>
                </a:solidFill>
              </a:rPr>
              <a:t>部门任务跟踪</a:t>
            </a:r>
          </a:p>
        </p:txBody>
      </p:sp>
      <p:sp>
        <p:nvSpPr>
          <p:cNvPr id="25" name="标题 3">
            <a:extLst xmlns:a="http://schemas.openxmlformats.org/drawingml/2006/main">
              <a:ext uri="{FF2B5EF4-FFF2-40B4-BE49-F238E27FC236}">
                <a16:creationId xmlns:a16="http://schemas.microsoft.com/office/drawing/2014/main" id="{A27EC4B3-9A4E-470A-8F42-FF41646648D5}"/>
              </a:ext>
            </a:extLst>
          </p:cNvPr>
          <p:cNvSpPr>
            <a:spLocks xmlns:a="http://schemas.openxmlformats.org/drawingml/2006/main" noGrp="1"/>
          </p:cNvSpPr>
          <p:nvPr/>
        </p:nvSpPr>
        <p:spPr>
          <a:xfrm xmlns:a="http://schemas.openxmlformats.org/drawingml/2006/main">
            <a:off x="610945" y="985952"/>
            <a:ext cx="11233248" cy="768350"/>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a:t>
            </a:r>
            <a:r>
              <a:rPr sz="2200" b="1">
                <a:solidFill>
                  <a:srgbClr val="000000"/>
                </a:solidFill>
                <a:latin typeface="微软雅黑"/>
                <a:ea typeface="微软雅黑"/>
                <a:cs typeface="微软雅黑"/>
              </a:rPr>
              <a:t>、</a:t>
            </a:r>
            <a:r>
              <a:rPr sz="2200" b="1">
                <a:solidFill>
                  <a:srgbClr val="000000"/>
                </a:solidFill>
                <a:latin typeface="微软雅黑"/>
                <a:ea typeface="微软雅黑"/>
                <a:cs typeface="微软雅黑"/>
              </a:rPr>
              <a:t>2026</a:t>
            </a:r>
            <a:r>
              <a:rPr sz="2200" b="1">
                <a:solidFill>
                  <a:srgbClr val="000000"/>
                </a:solidFill>
                <a:latin typeface="微软雅黑"/>
                <a:ea typeface="微软雅黑"/>
                <a:cs typeface="微软雅黑"/>
              </a:rPr>
              <a:t>年度工作计划书任务跟踪单</a:t>
            </a:r>
          </a:p>
          <a:p xmlns:a="http://schemas.openxmlformats.org/drawingml/2006/main">
            <a:pPr marL="0" lvl="0" indent="0">
              <a:buFont typeface="Wingdings"/>
              <a:buNone/>
            </a:pPr>
          </a:p>
        </p:txBody>
      </p:sp>
      <p:graphicFrame>
        <p:nvGraphicFramePr>
          <p:cNvPr id="31" name="表格 11"/>
          <p:cNvGraphicFramePr/>
          <p:nvPr/>
        </p:nvGraphicFramePr>
        <p:xfrm>
          <a:off xmlns:a="http://schemas.openxmlformats.org/drawingml/2006/main" x="104775" y="1926590"/>
          <a:ext xmlns:a="http://schemas.openxmlformats.org/drawingml/2006/main" cx="11820525" cy="3432810"/>
        </p:xfrm>
        <a:graphic xmlns:a="http://schemas.openxmlformats.org/drawingml/2006/main">
          <a:graphicData uri="http://schemas.openxmlformats.org/drawingml/2006/table">
            <a:tbl>
              <a:tblPr firstRow="1" bandRow="1">
                <a:tableStyleId>{5C22544A-7EE6-4342-B048-85BDC9FD1C3A}</a:tableStyleId>
              </a:tblPr>
              <a:tblGrid>
                <a:gridCol w="356870"/>
                <a:gridCol w="1379855"/>
                <a:gridCol w="5450205"/>
                <a:gridCol w="741045"/>
                <a:gridCol w="1445260"/>
                <a:gridCol w="979249"/>
                <a:gridCol w="1468041"/>
              </a:tblGrid>
              <a:tr h="356235">
                <a:tc gridSpan="7">
                  <a:txBody>
                    <a:bodyPr/>
                    <a:lstStyle/>
                    <a:p>
                      <a:pPr indent="0" algn="ctr">
                        <a:lnSpc>
                          <a:spcPct val="120000"/>
                        </a:lnSpc>
                        <a:spcBef>
                          <a:spcPts val="0"/>
                        </a:spcBef>
                        <a:spcAft>
                          <a:spcPts val="0"/>
                        </a:spcAft>
                        <a:buNone/>
                      </a:pPr>
                      <a:r>
                        <a:rPr sz="1400">
                          <a:solidFill>
                            <a:srgbClr val="FFFFFF"/>
                          </a:solidFill>
                          <a:latin typeface="微软雅黑"/>
                          <a:ea typeface="微软雅黑"/>
                          <a:cs typeface="微软雅黑"/>
                        </a:rPr>
                        <a:t>年度计划书</a:t>
                      </a:r>
                      <a:r>
                        <a:rPr sz="1400">
                          <a:solidFill>
                            <a:srgbClr val="FFFFFF"/>
                          </a:solidFill>
                          <a:latin typeface="微软雅黑"/>
                          <a:ea typeface="微软雅黑"/>
                          <a:cs typeface="微软雅黑"/>
                        </a:rPr>
                        <a:t>7</a:t>
                      </a:r>
                      <a:r>
                        <a:rPr sz="1400">
                          <a:solidFill>
                            <a:srgbClr val="FFFFFF"/>
                          </a:solidFill>
                          <a:latin typeface="微软雅黑"/>
                          <a:ea typeface="微软雅黑"/>
                          <a:cs typeface="微软雅黑"/>
                        </a:rPr>
                        <a:t>月</a:t>
                      </a:r>
                      <a:r>
                        <a:rPr sz="1400" b="1">
                          <a:solidFill>
                            <a:srgbClr val="FFFFFF"/>
                          </a:solidFill>
                          <a:latin typeface="微软雅黑"/>
                          <a:ea typeface="微软雅黑"/>
                          <a:cs typeface="微软雅黑"/>
                        </a:rPr>
                        <a:t>清单</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p>
                  </a:txBody>
                  <a:tcPr marL="91440" marR="91440" marT="45720" marB="45720"/>
                </a:tc>
                <a:tc hMerge="1">
                  <a:txBody>
                    <a:bodyPr/>
                    <a:lstStyle/>
                    <a:p>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p>
                  </a:txBody>
                  <a:tcPr marL="91440" marR="91440" marT="45720" marB="45720"/>
                </a:tc>
                <a:tc hMerge="1">
                  <a:txBody>
                    <a:bodyPr/>
                    <a:lstStyle/>
                    <a:p>
                      <a:pPr/>
                    </a:p>
                  </a:txBody>
                  <a:tcPr marL="91440" marR="91440" marT="45720" marB="45720"/>
                </a:tc>
                <a:tc hMerge="1">
                  <a:txBody>
                    <a:bodyPr/>
                    <a:lstStyle/>
                    <a:p>
                      <a:pPr/>
                    </a:p>
                  </a:txBody>
                  <a:tcPr marL="91440" marR="91440" marT="45720" marB="45720"/>
                </a:tc>
                <a:tc hMerge="1">
                  <a:txBody>
                    <a:bodyPr/>
                    <a:lstStyle/>
                    <a:p>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r>
              <a:tr h="517525">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序号</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i="0">
                          <a:solidFill>
                            <a:srgbClr val="000000"/>
                          </a:solidFill>
                          <a:latin typeface="微软雅黑"/>
                          <a:ea typeface="微软雅黑"/>
                          <a:cs typeface="微软雅黑"/>
                        </a:rPr>
                        <a:t>任务所属</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a:solidFill>
                            <a:srgbClr val="000000"/>
                          </a:solidFill>
                          <a:latin typeface="微软雅黑"/>
                          <a:ea typeface="微软雅黑"/>
                          <a:cs typeface="微软雅黑"/>
                        </a:rPr>
                        <a:t>任务内容及要求</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i="0">
                          <a:solidFill>
                            <a:srgbClr val="000000"/>
                          </a:solidFill>
                          <a:latin typeface="微软雅黑"/>
                          <a:ea typeface="微软雅黑"/>
                          <a:cs typeface="微软雅黑"/>
                        </a:rPr>
                        <a:t>责任人</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任务期限</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任务</a:t>
                      </a:r>
                      <a:r>
                        <a:rPr sz="1400" b="1">
                          <a:solidFill>
                            <a:schemeClr val="tx1"/>
                          </a:solidFill>
                          <a:latin typeface="微软雅黑"/>
                          <a:ea typeface="微软雅黑"/>
                          <a:cs typeface="微软雅黑"/>
                        </a:rPr>
                        <a:t>进展</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任务完成</a:t>
                      </a:r>
                      <a:r>
                        <a:rPr sz="1400" b="1">
                          <a:solidFill>
                            <a:schemeClr val="tx1"/>
                          </a:solidFill>
                          <a:latin typeface="微软雅黑"/>
                          <a:ea typeface="微软雅黑"/>
                          <a:cs typeface="微软雅黑"/>
                        </a:rPr>
                        <a:t>情况</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8100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1</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a:solidFill>
                            <a:srgbClr val="000000"/>
                          </a:solidFill>
                          <a:latin typeface="微软雅黑"/>
                          <a:ea typeface="微软雅黑"/>
                          <a:cs typeface="微软雅黑"/>
                        </a:rPr>
                        <a:t>年度工作计划书</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年度监督检查计划——职业健康专项监督</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韦瑞铭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2026年4月30日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FF0000"/>
                          </a:solidFill>
                          <a:latin typeface="微软雅黑"/>
                          <a:ea typeface="微软雅黑"/>
                          <a:cs typeface="微软雅黑"/>
                        </a:rPr>
                        <a:t>超期</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8100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2</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a:solidFill>
                            <a:srgbClr val="000000"/>
                          </a:solidFill>
                          <a:latin typeface="微软雅黑"/>
                          <a:ea typeface="微软雅黑"/>
                          <a:cs typeface="微软雅黑"/>
                        </a:rPr>
                        <a:t>年度工作计划书</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年度监督检查计划——班组建设专项监督</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吕育祥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2026年6月30日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FF0000"/>
                          </a:solidFill>
                          <a:latin typeface="微软雅黑"/>
                          <a:ea typeface="微软雅黑"/>
                          <a:cs typeface="微软雅黑"/>
                        </a:rPr>
                        <a:t>超期</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8100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3</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a:solidFill>
                            <a:srgbClr val="000000"/>
                          </a:solidFill>
                          <a:latin typeface="微软雅黑"/>
                          <a:ea typeface="微软雅黑"/>
                          <a:cs typeface="微软雅黑"/>
                        </a:rPr>
                        <a:t>年度工作计划</a:t>
                      </a:r>
                      <a:r>
                        <a:rPr sz="1400" b="1">
                          <a:solidFill>
                            <a:srgbClr val="000000"/>
                          </a:solidFill>
                          <a:latin typeface="微软雅黑"/>
                          <a:ea typeface="微软雅黑"/>
                          <a:cs typeface="微软雅黑"/>
                        </a:rPr>
                        <a:t>书</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年度安全培训——车辆交通专项培训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冯海浪</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2026年7月31日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本周开展</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正常期限中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7973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4</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年度监督检查计划——动火作业及消防专项检查（7月）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罗琦</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2026年7月31日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正常期限中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243205">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5</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年度监督检查计划——车辆交通与治安保卫专项检查（7月）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赵鹏飞</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2026年7月31日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正常期限中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81000">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6</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年度监督检查计划——环境保护专项监督（7月）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屈环荣</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2026年7月31日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正常期限中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79730">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7</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基坑边坡坍塌事故应急演练实战</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罗荣鑫</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2026年7月31日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正常期限中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Tree>
    <p:extLst>
      <p:ext uri="{BB962C8B-B14F-4D97-AF65-F5344CB8AC3E}">
        <p14:creationId xmlns:p14="http://schemas.microsoft.com/office/powerpoint/2010/main" val="14322330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D224ECA1-093E-4983-BB29-D75EFC8F18C5}"/>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0B6BB24B-0FA7-4913-9A97-545A3D71D38B}"/>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3BDF7F7E-DEE2-4FB5-B6EF-E48F095778DF}"/>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一、</a:t>
            </a:r>
            <a:r>
              <a:rPr sz="2400" b="1">
                <a:solidFill>
                  <a:srgbClr val="0599D9">
                    <a:alpha val="100000"/>
                  </a:srgbClr>
                </a:solidFill>
              </a:rPr>
              <a:t>部门任务跟踪</a:t>
            </a:r>
          </a:p>
        </p:txBody>
      </p:sp>
      <p:sp>
        <p:nvSpPr>
          <p:cNvPr id="25" name="标题 3">
            <a:extLst xmlns:a="http://schemas.openxmlformats.org/drawingml/2006/main">
              <a:ext uri="{FF2B5EF4-FFF2-40B4-BE49-F238E27FC236}">
                <a16:creationId xmlns:a16="http://schemas.microsoft.com/office/drawing/2014/main" id="{9E49E9EC-6E32-45DF-9260-CD0F025486FF}"/>
              </a:ext>
            </a:extLst>
          </p:cNvPr>
          <p:cNvSpPr>
            <a:spLocks xmlns:a="http://schemas.openxmlformats.org/drawingml/2006/main" noGrp="1"/>
          </p:cNvSpPr>
          <p:nvPr/>
        </p:nvSpPr>
        <p:spPr>
          <a:xfrm xmlns:a="http://schemas.openxmlformats.org/drawingml/2006/main">
            <a:off x="760805" y="1206297"/>
            <a:ext cx="11233248" cy="768350"/>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a:t>
            </a:r>
            <a:r>
              <a:rPr sz="2200" b="1">
                <a:solidFill>
                  <a:srgbClr val="000000"/>
                </a:solidFill>
                <a:latin typeface="微软雅黑"/>
                <a:ea typeface="微软雅黑"/>
                <a:cs typeface="微软雅黑"/>
              </a:rPr>
              <a:t>、</a:t>
            </a:r>
            <a:r>
              <a:rPr sz="2200" b="1">
                <a:solidFill>
                  <a:srgbClr val="000000"/>
                </a:solidFill>
                <a:latin typeface="微软雅黑"/>
                <a:ea typeface="微软雅黑"/>
                <a:cs typeface="微软雅黑"/>
              </a:rPr>
              <a:t>2026</a:t>
            </a:r>
            <a:r>
              <a:rPr sz="2200" b="1">
                <a:solidFill>
                  <a:srgbClr val="000000"/>
                </a:solidFill>
                <a:latin typeface="微软雅黑"/>
                <a:ea typeface="微软雅黑"/>
                <a:cs typeface="微软雅黑"/>
              </a:rPr>
              <a:t>年度工作计划书任务跟踪单（</a:t>
            </a:r>
            <a:r>
              <a:rPr sz="2200" b="1">
                <a:solidFill>
                  <a:srgbClr val="000000"/>
                </a:solidFill>
                <a:latin typeface="微软雅黑"/>
                <a:ea typeface="微软雅黑"/>
                <a:cs typeface="微软雅黑"/>
              </a:rPr>
              <a:t>8</a:t>
            </a:r>
            <a:r>
              <a:rPr sz="2200" b="1">
                <a:solidFill>
                  <a:srgbClr val="000000"/>
                </a:solidFill>
                <a:latin typeface="微软雅黑"/>
                <a:ea typeface="微软雅黑"/>
                <a:cs typeface="微软雅黑"/>
              </a:rPr>
              <a:t>月）</a:t>
            </a:r>
          </a:p>
          <a:p xmlns:a="http://schemas.openxmlformats.org/drawingml/2006/main">
            <a:pPr marL="0" lvl="0" indent="0">
              <a:buFont typeface="Wingdings"/>
              <a:buNone/>
            </a:pPr>
          </a:p>
        </p:txBody>
      </p:sp>
      <p:graphicFrame>
        <p:nvGraphicFramePr>
          <p:cNvPr id="31" name="表格 11"/>
          <p:cNvGraphicFramePr/>
          <p:nvPr/>
        </p:nvGraphicFramePr>
        <p:xfrm>
          <a:off xmlns:a="http://schemas.openxmlformats.org/drawingml/2006/main" x="405130" y="1761490"/>
          <a:ext xmlns:a="http://schemas.openxmlformats.org/drawingml/2006/main" cx="10923270" cy="2785110"/>
        </p:xfrm>
        <a:graphic xmlns:a="http://schemas.openxmlformats.org/drawingml/2006/main">
          <a:graphicData uri="http://schemas.openxmlformats.org/drawingml/2006/table">
            <a:tbl>
              <a:tblPr firstRow="1" bandRow="1">
                <a:tableStyleId>{5C22544A-7EE6-4342-B048-85BDC9FD1C3A}</a:tableStyleId>
              </a:tblPr>
              <a:tblGrid>
                <a:gridCol w="490959"/>
                <a:gridCol w="1315749"/>
                <a:gridCol w="5040111"/>
                <a:gridCol w="880213"/>
                <a:gridCol w="1525270"/>
                <a:gridCol w="934720"/>
                <a:gridCol w="735965"/>
              </a:tblGrid>
              <a:tr h="346075">
                <a:tc gridSpan="7">
                  <a:txBody>
                    <a:bodyPr/>
                    <a:lstStyle/>
                    <a:p>
                      <a:pPr indent="0" algn="ctr">
                        <a:lnSpc>
                          <a:spcPct val="120000"/>
                        </a:lnSpc>
                        <a:spcBef>
                          <a:spcPts val="0"/>
                        </a:spcBef>
                        <a:spcAft>
                          <a:spcPts val="0"/>
                        </a:spcAft>
                        <a:buNone/>
                      </a:pPr>
                      <a:r>
                        <a:rPr sz="1400">
                          <a:solidFill>
                            <a:srgbClr val="FFFFFF"/>
                          </a:solidFill>
                          <a:latin typeface="微软雅黑"/>
                          <a:ea typeface="微软雅黑"/>
                          <a:cs typeface="微软雅黑"/>
                        </a:rPr>
                        <a:t>年度计划书</a:t>
                      </a:r>
                      <a:r>
                        <a:rPr sz="1400">
                          <a:solidFill>
                            <a:srgbClr val="FFFFFF"/>
                          </a:solidFill>
                          <a:latin typeface="微软雅黑"/>
                          <a:ea typeface="微软雅黑"/>
                          <a:cs typeface="微软雅黑"/>
                        </a:rPr>
                        <a:t>6</a:t>
                      </a:r>
                      <a:r>
                        <a:rPr sz="1400">
                          <a:solidFill>
                            <a:srgbClr val="FFFFFF"/>
                          </a:solidFill>
                          <a:latin typeface="微软雅黑"/>
                          <a:ea typeface="微软雅黑"/>
                          <a:cs typeface="微软雅黑"/>
                        </a:rPr>
                        <a:t>月</a:t>
                      </a:r>
                      <a:r>
                        <a:rPr sz="1400" b="1">
                          <a:solidFill>
                            <a:srgbClr val="FFFFFF"/>
                          </a:solidFill>
                          <a:latin typeface="微软雅黑"/>
                          <a:ea typeface="微软雅黑"/>
                          <a:cs typeface="微软雅黑"/>
                        </a:rPr>
                        <a:t>清单</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p>
                  </a:txBody>
                  <a:tcPr marL="91440" marR="91440" marT="45720" marB="45720"/>
                </a:tc>
                <a:tc hMerge="1">
                  <a:txBody>
                    <a:bodyPr/>
                    <a:lstStyle/>
                    <a:p>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p>
                  </a:txBody>
                  <a:tcPr marL="91440" marR="91440" marT="45720" marB="45720"/>
                </a:tc>
                <a:tc hMerge="1">
                  <a:txBody>
                    <a:bodyPr/>
                    <a:lstStyle/>
                    <a:p>
                      <a:pPr/>
                    </a:p>
                  </a:txBody>
                  <a:tcPr marL="91440" marR="91440" marT="45720" marB="45720"/>
                </a:tc>
                <a:tc hMerge="1">
                  <a:txBody>
                    <a:bodyPr/>
                    <a:lstStyle/>
                    <a:p>
                      <a:pPr/>
                    </a:p>
                  </a:txBody>
                  <a:tcPr marL="91440" marR="91440" marT="45720" marB="45720"/>
                </a:tc>
                <a:tc hMerge="1">
                  <a:txBody>
                    <a:bodyPr/>
                    <a:lstStyle/>
                    <a:p>
                      <a:pPr/>
                    </a:p>
                  </a:txBody>
                  <a:tcPr marL="91440" marR="91440" marT="45720" marB="45720"/>
                </a:tc>
              </a:tr>
              <a:tr h="368935">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序号</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i="0">
                          <a:solidFill>
                            <a:srgbClr val="000000"/>
                          </a:solidFill>
                          <a:latin typeface="微软雅黑"/>
                          <a:ea typeface="微软雅黑"/>
                          <a:cs typeface="微软雅黑"/>
                        </a:rPr>
                        <a:t>任务所属</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任务内容及要求</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责任人</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完成期限</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完成情况</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chemeClr val="tx1"/>
                          </a:solidFill>
                          <a:latin typeface="微软雅黑"/>
                          <a:ea typeface="微软雅黑"/>
                          <a:cs typeface="微软雅黑"/>
                        </a:rPr>
                        <a:t>任务进展</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6830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1</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年度安全培训——治安保卫专项培训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果机吃沙</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2026年8月31日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进行中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68935">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2</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年度监督检查计划——动火作业及消防专项检查（8月）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罗琦</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2026年8月31日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进行中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68935">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3</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年度监督检查计划——施工机械及工器具专项检查（8月）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杨思远</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2026年8月31日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进行中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68935">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4</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年度监督检查计划——施工用电专项检查（8月）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罗荣鑫</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2026年8月31日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进行中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52959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5</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年度工作计划书</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年度监督检查计划——孔洞临边专项检查（8月）</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罗荣鑫</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i="0">
                          <a:solidFill>
                            <a:srgbClr val="000000"/>
                          </a:solidFill>
                          <a:latin typeface="微软雅黑"/>
                          <a:ea typeface="微软雅黑"/>
                          <a:cs typeface="微软雅黑"/>
                        </a:rPr>
                        <a:t>2026年8月31日</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000000"/>
                          </a:solidFill>
                          <a:latin typeface="微软雅黑"/>
                          <a:ea typeface="微软雅黑"/>
                          <a:cs typeface="微软雅黑"/>
                        </a:rPr>
                        <a:t>进行中</a:t>
                      </a:r>
                    </a:p>
                  </a:txBody>
                  <a:tcPr marL="9842" marR="9842" marT="9842"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Tree>
    <p:extLst>
      <p:ext uri="{BB962C8B-B14F-4D97-AF65-F5344CB8AC3E}">
        <p14:creationId xmlns:p14="http://schemas.microsoft.com/office/powerpoint/2010/main" val="27620172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95409534-8689-4E66-BD42-35D0DC7D4C33}"/>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EC0E87B6-63FF-4A32-BAA7-C3FEE9DD6680}"/>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C0BE2E23-C19B-46C6-97F8-A9CDD7DE5F2D}"/>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一、</a:t>
            </a:r>
            <a:r>
              <a:rPr sz="2400" b="1">
                <a:solidFill>
                  <a:srgbClr val="0599D9">
                    <a:alpha val="100000"/>
                  </a:srgbClr>
                </a:solidFill>
              </a:rPr>
              <a:t>部门任务跟踪</a:t>
            </a:r>
          </a:p>
        </p:txBody>
      </p:sp>
      <p:sp>
        <p:nvSpPr>
          <p:cNvPr id="25" name="标题 3">
            <a:extLst xmlns:a="http://schemas.openxmlformats.org/drawingml/2006/main">
              <a:ext uri="{FF2B5EF4-FFF2-40B4-BE49-F238E27FC236}">
                <a16:creationId xmlns:a16="http://schemas.microsoft.com/office/drawing/2014/main" id="{249F165A-AA8C-4AAE-AD48-909E7689B8AE}"/>
              </a:ext>
            </a:extLst>
          </p:cNvPr>
          <p:cNvSpPr>
            <a:spLocks xmlns:a="http://schemas.openxmlformats.org/drawingml/2006/main" noGrp="1"/>
          </p:cNvSpPr>
          <p:nvPr/>
        </p:nvSpPr>
        <p:spPr>
          <a:xfrm xmlns:a="http://schemas.openxmlformats.org/drawingml/2006/main">
            <a:off x="93420" y="1535227"/>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a:t>
            </a:r>
            <a:r>
              <a:rPr sz="2200" b="1">
                <a:solidFill>
                  <a:srgbClr val="000000"/>
                </a:solidFill>
                <a:latin typeface="微软雅黑"/>
                <a:ea typeface="微软雅黑"/>
                <a:cs typeface="微软雅黑"/>
              </a:rPr>
              <a:t>、部门周会任务</a:t>
            </a:r>
            <a:r>
              <a:rPr sz="2200" b="1">
                <a:solidFill>
                  <a:srgbClr val="000000"/>
                </a:solidFill>
                <a:latin typeface="微软雅黑"/>
                <a:ea typeface="微软雅黑"/>
                <a:cs typeface="微软雅黑"/>
              </a:rPr>
              <a:t>跟踪单</a:t>
            </a:r>
          </a:p>
        </p:txBody>
      </p:sp>
      <p:graphicFrame>
        <p:nvGraphicFramePr>
          <p:cNvPr id="31" name="表格 11"/>
          <p:cNvGraphicFramePr/>
          <p:nvPr/>
        </p:nvGraphicFramePr>
        <p:xfrm>
          <a:off xmlns:a="http://schemas.openxmlformats.org/drawingml/2006/main" x="93345" y="1535430"/>
          <a:ext xmlns:a="http://schemas.openxmlformats.org/drawingml/2006/main" cx="12016105" cy="4726305"/>
        </p:xfrm>
        <a:graphic xmlns:a="http://schemas.openxmlformats.org/drawingml/2006/main">
          <a:graphicData uri="http://schemas.openxmlformats.org/drawingml/2006/table">
            <a:tbl>
              <a:tblPr firstRow="1" bandRow="1">
                <a:tableStyleId>{5C22544A-7EE6-4342-B048-85BDC9FD1C3A}</a:tableStyleId>
              </a:tblPr>
              <a:tblGrid>
                <a:gridCol w="551815"/>
                <a:gridCol w="1280795"/>
                <a:gridCol w="5069840"/>
                <a:gridCol w="1203325"/>
                <a:gridCol w="1244600"/>
                <a:gridCol w="1455420"/>
                <a:gridCol w="1210310"/>
              </a:tblGrid>
              <a:tr h="268605">
                <a:tc gridSpan="7">
                  <a:txBody>
                    <a:bodyPr/>
                    <a:lstStyle/>
                    <a:p>
                      <a:pPr indent="0" algn="ctr">
                        <a:lnSpc>
                          <a:spcPct val="120000"/>
                        </a:lnSpc>
                        <a:spcBef>
                          <a:spcPts val="0"/>
                        </a:spcBef>
                        <a:spcAft>
                          <a:spcPts val="0"/>
                        </a:spcAft>
                        <a:buNone/>
                      </a:pPr>
                      <a:r>
                        <a:rPr sz="1400" b="0">
                          <a:solidFill>
                            <a:srgbClr val="FFFFFF"/>
                          </a:solidFill>
                          <a:latin typeface="微软雅黑"/>
                          <a:ea typeface="微软雅黑"/>
                          <a:cs typeface="微软雅黑"/>
                        </a:rPr>
                        <a:t>部门会议任务</a:t>
                      </a:r>
                      <a:r>
                        <a:rPr sz="1400" b="0">
                          <a:solidFill>
                            <a:srgbClr val="FFFFFF"/>
                          </a:solidFill>
                          <a:latin typeface="微软雅黑"/>
                          <a:ea typeface="微软雅黑"/>
                          <a:cs typeface="微软雅黑"/>
                        </a:rPr>
                        <a:t>跟踪</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p>
                  </a:txBody>
                  <a:tcPr marL="91440" marR="91440" marT="45720" marB="45720"/>
                </a:tc>
                <a:tc hMerge="1">
                  <a:txBody>
                    <a:bodyPr/>
                    <a:lstStyle/>
                    <a:p>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p>
                  </a:txBody>
                  <a:tcPr marL="91440" marR="91440" marT="45720" marB="45720"/>
                </a:tc>
                <a:tc hMerge="1">
                  <a:txBody>
                    <a:bodyPr/>
                    <a:lstStyle/>
                    <a:p>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hMerge="1">
                  <a:txBody>
                    <a:bodyPr/>
                    <a:lstStyle/>
                    <a:p>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r>
              <a:tr h="252730">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序号</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任务来源</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任务内容及要求</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责任人</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任务期限</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任务进展</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任务完成情况</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1</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部门</a:t>
                      </a:r>
                      <a:r>
                        <a:rPr sz="1400" b="1" i="0">
                          <a:solidFill>
                            <a:srgbClr val="000000"/>
                          </a:solidFill>
                          <a:latin typeface="微软雅黑"/>
                          <a:ea typeface="微软雅黑"/>
                          <a:cs typeface="微软雅黑"/>
                        </a:rPr>
                        <a:t>任务跟踪</a:t>
                      </a: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安全教育示范区加快推进，确定展示位置及实施方案</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果机吃沙</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7</a:t>
                      </a:r>
                      <a:r>
                        <a:rPr sz="1400" b="1" i="0">
                          <a:solidFill>
                            <a:srgbClr val="000000"/>
                          </a:solidFill>
                          <a:latin typeface="微软雅黑"/>
                          <a:ea typeface="微软雅黑"/>
                          <a:cs typeface="微软雅黑"/>
                        </a:rPr>
                        <a:t>月</a:t>
                      </a:r>
                      <a:r>
                        <a:rPr sz="1400" b="1" i="0">
                          <a:solidFill>
                            <a:srgbClr val="000000"/>
                          </a:solidFill>
                          <a:latin typeface="微软雅黑"/>
                          <a:ea typeface="微软雅黑"/>
                          <a:cs typeface="微软雅黑"/>
                        </a:rPr>
                        <a:t>24</a:t>
                      </a:r>
                      <a:r>
                        <a:rPr sz="1400" b="1" i="0">
                          <a:solidFill>
                            <a:srgbClr val="000000"/>
                          </a:solidFill>
                          <a:latin typeface="微软雅黑"/>
                          <a:ea typeface="微软雅黑"/>
                          <a:cs typeface="微软雅黑"/>
                        </a:rPr>
                        <a:t>日</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临期</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2</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部门任务跟踪</a:t>
                      </a: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跟踪</a:t>
                      </a:r>
                      <a:r>
                        <a:rPr sz="1400" b="1" i="0">
                          <a:solidFill>
                            <a:srgbClr val="000000"/>
                          </a:solidFill>
                          <a:latin typeface="微软雅黑"/>
                          <a:ea typeface="微软雅黑"/>
                          <a:cs typeface="微软雅黑"/>
                        </a:rPr>
                        <a:t>库房集装箱内货架和门牌的制作</a:t>
                      </a:r>
                      <a:r>
                        <a:rPr sz="1400" b="1" i="0">
                          <a:solidFill>
                            <a:srgbClr val="000000"/>
                          </a:solidFill>
                          <a:latin typeface="微软雅黑"/>
                          <a:ea typeface="微软雅黑"/>
                          <a:cs typeface="微软雅黑"/>
                        </a:rPr>
                        <a:t>安装</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果机吃沙</a:t>
                      </a:r>
                    </a:p>
                    <a:p>
                      <a:pPr algn="ctr">
                        <a:buClrTx/>
                        <a:buSzTx/>
                        <a:buFontTx/>
                        <a:buNone/>
                      </a:pPr>
                      <a:r>
                        <a:rPr sz="1400" b="1" i="0">
                          <a:solidFill>
                            <a:srgbClr val="000000"/>
                          </a:solidFill>
                          <a:latin typeface="微软雅黑"/>
                          <a:ea typeface="微软雅黑"/>
                          <a:cs typeface="微软雅黑"/>
                        </a:rPr>
                        <a:t>龚天顺</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8</a:t>
                      </a:r>
                      <a:r>
                        <a:rPr sz="1400" b="1" i="0">
                          <a:solidFill>
                            <a:srgbClr val="000000"/>
                          </a:solidFill>
                          <a:latin typeface="微软雅黑"/>
                          <a:ea typeface="微软雅黑"/>
                          <a:cs typeface="微软雅黑"/>
                        </a:rPr>
                        <a:t>月</a:t>
                      </a:r>
                      <a:r>
                        <a:rPr sz="1400" b="1" i="0">
                          <a:solidFill>
                            <a:srgbClr val="000000"/>
                          </a:solidFill>
                          <a:latin typeface="微软雅黑"/>
                          <a:ea typeface="微软雅黑"/>
                          <a:cs typeface="微软雅黑"/>
                        </a:rPr>
                        <a:t>1</a:t>
                      </a:r>
                      <a:r>
                        <a:rPr sz="1400" b="1" i="0">
                          <a:solidFill>
                            <a:srgbClr val="000000"/>
                          </a:solidFill>
                          <a:latin typeface="微软雅黑"/>
                          <a:ea typeface="微软雅黑"/>
                          <a:cs typeface="微软雅黑"/>
                        </a:rPr>
                        <a:t>日</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正常进展</a:t>
                      </a:r>
                      <a:r>
                        <a:rPr sz="1400" b="1">
                          <a:solidFill>
                            <a:srgbClr val="000000"/>
                          </a:solidFill>
                          <a:latin typeface="微软雅黑"/>
                          <a:ea typeface="微软雅黑"/>
                          <a:cs typeface="微软雅黑"/>
                        </a:rPr>
                        <a:t>中</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3</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部门任务跟踪</a:t>
                      </a: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人车分流</a:t>
                      </a:r>
                      <a:r>
                        <a:rPr sz="1400" b="1" i="0">
                          <a:solidFill>
                            <a:srgbClr val="000000"/>
                          </a:solidFill>
                          <a:latin typeface="微软雅黑"/>
                          <a:ea typeface="微软雅黑"/>
                          <a:cs typeface="微软雅黑"/>
                        </a:rPr>
                        <a:t>划线和停车位</a:t>
                      </a:r>
                      <a:r>
                        <a:rPr sz="1400" b="1" i="0">
                          <a:solidFill>
                            <a:srgbClr val="000000"/>
                          </a:solidFill>
                          <a:latin typeface="微软雅黑"/>
                          <a:ea typeface="微软雅黑"/>
                          <a:cs typeface="微软雅黑"/>
                        </a:rPr>
                        <a:t>划线</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果机吃沙</a:t>
                      </a:r>
                    </a:p>
                    <a:p>
                      <a:pPr algn="ctr">
                        <a:buClrTx/>
                        <a:buSzTx/>
                        <a:buFontTx/>
                        <a:buNone/>
                      </a:pPr>
                      <a:r>
                        <a:rPr sz="1400" b="1" i="0">
                          <a:solidFill>
                            <a:srgbClr val="000000"/>
                          </a:solidFill>
                          <a:latin typeface="微软雅黑"/>
                          <a:ea typeface="微软雅黑"/>
                          <a:cs typeface="微软雅黑"/>
                        </a:rPr>
                        <a:t>龚天顺</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7</a:t>
                      </a:r>
                      <a:r>
                        <a:rPr sz="1400" b="1" i="0">
                          <a:solidFill>
                            <a:srgbClr val="000000"/>
                          </a:solidFill>
                          <a:latin typeface="微软雅黑"/>
                          <a:ea typeface="微软雅黑"/>
                          <a:cs typeface="微软雅黑"/>
                        </a:rPr>
                        <a:t>月</a:t>
                      </a:r>
                      <a:r>
                        <a:rPr sz="1400" b="1" i="0">
                          <a:solidFill>
                            <a:srgbClr val="000000"/>
                          </a:solidFill>
                          <a:latin typeface="微软雅黑"/>
                          <a:ea typeface="微软雅黑"/>
                          <a:cs typeface="微软雅黑"/>
                        </a:rPr>
                        <a:t>24</a:t>
                      </a:r>
                      <a:r>
                        <a:rPr sz="1400" b="1" i="0">
                          <a:solidFill>
                            <a:srgbClr val="000000"/>
                          </a:solidFill>
                          <a:latin typeface="微软雅黑"/>
                          <a:ea typeface="微软雅黑"/>
                          <a:cs typeface="微软雅黑"/>
                        </a:rPr>
                        <a:t>日</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临期</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4</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部门任务跟踪</a:t>
                      </a: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落实网格化钉钉打卡和扫码，汇总</a:t>
                      </a:r>
                      <a:r>
                        <a:rPr sz="1400" b="1" i="0">
                          <a:solidFill>
                            <a:srgbClr val="000000"/>
                          </a:solidFill>
                          <a:latin typeface="微软雅黑"/>
                          <a:ea typeface="微软雅黑"/>
                          <a:cs typeface="微软雅黑"/>
                        </a:rPr>
                        <a:t>名单，各区域任务网格化</a:t>
                      </a:r>
                      <a:r>
                        <a:rPr sz="1400" b="1" i="0">
                          <a:solidFill>
                            <a:srgbClr val="000000"/>
                          </a:solidFill>
                          <a:latin typeface="微软雅黑"/>
                          <a:ea typeface="微软雅黑"/>
                          <a:cs typeface="微软雅黑"/>
                        </a:rPr>
                        <a:t>推进</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果机吃沙</a:t>
                      </a:r>
                    </a:p>
                    <a:p>
                      <a:pPr algn="ctr">
                        <a:buClrTx/>
                        <a:buSzTx/>
                        <a:buFontTx/>
                        <a:buNone/>
                      </a:pPr>
                      <a:r>
                        <a:rPr sz="1400" b="1" i="0">
                          <a:solidFill>
                            <a:srgbClr val="000000"/>
                          </a:solidFill>
                          <a:latin typeface="微软雅黑"/>
                          <a:ea typeface="微软雅黑"/>
                          <a:cs typeface="微软雅黑"/>
                        </a:rPr>
                        <a:t>龚天顺</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7</a:t>
                      </a:r>
                      <a:r>
                        <a:rPr sz="1400" b="1" i="0">
                          <a:solidFill>
                            <a:srgbClr val="000000"/>
                          </a:solidFill>
                          <a:latin typeface="微软雅黑"/>
                          <a:ea typeface="微软雅黑"/>
                          <a:cs typeface="微软雅黑"/>
                        </a:rPr>
                        <a:t>月</a:t>
                      </a:r>
                      <a:r>
                        <a:rPr sz="1400" b="1" i="0">
                          <a:solidFill>
                            <a:srgbClr val="000000"/>
                          </a:solidFill>
                          <a:latin typeface="微软雅黑"/>
                          <a:ea typeface="微软雅黑"/>
                          <a:cs typeface="微软雅黑"/>
                        </a:rPr>
                        <a:t>19</a:t>
                      </a:r>
                      <a:r>
                        <a:rPr sz="1400" b="1" i="0">
                          <a:solidFill>
                            <a:srgbClr val="000000"/>
                          </a:solidFill>
                          <a:latin typeface="微软雅黑"/>
                          <a:ea typeface="微软雅黑"/>
                          <a:cs typeface="微软雅黑"/>
                        </a:rPr>
                        <a:t>日</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已完成</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已完成</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417830">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5</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a:solidFill>
                            <a:srgbClr val="000000"/>
                          </a:solidFill>
                          <a:latin typeface="微软雅黑"/>
                          <a:ea typeface="微软雅黑"/>
                          <a:cs typeface="微软雅黑"/>
                        </a:rPr>
                        <a:t>部门任务跟踪</a:t>
                      </a:r>
                    </a:p>
                  </a:txBody>
                  <a:tcPr marL="63817" marR="63817" marT="57467" marB="57467"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按防爆要求加装防爆灯和防爆风扇</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果机吃沙</a:t>
                      </a:r>
                    </a:p>
                    <a:p>
                      <a:pPr algn="ctr">
                        <a:buClrTx/>
                        <a:buSzTx/>
                        <a:buFontTx/>
                        <a:buNone/>
                      </a:pPr>
                      <a:r>
                        <a:rPr sz="1400" b="1" i="0">
                          <a:solidFill>
                            <a:srgbClr val="000000"/>
                          </a:solidFill>
                          <a:latin typeface="微软雅黑"/>
                          <a:ea typeface="微软雅黑"/>
                          <a:cs typeface="微软雅黑"/>
                        </a:rPr>
                        <a:t>龚天顺</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ClrTx/>
                        <a:buSzTx/>
                        <a:buFontTx/>
                        <a:buNone/>
                      </a:pPr>
                      <a:r>
                        <a:rPr sz="1400" b="1" i="0">
                          <a:solidFill>
                            <a:srgbClr val="000000"/>
                          </a:solidFill>
                          <a:latin typeface="微软雅黑"/>
                          <a:ea typeface="微软雅黑"/>
                          <a:cs typeface="微软雅黑"/>
                        </a:rPr>
                        <a:t>8</a:t>
                      </a:r>
                      <a:r>
                        <a:rPr sz="1400" b="1" i="0">
                          <a:solidFill>
                            <a:srgbClr val="000000"/>
                          </a:solidFill>
                          <a:latin typeface="微软雅黑"/>
                          <a:ea typeface="微软雅黑"/>
                          <a:cs typeface="微软雅黑"/>
                        </a:rPr>
                        <a:t>月</a:t>
                      </a:r>
                      <a:r>
                        <a:rPr sz="1400" b="1" i="0">
                          <a:solidFill>
                            <a:srgbClr val="000000"/>
                          </a:solidFill>
                          <a:latin typeface="微软雅黑"/>
                          <a:ea typeface="微软雅黑"/>
                          <a:cs typeface="微软雅黑"/>
                        </a:rPr>
                        <a:t>8</a:t>
                      </a:r>
                      <a:r>
                        <a:rPr sz="1400" b="1" i="0">
                          <a:solidFill>
                            <a:srgbClr val="000000"/>
                          </a:solidFill>
                          <a:latin typeface="微软雅黑"/>
                          <a:ea typeface="微软雅黑"/>
                          <a:cs typeface="微软雅黑"/>
                        </a:rPr>
                        <a:t>日</a:t>
                      </a:r>
                    </a:p>
                  </a:txBody>
                  <a:tcPr marL="6667" marR="6667" marT="666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正常进展</a:t>
                      </a:r>
                      <a:r>
                        <a:rPr sz="1400" b="1">
                          <a:solidFill>
                            <a:srgbClr val="000000"/>
                          </a:solidFill>
                          <a:latin typeface="微软雅黑"/>
                          <a:ea typeface="微软雅黑"/>
                          <a:cs typeface="微软雅黑"/>
                        </a:rPr>
                        <a:t>中</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Tree>
    <p:extLst>
      <p:ext uri="{BB962C8B-B14F-4D97-AF65-F5344CB8AC3E}">
        <p14:creationId xmlns:p14="http://schemas.microsoft.com/office/powerpoint/2010/main" val="153066245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69214C33-1EA3-4B79-B5FA-9EE2EA97A005}"/>
              </a:ext>
            </a:extLst>
          </p:cNvPr>
          <p:cNvSpPr>
            <a:spLocks xmlns:a="http://schemas.openxmlformats.org/drawingml/2006/main" noGrp="1"/>
          </p:cNvSpPr>
          <p:nvPr/>
        </p:nvSpPr>
        <p:spPr>
          <a:xfrm xmlns:a="http://schemas.openxmlformats.org/drawingml/2006/main" rot="0" flipH="0" flipV="0">
            <a:off x="208280"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7550243D-AEB0-4EC2-83E0-3111D5FC8491}"/>
              </a:ext>
            </a:extLst>
          </p:cNvPr>
          <p:cNvSpPr>
            <a:spLocks xmlns:a="http://schemas.openxmlformats.org/drawingml/2006/main" noGrp="1"/>
          </p:cNvSpPr>
          <p:nvPr/>
        </p:nvSpPr>
        <p:spPr>
          <a:xfrm xmlns:a="http://schemas.openxmlformats.org/drawingml/2006/main" rot="0" flipH="0" flipV="1">
            <a:off x="723265"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70C99148-4FAC-4D73-AE3F-B044715CEC6A}"/>
              </a:ext>
            </a:extLst>
          </p:cNvPr>
          <p:cNvSpPr>
            <a:spLocks xmlns:a="http://schemas.openxmlformats.org/drawingml/2006/main" noGrp="1"/>
          </p:cNvSpPr>
          <p:nvPr/>
        </p:nvSpPr>
        <p:spPr>
          <a:xfrm xmlns:a="http://schemas.openxmlformats.org/drawingml/2006/main" rot="0" flipH="0" flipV="0">
            <a:off x="715010"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一、</a:t>
            </a:r>
            <a:r>
              <a:rPr sz="2400" b="1">
                <a:solidFill>
                  <a:srgbClr val="0599D9">
                    <a:alpha val="100000"/>
                  </a:srgbClr>
                </a:solidFill>
              </a:rPr>
              <a:t>部门任务跟踪</a:t>
            </a:r>
          </a:p>
        </p:txBody>
      </p:sp>
      <p:sp>
        <p:nvSpPr>
          <p:cNvPr id="25" name="标题 3">
            <a:extLst xmlns:a="http://schemas.openxmlformats.org/drawingml/2006/main">
              <a:ext uri="{FF2B5EF4-FFF2-40B4-BE49-F238E27FC236}">
                <a16:creationId xmlns:a16="http://schemas.microsoft.com/office/drawing/2014/main" id="{52B7C175-BDCF-495B-A34C-7740C59E575E}"/>
              </a:ext>
            </a:extLst>
          </p:cNvPr>
          <p:cNvSpPr>
            <a:spLocks xmlns:a="http://schemas.openxmlformats.org/drawingml/2006/main" noGrp="1"/>
          </p:cNvSpPr>
          <p:nvPr/>
        </p:nvSpPr>
        <p:spPr>
          <a:xfrm xmlns:a="http://schemas.openxmlformats.org/drawingml/2006/main">
            <a:off x="695400" y="1095807"/>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2</a:t>
            </a:r>
            <a:r>
              <a:rPr sz="2200" b="1">
                <a:solidFill>
                  <a:srgbClr val="000000"/>
                </a:solidFill>
                <a:latin typeface="微软雅黑"/>
                <a:ea typeface="微软雅黑"/>
                <a:cs typeface="微软雅黑"/>
              </a:rPr>
              <a:t>、各区域材料提交情况（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p>
        </p:txBody>
      </p:sp>
      <p:graphicFrame>
        <p:nvGraphicFramePr>
          <p:cNvPr id="31" name="表格 3"/>
          <p:cNvGraphicFramePr/>
          <p:nvPr/>
        </p:nvGraphicFramePr>
        <p:xfrm>
          <a:off xmlns:a="http://schemas.openxmlformats.org/drawingml/2006/main" x="702945" y="1525905"/>
          <a:ext xmlns:a="http://schemas.openxmlformats.org/drawingml/2006/main" cx="10460990" cy="4163060"/>
        </p:xfrm>
        <a:graphic xmlns:a="http://schemas.openxmlformats.org/drawingml/2006/main">
          <a:graphicData uri="http://schemas.openxmlformats.org/drawingml/2006/table">
            <a:tbl>
              <a:tblPr firstRow="1" bandRow="1">
                <a:tableStyleId>{5940675A-B579-460E-94D1-54222C63F5DA}</a:tableStyleId>
              </a:tblPr>
              <a:tblGrid>
                <a:gridCol w="1370965"/>
                <a:gridCol w="2583180"/>
                <a:gridCol w="1445260"/>
                <a:gridCol w="1653540"/>
                <a:gridCol w="1696720"/>
                <a:gridCol w="1711325"/>
              </a:tblGrid>
              <a:tr h="697230">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序号</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内容</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现场</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临建区</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大件</a:t>
                      </a:r>
                      <a:r>
                        <a:rPr sz="2000" b="1">
                          <a:solidFill>
                            <a:srgbClr val="FFFFFF"/>
                          </a:solidFill>
                          <a:latin typeface="微软雅黑"/>
                          <a:ea typeface="微软雅黑"/>
                          <a:cs typeface="微软雅黑"/>
                        </a:rPr>
                        <a:t>库</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合计</a:t>
                      </a:r>
                    </a:p>
                  </a:txBody>
                  <a:tcPr marL="177800" marR="177800" marT="6350" marB="6350" anchor="ctr">
                    <a:solidFill>
                      <a:srgbClr val="00B0F0"/>
                    </a:solidFill>
                  </a:tcPr>
                </a:tc>
              </a:tr>
              <a:tr h="639445">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1</a:t>
                      </a:r>
                    </a:p>
                  </a:txBody>
                  <a:tcPr marL="177800" marR="177800" marT="6350" marB="6350" anchor="ctr"/>
                </a:tc>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行为</a:t>
                      </a:r>
                      <a:r>
                        <a:rPr sz="1800" b="1">
                          <a:solidFill>
                            <a:schemeClr val="tx1"/>
                          </a:solidFill>
                          <a:latin typeface="微软雅黑"/>
                          <a:ea typeface="微软雅黑"/>
                          <a:cs typeface="微软雅黑"/>
                        </a:rPr>
                        <a:t>纠偏培训</a:t>
                      </a:r>
                    </a:p>
                  </a:txBody>
                  <a:tcPr marL="177800" marR="177800" marT="6350" marB="6350" anchor="ctr"/>
                </a:tc>
                <a:tc>
                  <a:txBody>
                    <a:bodyPr/>
                    <a:lstStyle/>
                    <a:p>
                      <a:pPr algn="ctr">
                        <a:buNone/>
                      </a:pPr>
                      <a:r>
                        <a:rPr sz="1600" b="1">
                          <a:solidFill>
                            <a:schemeClr val="tx1"/>
                          </a:solidFill>
                          <a:latin typeface="微软雅黑"/>
                          <a:ea typeface="微软雅黑"/>
                          <a:cs typeface="微软雅黑"/>
                        </a:rPr>
                        <a:t>13</a:t>
                      </a:r>
                    </a:p>
                  </a:txBody>
                  <a:tcPr marL="91440" marR="91440" marT="45720" marB="45720" anchor="ctr" anchorCtr="0"/>
                </a:tc>
                <a:tc>
                  <a:txBody>
                    <a:bodyPr/>
                    <a:lstStyle/>
                    <a:p>
                      <a:pPr algn="ctr">
                        <a:buNone/>
                      </a:pPr>
                    </a:p>
                  </a:txBody>
                  <a:tcPr marL="91440" marR="91440" marT="45720" marB="45720" anchor="ctr" anchorCtr="0"/>
                </a:tc>
                <a:tc>
                  <a:txBody>
                    <a:bodyPr/>
                    <a:lstStyle/>
                    <a:p>
                      <a:pPr algn="ctr">
                        <a:buNone/>
                      </a:pPr>
                      <a:r>
                        <a:rPr sz="1600" b="1">
                          <a:solidFill>
                            <a:schemeClr val="tx1"/>
                          </a:solidFill>
                          <a:latin typeface="微软雅黑"/>
                          <a:ea typeface="微软雅黑"/>
                          <a:cs typeface="微软雅黑"/>
                        </a:rPr>
                        <a:t>0</a:t>
                      </a:r>
                    </a:p>
                  </a:txBody>
                  <a:tcPr marL="91440" marR="91440" marT="45720" marB="45720" anchor="ctr" anchorCtr="0"/>
                </a:tc>
                <a:tc>
                  <a:txBody>
                    <a:bodyPr/>
                    <a:lstStyle/>
                    <a:p>
                      <a:pPr algn="ctr">
                        <a:buNone/>
                      </a:pPr>
                    </a:p>
                  </a:txBody>
                  <a:tcPr marL="91440" marR="91440" marT="45720" marB="45720" anchor="ctr" anchorCtr="0"/>
                </a:tc>
              </a:tr>
              <a:tr h="594995">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2</a:t>
                      </a:r>
                    </a:p>
                  </a:txBody>
                  <a:tcPr marL="177800" marR="177800" marT="6350" marB="6350" anchor="ctr"/>
                </a:tc>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早班会检查表</a:t>
                      </a:r>
                    </a:p>
                  </a:txBody>
                  <a:tcPr marL="177800" marR="177800" marT="6350" marB="6350" anchor="ctr"/>
                </a:tc>
                <a:tc>
                  <a:txBody>
                    <a:bodyPr/>
                    <a:lstStyle/>
                    <a:p>
                      <a:pPr algn="ctr">
                        <a:buNone/>
                      </a:pPr>
                      <a:r>
                        <a:rPr sz="1600" b="1">
                          <a:latin typeface="微软雅黑"/>
                          <a:ea typeface="微软雅黑"/>
                          <a:cs typeface="微软雅黑"/>
                        </a:rPr>
                        <a:t>7</a:t>
                      </a:r>
                    </a:p>
                  </a:txBody>
                  <a:tcPr marL="91440" marR="91440" marT="45720" marB="45720" anchor="ctr" anchorCtr="0"/>
                </a:tc>
                <a:tc>
                  <a:txBody>
                    <a:bodyPr/>
                    <a:lstStyle/>
                    <a:p>
                      <a:pPr algn="ctr">
                        <a:buNone/>
                      </a:pPr>
                    </a:p>
                  </a:txBody>
                  <a:tcPr marL="91440" marR="91440" marT="45720" marB="45720" anchor="ctr" anchorCtr="0"/>
                </a:tc>
                <a:tc>
                  <a:txBody>
                    <a:bodyPr/>
                    <a:lstStyle/>
                    <a:p>
                      <a:pPr algn="ctr">
                        <a:buNone/>
                      </a:pPr>
                      <a:r>
                        <a:rPr sz="1600" b="1">
                          <a:latin typeface="微软雅黑"/>
                          <a:ea typeface="微软雅黑"/>
                          <a:cs typeface="微软雅黑"/>
                        </a:rPr>
                        <a:t>4</a:t>
                      </a:r>
                    </a:p>
                  </a:txBody>
                  <a:tcPr marL="91440" marR="91440" marT="45720" marB="45720" anchor="ctr" anchorCtr="0"/>
                </a:tc>
                <a:tc>
                  <a:txBody>
                    <a:bodyPr/>
                    <a:lstStyle/>
                    <a:p>
                      <a:pPr algn="ctr">
                        <a:buNone/>
                      </a:pPr>
                    </a:p>
                  </a:txBody>
                  <a:tcPr marL="91440" marR="91440" marT="45720" marB="45720" anchor="ctr" anchorCtr="0"/>
                </a:tc>
              </a:tr>
              <a:tr h="579120">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3</a:t>
                      </a:r>
                    </a:p>
                  </a:txBody>
                  <a:tcPr marL="177800" marR="177800" marT="6350" marB="6350" anchor="ctr"/>
                </a:tc>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施工方案检查</a:t>
                      </a:r>
                    </a:p>
                  </a:txBody>
                  <a:tcPr marL="177800" marR="177800" marT="6350" marB="6350" anchor="ctr"/>
                </a:tc>
                <a:tc>
                  <a:txBody>
                    <a:bodyPr/>
                    <a:lstStyle/>
                    <a:p>
                      <a:pPr algn="ctr">
                        <a:buNone/>
                      </a:pPr>
                      <a:r>
                        <a:rPr sz="1600" b="1">
                          <a:solidFill>
                            <a:schemeClr val="tx1"/>
                          </a:solidFill>
                          <a:latin typeface="微软雅黑"/>
                          <a:ea typeface="微软雅黑"/>
                          <a:cs typeface="微软雅黑"/>
                        </a:rPr>
                        <a:t>2</a:t>
                      </a:r>
                    </a:p>
                  </a:txBody>
                  <a:tcPr marL="91440" marR="91440" marT="45720" marB="45720" anchor="ctr" anchorCtr="0"/>
                </a:tc>
                <a:tc>
                  <a:txBody>
                    <a:bodyPr/>
                    <a:lstStyle/>
                    <a:p>
                      <a:pPr algn="ctr">
                        <a:buNone/>
                      </a:pPr>
                    </a:p>
                  </a:txBody>
                  <a:tcPr marL="91440" marR="91440" marT="45720" marB="45720" anchor="ctr" anchorCtr="0"/>
                </a:tc>
                <a:tc>
                  <a:txBody>
                    <a:bodyPr/>
                    <a:lstStyle/>
                    <a:p>
                      <a:pPr algn="ctr">
                        <a:buNone/>
                      </a:pPr>
                      <a:r>
                        <a:rPr sz="1600" b="1">
                          <a:solidFill>
                            <a:schemeClr val="tx1"/>
                          </a:solidFill>
                          <a:latin typeface="微软雅黑"/>
                          <a:ea typeface="微软雅黑"/>
                          <a:cs typeface="微软雅黑"/>
                        </a:rPr>
                        <a:t>0</a:t>
                      </a:r>
                    </a:p>
                  </a:txBody>
                  <a:tcPr marL="91440" marR="91440" marT="45720" marB="45720" anchor="ctr" anchorCtr="0"/>
                </a:tc>
                <a:tc>
                  <a:txBody>
                    <a:bodyPr/>
                    <a:lstStyle/>
                    <a:p>
                      <a:pPr algn="ctr">
                        <a:buNone/>
                      </a:pPr>
                    </a:p>
                  </a:txBody>
                  <a:tcPr marL="91440" marR="91440" marT="45720" marB="45720" anchor="ctr" anchorCtr="0"/>
                </a:tc>
              </a:tr>
              <a:tr h="673735">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4</a:t>
                      </a:r>
                    </a:p>
                  </a:txBody>
                  <a:tcPr marL="177800" marR="177800" marT="6350" marB="6350" anchor="ctr"/>
                </a:tc>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边坡检查表</a:t>
                      </a:r>
                    </a:p>
                  </a:txBody>
                  <a:tcPr marL="177800" marR="177800" marT="6350" marB="6350" anchor="ctr"/>
                </a:tc>
                <a:tc>
                  <a:txBody>
                    <a:bodyPr/>
                    <a:lstStyle/>
                    <a:p>
                      <a:pPr algn="ctr">
                        <a:buNone/>
                      </a:pPr>
                      <a:r>
                        <a:rPr sz="1600" b="1">
                          <a:solidFill>
                            <a:schemeClr val="tx1"/>
                          </a:solidFill>
                          <a:latin typeface="微软雅黑"/>
                          <a:ea typeface="微软雅黑"/>
                          <a:cs typeface="微软雅黑"/>
                        </a:rPr>
                        <a:t>7</a:t>
                      </a:r>
                    </a:p>
                  </a:txBody>
                  <a:tcPr marL="91440" marR="91440" marT="45720" marB="45720" anchor="ctr" anchorCtr="0"/>
                </a:tc>
                <a:tc>
                  <a:txBody>
                    <a:bodyPr/>
                    <a:lstStyle/>
                    <a:p>
                      <a:pPr algn="ctr">
                        <a:buNone/>
                      </a:pPr>
                      <a:r>
                        <a:rPr sz="1600" b="1">
                          <a:latin typeface="微软雅黑"/>
                          <a:ea typeface="微软雅黑"/>
                          <a:cs typeface="微软雅黑"/>
                        </a:rPr>
                        <a:t>/</a:t>
                      </a:r>
                    </a:p>
                  </a:txBody>
                  <a:tcPr marL="91440" marR="91440" marT="45720" marB="45720" anchor="ctr" anchorCtr="0"/>
                </a:tc>
                <a:tc>
                  <a:txBody>
                    <a:bodyPr/>
                    <a:lstStyle/>
                    <a:p>
                      <a:pPr algn="ctr">
                        <a:buNone/>
                      </a:pPr>
                      <a:r>
                        <a:rPr sz="1600" b="1">
                          <a:solidFill>
                            <a:schemeClr val="tx1"/>
                          </a:solidFill>
                          <a:latin typeface="微软雅黑"/>
                          <a:ea typeface="微软雅黑"/>
                          <a:cs typeface="微软雅黑"/>
                        </a:rPr>
                        <a:t>/</a:t>
                      </a:r>
                    </a:p>
                  </a:txBody>
                  <a:tcPr marL="91440" marR="91440" marT="45720" marB="45720" anchor="ctr" anchorCtr="0"/>
                </a:tc>
                <a:tc>
                  <a:txBody>
                    <a:bodyPr/>
                    <a:lstStyle/>
                    <a:p>
                      <a:pPr algn="ctr">
                        <a:buNone/>
                      </a:pPr>
                    </a:p>
                  </a:txBody>
                  <a:tcPr marL="91440" marR="91440" marT="45720" marB="45720" anchor="ctr" anchorCtr="0"/>
                </a:tc>
              </a:tr>
              <a:tr h="978535">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5</a:t>
                      </a:r>
                    </a:p>
                  </a:txBody>
                  <a:tcPr marL="177800" marR="177800" marT="6350" marB="6350" anchor="ctr"/>
                </a:tc>
                <a:tc>
                  <a:txBody>
                    <a:bodyPr/>
                    <a:lstStyle/>
                    <a:p>
                      <a:pPr indent="0" algn="ctr">
                        <a:lnSpc>
                          <a:spcPct val="120000"/>
                        </a:lnSpc>
                        <a:spcBef>
                          <a:spcPts val="0"/>
                        </a:spcBef>
                        <a:spcAft>
                          <a:spcPts val="0"/>
                        </a:spcAft>
                        <a:buNone/>
                      </a:pPr>
                      <a:r>
                        <a:rPr sz="1800" b="1">
                          <a:solidFill>
                            <a:schemeClr val="tx1"/>
                          </a:solidFill>
                          <a:latin typeface="微软雅黑"/>
                          <a:ea typeface="微软雅黑"/>
                          <a:cs typeface="微软雅黑"/>
                        </a:rPr>
                        <a:t>安全生产领导小组带班检查签到单</a:t>
                      </a:r>
                    </a:p>
                  </a:txBody>
                  <a:tcPr marL="177800" marR="177800" marT="6350" marB="6350" anchor="ctr"/>
                </a:tc>
                <a:tc>
                  <a:txBody>
                    <a:bodyPr/>
                    <a:lstStyle/>
                    <a:p>
                      <a:pPr algn="ctr">
                        <a:buNone/>
                      </a:pPr>
                      <a:r>
                        <a:rPr sz="1600" b="1">
                          <a:solidFill>
                            <a:schemeClr val="tx1"/>
                          </a:solidFill>
                          <a:latin typeface="微软雅黑"/>
                          <a:ea typeface="微软雅黑"/>
                          <a:cs typeface="微软雅黑"/>
                        </a:rPr>
                        <a:t>已提交</a:t>
                      </a:r>
                    </a:p>
                  </a:txBody>
                  <a:tcPr marL="91440" marR="91440" marT="45720" marB="45720" anchor="ctr" anchorCtr="0"/>
                </a:tc>
                <a:tc>
                  <a:txBody>
                    <a:bodyPr/>
                    <a:lstStyle/>
                    <a:p>
                      <a:pPr algn="ctr">
                        <a:buNone/>
                      </a:pPr>
                      <a:r>
                        <a:rPr sz="1600" b="1">
                          <a:latin typeface="微软雅黑"/>
                          <a:ea typeface="微软雅黑"/>
                          <a:cs typeface="微软雅黑"/>
                        </a:rPr>
                        <a:t>已提交</a:t>
                      </a:r>
                    </a:p>
                  </a:txBody>
                  <a:tcPr marL="91440" marR="91440" marT="45720" marB="45720" anchor="ctr" anchorCtr="0"/>
                </a:tc>
                <a:tc>
                  <a:txBody>
                    <a:bodyPr/>
                    <a:lstStyle/>
                    <a:p>
                      <a:pPr algn="ctr">
                        <a:buNone/>
                      </a:pPr>
                      <a:r>
                        <a:rPr sz="1600" b="1">
                          <a:solidFill>
                            <a:schemeClr val="tx1"/>
                          </a:solidFill>
                          <a:latin typeface="微软雅黑"/>
                          <a:ea typeface="微软雅黑"/>
                          <a:cs typeface="微软雅黑"/>
                        </a:rPr>
                        <a:t>/</a:t>
                      </a:r>
                    </a:p>
                  </a:txBody>
                  <a:tcPr marL="91440" marR="91440" marT="45720" marB="45720" anchor="ctr" anchorCtr="0"/>
                </a:tc>
                <a:tc>
                  <a:txBody>
                    <a:bodyPr/>
                    <a:lstStyle/>
                    <a:p>
                      <a:pPr algn="ctr">
                        <a:buNone/>
                      </a:pPr>
                    </a:p>
                  </a:txBody>
                  <a:tcPr marL="91440" marR="91440" marT="45720" marB="45720" anchor="ctr" anchorCtr="0"/>
                </a:tc>
              </a:tr>
            </a:tbl>
          </a:graphicData>
        </a:graphic>
      </p:graphicFrame>
    </p:spTree>
    <p:extLst>
      <p:ext uri="{BB962C8B-B14F-4D97-AF65-F5344CB8AC3E}">
        <p14:creationId xmlns:p14="http://schemas.microsoft.com/office/powerpoint/2010/main" val="105931056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63DCA746-D675-465B-BCD6-9EF20D5A02EF}"/>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DA8B1A5B-E06B-4CC4-BC11-8309627D8D63}"/>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30C153ED-160D-4862-9E0C-DB3A74573F3D}"/>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一、</a:t>
            </a:r>
            <a:r>
              <a:rPr sz="2400" b="1">
                <a:solidFill>
                  <a:srgbClr val="0599D9">
                    <a:alpha val="100000"/>
                  </a:srgbClr>
                </a:solidFill>
              </a:rPr>
              <a:t>部门任务跟踪</a:t>
            </a:r>
          </a:p>
        </p:txBody>
      </p:sp>
      <p:sp>
        <p:nvSpPr>
          <p:cNvPr id="25" name="标题 3">
            <a:extLst xmlns:a="http://schemas.openxmlformats.org/drawingml/2006/main">
              <a:ext uri="{FF2B5EF4-FFF2-40B4-BE49-F238E27FC236}">
                <a16:creationId xmlns:a16="http://schemas.microsoft.com/office/drawing/2014/main" id="{9F053BD4-AF3B-4458-BDC5-C55233657817}"/>
              </a:ext>
            </a:extLst>
          </p:cNvPr>
          <p:cNvSpPr>
            <a:spLocks xmlns:a="http://schemas.openxmlformats.org/drawingml/2006/main" noGrp="1"/>
          </p:cNvSpPr>
          <p:nvPr/>
        </p:nvSpPr>
        <p:spPr>
          <a:xfrm xmlns:a="http://schemas.openxmlformats.org/drawingml/2006/main">
            <a:off x="695400" y="1124382"/>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3</a:t>
            </a:r>
            <a:r>
              <a:rPr sz="2200" b="1">
                <a:solidFill>
                  <a:srgbClr val="000000"/>
                </a:solidFill>
                <a:latin typeface="微软雅黑"/>
                <a:ea typeface="微软雅黑"/>
                <a:cs typeface="微软雅黑"/>
              </a:rPr>
              <a:t>、</a:t>
            </a:r>
            <a:r>
              <a:rPr sz="2200" b="1">
                <a:solidFill>
                  <a:srgbClr val="000000"/>
                </a:solidFill>
                <a:latin typeface="微软雅黑"/>
                <a:ea typeface="微软雅黑"/>
                <a:cs typeface="微软雅黑"/>
              </a:rPr>
              <a:t>本周</a:t>
            </a:r>
            <a:r>
              <a:rPr sz="2200" b="1">
                <a:solidFill>
                  <a:srgbClr val="000000"/>
                </a:solidFill>
                <a:latin typeface="微软雅黑"/>
                <a:ea typeface="微软雅黑"/>
                <a:cs typeface="微软雅黑"/>
              </a:rPr>
              <a:t>内外部行为偏差统计（</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2" name="表格 13"/>
          <p:cNvGraphicFramePr/>
          <p:nvPr/>
        </p:nvGraphicFramePr>
        <p:xfrm>
          <a:off xmlns:a="http://schemas.openxmlformats.org/drawingml/2006/main" x="5945505" y="2132965"/>
          <a:ext xmlns:a="http://schemas.openxmlformats.org/drawingml/2006/main" cx="5107305" cy="3829050"/>
        </p:xfrm>
        <a:graphic xmlns:a="http://schemas.openxmlformats.org/drawingml/2006/main">
          <a:graphicData uri="http://schemas.openxmlformats.org/drawingml/2006/table">
            <a:tbl>
              <a:tblPr firstRow="1" bandRow="1">
                <a:tableStyleId>{5C22544A-7EE6-4342-B048-85BDC9FD1C3A}</a:tableStyleId>
              </a:tblPr>
              <a:tblGrid>
                <a:gridCol w="542925"/>
                <a:gridCol w="2397760"/>
                <a:gridCol w="1250315"/>
                <a:gridCol w="916305"/>
              </a:tblGrid>
              <a:tr h="428625">
                <a:tc gridSpan="4">
                  <a:txBody>
                    <a:bodyPr/>
                    <a:lstStyle/>
                    <a:p>
                      <a:pPr indent="0" algn="ctr">
                        <a:lnSpc>
                          <a:spcPct val="120000"/>
                        </a:lnSpc>
                        <a:spcBef>
                          <a:spcPts val="0"/>
                        </a:spcBef>
                        <a:spcAft>
                          <a:spcPts val="0"/>
                        </a:spcAft>
                        <a:buNone/>
                      </a:pPr>
                      <a:r>
                        <a:rPr sz="1800" b="1">
                          <a:solidFill>
                            <a:srgbClr val="404040"/>
                          </a:solidFill>
                          <a:latin typeface="微软雅黑"/>
                          <a:ea typeface="微软雅黑"/>
                          <a:cs typeface="微软雅黑"/>
                        </a:rPr>
                        <a:t>内部录入行为偏</a:t>
                      </a:r>
                      <a:r>
                        <a:rPr sz="1800" b="1">
                          <a:solidFill>
                            <a:srgbClr val="404040"/>
                          </a:solidFill>
                          <a:latin typeface="微软雅黑"/>
                          <a:ea typeface="微软雅黑"/>
                          <a:cs typeface="微软雅黑"/>
                        </a:rPr>
                        <a:t>差统计</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hMerge="1">
                  <a:txBody>
                    <a:bodyPr/>
                    <a:lstStyle/>
                    <a:p>
                      <a:pPr/>
                    </a:p>
                  </a:txBody>
                  <a:tcPr marL="91440" marR="91440" marT="45720" marB="45720">
                    <a:lnT w="12700">
                      <a:solidFill>
                        <a:schemeClr val="tx1"/>
                      </a:solidFill>
                      <a:prstDash val="solid"/>
                    </a:lnT>
                    <a:lnB w="12700">
                      <a:solidFill>
                        <a:schemeClr val="tx1"/>
                      </a:solidFill>
                      <a:prstDash val="solid"/>
                    </a:lnB>
                  </a:tcPr>
                </a:tc>
                <a:tc hMerge="1">
                  <a:txBody>
                    <a:bodyPr/>
                    <a:lstStyle/>
                    <a:p>
                      <a:pPr/>
                    </a:p>
                  </a:txBody>
                  <a:tcPr marL="91440" marR="91440" marT="45720" marB="45720">
                    <a:lnT w="12700">
                      <a:solidFill>
                        <a:schemeClr val="tx1"/>
                      </a:solidFill>
                      <a:prstDash val="solid"/>
                    </a:lnT>
                    <a:lnB w="12700">
                      <a:solidFill>
                        <a:schemeClr val="tx1"/>
                      </a:solidFill>
                      <a:prstDash val="solid"/>
                    </a:lnB>
                  </a:tcPr>
                </a:tc>
                <a:tc hMerge="1">
                  <a:txBody>
                    <a:bodyPr/>
                    <a:lstStyle/>
                    <a:p>
                      <a:pPr/>
                    </a:p>
                  </a:txBody>
                  <a:tcPr marL="91440" marR="91440" marT="45720" marB="45720">
                    <a:lnR w="12700">
                      <a:solidFill>
                        <a:schemeClr val="tx1"/>
                      </a:solidFill>
                      <a:prstDash val="solid"/>
                    </a:lnR>
                    <a:lnT w="12700">
                      <a:solidFill>
                        <a:schemeClr val="tx1"/>
                      </a:solidFill>
                      <a:prstDash val="solid"/>
                    </a:lnT>
                    <a:lnB w="12700">
                      <a:solidFill>
                        <a:schemeClr val="tx1"/>
                      </a:solidFill>
                      <a:prstDash val="solid"/>
                    </a:lnB>
                    <a:solidFill>
                      <a:schemeClr val="accent1"/>
                    </a:solidFill>
                  </a:tcPr>
                </a:tc>
              </a:tr>
              <a:tr h="574675">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序号</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行为</a:t>
                      </a:r>
                      <a:r>
                        <a:rPr sz="1400" b="1">
                          <a:solidFill>
                            <a:srgbClr val="FFFFFF"/>
                          </a:solidFill>
                          <a:latin typeface="微软雅黑"/>
                          <a:ea typeface="微软雅黑"/>
                          <a:cs typeface="微软雅黑"/>
                        </a:rPr>
                        <a:t>偏差类型</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违章人数</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备注</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r>
              <a:tr h="574675">
                <a:tc>
                  <a:txBody>
                    <a:bodyPr/>
                    <a:lstStyle/>
                    <a:p>
                      <a:pPr indent="0" algn="ctr">
                        <a:lnSpc>
                          <a:spcPct val="120000"/>
                        </a:lnSpc>
                        <a:spcBef>
                          <a:spcPts val="0"/>
                        </a:spcBef>
                        <a:spcAft>
                          <a:spcPts val="0"/>
                        </a:spcAft>
                        <a:buNone/>
                      </a:pPr>
                      <a:r>
                        <a:rPr sz="1400" b="1">
                          <a:solidFill>
                            <a:schemeClr val="tx1"/>
                          </a:solidFill>
                          <a:latin typeface="微软雅黑"/>
                          <a:ea typeface="微软雅黑"/>
                          <a:cs typeface="微软雅黑"/>
                        </a:rPr>
                        <a:t>1</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通用违章行为</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9</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574675">
                <a:tc>
                  <a:txBody>
                    <a:bodyPr/>
                    <a:lstStyle/>
                    <a:p>
                      <a:pPr indent="0" algn="ctr">
                        <a:lnSpc>
                          <a:spcPct val="120000"/>
                        </a:lnSpc>
                        <a:spcBef>
                          <a:spcPts val="0"/>
                        </a:spcBef>
                        <a:spcAft>
                          <a:spcPts val="0"/>
                        </a:spcAft>
                        <a:buNone/>
                      </a:pPr>
                      <a:r>
                        <a:rPr sz="1400" b="1">
                          <a:solidFill>
                            <a:schemeClr val="tx1"/>
                          </a:solidFill>
                          <a:latin typeface="微软雅黑"/>
                          <a:ea typeface="微软雅黑"/>
                          <a:cs typeface="微软雅黑"/>
                        </a:rPr>
                        <a:t>2</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r>
                        <a:rPr sz="1400" b="1">
                          <a:solidFill>
                            <a:srgbClr val="000000"/>
                          </a:solidFill>
                          <a:latin typeface="微软雅黑"/>
                          <a:ea typeface="微软雅黑"/>
                          <a:cs typeface="微软雅黑"/>
                        </a:rPr>
                        <a:t>其他</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10</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00000"/>
                        </a:lnSpc>
                        <a:spcBef>
                          <a:spcPts val="0"/>
                        </a:spcBef>
                        <a:buClrTx/>
                        <a:buSzTx/>
                        <a:buFontTx/>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527050">
                <a:tc>
                  <a:txBody>
                    <a:bodyPr/>
                    <a:lstStyle/>
                    <a:p>
                      <a:pPr indent="0" algn="ctr">
                        <a:lnSpc>
                          <a:spcPct val="120000"/>
                        </a:lnSpc>
                        <a:spcBef>
                          <a:spcPts val="0"/>
                        </a:spcBef>
                        <a:spcAft>
                          <a:spcPts val="0"/>
                        </a:spcAft>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404040"/>
                          </a:solidFill>
                          <a:latin typeface="微软雅黑"/>
                          <a:ea typeface="微软雅黑"/>
                          <a:cs typeface="微软雅黑"/>
                        </a:rPr>
                        <a:t>合计</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FF0000"/>
                          </a:solidFill>
                          <a:latin typeface="微软雅黑"/>
                          <a:ea typeface="微软雅黑"/>
                          <a:cs typeface="微软雅黑"/>
                        </a:rPr>
                        <a:t>19</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
        <p:nvSpPr>
          <p:cNvPr id="8" name="文本框 7">
            <a:extLst xmlns:a="http://schemas.openxmlformats.org/drawingml/2006/main">
              <a:ext uri="{FF2B5EF4-FFF2-40B4-BE49-F238E27FC236}">
                <a16:creationId xmlns:a16="http://schemas.microsoft.com/office/drawing/2014/main" id="{7C0F8AF5-953B-4005-94A1-4EDFAD79F432}"/>
              </a:ext>
            </a:extLst>
          </p:cNvPr>
          <p:cNvSpPr>
            <a:spLocks xmlns:a="http://schemas.openxmlformats.org/drawingml/2006/main" noGrp="1"/>
          </p:cNvSpPr>
          <p:nvPr/>
        </p:nvSpPr>
        <p:spPr>
          <a:xfrm xmlns:a="http://schemas.openxmlformats.org/drawingml/2006/main">
            <a:off x="695325" y="1554480"/>
            <a:ext cx="10569575" cy="5067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a:solidFill>
                  <a:srgbClr val="000000"/>
                </a:solidFill>
                <a:latin typeface="微软雅黑"/>
                <a:ea typeface="微软雅黑"/>
                <a:cs typeface="微软雅黑"/>
              </a:rPr>
              <a:t>本周</a:t>
            </a:r>
            <a:r>
              <a:rPr>
                <a:solidFill>
                  <a:srgbClr val="000000"/>
                </a:solidFill>
                <a:latin typeface="微软雅黑"/>
                <a:ea typeface="微软雅黑"/>
                <a:cs typeface="微软雅黑"/>
              </a:rPr>
              <a:t>内部行为偏差共</a:t>
            </a:r>
            <a:r>
              <a:rPr>
                <a:solidFill>
                  <a:schemeClr val="tx1"/>
                </a:solidFill>
                <a:latin typeface="微软雅黑"/>
                <a:ea typeface="微软雅黑"/>
                <a:cs typeface="微软雅黑"/>
              </a:rPr>
              <a:t>计</a:t>
            </a:r>
            <a:r>
              <a:rPr>
                <a:solidFill>
                  <a:srgbClr val="FF0000"/>
                </a:solidFill>
                <a:latin typeface="微软雅黑"/>
                <a:ea typeface="微软雅黑"/>
                <a:cs typeface="微软雅黑"/>
              </a:rPr>
              <a:t>19</a:t>
            </a:r>
            <a:r>
              <a:rPr>
                <a:solidFill>
                  <a:srgbClr val="FF0000"/>
                </a:solidFill>
                <a:latin typeface="微软雅黑"/>
                <a:ea typeface="微软雅黑"/>
                <a:cs typeface="微软雅黑"/>
              </a:rPr>
              <a:t>人</a:t>
            </a:r>
            <a:r>
              <a:rPr>
                <a:solidFill>
                  <a:srgbClr val="000000"/>
                </a:solidFill>
                <a:latin typeface="微软雅黑"/>
                <a:ea typeface="微软雅黑"/>
                <a:cs typeface="微软雅黑"/>
              </a:rPr>
              <a:t>次，已培训</a:t>
            </a:r>
            <a:r>
              <a:rPr>
                <a:solidFill>
                  <a:srgbClr val="FF0000"/>
                </a:solidFill>
                <a:latin typeface="微软雅黑"/>
                <a:ea typeface="微软雅黑"/>
                <a:cs typeface="微软雅黑"/>
              </a:rPr>
              <a:t>15</a:t>
            </a:r>
            <a:r>
              <a:rPr>
                <a:solidFill>
                  <a:srgbClr val="FF0000"/>
                </a:solidFill>
                <a:latin typeface="微软雅黑"/>
                <a:ea typeface="微软雅黑"/>
                <a:cs typeface="微软雅黑"/>
              </a:rPr>
              <a:t>人</a:t>
            </a:r>
            <a:r>
              <a:rPr>
                <a:solidFill>
                  <a:srgbClr val="000000"/>
                </a:solidFill>
                <a:latin typeface="微软雅黑"/>
                <a:ea typeface="微软雅黑"/>
                <a:cs typeface="微软雅黑"/>
              </a:rPr>
              <a:t>还有</a:t>
            </a:r>
            <a:r>
              <a:rPr>
                <a:solidFill>
                  <a:srgbClr val="FF0000"/>
                </a:solidFill>
                <a:latin typeface="微软雅黑"/>
                <a:ea typeface="微软雅黑"/>
                <a:cs typeface="微软雅黑"/>
              </a:rPr>
              <a:t>4人</a:t>
            </a:r>
            <a:r>
              <a:rPr>
                <a:solidFill>
                  <a:srgbClr val="000000"/>
                </a:solidFill>
                <a:latin typeface="微软雅黑"/>
                <a:ea typeface="微软雅黑"/>
                <a:cs typeface="微软雅黑"/>
              </a:rPr>
              <a:t>未培训，工程公司录入行为偏差共计</a:t>
            </a:r>
            <a:r>
              <a:rPr>
                <a:solidFill>
                  <a:srgbClr val="FF0000"/>
                </a:solidFill>
                <a:latin typeface="微软雅黑"/>
                <a:ea typeface="微软雅黑"/>
                <a:cs typeface="微软雅黑"/>
              </a:rPr>
              <a:t>19</a:t>
            </a:r>
            <a:r>
              <a:rPr>
                <a:solidFill>
                  <a:srgbClr val="FF0000"/>
                </a:solidFill>
                <a:latin typeface="微软雅黑"/>
                <a:ea typeface="微软雅黑"/>
                <a:cs typeface="微软雅黑"/>
              </a:rPr>
              <a:t>人。</a:t>
            </a:r>
          </a:p>
        </p:txBody>
      </p:sp>
      <p:graphicFrame>
        <p:nvGraphicFramePr>
          <p:cNvPr id="34" name="表格 1"/>
          <p:cNvGraphicFramePr/>
          <p:nvPr/>
        </p:nvGraphicFramePr>
        <p:xfrm>
          <a:off xmlns:a="http://schemas.openxmlformats.org/drawingml/2006/main" x="407035" y="2132965"/>
          <a:ext xmlns:a="http://schemas.openxmlformats.org/drawingml/2006/main" cx="4850130" cy="2105025"/>
        </p:xfrm>
        <a:graphic xmlns:a="http://schemas.openxmlformats.org/drawingml/2006/main">
          <a:graphicData uri="http://schemas.openxmlformats.org/drawingml/2006/table">
            <a:tbl>
              <a:tblPr firstRow="1" bandRow="1">
                <a:tableStyleId>{5C22544A-7EE6-4342-B048-85BDC9FD1C3A}</a:tableStyleId>
              </a:tblPr>
              <a:tblGrid>
                <a:gridCol w="550545"/>
                <a:gridCol w="2209800"/>
                <a:gridCol w="1235710"/>
                <a:gridCol w="854075"/>
              </a:tblGrid>
              <a:tr h="419100">
                <a:tc gridSpan="4">
                  <a:txBody>
                    <a:bodyPr/>
                    <a:lstStyle/>
                    <a:p>
                      <a:pPr indent="0" algn="ctr">
                        <a:lnSpc>
                          <a:spcPct val="120000"/>
                        </a:lnSpc>
                        <a:spcBef>
                          <a:spcPts val="0"/>
                        </a:spcBef>
                        <a:spcAft>
                          <a:spcPts val="0"/>
                        </a:spcAft>
                        <a:buNone/>
                      </a:pPr>
                      <a:r>
                        <a:rPr sz="1800" b="1">
                          <a:solidFill>
                            <a:srgbClr val="404040"/>
                          </a:solidFill>
                          <a:latin typeface="微软雅黑"/>
                          <a:ea typeface="微软雅黑"/>
                          <a:cs typeface="微软雅黑"/>
                        </a:rPr>
                        <a:t>工程公司行为</a:t>
                      </a:r>
                      <a:r>
                        <a:rPr sz="1800" b="1">
                          <a:solidFill>
                            <a:srgbClr val="404040"/>
                          </a:solidFill>
                          <a:latin typeface="微软雅黑"/>
                          <a:ea typeface="微软雅黑"/>
                          <a:cs typeface="微软雅黑"/>
                        </a:rPr>
                        <a:t>偏差统计</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FFFF"/>
                    </a:solidFill>
                  </a:tcPr>
                </a:tc>
                <a:tc hMerge="1">
                  <a:txBody>
                    <a:bodyPr/>
                    <a:lstStyle/>
                    <a:p>
                      <a:pPr/>
                    </a:p>
                  </a:txBody>
                  <a:tcPr marL="91440" marR="91440" marT="45720" marB="45720">
                    <a:lnT w="12700">
                      <a:solidFill>
                        <a:schemeClr val="tx1"/>
                      </a:solidFill>
                      <a:prstDash val="solid"/>
                    </a:lnT>
                    <a:lnB w="12700">
                      <a:solidFill>
                        <a:schemeClr val="tx1"/>
                      </a:solidFill>
                      <a:prstDash val="solid"/>
                    </a:lnB>
                  </a:tcPr>
                </a:tc>
                <a:tc hMerge="1">
                  <a:txBody>
                    <a:bodyPr/>
                    <a:lstStyle/>
                    <a:p>
                      <a:pPr/>
                    </a:p>
                  </a:txBody>
                  <a:tcPr marL="91440" marR="91440" marT="45720" marB="45720">
                    <a:lnT w="12700">
                      <a:solidFill>
                        <a:schemeClr val="tx1"/>
                      </a:solidFill>
                      <a:prstDash val="solid"/>
                    </a:lnT>
                    <a:lnB w="12700">
                      <a:solidFill>
                        <a:schemeClr val="tx1"/>
                      </a:solidFill>
                      <a:prstDash val="solid"/>
                    </a:lnB>
                  </a:tcPr>
                </a:tc>
                <a:tc hMerge="1">
                  <a:txBody>
                    <a:bodyPr/>
                    <a:lstStyle/>
                    <a:p>
                      <a:pPr/>
                    </a:p>
                  </a:txBody>
                  <a:tcPr marL="91440" marR="91440" marT="45720" marB="45720">
                    <a:lnR w="12700">
                      <a:solidFill>
                        <a:schemeClr val="tx1"/>
                      </a:solidFill>
                      <a:prstDash val="solid"/>
                    </a:lnR>
                    <a:lnT w="12700">
                      <a:solidFill>
                        <a:schemeClr val="tx1"/>
                      </a:solidFill>
                      <a:prstDash val="solid"/>
                    </a:lnT>
                    <a:lnB w="12700">
                      <a:solidFill>
                        <a:schemeClr val="tx1"/>
                      </a:solidFill>
                      <a:prstDash val="solid"/>
                    </a:lnB>
                    <a:solidFill>
                      <a:schemeClr val="accent1"/>
                    </a:solidFill>
                  </a:tcPr>
                </a:tc>
              </a:tr>
              <a:tr h="558800">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序号</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行为偏差</a:t>
                      </a:r>
                      <a:r>
                        <a:rPr sz="1400" b="1">
                          <a:solidFill>
                            <a:srgbClr val="FFFFFF"/>
                          </a:solidFill>
                          <a:latin typeface="微软雅黑"/>
                          <a:ea typeface="微软雅黑"/>
                          <a:cs typeface="微软雅黑"/>
                        </a:rPr>
                        <a:t>类型</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违章人数</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c>
                  <a:txBody>
                    <a:bodyPr/>
                    <a:lstStyle/>
                    <a:p>
                      <a:pPr indent="0" algn="ctr">
                        <a:lnSpc>
                          <a:spcPct val="120000"/>
                        </a:lnSpc>
                        <a:spcBef>
                          <a:spcPts val="0"/>
                        </a:spcBef>
                        <a:spcAft>
                          <a:spcPts val="0"/>
                        </a:spcAft>
                        <a:buNone/>
                      </a:pPr>
                      <a:r>
                        <a:rPr sz="1400" b="1">
                          <a:solidFill>
                            <a:srgbClr val="FFFFFF"/>
                          </a:solidFill>
                          <a:latin typeface="微软雅黑"/>
                          <a:ea typeface="微软雅黑"/>
                          <a:cs typeface="微软雅黑"/>
                        </a:rPr>
                        <a:t>备注</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00AAE8"/>
                    </a:solidFill>
                  </a:tcPr>
                </a:tc>
              </a:tr>
              <a:tr h="377825">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1</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i="0">
                          <a:solidFill>
                            <a:srgbClr val="000000"/>
                          </a:solidFill>
                          <a:latin typeface="微软雅黑"/>
                          <a:ea typeface="微软雅黑"/>
                          <a:cs typeface="微软雅黑"/>
                        </a:rPr>
                        <a:t>作业行为</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10</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74650">
                <a:tc>
                  <a:txBody>
                    <a:bodyPr/>
                    <a:lstStyle/>
                    <a:p>
                      <a:pPr indent="0" algn="ctr">
                        <a:lnSpc>
                          <a:spcPct val="120000"/>
                        </a:lnSpc>
                        <a:spcBef>
                          <a:spcPts val="0"/>
                        </a:spcBef>
                        <a:spcAft>
                          <a:spcPts val="0"/>
                        </a:spcAft>
                        <a:buNone/>
                      </a:pPr>
                      <a:r>
                        <a:rPr sz="1400" b="1">
                          <a:solidFill>
                            <a:srgbClr val="404040"/>
                          </a:solidFill>
                          <a:latin typeface="微软雅黑"/>
                          <a:ea typeface="微软雅黑"/>
                          <a:cs typeface="微软雅黑"/>
                        </a:rPr>
                        <a:t>2</a:t>
                      </a: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buNone/>
                      </a:pPr>
                      <a:r>
                        <a:rPr sz="1400" b="1" i="0">
                          <a:solidFill>
                            <a:srgbClr val="000000"/>
                          </a:solidFill>
                          <a:latin typeface="微软雅黑"/>
                          <a:ea typeface="微软雅黑"/>
                          <a:cs typeface="微软雅黑"/>
                        </a:rPr>
                        <a:t>管理</a:t>
                      </a:r>
                      <a:r>
                        <a:rPr sz="1400" b="1" i="0">
                          <a:solidFill>
                            <a:srgbClr val="000000"/>
                          </a:solidFill>
                          <a:latin typeface="微软雅黑"/>
                          <a:ea typeface="微软雅黑"/>
                          <a:cs typeface="微软雅黑"/>
                        </a:rPr>
                        <a:t>行为</a:t>
                      </a: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chemeClr val="tx1"/>
                          </a:solidFill>
                          <a:latin typeface="微软雅黑"/>
                          <a:ea typeface="微软雅黑"/>
                          <a:cs typeface="微软雅黑"/>
                        </a:rPr>
                        <a:t>9</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r h="374650">
                <a:tc>
                  <a:txBody>
                    <a:bodyPr/>
                    <a:lstStyle/>
                    <a:p>
                      <a:pPr indent="0" algn="ctr">
                        <a:lnSpc>
                          <a:spcPct val="120000"/>
                        </a:lnSpc>
                        <a:spcBef>
                          <a:spcPts val="0"/>
                        </a:spcBef>
                        <a:spcAft>
                          <a:spcPts val="0"/>
                        </a:spcAft>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404040"/>
                          </a:solidFill>
                          <a:latin typeface="微软雅黑"/>
                          <a:ea typeface="微软雅黑"/>
                          <a:cs typeface="微软雅黑"/>
                        </a:rPr>
                        <a:t>合计</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r>
                        <a:rPr sz="1400" b="1">
                          <a:solidFill>
                            <a:srgbClr val="FF0000"/>
                          </a:solidFill>
                          <a:latin typeface="微软雅黑"/>
                          <a:ea typeface="微软雅黑"/>
                          <a:cs typeface="微软雅黑"/>
                        </a:rPr>
                        <a:t>19</a:t>
                      </a:r>
                    </a:p>
                  </a:txBody>
                  <a:tcPr marL="12700" marR="12700" marT="12700" marB="45720" vert="horz"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c>
                  <a:txBody>
                    <a:bodyPr/>
                    <a:lstStyle/>
                    <a:p>
                      <a:pPr algn="ctr">
                        <a:lnSpc>
                          <a:spcPct val="120000"/>
                        </a:lnSpc>
                        <a:spcBef>
                          <a:spcPts val="0"/>
                        </a:spcBef>
                        <a:spcAft>
                          <a:spcPts val="0"/>
                        </a:spcAft>
                        <a:buClrTx/>
                        <a:buSzTx/>
                        <a:buFontTx/>
                        <a:buNone/>
                      </a:pPr>
                    </a:p>
                  </a:txBody>
                  <a:tcPr marL="25400" marR="25400" marT="6350" marB="635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E7F1FB"/>
                    </a:solidFill>
                  </a:tcPr>
                </a:tc>
              </a:tr>
            </a:tbl>
          </a:graphicData>
        </a:graphic>
      </p:graphicFrame>
    </p:spTree>
    <p:extLst>
      <p:ext uri="{BB962C8B-B14F-4D97-AF65-F5344CB8AC3E}">
        <p14:creationId xmlns:p14="http://schemas.microsoft.com/office/powerpoint/2010/main" val="150646463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8353BBC4-827E-4ED1-BF69-C2C2D8C0A389}"/>
              </a:ext>
            </a:extLst>
          </p:cNvPr>
          <p:cNvSpPr>
            <a:spLocks xmlns:a="http://schemas.openxmlformats.org/drawingml/2006/main" noGrp="1"/>
          </p:cNvSpPr>
          <p:nvPr/>
        </p:nvSpPr>
        <p:spPr>
          <a:xfrm xmlns:a="http://schemas.openxmlformats.org/drawingml/2006/main" rot="0" flipH="0" flipV="0">
            <a:off x="200025" y="44450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B13B6C9B-196A-4047-B556-49E16260A411}"/>
              </a:ext>
            </a:extLst>
          </p:cNvPr>
          <p:cNvSpPr>
            <a:spLocks xmlns:a="http://schemas.openxmlformats.org/drawingml/2006/main" noGrp="1"/>
          </p:cNvSpPr>
          <p:nvPr/>
        </p:nvSpPr>
        <p:spPr>
          <a:xfrm xmlns:a="http://schemas.openxmlformats.org/drawingml/2006/main" rot="0" flipH="0" flipV="1">
            <a:off x="715010" y="82232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E773D71D-A0ED-4CE6-B0F5-DBEC01A31BAB}"/>
              </a:ext>
            </a:extLst>
          </p:cNvPr>
          <p:cNvSpPr>
            <a:spLocks xmlns:a="http://schemas.openxmlformats.org/drawingml/2006/main" noGrp="1"/>
          </p:cNvSpPr>
          <p:nvPr/>
        </p:nvSpPr>
        <p:spPr>
          <a:xfrm xmlns:a="http://schemas.openxmlformats.org/drawingml/2006/main" rot="0" flipH="0" flipV="0">
            <a:off x="706755" y="35941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一、</a:t>
            </a:r>
            <a:r>
              <a:rPr sz="2400" b="1">
                <a:solidFill>
                  <a:srgbClr val="0599D9">
                    <a:alpha val="100000"/>
                  </a:srgbClr>
                </a:solidFill>
              </a:rPr>
              <a:t>部门任务跟踪</a:t>
            </a:r>
          </a:p>
        </p:txBody>
      </p:sp>
      <p:sp>
        <p:nvSpPr>
          <p:cNvPr id="25" name="标题 3">
            <a:extLst xmlns:a="http://schemas.openxmlformats.org/drawingml/2006/main">
              <a:ext uri="{FF2B5EF4-FFF2-40B4-BE49-F238E27FC236}">
                <a16:creationId xmlns:a16="http://schemas.microsoft.com/office/drawing/2014/main" id="{AF3A9FA8-157E-4E48-999E-60DB4C8616B7}"/>
              </a:ext>
            </a:extLst>
          </p:cNvPr>
          <p:cNvSpPr>
            <a:spLocks xmlns:a="http://schemas.openxmlformats.org/drawingml/2006/main" noGrp="1"/>
          </p:cNvSpPr>
          <p:nvPr/>
        </p:nvSpPr>
        <p:spPr>
          <a:xfrm xmlns:a="http://schemas.openxmlformats.org/drawingml/2006/main">
            <a:off x="706755" y="1019175"/>
            <a:ext cx="9189720"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4</a:t>
            </a:r>
            <a:r>
              <a:rPr sz="2200" b="1">
                <a:solidFill>
                  <a:srgbClr val="000000"/>
                </a:solidFill>
                <a:latin typeface="微软雅黑"/>
                <a:ea typeface="微软雅黑"/>
                <a:cs typeface="微软雅黑"/>
              </a:rPr>
              <a:t>、隐患记录提交情况（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p>
        </p:txBody>
      </p:sp>
      <p:graphicFrame>
        <p:nvGraphicFramePr>
          <p:cNvPr id="33" name="表格 9"/>
          <p:cNvGraphicFramePr/>
          <p:nvPr/>
        </p:nvGraphicFramePr>
        <p:xfrm>
          <a:off xmlns:a="http://schemas.openxmlformats.org/drawingml/2006/main" x="758825" y="1430655"/>
          <a:ext xmlns:a="http://schemas.openxmlformats.org/drawingml/2006/main" cx="5622290" cy="4982210"/>
        </p:xfrm>
        <a:graphic xmlns:a="http://schemas.openxmlformats.org/drawingml/2006/main">
          <a:graphicData uri="http://schemas.openxmlformats.org/drawingml/2006/table">
            <a:tbl>
              <a:tblPr/>
              <a:tblGrid>
                <a:gridCol w="836295"/>
                <a:gridCol w="517525"/>
                <a:gridCol w="685165"/>
                <a:gridCol w="554990"/>
                <a:gridCol w="1574800"/>
                <a:gridCol w="391160"/>
                <a:gridCol w="1062355"/>
              </a:tblGrid>
              <a:tr h="412750">
                <a:tc rowSpan="21">
                  <a:txBody>
                    <a:bodyPr/>
                    <a:lstStyle/>
                    <a:p>
                      <a:pPr algn="ctr">
                        <a:buNone/>
                      </a:pPr>
                      <a:r>
                        <a:rPr sz="1200" b="1" i="0">
                          <a:solidFill>
                            <a:srgbClr val="FFFFFF"/>
                          </a:solidFill>
                          <a:latin typeface="微软雅黑"/>
                          <a:ea typeface="微软雅黑"/>
                          <a:cs typeface="微软雅黑"/>
                        </a:rPr>
                        <a:t>隐患录入情况（每人每天</a:t>
                      </a:r>
                      <a:r>
                        <a:rPr sz="1200" b="1" i="0">
                          <a:solidFill>
                            <a:srgbClr val="FFFFFF"/>
                          </a:solidFill>
                          <a:latin typeface="微软雅黑"/>
                          <a:ea typeface="微软雅黑"/>
                          <a:cs typeface="微软雅黑"/>
                        </a:rPr>
                        <a:t>10</a:t>
                      </a:r>
                      <a:r>
                        <a:rPr sz="1200" b="1" i="0">
                          <a:solidFill>
                            <a:srgbClr val="FFFFFF"/>
                          </a:solidFill>
                          <a:latin typeface="微软雅黑"/>
                          <a:ea typeface="微软雅黑"/>
                          <a:cs typeface="微软雅黑"/>
                        </a:rPr>
                        <a:t>条）</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区域</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人员</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隐患录入数量</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平均每人</a:t>
                      </a:r>
                      <a:r>
                        <a:rPr sz="1200" b="1"/>
                        <a:t>/</a:t>
                      </a:r>
                      <a:r>
                        <a:rPr sz="1200" b="1"/>
                        <a:t>每天录入</a:t>
                      </a:r>
                    </a:p>
                    <a:p>
                      <a:pPr algn="ctr">
                        <a:buNone/>
                      </a:pPr>
                      <a:r>
                        <a:rPr sz="1200" b="1"/>
                        <a:t>隐患数量</a:t>
                      </a:r>
                      <a:r>
                        <a:rPr sz="1200" b="1">
                          <a:solidFill>
                            <a:srgbClr val="000000"/>
                          </a:solidFill>
                          <a:latin typeface="微软雅黑"/>
                          <a:ea typeface="微软雅黑"/>
                          <a:cs typeface="微软雅黑"/>
                        </a:rPr>
                        <a:t>（条</a:t>
                      </a:r>
                      <a:r>
                        <a:rPr sz="1200" b="1">
                          <a:solidFill>
                            <a:srgbClr val="000000"/>
                          </a:solidFill>
                          <a:latin typeface="微软雅黑"/>
                          <a:ea typeface="微软雅黑"/>
                          <a:cs typeface="微软雅黑"/>
                        </a:rPr>
                        <a:t>/</a:t>
                      </a:r>
                      <a:r>
                        <a:rPr sz="1200" b="1">
                          <a:solidFill>
                            <a:srgbClr val="000000"/>
                          </a:solidFill>
                          <a:latin typeface="微软雅黑"/>
                          <a:ea typeface="微软雅黑"/>
                          <a:cs typeface="微软雅黑"/>
                        </a:rPr>
                        <a:t>日）</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是否达标</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隐患录入</a:t>
                      </a:r>
                    </a:p>
                    <a:p>
                      <a:pPr algn="ctr">
                        <a:buNone/>
                      </a:pPr>
                      <a:r>
                        <a:rPr sz="1200" b="1"/>
                        <a:t>优秀</a:t>
                      </a:r>
                      <a:r>
                        <a:rPr sz="1200" b="1"/>
                        <a:t>人员</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r>
              <a:tr h="207645">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rowSpan="2">
                  <a:txBody>
                    <a:bodyPr/>
                    <a:lstStyle/>
                    <a:p>
                      <a:pPr algn="ctr">
                        <a:buNone/>
                      </a:pPr>
                      <a:r>
                        <a:rPr sz="1200" b="1" i="0">
                          <a:solidFill>
                            <a:srgbClr val="000000"/>
                          </a:solidFill>
                          <a:latin typeface="微软雅黑"/>
                          <a:ea typeface="微软雅黑"/>
                          <a:cs typeface="微软雅黑"/>
                        </a:rPr>
                        <a:t>大件库</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罗琦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9</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rowSpan="2">
                  <a:txBody>
                    <a:bodyPr/>
                    <a:lstStyle/>
                    <a:p>
                      <a:pPr algn="ctr">
                        <a:lnSpc>
                          <a:spcPct val="110000"/>
                        </a:lnSpc>
                        <a:buNone/>
                      </a:pPr>
                      <a:r>
                        <a:rPr sz="1000" b="1" i="0">
                          <a:solidFill>
                            <a:srgbClr val="000000"/>
                          </a:solidFill>
                          <a:latin typeface="微软雅黑"/>
                          <a:ea typeface="微软雅黑"/>
                          <a:cs typeface="微软雅黑"/>
                        </a:rPr>
                        <a:t>9/7/2=0.64</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07645">
                <a:tc vMerge="1">
                  <a:txBody>
                    <a:bodyPr/>
                    <a:lstStyle/>
                    <a:p>
                      <a:pPr/>
                    </a:p>
                  </a:txBody>
                  <a:tcPr marL="91440" marR="91440" marT="45720" marB="45720"/>
                </a:tc>
                <a:tc vMerge="1">
                  <a:txBody>
                    <a:bodyPr/>
                    <a:lstStyle/>
                    <a:p>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农君</a:t>
                      </a:r>
                      <a:r>
                        <a:rPr sz="1200" b="1" i="0">
                          <a:solidFill>
                            <a:srgbClr val="000000"/>
                          </a:solidFill>
                          <a:latin typeface="微软雅黑"/>
                          <a:ea typeface="微软雅黑"/>
                          <a:cs typeface="微软雅黑"/>
                        </a:rPr>
                        <a:t>鑫</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0</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41300">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rowSpan="18">
                  <a:txBody>
                    <a:bodyPr/>
                    <a:lstStyle/>
                    <a:p>
                      <a:pPr algn="ctr">
                        <a:buNone/>
                      </a:pPr>
                      <a:r>
                        <a:rPr sz="1200" b="1" i="0">
                          <a:solidFill>
                            <a:srgbClr val="000000"/>
                          </a:solidFill>
                          <a:latin typeface="微软雅黑"/>
                          <a:ea typeface="微软雅黑"/>
                          <a:cs typeface="微软雅黑"/>
                        </a:rPr>
                        <a:t>现场</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果机吃沙</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14</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rowSpan="18">
                  <a:txBody>
                    <a:bodyPr/>
                    <a:lstStyle/>
                    <a:p>
                      <a:pPr algn="ctr">
                        <a:lnSpc>
                          <a:spcPct val="110000"/>
                        </a:lnSpc>
                        <a:buNone/>
                      </a:pPr>
                      <a:r>
                        <a:rPr sz="1000" b="1" i="0">
                          <a:solidFill>
                            <a:srgbClr val="000000"/>
                          </a:solidFill>
                          <a:latin typeface="微软雅黑"/>
                          <a:ea typeface="微软雅黑"/>
                          <a:cs typeface="微软雅黑"/>
                        </a:rPr>
                        <a:t>691/17/7=5.8</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27330">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000000"/>
                          </a:solidFill>
                          <a:latin typeface="微软雅黑"/>
                          <a:ea typeface="微软雅黑"/>
                          <a:cs typeface="微软雅黑"/>
                        </a:rPr>
                        <a:t>刘友三</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7</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19710">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000000"/>
                          </a:solidFill>
                          <a:latin typeface="微软雅黑"/>
                          <a:ea typeface="微软雅黑"/>
                          <a:cs typeface="微软雅黑"/>
                        </a:rPr>
                        <a:t>谢博鑫</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17</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199390">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000000"/>
                          </a:solidFill>
                          <a:latin typeface="微软雅黑"/>
                          <a:ea typeface="微软雅黑"/>
                          <a:cs typeface="微软雅黑"/>
                        </a:rPr>
                        <a:t>陈柱旭</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12</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07645">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a:solidFill>
                            <a:srgbClr val="000000"/>
                          </a:solidFill>
                          <a:latin typeface="微软雅黑"/>
                          <a:ea typeface="微软雅黑"/>
                          <a:cs typeface="微软雅黑"/>
                        </a:rPr>
                        <a:t>张晨雨</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30</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ClrTx/>
                        <a:buSzTx/>
                        <a:buFontTx/>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55270">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000000"/>
                          </a:solidFill>
                          <a:latin typeface="微软雅黑"/>
                          <a:ea typeface="微软雅黑"/>
                          <a:cs typeface="微软雅黑"/>
                        </a:rPr>
                        <a:t>桂杨</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35</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19075">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i="0">
                          <a:solidFill>
                            <a:srgbClr val="000000"/>
                          </a:solidFill>
                          <a:latin typeface="微软雅黑"/>
                          <a:ea typeface="微软雅黑"/>
                          <a:cs typeface="微软雅黑"/>
                        </a:rPr>
                        <a:t>刘</a:t>
                      </a:r>
                      <a:r>
                        <a:rPr sz="1200" b="1" i="0">
                          <a:solidFill>
                            <a:srgbClr val="000000"/>
                          </a:solidFill>
                          <a:latin typeface="微软雅黑"/>
                          <a:ea typeface="微软雅黑"/>
                          <a:cs typeface="微软雅黑"/>
                        </a:rPr>
                        <a:t>勇</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65</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tcPr>
                </a:tc>
                <a:tc>
                  <a:txBody>
                    <a:bodyPr/>
                    <a:lstStyle/>
                    <a:p>
                      <a:pPr algn="ctr">
                        <a:buNone/>
                      </a:pPr>
                      <a:r>
                        <a:rPr sz="1200" b="1">
                          <a:solidFill>
                            <a:srgbClr val="FF0000"/>
                          </a:solidFill>
                        </a:rPr>
                        <a:t>否</a:t>
                      </a:r>
                      <a:r>
                        <a:rPr sz="1200" b="1">
                          <a:solidFill>
                            <a:srgbClr val="FF0000"/>
                          </a:solidFill>
                        </a:rPr>
                        <a:t> </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18440">
                <a:tc vMerge="1">
                  <a:txBody>
                    <a:bodyPr/>
                    <a:lstStyle/>
                    <a:p>
                      <a:pPr/>
                    </a:p>
                  </a:txBody>
                  <a:tcPr marL="91440" marR="91440" marT="45720" marB="45720"/>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甘伟</a:t>
                      </a:r>
                      <a:r>
                        <a:rPr sz="1200" b="1" i="0">
                          <a:solidFill>
                            <a:srgbClr val="000000"/>
                          </a:solidFill>
                          <a:latin typeface="微软雅黑"/>
                          <a:ea typeface="微软雅黑"/>
                          <a:cs typeface="微软雅黑"/>
                        </a:rPr>
                        <a:t>平</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56</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a:solidFill>
                            <a:srgbClr val="FF0000"/>
                          </a:solidFill>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19075">
                <a:tc vMerge="1">
                  <a:txBody>
                    <a:bodyPr/>
                    <a:lstStyle/>
                    <a:p>
                      <a:pPr/>
                    </a:p>
                  </a:txBody>
                  <a:tcPr marL="91440" marR="91440" marT="45720" marB="45720"/>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杨兆龙</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70</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chemeClr val="tx1"/>
                          </a:solidFill>
                          <a:latin typeface="微软雅黑"/>
                          <a:ea typeface="微软雅黑"/>
                          <a:cs typeface="微软雅黑"/>
                        </a:rPr>
                        <a:t>是</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a:solidFill>
                            <a:srgbClr val="000000"/>
                          </a:solidFill>
                          <a:latin typeface="微软雅黑"/>
                          <a:ea typeface="微软雅黑"/>
                          <a:cs typeface="微软雅黑"/>
                        </a:rPr>
                        <a:t>√</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18440">
                <a:tc vMerge="1">
                  <a:txBody>
                    <a:bodyPr/>
                    <a:lstStyle/>
                    <a:p>
                      <a:pPr/>
                    </a:p>
                  </a:txBody>
                  <a:tcPr marL="91440" marR="91440" marT="45720" marB="45720"/>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罗荣鑫</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52</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38760">
                <a:tc vMerge="1">
                  <a:txBody>
                    <a:bodyPr/>
                    <a:lstStyle/>
                    <a:p>
                      <a:pPr/>
                    </a:p>
                  </a:txBody>
                  <a:tcPr marL="91440" marR="91440" marT="45720" marB="45720"/>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李青雨</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36</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17170">
                <a:tc vMerge="1">
                  <a:txBody>
                    <a:bodyPr/>
                    <a:lstStyle/>
                    <a:p>
                      <a:pPr/>
                    </a:p>
                  </a:txBody>
                  <a:tcPr marL="91440" marR="91440" marT="45720" marB="45720"/>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赵鹏飞</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20</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18440">
                <a:tc vMerge="1">
                  <a:txBody>
                    <a:bodyPr/>
                    <a:lstStyle/>
                    <a:p>
                      <a:pPr/>
                    </a:p>
                  </a:txBody>
                  <a:tcPr marL="91440" marR="91440" marT="45720" marB="45720"/>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杨思远</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14</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18440">
                <a:tc vMerge="1">
                  <a:txBody>
                    <a:bodyPr/>
                    <a:lstStyle/>
                    <a:p>
                      <a:pPr/>
                    </a:p>
                  </a:txBody>
                  <a:tcPr marL="91440" marR="91440" marT="45720" marB="45720"/>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冯海浪</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61</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08280">
                <a:tc vMerge="1">
                  <a:txBody>
                    <a:bodyPr/>
                    <a:lstStyle/>
                    <a:p>
                      <a:pPr/>
                    </a:p>
                  </a:txBody>
                  <a:tcPr marL="91440" marR="91440" marT="45720" marB="45720"/>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罗园杰</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74</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chemeClr val="tx1"/>
                          </a:solidFill>
                          <a:latin typeface="微软雅黑"/>
                          <a:ea typeface="微软雅黑"/>
                          <a:cs typeface="微软雅黑"/>
                        </a:rPr>
                        <a:t>是</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400" b="1" i="0">
                          <a:solidFill>
                            <a:srgbClr val="000000"/>
                          </a:solidFill>
                          <a:latin typeface="微软雅黑"/>
                          <a:ea typeface="微软雅黑"/>
                          <a:cs typeface="微软雅黑"/>
                        </a:rPr>
                        <a:t>√</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22885">
                <a:tc vMerge="1">
                  <a:txBody>
                    <a:bodyPr/>
                    <a:lstStyle/>
                    <a:p>
                      <a:pPr/>
                    </a:p>
                  </a:txBody>
                  <a:tcPr marL="91440" marR="91440" marT="45720" marB="45720"/>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a:solidFill>
                            <a:srgbClr val="000000"/>
                          </a:solidFill>
                          <a:latin typeface="微软雅黑"/>
                          <a:ea typeface="微软雅黑"/>
                          <a:cs typeface="微软雅黑"/>
                        </a:rPr>
                        <a:t>宁以源</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59</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97180">
                <a:tc vMerge="1">
                  <a:txBody>
                    <a:bodyPr/>
                    <a:lstStyle/>
                    <a:p>
                      <a:pPr/>
                    </a:p>
                  </a:txBody>
                  <a:tcPr marL="91440" marR="91440" marT="45720" marB="45720">
                    <a:lnR w="12700" cmpd="sng">
                      <a:solidFill>
                        <a:srgbClr val="000000"/>
                      </a:solidFill>
                      <a:prstDash val="solid"/>
                    </a:lnR>
                    <a:lnB w="12700" cmpd="sng">
                      <a:solidFill>
                        <a:srgbClr val="000000"/>
                      </a:solidFill>
                      <a:prstDash val="solid"/>
                    </a:lnB>
                    <a:solidFill>
                      <a:srgbClr val="00B0F0"/>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陈绍贵</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63</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r h="297180">
                <a:tc vMerge="1">
                  <a:txBody>
                    <a:bodyPr/>
                    <a:lstStyle/>
                    <a:p>
                      <a:pPr/>
                    </a:p>
                  </a:txBody>
                  <a:tcPr marL="91440" marR="91440" marT="45720" marB="45720">
                    <a:lnR w="12700" cmpd="sng">
                      <a:solidFill>
                        <a:srgbClr val="000000"/>
                      </a:solidFill>
                      <a:prstDash val="solid"/>
                    </a:lnR>
                    <a:lnB w="12700" cmpd="sng">
                      <a:solidFill>
                        <a:srgbClr val="000000"/>
                      </a:solidFill>
                      <a:prstDash val="solid"/>
                    </a:lnB>
                    <a:solidFill>
                      <a:srgbClr val="00B0F0"/>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000000"/>
                          </a:solidFill>
                          <a:latin typeface="微软雅黑"/>
                          <a:ea typeface="微软雅黑"/>
                          <a:cs typeface="微软雅黑"/>
                        </a:rPr>
                        <a:t>韦延</a:t>
                      </a:r>
                      <a:r>
                        <a:rPr sz="1200" b="1" i="0">
                          <a:solidFill>
                            <a:srgbClr val="000000"/>
                          </a:solidFill>
                          <a:latin typeface="微软雅黑"/>
                          <a:ea typeface="微软雅黑"/>
                          <a:cs typeface="微软雅黑"/>
                        </a:rPr>
                        <a:t>达</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ClrTx/>
                        <a:buSzTx/>
                        <a:buFontTx/>
                        <a:buNone/>
                      </a:pPr>
                      <a:r>
                        <a:rPr sz="1200" b="1" i="0">
                          <a:solidFill>
                            <a:srgbClr val="000000"/>
                          </a:solidFill>
                          <a:latin typeface="微软雅黑"/>
                          <a:ea typeface="微软雅黑"/>
                          <a:cs typeface="微软雅黑"/>
                        </a:rPr>
                        <a:t>6</a:t>
                      </a:r>
                    </a:p>
                  </a:txBody>
                  <a:tcPr marL="9842" marR="9842" marT="9842"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vMerge="1">
                  <a:txBody>
                    <a:bodyPr/>
                    <a:lstStyle/>
                    <a:p>
                      <a:pPr/>
                    </a:p>
                  </a:txBody>
                  <a:tcPr marL="91440" marR="91440" marT="45720" marB="45720">
                    <a:lnL w="12700" cmpd="sng">
                      <a:solidFill>
                        <a:srgbClr val="000000"/>
                      </a:solidFill>
                      <a:prstDash val="solid"/>
                    </a:lnL>
                    <a:lnR w="12700" cmpd="sng">
                      <a:solidFill>
                        <a:srgbClr val="000000"/>
                      </a:solidFill>
                      <a:prstDash val="solid"/>
                    </a:lnR>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否</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bl>
          </a:graphicData>
        </a:graphic>
      </p:graphicFrame>
      <p:graphicFrame>
        <p:nvGraphicFramePr>
          <p:cNvPr id="34" name="表格 5"/>
          <p:cNvGraphicFramePr/>
          <p:nvPr/>
        </p:nvGraphicFramePr>
        <p:xfrm>
          <a:off xmlns:a="http://schemas.openxmlformats.org/drawingml/2006/main" x="6381115" y="1430655"/>
          <a:ext xmlns:a="http://schemas.openxmlformats.org/drawingml/2006/main" cx="4839970" cy="4725035"/>
        </p:xfrm>
        <a:graphic xmlns:a="http://schemas.openxmlformats.org/drawingml/2006/main">
          <a:graphicData uri="http://schemas.openxmlformats.org/drawingml/2006/table">
            <a:tbl>
              <a:tblPr/>
              <a:tblGrid>
                <a:gridCol w="480060"/>
                <a:gridCol w="586105"/>
                <a:gridCol w="595630"/>
                <a:gridCol w="1712595"/>
                <a:gridCol w="434340"/>
                <a:gridCol w="1031240"/>
              </a:tblGrid>
              <a:tr h="417195">
                <a:tc>
                  <a:txBody>
                    <a:bodyPr/>
                    <a:lstStyle/>
                    <a:p>
                      <a:pPr algn="ctr">
                        <a:buNone/>
                      </a:pPr>
                      <a:r>
                        <a:rPr sz="1200" b="1"/>
                        <a:t>区域</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人员</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隐患录入数量</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平均每人</a:t>
                      </a:r>
                      <a:r>
                        <a:rPr sz="1200" b="1"/>
                        <a:t>/</a:t>
                      </a:r>
                      <a:r>
                        <a:rPr sz="1200" b="1"/>
                        <a:t>每天录入</a:t>
                      </a:r>
                    </a:p>
                    <a:p>
                      <a:pPr algn="ctr">
                        <a:buNone/>
                      </a:pPr>
                      <a:r>
                        <a:rPr sz="1200" b="1"/>
                        <a:t>隐患数量</a:t>
                      </a:r>
                      <a:r>
                        <a:rPr sz="1200" b="1">
                          <a:solidFill>
                            <a:srgbClr val="000000"/>
                          </a:solidFill>
                          <a:latin typeface="微软雅黑"/>
                          <a:ea typeface="微软雅黑"/>
                          <a:cs typeface="微软雅黑"/>
                        </a:rPr>
                        <a:t>（条</a:t>
                      </a:r>
                      <a:r>
                        <a:rPr sz="1200" b="1">
                          <a:solidFill>
                            <a:srgbClr val="000000"/>
                          </a:solidFill>
                          <a:latin typeface="微软雅黑"/>
                          <a:ea typeface="微软雅黑"/>
                          <a:cs typeface="微软雅黑"/>
                        </a:rPr>
                        <a:t>/</a:t>
                      </a:r>
                      <a:r>
                        <a:rPr sz="1200" b="1">
                          <a:solidFill>
                            <a:srgbClr val="000000"/>
                          </a:solidFill>
                          <a:latin typeface="微软雅黑"/>
                          <a:ea typeface="微软雅黑"/>
                          <a:cs typeface="微软雅黑"/>
                        </a:rPr>
                        <a:t>日）</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是否达标</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c>
                  <a:txBody>
                    <a:bodyPr/>
                    <a:lstStyle/>
                    <a:p>
                      <a:pPr algn="ctr">
                        <a:buNone/>
                      </a:pPr>
                      <a:r>
                        <a:rPr sz="1200" b="1"/>
                        <a:t>隐患录入</a:t>
                      </a:r>
                    </a:p>
                    <a:p>
                      <a:pPr algn="ctr">
                        <a:buNone/>
                      </a:pPr>
                      <a:r>
                        <a:rPr sz="1200" b="1"/>
                        <a:t>优秀</a:t>
                      </a:r>
                      <a:r>
                        <a:rPr sz="1200" b="1"/>
                        <a:t>人员</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00B0F0"/>
                    </a:solidFill>
                  </a:tcPr>
                </a:tc>
              </a:tr>
              <a:tr h="520065">
                <a:tc rowSpan="7">
                  <a:txBody>
                    <a:bodyPr/>
                    <a:lstStyle/>
                    <a:p>
                      <a:pPr algn="ctr">
                        <a:buNone/>
                      </a:pPr>
                      <a:r>
                        <a:rPr sz="1200" b="1"/>
                        <a:t>临建区</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t>龚天顺</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5</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rowSpan="7">
                  <a:txBody>
                    <a:bodyPr/>
                    <a:lstStyle/>
                    <a:p>
                      <a:pPr algn="ctr">
                        <a:buNone/>
                      </a:pPr>
                      <a:r>
                        <a:rPr sz="1200" b="1"/>
                        <a:t>319/7/7=6.5</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FF0000"/>
                          </a:solidFill>
                        </a:rPr>
                        <a:t>否</a:t>
                      </a:r>
                      <a:r>
                        <a:rPr sz="1200" b="1">
                          <a:solidFill>
                            <a:srgbClr val="FF0000"/>
                          </a:solidFill>
                        </a:rPr>
                        <a:t> </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r h="520065">
                <a:tc vMerge="1">
                  <a:txBody>
                    <a:bodyPr/>
                    <a:lstStyle/>
                    <a:p>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t>魏成志</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62</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vMerge="1">
                  <a:txBody>
                    <a:bodyPr/>
                    <a:lstStyle/>
                    <a:p>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FF0000"/>
                          </a:solidFill>
                        </a:rPr>
                        <a:t>否</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p>
                    <a:p>
                      <a:pPr algn="ct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r h="518795">
                <a:tc vMerge="1">
                  <a:txBody>
                    <a:bodyPr/>
                    <a:lstStyle/>
                    <a:p>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t>李煊民</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34</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vMerge="1">
                  <a:txBody>
                    <a:bodyPr/>
                    <a:lstStyle/>
                    <a:p>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FF0000"/>
                          </a:solidFill>
                        </a:rPr>
                        <a:t>否</a:t>
                      </a:r>
                      <a:r>
                        <a:rPr sz="1200" b="1">
                          <a:solidFill>
                            <a:srgbClr val="FF0000"/>
                          </a:solidFill>
                        </a:rPr>
                        <a:t> </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r h="519430">
                <a:tc vMerge="1">
                  <a:txBody>
                    <a:bodyPr/>
                    <a:lstStyle/>
                    <a:p>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000000"/>
                          </a:solidFill>
                          <a:latin typeface="微软雅黑"/>
                          <a:ea typeface="微软雅黑"/>
                          <a:cs typeface="微软雅黑"/>
                        </a:rPr>
                        <a:t>蓝竫熙</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70</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vMerge="1">
                  <a:txBody>
                    <a:bodyPr/>
                    <a:lstStyle/>
                    <a:p>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FF0000"/>
                          </a:solidFill>
                        </a:rPr>
                        <a:t>否</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r h="520700">
                <a:tc vMerge="1">
                  <a:txBody>
                    <a:bodyPr/>
                    <a:lstStyle/>
                    <a:p>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t>吴玮彬</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44</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vMerge="1">
                  <a:txBody>
                    <a:bodyPr/>
                    <a:lstStyle/>
                    <a:p>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chemeClr val="tx1"/>
                          </a:solidFill>
                        </a:rPr>
                        <a:t>是</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t>√</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r h="751205">
                <a:tc vMerge="1">
                  <a:txBody>
                    <a:bodyPr/>
                    <a:lstStyle/>
                    <a:p>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t>谭小飞</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36</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vMerge="1">
                  <a:txBody>
                    <a:bodyPr/>
                    <a:lstStyle/>
                    <a:p>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FF0000"/>
                          </a:solidFill>
                        </a:rPr>
                        <a:t>否</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r h="957580">
                <a:tc vMerge="1">
                  <a:txBody>
                    <a:bodyPr/>
                    <a:lstStyle/>
                    <a:p>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i="0">
                          <a:solidFill>
                            <a:srgbClr val="000000"/>
                          </a:solidFill>
                          <a:latin typeface="微软雅黑"/>
                          <a:ea typeface="微软雅黑"/>
                          <a:cs typeface="微软雅黑"/>
                        </a:rPr>
                        <a:t>刘勇</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ClrTx/>
                        <a:buSzTx/>
                        <a:buFontTx/>
                        <a:buNone/>
                      </a:pPr>
                      <a:r>
                        <a:rPr sz="1200" b="1" i="0">
                          <a:solidFill>
                            <a:srgbClr val="000000"/>
                          </a:solidFill>
                          <a:latin typeface="微软雅黑"/>
                          <a:ea typeface="微软雅黑"/>
                          <a:cs typeface="微软雅黑"/>
                        </a:rPr>
                        <a:t>68</a:t>
                      </a:r>
                    </a:p>
                  </a:txBody>
                  <a:tcPr marL="6667" marR="6667" marT="666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vMerge="1">
                  <a:txBody>
                    <a:bodyPr/>
                    <a:lstStyle/>
                    <a:p>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r>
                        <a:rPr sz="1200" b="1">
                          <a:solidFill>
                            <a:srgbClr val="FF0000"/>
                          </a:solidFill>
                        </a:rPr>
                        <a:t>否</a:t>
                      </a: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c>
                  <a:txBody>
                    <a:bodyPr/>
                    <a:lstStyle/>
                    <a:p>
                      <a:pPr algn="ctr">
                        <a:buNone/>
                      </a:pPr>
                    </a:p>
                  </a:txBody>
                  <a:tcPr marL="7937" marR="7937" marT="7937"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noFill/>
                  </a:tcPr>
                </a:tc>
              </a:tr>
            </a:tbl>
          </a:graphicData>
        </a:graphic>
      </p:graphicFrame>
      <p:graphicFrame>
        <p:nvGraphicFramePr>
          <p:cNvPr id="35" name="表格 8"/>
          <p:cNvGraphicFramePr/>
          <p:nvPr/>
        </p:nvGraphicFramePr>
        <p:xfrm>
          <a:off xmlns:a="http://schemas.openxmlformats.org/drawingml/2006/main" x="812165" y="6441440"/>
          <a:ext xmlns:a="http://schemas.openxmlformats.org/drawingml/2006/main" cx="10538460" cy="187960"/>
        </p:xfrm>
        <a:graphic xmlns:a="http://schemas.openxmlformats.org/drawingml/2006/main">
          <a:graphicData uri="http://schemas.openxmlformats.org/drawingml/2006/table">
            <a:tbl>
              <a:tblPr/>
              <a:tblGrid>
                <a:gridCol w="2282825"/>
                <a:gridCol w="3561715"/>
                <a:gridCol w="1970405"/>
                <a:gridCol w="2723515"/>
              </a:tblGrid>
              <a:tr h="0">
                <a:tc>
                  <a:txBody>
                    <a:bodyPr/>
                    <a:lstStyle/>
                    <a:p>
                      <a:pPr algn="ctr">
                        <a:buNone/>
                      </a:pPr>
                      <a:r>
                        <a:rPr sz="1200" b="1" i="0">
                          <a:solidFill>
                            <a:srgbClr val="000000"/>
                          </a:solidFill>
                          <a:latin typeface="微软雅黑"/>
                          <a:ea typeface="微软雅黑"/>
                          <a:cs typeface="微软雅黑"/>
                        </a:rPr>
                        <a:t>部门合计人数</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24</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a:solidFill>
                            <a:srgbClr val="000000"/>
                          </a:solidFill>
                          <a:latin typeface="微软雅黑"/>
                          <a:ea typeface="微软雅黑"/>
                          <a:cs typeface="微软雅黑"/>
                        </a:rPr>
                        <a:t>部门合计隐患数量</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c>
                  <a:txBody>
                    <a:bodyPr/>
                    <a:lstStyle/>
                    <a:p>
                      <a:pPr algn="ctr">
                        <a:buNone/>
                      </a:pPr>
                      <a:r>
                        <a:rPr sz="1200" b="1" i="0">
                          <a:solidFill>
                            <a:srgbClr val="FF0000"/>
                          </a:solidFill>
                          <a:latin typeface="微软雅黑"/>
                          <a:ea typeface="微软雅黑"/>
                          <a:cs typeface="微软雅黑"/>
                        </a:rPr>
                        <a:t>1010</a:t>
                      </a:r>
                    </a:p>
                  </a:txBody>
                  <a:tcPr marL="5080" marR="5080" marT="5080" marB="0"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rgbClr val="000000"/>
                      </a:solidFill>
                      <a:prstDash val="solid"/>
                    </a:lnB>
                    <a:solidFill>
                      <a:srgbClr val="FFFFFF"/>
                    </a:solidFill>
                  </a:tcPr>
                </a:tc>
              </a:tr>
            </a:tbl>
          </a:graphicData>
        </a:graphic>
      </p:graphicFrame>
    </p:spTree>
    <p:extLst>
      <p:ext uri="{BB962C8B-B14F-4D97-AF65-F5344CB8AC3E}">
        <p14:creationId xmlns:p14="http://schemas.microsoft.com/office/powerpoint/2010/main" val="212476113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3039B87D-FC96-4E9D-BFEB-BB9FDA07C672}"/>
              </a:ext>
            </a:extLst>
          </p:cNvPr>
          <p:cNvSpPr>
            <a:spLocks xmlns:a="http://schemas.openxmlformats.org/drawingml/2006/main" noGrp="1"/>
          </p:cNvSpPr>
          <p:nvPr/>
        </p:nvSpPr>
        <p:spPr>
          <a:xfrm xmlns:a="http://schemas.openxmlformats.org/drawingml/2006/main" rot="0" flipH="0" flipV="0">
            <a:off x="200025" y="444500"/>
            <a:ext cx="403436"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BE394142-3D03-4C16-9525-46BAB37A67EE}"/>
              </a:ext>
            </a:extLst>
          </p:cNvPr>
          <p:cNvSpPr>
            <a:spLocks xmlns:a="http://schemas.openxmlformats.org/drawingml/2006/main" noGrp="1"/>
          </p:cNvSpPr>
          <p:nvPr/>
        </p:nvSpPr>
        <p:spPr>
          <a:xfrm xmlns:a="http://schemas.openxmlformats.org/drawingml/2006/main" rot="0" flipH="0" flipV="1">
            <a:off x="705723" y="822325"/>
            <a:ext cx="10251769"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A6C3F222-5481-4688-8A95-13EB293D3D51}"/>
              </a:ext>
            </a:extLst>
          </p:cNvPr>
          <p:cNvSpPr>
            <a:spLocks xmlns:a="http://schemas.openxmlformats.org/drawingml/2006/main" noGrp="1"/>
          </p:cNvSpPr>
          <p:nvPr/>
        </p:nvSpPr>
        <p:spPr>
          <a:xfrm xmlns:a="http://schemas.openxmlformats.org/drawingml/2006/main" rot="0" flipH="0" flipV="0">
            <a:off x="697617" y="359410"/>
            <a:ext cx="10325347"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一、</a:t>
            </a:r>
            <a:r>
              <a:rPr sz="2400" b="1">
                <a:solidFill>
                  <a:srgbClr val="0599D9">
                    <a:alpha val="100000"/>
                  </a:srgbClr>
                </a:solidFill>
              </a:rPr>
              <a:t>部门任务跟踪</a:t>
            </a:r>
          </a:p>
        </p:txBody>
      </p:sp>
      <p:sp>
        <p:nvSpPr>
          <p:cNvPr id="25" name="标题 3">
            <a:extLst xmlns:a="http://schemas.openxmlformats.org/drawingml/2006/main">
              <a:ext uri="{FF2B5EF4-FFF2-40B4-BE49-F238E27FC236}">
                <a16:creationId xmlns:a16="http://schemas.microsoft.com/office/drawing/2014/main" id="{CDCE08B9-5499-430C-90C7-001959DF85C1}"/>
              </a:ext>
            </a:extLst>
          </p:cNvPr>
          <p:cNvSpPr>
            <a:spLocks xmlns:a="http://schemas.openxmlformats.org/drawingml/2006/main" noGrp="1"/>
          </p:cNvSpPr>
          <p:nvPr/>
        </p:nvSpPr>
        <p:spPr>
          <a:xfrm xmlns:a="http://schemas.openxmlformats.org/drawingml/2006/main">
            <a:off x="706755" y="1019175"/>
            <a:ext cx="7447915"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5</a:t>
            </a:r>
            <a:r>
              <a:rPr sz="2200" b="1">
                <a:solidFill>
                  <a:srgbClr val="000000"/>
                </a:solidFill>
                <a:latin typeface="微软雅黑"/>
                <a:ea typeface="微软雅黑"/>
                <a:cs typeface="微软雅黑"/>
              </a:rPr>
              <a:t>、作业先决条件提交情况（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1" name="表格 5"/>
          <p:cNvGraphicFramePr/>
          <p:nvPr/>
        </p:nvGraphicFramePr>
        <p:xfrm>
          <a:off xmlns:a="http://schemas.openxmlformats.org/drawingml/2006/main" x="665480" y="1570990"/>
          <a:ext xmlns:a="http://schemas.openxmlformats.org/drawingml/2006/main" cx="10986135" cy="2607310"/>
        </p:xfrm>
        <a:graphic xmlns:a="http://schemas.openxmlformats.org/drawingml/2006/main">
          <a:graphicData uri="http://schemas.openxmlformats.org/drawingml/2006/table">
            <a:tbl>
              <a:tblPr firstRow="1" bandRow="1">
                <a:tableStyleId>{5940675A-B579-460E-94D1-54222C63F5DA}</a:tableStyleId>
              </a:tblPr>
              <a:tblGrid>
                <a:gridCol w="495935"/>
                <a:gridCol w="3632200"/>
                <a:gridCol w="2398395"/>
                <a:gridCol w="1127760"/>
                <a:gridCol w="3331845"/>
              </a:tblGrid>
              <a:tr h="932815">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序号</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提交内容</a:t>
                      </a:r>
                    </a:p>
                  </a:txBody>
                  <a:tcPr marL="177800" marR="177800" marT="6350" marB="6350" anchor="ctr">
                    <a:solidFill>
                      <a:srgbClr val="00B0F0"/>
                    </a:solidFill>
                  </a:tcPr>
                </a:tc>
                <a:tc>
                  <a:txBody>
                    <a:bodyPr/>
                    <a:lstStyle/>
                    <a:p>
                      <a:pPr algn="ctr">
                        <a:buNone/>
                      </a:pPr>
                      <a:r>
                        <a:rPr sz="2000" b="1">
                          <a:solidFill>
                            <a:schemeClr val="bg1"/>
                          </a:solidFill>
                          <a:latin typeface="微软雅黑"/>
                          <a:ea typeface="微软雅黑"/>
                          <a:cs typeface="微软雅黑"/>
                        </a:rPr>
                        <a:t>班组</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检查</a:t>
                      </a:r>
                      <a:r>
                        <a:rPr sz="2000" b="1">
                          <a:solidFill>
                            <a:srgbClr val="FFFFFF"/>
                          </a:solidFill>
                          <a:latin typeface="微软雅黑"/>
                          <a:ea typeface="微软雅黑"/>
                          <a:cs typeface="微软雅黑"/>
                        </a:rPr>
                        <a:t>人</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问题描述</a:t>
                      </a:r>
                    </a:p>
                  </a:txBody>
                  <a:tcPr marL="177800" marR="177800" marT="6350" marB="6350" anchor="ctr">
                    <a:solidFill>
                      <a:srgbClr val="00B0F0"/>
                    </a:solidFill>
                  </a:tcPr>
                </a:tc>
              </a:tr>
              <a:tr h="833755">
                <a:tc>
                  <a:txBody>
                    <a:bodyPr/>
                    <a:lstStyle/>
                    <a:p>
                      <a:pPr indent="0" algn="ctr">
                        <a:lnSpc>
                          <a:spcPct val="120000"/>
                        </a:lnSpc>
                        <a:spcBef>
                          <a:spcPts val="0"/>
                        </a:spcBef>
                        <a:spcAft>
                          <a:spcPts val="0"/>
                        </a:spcAft>
                        <a:buNone/>
                      </a:pPr>
                      <a:r>
                        <a:rPr sz="2000" b="0">
                          <a:solidFill>
                            <a:schemeClr val="tx1"/>
                          </a:solidFill>
                          <a:latin typeface="微软雅黑"/>
                          <a:ea typeface="微软雅黑"/>
                          <a:cs typeface="微软雅黑"/>
                        </a:rPr>
                        <a:t>1</a:t>
                      </a:r>
                    </a:p>
                  </a:txBody>
                  <a:tcPr marL="177800" marR="177800" marT="6350" marB="6350" anchor="ctr">
                    <a:noFill/>
                  </a:tcPr>
                </a:tc>
                <a:tc>
                  <a:txBody>
                    <a:bodyPr/>
                    <a:lstStyle/>
                    <a:p>
                      <a:pPr algn="ctr">
                        <a:lnSpc>
                          <a:spcPct val="100000"/>
                        </a:lnSpc>
                        <a:spcBef>
                          <a:spcPts val="0"/>
                        </a:spcBef>
                        <a:buClrTx/>
                        <a:buSzTx/>
                        <a:buFontTx/>
                        <a:buNone/>
                      </a:pPr>
                      <a:r>
                        <a:rPr sz="1800" b="0">
                          <a:latin typeface="微软雅黑"/>
                          <a:ea typeface="微软雅黑"/>
                          <a:cs typeface="微软雅黑"/>
                        </a:rPr>
                        <a:t>钢筋工作业点安全控制</a:t>
                      </a:r>
                    </a:p>
                  </a:txBody>
                  <a:tcPr marL="177800" marR="177800" marT="6350" marB="6350" anchor="ctr">
                    <a:noFill/>
                  </a:tcPr>
                </a:tc>
                <a:tc>
                  <a:txBody>
                    <a:bodyPr/>
                    <a:lstStyle/>
                    <a:p>
                      <a:pPr algn="ctr">
                        <a:buNone/>
                      </a:pPr>
                      <a:r>
                        <a:rPr sz="1800" b="0">
                          <a:latin typeface="微软雅黑"/>
                          <a:ea typeface="微软雅黑"/>
                          <a:cs typeface="微软雅黑"/>
                        </a:rPr>
                        <a:t>邱亮钢筋班</a:t>
                      </a:r>
                    </a:p>
                  </a:txBody>
                  <a:tcPr marL="177800" marR="177800" marT="6350" marB="6350" anchor="ctr">
                    <a:noFill/>
                  </a:tcPr>
                </a:tc>
                <a:tc>
                  <a:txBody>
                    <a:bodyPr/>
                    <a:lstStyle/>
                    <a:p>
                      <a:pPr indent="0" algn="ctr">
                        <a:lnSpc>
                          <a:spcPct val="120000"/>
                        </a:lnSpc>
                        <a:spcBef>
                          <a:spcPts val="0"/>
                        </a:spcBef>
                        <a:spcAft>
                          <a:spcPts val="0"/>
                        </a:spcAft>
                        <a:buNone/>
                      </a:pPr>
                      <a:r>
                        <a:rPr sz="1800" b="0">
                          <a:latin typeface="微软雅黑"/>
                          <a:ea typeface="微软雅黑"/>
                          <a:cs typeface="微软雅黑"/>
                        </a:rPr>
                        <a:t>罗荣鑫</a:t>
                      </a:r>
                    </a:p>
                  </a:txBody>
                  <a:tcPr marL="177800" marR="177800" marT="6350" marB="6350" anchor="ctr">
                    <a:noFill/>
                  </a:tcPr>
                </a:tc>
                <a:tc>
                  <a:txBody>
                    <a:bodyPr/>
                    <a:lstStyle/>
                    <a:p>
                      <a:pPr indent="0" algn="ctr">
                        <a:lnSpc>
                          <a:spcPct val="120000"/>
                        </a:lnSpc>
                        <a:spcBef>
                          <a:spcPts val="0"/>
                        </a:spcBef>
                        <a:spcAft>
                          <a:spcPts val="0"/>
                        </a:spcAft>
                        <a:buNone/>
                      </a:pPr>
                      <a:r>
                        <a:rPr sz="1800" b="0">
                          <a:latin typeface="微软雅黑"/>
                          <a:ea typeface="微软雅黑"/>
                          <a:cs typeface="微软雅黑"/>
                        </a:rPr>
                        <a:t>钢筋防倾覆与操作相连</a:t>
                      </a:r>
                    </a:p>
                  </a:txBody>
                  <a:tcPr marL="177800" marR="177800" marT="6350" marB="6350" anchor="ctr">
                    <a:noFill/>
                  </a:tcPr>
                </a:tc>
              </a:tr>
              <a:tr h="840740">
                <a:tc>
                  <a:txBody>
                    <a:bodyPr/>
                    <a:lstStyle/>
                    <a:p>
                      <a:pPr indent="0" algn="ctr">
                        <a:lnSpc>
                          <a:spcPct val="120000"/>
                        </a:lnSpc>
                        <a:spcBef>
                          <a:spcPts val="0"/>
                        </a:spcBef>
                        <a:spcAft>
                          <a:spcPts val="0"/>
                        </a:spcAft>
                        <a:buNone/>
                      </a:pPr>
                      <a:r>
                        <a:rPr sz="2000" b="0">
                          <a:solidFill>
                            <a:schemeClr val="tx1"/>
                          </a:solidFill>
                          <a:latin typeface="微软雅黑"/>
                          <a:ea typeface="微软雅黑"/>
                          <a:cs typeface="微软雅黑"/>
                        </a:rPr>
                        <a:t>2</a:t>
                      </a:r>
                    </a:p>
                  </a:txBody>
                  <a:tcPr marL="177800" marR="177800" marT="6350" marB="6350" anchor="ctr">
                    <a:noFill/>
                  </a:tcPr>
                </a:tc>
                <a:tc>
                  <a:txBody>
                    <a:bodyPr/>
                    <a:lstStyle/>
                    <a:p>
                      <a:pPr algn="ctr">
                        <a:lnSpc>
                          <a:spcPct val="100000"/>
                        </a:lnSpc>
                        <a:spcBef>
                          <a:spcPts val="0"/>
                        </a:spcBef>
                        <a:buClrTx/>
                        <a:buSzTx/>
                        <a:buFontTx/>
                        <a:buNone/>
                      </a:pPr>
                      <a:r>
                        <a:rPr sz="1800" b="0">
                          <a:latin typeface="微软雅黑"/>
                          <a:ea typeface="微软雅黑"/>
                          <a:cs typeface="微软雅黑"/>
                        </a:rPr>
                        <a:t>木工工作业关键点安全控制</a:t>
                      </a:r>
                    </a:p>
                  </a:txBody>
                  <a:tcPr marL="177800" marR="177800" marT="6350" marB="6350" anchor="ctr">
                    <a:noFill/>
                  </a:tcPr>
                </a:tc>
                <a:tc>
                  <a:txBody>
                    <a:bodyPr/>
                    <a:lstStyle/>
                    <a:p>
                      <a:pPr algn="ctr">
                        <a:buNone/>
                      </a:pPr>
                      <a:r>
                        <a:rPr sz="1800" b="0">
                          <a:latin typeface="微软雅黑"/>
                          <a:ea typeface="微软雅黑"/>
                          <a:cs typeface="微软雅黑"/>
                        </a:rPr>
                        <a:t>邓远华木工班</a:t>
                      </a:r>
                    </a:p>
                  </a:txBody>
                  <a:tcPr marL="177800" marR="177800" marT="6350" marB="6350" anchor="ctr">
                    <a:noFill/>
                  </a:tcPr>
                </a:tc>
                <a:tc>
                  <a:txBody>
                    <a:bodyPr/>
                    <a:lstStyle/>
                    <a:p>
                      <a:pPr indent="0" algn="ctr">
                        <a:lnSpc>
                          <a:spcPct val="120000"/>
                        </a:lnSpc>
                        <a:spcBef>
                          <a:spcPts val="0"/>
                        </a:spcBef>
                        <a:spcAft>
                          <a:spcPts val="0"/>
                        </a:spcAft>
                        <a:buNone/>
                      </a:pPr>
                      <a:r>
                        <a:rPr sz="1800">
                          <a:latin typeface="微软雅黑"/>
                          <a:ea typeface="微软雅黑"/>
                          <a:cs typeface="微软雅黑"/>
                        </a:rPr>
                        <a:t>罗荣鑫</a:t>
                      </a:r>
                    </a:p>
                  </a:txBody>
                  <a:tcPr marL="177800" marR="177800" marT="6350" marB="6350" anchor="ctr">
                    <a:noFill/>
                  </a:tcPr>
                </a:tc>
                <a:tc>
                  <a:txBody>
                    <a:bodyPr/>
                    <a:lstStyle/>
                    <a:p>
                      <a:pPr indent="0" algn="ctr">
                        <a:lnSpc>
                          <a:spcPct val="120000"/>
                        </a:lnSpc>
                        <a:spcBef>
                          <a:spcPts val="0"/>
                        </a:spcBef>
                        <a:spcAft>
                          <a:spcPts val="0"/>
                        </a:spcAft>
                        <a:buNone/>
                      </a:pPr>
                      <a:r>
                        <a:rPr sz="1800" b="0">
                          <a:latin typeface="微软雅黑"/>
                          <a:ea typeface="微软雅黑"/>
                          <a:cs typeface="微软雅黑"/>
                        </a:rPr>
                        <a:t>无</a:t>
                      </a:r>
                    </a:p>
                  </a:txBody>
                  <a:tcPr marL="177800" marR="177800" marT="6350" marB="6350" anchor="ctr">
                    <a:noFill/>
                  </a:tcPr>
                </a:tc>
              </a:tr>
            </a:tbl>
          </a:graphicData>
        </a:graphic>
      </p:graphicFrame>
    </p:spTree>
    <p:extLst>
      <p:ext uri="{BB962C8B-B14F-4D97-AF65-F5344CB8AC3E}">
        <p14:creationId xmlns:p14="http://schemas.microsoft.com/office/powerpoint/2010/main" val="151961180"/>
      </p:ext>
    </p:extLst>
  </p:cSld>
</p:sld>
</file>

<file path=ppt/slides/slide10.xml><?xml version="1.0" encoding="utf-8"?>
<p:sld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54EFF7B6-AADC-4BB5-980A-C88F061FEF80}"/>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E914277F-0B43-41D6-9019-332AAE8618CF}"/>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94E5393B-93C5-4671-9051-2C371273C151}"/>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一、</a:t>
            </a:r>
            <a:r>
              <a:rPr sz="2400" b="1">
                <a:solidFill>
                  <a:srgbClr val="0599D9">
                    <a:alpha val="100000"/>
                  </a:srgbClr>
                </a:solidFill>
              </a:rPr>
              <a:t>部门任务跟踪</a:t>
            </a:r>
          </a:p>
        </p:txBody>
      </p:sp>
      <p:sp>
        <p:nvSpPr>
          <p:cNvPr id="25" name="标题 3">
            <a:extLst xmlns:a="http://schemas.openxmlformats.org/drawingml/2006/main">
              <a:ext uri="{FF2B5EF4-FFF2-40B4-BE49-F238E27FC236}">
                <a16:creationId xmlns:a16="http://schemas.microsoft.com/office/drawing/2014/main" id="{B24B52E4-0A39-426D-83A4-BF4FD29FB1C7}"/>
              </a:ext>
            </a:extLst>
          </p:cNvPr>
          <p:cNvSpPr>
            <a:spLocks xmlns:a="http://schemas.openxmlformats.org/drawingml/2006/main" noGrp="1"/>
          </p:cNvSpPr>
          <p:nvPr/>
        </p:nvSpPr>
        <p:spPr>
          <a:xfrm xmlns:a="http://schemas.openxmlformats.org/drawingml/2006/main">
            <a:off x="706755" y="1113790"/>
            <a:ext cx="10448290"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6</a:t>
            </a:r>
            <a:r>
              <a:rPr sz="2200" b="1">
                <a:solidFill>
                  <a:srgbClr val="000000"/>
                </a:solidFill>
                <a:latin typeface="微软雅黑"/>
                <a:ea typeface="微软雅黑"/>
                <a:cs typeface="微软雅黑"/>
              </a:rPr>
              <a:t>、本周部门隐患记录情况较差的隐患（</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1" name="表格 3"/>
          <p:cNvGraphicFramePr/>
          <p:nvPr/>
        </p:nvGraphicFramePr>
        <p:xfrm>
          <a:off xmlns:a="http://schemas.openxmlformats.org/drawingml/2006/main" x="932180" y="1543685"/>
          <a:ext xmlns:a="http://schemas.openxmlformats.org/drawingml/2006/main" cx="10234295" cy="1061720"/>
        </p:xfrm>
        <a:graphic xmlns:a="http://schemas.openxmlformats.org/drawingml/2006/main">
          <a:graphicData uri="http://schemas.openxmlformats.org/drawingml/2006/table">
            <a:tbl>
              <a:tblPr firstRow="1" bandRow="1">
                <a:tableStyleId>{5940675A-B579-460E-94D1-54222C63F5DA}</a:tableStyleId>
              </a:tblPr>
              <a:tblGrid>
                <a:gridCol w="1300818"/>
                <a:gridCol w="2704849"/>
                <a:gridCol w="2704849"/>
                <a:gridCol w="3523615"/>
              </a:tblGrid>
              <a:tr h="0">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序号</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隐患</a:t>
                      </a:r>
                      <a:r>
                        <a:rPr sz="2000" b="1">
                          <a:solidFill>
                            <a:srgbClr val="FFFFFF"/>
                          </a:solidFill>
                          <a:latin typeface="微软雅黑"/>
                          <a:ea typeface="微软雅黑"/>
                          <a:cs typeface="微软雅黑"/>
                        </a:rPr>
                        <a:t>录入内容</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chemeClr val="bg1"/>
                          </a:solidFill>
                          <a:latin typeface="微软雅黑"/>
                          <a:ea typeface="微软雅黑"/>
                          <a:cs typeface="微软雅黑"/>
                        </a:rPr>
                        <a:t>隐患录入</a:t>
                      </a:r>
                      <a:r>
                        <a:rPr sz="2000" b="1">
                          <a:solidFill>
                            <a:schemeClr val="bg1"/>
                          </a:solidFill>
                          <a:latin typeface="微软雅黑"/>
                          <a:ea typeface="微软雅黑"/>
                          <a:cs typeface="微软雅黑"/>
                        </a:rPr>
                        <a:t>问题</a:t>
                      </a:r>
                    </a:p>
                  </a:txBody>
                  <a:tcPr marL="177800" marR="1778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检查</a:t>
                      </a:r>
                      <a:r>
                        <a:rPr sz="2000" b="1">
                          <a:solidFill>
                            <a:srgbClr val="FFFFFF"/>
                          </a:solidFill>
                          <a:latin typeface="微软雅黑"/>
                          <a:ea typeface="微软雅黑"/>
                          <a:cs typeface="微软雅黑"/>
                        </a:rPr>
                        <a:t>人</a:t>
                      </a:r>
                    </a:p>
                  </a:txBody>
                  <a:tcPr marL="177800" marR="177800" marT="6350" marB="6350" anchor="ctr">
                    <a:solidFill>
                      <a:srgbClr val="00B0F0"/>
                    </a:solidFill>
                  </a:tcPr>
                </a:tc>
              </a:tr>
              <a:tr h="341630">
                <a:tc>
                  <a:txBody>
                    <a:bodyPr/>
                    <a:lstStyle/>
                    <a:p>
                      <a:pPr algn="ctr">
                        <a:lnSpc>
                          <a:spcPct val="100000"/>
                        </a:lnSpc>
                        <a:spcBef>
                          <a:spcPts val="0"/>
                        </a:spcBef>
                        <a:buClrTx/>
                        <a:buSzTx/>
                        <a:buFontTx/>
                        <a:buNone/>
                      </a:pPr>
                      <a:r>
                        <a:rPr sz="1600" b="1">
                          <a:solidFill>
                            <a:srgbClr val="000000"/>
                          </a:solidFill>
                          <a:latin typeface="微软雅黑"/>
                          <a:ea typeface="微软雅黑"/>
                          <a:cs typeface="微软雅黑"/>
                        </a:rPr>
                        <a:t>/</a:t>
                      </a:r>
                    </a:p>
                  </a:txBody>
                  <a:tcPr marL="177800" marR="177800" marT="6350" marB="6350" anchor="ctr"/>
                </a:tc>
                <a:tc>
                  <a:txBody>
                    <a:bodyPr/>
                    <a:lstStyle/>
                    <a:p>
                      <a:pPr algn="ctr">
                        <a:buClrTx/>
                        <a:buSzTx/>
                        <a:buFontTx/>
                        <a:buNone/>
                      </a:pPr>
                      <a:r>
                        <a:rPr sz="1600" b="1" i="0">
                          <a:solidFill>
                            <a:srgbClr val="000000"/>
                          </a:solidFill>
                          <a:latin typeface="微软雅黑"/>
                          <a:ea typeface="微软雅黑"/>
                          <a:cs typeface="微软雅黑"/>
                        </a:rPr>
                        <a:t>5#龙门吊</a:t>
                      </a:r>
                    </a:p>
                  </a:txBody>
                  <a:tcPr marL="6667" marR="6667" marT="6667" marB="0" anchor="b" anchorCtr="0"/>
                </a:tc>
                <a:tc>
                  <a:txBody>
                    <a:bodyPr/>
                    <a:lstStyle/>
                    <a:p>
                      <a:pPr algn="ctr">
                        <a:buClrTx/>
                        <a:buSzTx/>
                        <a:buFontTx/>
                        <a:buNone/>
                      </a:pPr>
                      <a:r>
                        <a:rPr sz="1600" b="1" i="0">
                          <a:solidFill>
                            <a:srgbClr val="000000"/>
                          </a:solidFill>
                          <a:latin typeface="微软雅黑"/>
                          <a:ea typeface="微软雅黑"/>
                          <a:cs typeface="微软雅黑"/>
                        </a:rPr>
                        <a:t>描述</a:t>
                      </a:r>
                      <a:r>
                        <a:rPr sz="1600" b="1" i="0">
                          <a:solidFill>
                            <a:srgbClr val="000000"/>
                          </a:solidFill>
                          <a:latin typeface="微软雅黑"/>
                          <a:ea typeface="微软雅黑"/>
                          <a:cs typeface="微软雅黑"/>
                        </a:rPr>
                        <a:t>不完整</a:t>
                      </a:r>
                    </a:p>
                  </a:txBody>
                  <a:tcPr marL="5080" marR="5080" marT="5080" marB="0" anchor="b" anchorCtr="0"/>
                </a:tc>
                <a:tc>
                  <a:txBody>
                    <a:bodyPr/>
                    <a:lstStyle/>
                    <a:p>
                      <a:pPr algn="ctr">
                        <a:buClrTx/>
                        <a:buSzTx/>
                        <a:buFontTx/>
                        <a:buNone/>
                      </a:pPr>
                      <a:r>
                        <a:rPr sz="1600" b="1" i="0">
                          <a:solidFill>
                            <a:srgbClr val="000000"/>
                          </a:solidFill>
                          <a:latin typeface="微软雅黑"/>
                          <a:ea typeface="微软雅黑"/>
                          <a:cs typeface="微软雅黑"/>
                        </a:rPr>
                        <a:t>谭小飞</a:t>
                      </a:r>
                    </a:p>
                  </a:txBody>
                  <a:tcPr marL="5080" marR="5080" marT="5080" marB="0" anchor="b" anchorCtr="0"/>
                </a:tc>
              </a:tr>
            </a:tbl>
          </a:graphicData>
        </a:graphic>
      </p:graphicFrame>
    </p:spTree>
    <p:extLst>
      <p:ext uri="{BB962C8B-B14F-4D97-AF65-F5344CB8AC3E}">
        <p14:creationId xmlns:p14="http://schemas.microsoft.com/office/powerpoint/2010/main" val="254697968"/>
      </p:ext>
    </p:extLst>
  </p:cSld>
</p:sld>
</file>

<file path=ppt/slides/slide11.xml><?xml version="1.0" encoding="utf-8"?>
<p:sld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F5A08DC9-3096-4929-8562-540596588DF6}"/>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3F18A94F-FDE0-4550-AC13-4E8AECD63755}"/>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7EF36233-3BCA-40DE-9359-5B5F26E05B05}"/>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一、</a:t>
            </a:r>
            <a:r>
              <a:rPr sz="2400" b="1">
                <a:solidFill>
                  <a:srgbClr val="0599D9">
                    <a:alpha val="100000"/>
                  </a:srgbClr>
                </a:solidFill>
              </a:rPr>
              <a:t>部门任务跟踪</a:t>
            </a:r>
          </a:p>
        </p:txBody>
      </p:sp>
      <p:sp>
        <p:nvSpPr>
          <p:cNvPr id="25" name="标题 3">
            <a:extLst xmlns:a="http://schemas.openxmlformats.org/drawingml/2006/main">
              <a:ext uri="{FF2B5EF4-FFF2-40B4-BE49-F238E27FC236}">
                <a16:creationId xmlns:a16="http://schemas.microsoft.com/office/drawing/2014/main" id="{635A29B8-9BD5-427D-8854-DB2AFD18F658}"/>
              </a:ext>
            </a:extLst>
          </p:cNvPr>
          <p:cNvSpPr>
            <a:spLocks xmlns:a="http://schemas.openxmlformats.org/drawingml/2006/main" noGrp="1"/>
          </p:cNvSpPr>
          <p:nvPr/>
        </p:nvSpPr>
        <p:spPr>
          <a:xfrm xmlns:a="http://schemas.openxmlformats.org/drawingml/2006/main">
            <a:off x="706755" y="1113790"/>
            <a:ext cx="10448290"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a:t>
            </a:r>
            <a:r>
              <a:rPr sz="2200" b="1">
                <a:solidFill>
                  <a:srgbClr val="000000"/>
                </a:solidFill>
                <a:latin typeface="微软雅黑"/>
                <a:ea typeface="微软雅黑"/>
                <a:cs typeface="微软雅黑"/>
              </a:rPr>
              <a:t>本周刹车预警机制接收情况</a:t>
            </a:r>
          </a:p>
        </p:txBody>
      </p:sp>
      <p:graphicFrame>
        <p:nvGraphicFramePr>
          <p:cNvPr id="31" name="表格 4"/>
          <p:cNvGraphicFramePr/>
          <p:nvPr/>
        </p:nvGraphicFramePr>
        <p:xfrm>
          <a:off xmlns:a="http://schemas.openxmlformats.org/drawingml/2006/main" x="629285" y="1749425"/>
          <a:ext xmlns:a="http://schemas.openxmlformats.org/drawingml/2006/main" cx="10525760" cy="4404995"/>
        </p:xfrm>
        <a:graphic xmlns:a="http://schemas.openxmlformats.org/drawingml/2006/main">
          <a:graphicData uri="http://schemas.openxmlformats.org/drawingml/2006/table">
            <a:tbl>
              <a:tblPr/>
              <a:tblGrid>
                <a:gridCol w="1635125"/>
                <a:gridCol w="725170"/>
                <a:gridCol w="724535"/>
                <a:gridCol w="725170"/>
                <a:gridCol w="725170"/>
                <a:gridCol w="630555"/>
                <a:gridCol w="737235"/>
                <a:gridCol w="773430"/>
                <a:gridCol w="768350"/>
                <a:gridCol w="723265"/>
                <a:gridCol w="707390"/>
                <a:gridCol w="868045"/>
                <a:gridCol w="782320"/>
              </a:tblGrid>
              <a:tr h="367665">
                <a:tc>
                  <a:txBody>
                    <a:bodyPr/>
                    <a:lstStyle/>
                    <a:p>
                      <a:pPr algn="ctr">
                        <a:buNone/>
                      </a:pPr>
                      <a:r>
                        <a:rPr sz="2000" b="1" i="0">
                          <a:solidFill>
                            <a:srgbClr val="FFFFFF"/>
                          </a:solidFill>
                          <a:latin typeface="微软雅黑"/>
                          <a:ea typeface="微软雅黑"/>
                          <a:cs typeface="微软雅黑"/>
                        </a:rPr>
                        <a:t>统计单位</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00B0F0"/>
                    </a:solidFill>
                  </a:tcPr>
                </a:tc>
                <a:tc gridSpan="6">
                  <a:txBody>
                    <a:bodyPr/>
                    <a:lstStyle/>
                    <a:p>
                      <a:pPr algn="ctr">
                        <a:buNone/>
                      </a:pPr>
                      <a:r>
                        <a:rPr sz="2000" b="1" i="0">
                          <a:solidFill>
                            <a:srgbClr val="FFFFFF"/>
                          </a:solidFill>
                          <a:latin typeface="微软雅黑"/>
                          <a:ea typeface="微软雅黑"/>
                          <a:cs typeface="微软雅黑"/>
                        </a:rPr>
                        <a:t>监理</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00B0F0"/>
                    </a:solidFill>
                  </a:tcPr>
                </a:tc>
                <a:tc hMerge="1">
                  <a:txBody>
                    <a:bodyPr/>
                    <a:lstStyle/>
                    <a:p>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p>
                  </a:txBody>
                  <a:tcPr marL="91440" marR="91440" marT="45720" marB="45720">
                    <a:lnR w="6350" cmpd="sng">
                      <a:solidFill>
                        <a:srgbClr val="000000"/>
                      </a:solidFill>
                      <a:prstDash val="solid"/>
                    </a:lnR>
                    <a:lnT w="6350" cmpd="sng">
                      <a:solidFill>
                        <a:srgbClr val="000000"/>
                      </a:solidFill>
                      <a:prstDash val="solid"/>
                    </a:lnT>
                    <a:lnB w="6350" cmpd="sng">
                      <a:solidFill>
                        <a:srgbClr val="000000"/>
                      </a:solidFill>
                      <a:prstDash val="solid"/>
                    </a:lnB>
                  </a:tcPr>
                </a:tc>
                <a:tc gridSpan="6">
                  <a:txBody>
                    <a:bodyPr/>
                    <a:lstStyle/>
                    <a:p>
                      <a:pPr algn="ctr">
                        <a:buNone/>
                      </a:pPr>
                      <a:r>
                        <a:rPr sz="2000" b="1" i="0">
                          <a:solidFill>
                            <a:srgbClr val="FFFFFF"/>
                          </a:solidFill>
                          <a:latin typeface="微软雅黑"/>
                          <a:ea typeface="微软雅黑"/>
                          <a:cs typeface="微软雅黑"/>
                        </a:rPr>
                        <a:t>工程公司</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00B0F0"/>
                    </a:solidFill>
                  </a:tcPr>
                </a:tc>
                <a:tc hMerge="1">
                  <a:txBody>
                    <a:bodyPr/>
                    <a:lstStyle/>
                    <a:p>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p>
                  </a:txBody>
                  <a:tcPr marL="91440" marR="91440" marT="45720" marB="45720">
                    <a:lnT w="6350" cmpd="sng">
                      <a:solidFill>
                        <a:srgbClr val="000000"/>
                      </a:solidFill>
                      <a:prstDash val="solid"/>
                    </a:lnT>
                    <a:lnB w="6350" cmpd="sng">
                      <a:solidFill>
                        <a:srgbClr val="000000"/>
                      </a:solidFill>
                      <a:prstDash val="solid"/>
                    </a:lnB>
                  </a:tcPr>
                </a:tc>
                <a:tc hMerge="1">
                  <a:txBody>
                    <a:bodyPr/>
                    <a:lstStyle/>
                    <a:p>
                      <a:pPr/>
                    </a:p>
                  </a:txBody>
                  <a:tcPr marL="91440" marR="91440" marT="45720" marB="45720">
                    <a:lnR w="6350" cmpd="sng">
                      <a:solidFill>
                        <a:srgbClr val="000000"/>
                      </a:solidFill>
                      <a:prstDash val="solid"/>
                    </a:lnR>
                    <a:lnT w="6350" cmpd="sng">
                      <a:solidFill>
                        <a:srgbClr val="000000"/>
                      </a:solidFill>
                      <a:prstDash val="solid"/>
                    </a:lnT>
                    <a:lnB w="6350" cmpd="sng">
                      <a:solidFill>
                        <a:srgbClr val="000000"/>
                      </a:solidFill>
                      <a:prstDash val="solid"/>
                    </a:lnB>
                  </a:tcPr>
                </a:tc>
              </a:tr>
              <a:tr h="367665">
                <a:tc>
                  <a:txBody>
                    <a:bodyPr/>
                    <a:lstStyle/>
                    <a:p>
                      <a:pPr algn="ctr">
                        <a:buClrTx/>
                        <a:buSzTx/>
                        <a:buFontTx/>
                        <a:buNone/>
                      </a:pPr>
                      <a:r>
                        <a:rPr sz="1800" b="1">
                          <a:solidFill>
                            <a:srgbClr val="FFFFFF"/>
                          </a:solidFill>
                          <a:latin typeface="微软雅黑"/>
                          <a:ea typeface="微软雅黑"/>
                          <a:cs typeface="微软雅黑"/>
                        </a:rPr>
                        <a:t>接收区域</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gridSpan="2">
                  <a:txBody>
                    <a:bodyPr/>
                    <a:lstStyle/>
                    <a:p>
                      <a:pPr algn="ctr">
                        <a:buNone/>
                      </a:pPr>
                      <a:r>
                        <a:rPr sz="1000" b="1" i="0">
                          <a:solidFill>
                            <a:srgbClr val="000000"/>
                          </a:solidFill>
                          <a:latin typeface="宋体"/>
                          <a:ea typeface="宋体"/>
                          <a:cs typeface="宋体"/>
                        </a:rPr>
                        <a:t>现场区域</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hMerge="1">
                  <a:txBody>
                    <a:bodyPr/>
                    <a:lstStyle/>
                    <a:p>
                      <a:pP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gridSpan="2">
                  <a:txBody>
                    <a:bodyPr/>
                    <a:lstStyle/>
                    <a:p>
                      <a:pPr algn="ctr">
                        <a:buNone/>
                      </a:pPr>
                      <a:r>
                        <a:rPr sz="1000" b="1" i="0">
                          <a:solidFill>
                            <a:srgbClr val="000000"/>
                          </a:solidFill>
                          <a:latin typeface="宋体"/>
                          <a:ea typeface="宋体"/>
                          <a:cs typeface="宋体"/>
                        </a:rPr>
                        <a:t>临建区</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hMerge="1">
                  <a:txBody>
                    <a:bodyPr/>
                    <a:lstStyle/>
                    <a:p>
                      <a:pP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gridSpan="2">
                  <a:txBody>
                    <a:bodyPr/>
                    <a:lstStyle/>
                    <a:p>
                      <a:pPr algn="ctr">
                        <a:buNone/>
                      </a:pPr>
                      <a:r>
                        <a:rPr sz="1000" b="1" i="0">
                          <a:solidFill>
                            <a:srgbClr val="000000"/>
                          </a:solidFill>
                          <a:latin typeface="宋体"/>
                          <a:ea typeface="宋体"/>
                          <a:cs typeface="宋体"/>
                        </a:rPr>
                        <a:t>大件库</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hMerge="1">
                  <a:txBody>
                    <a:bodyPr/>
                    <a:lstStyle/>
                    <a:p>
                      <a:pP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gridSpan="2">
                  <a:txBody>
                    <a:bodyPr/>
                    <a:lstStyle/>
                    <a:p>
                      <a:pPr algn="ctr">
                        <a:buNone/>
                      </a:pPr>
                      <a:r>
                        <a:rPr sz="1000" b="1">
                          <a:solidFill>
                            <a:srgbClr val="000000"/>
                          </a:solidFill>
                          <a:latin typeface="宋体"/>
                          <a:ea typeface="宋体"/>
                          <a:cs typeface="宋体"/>
                        </a:rPr>
                        <a:t>现场区域</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hMerge="1">
                  <a:txBody>
                    <a:bodyPr/>
                    <a:lstStyle/>
                    <a:p>
                      <a:pP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gridSpan="2">
                  <a:txBody>
                    <a:bodyPr/>
                    <a:lstStyle/>
                    <a:p>
                      <a:pPr algn="ctr">
                        <a:buNone/>
                      </a:pPr>
                      <a:r>
                        <a:rPr sz="1000" b="1">
                          <a:solidFill>
                            <a:srgbClr val="000000"/>
                          </a:solidFill>
                          <a:latin typeface="宋体"/>
                          <a:ea typeface="宋体"/>
                          <a:cs typeface="宋体"/>
                        </a:rPr>
                        <a:t>临建区</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hMerge="1">
                  <a:txBody>
                    <a:bodyPr/>
                    <a:lstStyle/>
                    <a:p>
                      <a:pP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gridSpan="2">
                  <a:txBody>
                    <a:bodyPr/>
                    <a:lstStyle/>
                    <a:p>
                      <a:pPr algn="ctr">
                        <a:buNone/>
                      </a:pPr>
                      <a:r>
                        <a:rPr sz="1000" b="1">
                          <a:solidFill>
                            <a:srgbClr val="000000"/>
                          </a:solidFill>
                          <a:latin typeface="宋体"/>
                          <a:ea typeface="宋体"/>
                          <a:cs typeface="宋体"/>
                        </a:rPr>
                        <a:t>大件库</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hMerge="1">
                  <a:txBody>
                    <a:bodyPr/>
                    <a:lstStyle/>
                    <a:p>
                      <a:pP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a:solidFill>
                            <a:srgbClr val="FFFFFF"/>
                          </a:solidFill>
                          <a:latin typeface="微软雅黑"/>
                          <a:ea typeface="微软雅黑"/>
                          <a:cs typeface="微软雅黑"/>
                        </a:rPr>
                        <a:t>统计周期</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本周</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本周</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本周</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本周</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本周</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本周</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本月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整改单</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3</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FFFF00"/>
                    </a:solidFill>
                  </a:tcPr>
                </a:tc>
                <a:tc>
                  <a:txBody>
                    <a:bodyPr/>
                    <a:lstStyle/>
                    <a:p>
                      <a:pPr algn="ctr">
                        <a:buNone/>
                      </a:pPr>
                      <a:r>
                        <a:rPr sz="1000" b="1" i="0">
                          <a:solidFill>
                            <a:srgbClr val="000000"/>
                          </a:solidFill>
                          <a:latin typeface="宋体"/>
                          <a:ea typeface="宋体"/>
                          <a:cs typeface="宋体"/>
                        </a:rPr>
                        <a:t>3</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FFFF00"/>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FFFF00"/>
                    </a:solidFill>
                  </a:tcPr>
                </a:tc>
                <a:tc>
                  <a:txBody>
                    <a:bodyPr/>
                    <a:lstStyle/>
                    <a:p>
                      <a:pPr algn="ctr">
                        <a:buNone/>
                      </a:pPr>
                      <a:r>
                        <a:rPr sz="1000" b="1" i="0">
                          <a:solidFill>
                            <a:srgbClr val="000000"/>
                          </a:solidFill>
                          <a:latin typeface="宋体"/>
                          <a:ea typeface="宋体"/>
                          <a:cs typeface="宋体"/>
                        </a:rPr>
                        <a:t>3</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rgbClr val="FFFF00"/>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通报</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chemeClr val="tx1"/>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1</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3</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2</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3</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0680">
                <a:tc>
                  <a:txBody>
                    <a:bodyPr/>
                    <a:lstStyle/>
                    <a:p>
                      <a:pPr algn="ctr">
                        <a:buClrTx/>
                        <a:buSzTx/>
                        <a:buFontTx/>
                        <a:buNone/>
                      </a:pPr>
                      <a:r>
                        <a:rPr sz="1800" b="1" i="0">
                          <a:solidFill>
                            <a:srgbClr val="FFFFFF"/>
                          </a:solidFill>
                          <a:latin typeface="微软雅黑"/>
                          <a:ea typeface="微软雅黑"/>
                          <a:cs typeface="微软雅黑"/>
                        </a:rPr>
                        <a:t>挂牌督办</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1</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违章培训</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5</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13</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9</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25</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停工令</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1</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1</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管理约谈</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红牌</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黄牌</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r h="367665">
                <a:tc>
                  <a:txBody>
                    <a:bodyPr/>
                    <a:lstStyle/>
                    <a:p>
                      <a:pPr algn="ctr">
                        <a:buClrTx/>
                        <a:buSzTx/>
                        <a:buFontTx/>
                        <a:buNone/>
                      </a:pPr>
                      <a:r>
                        <a:rPr sz="1800" b="1" i="0">
                          <a:solidFill>
                            <a:srgbClr val="FFFFFF"/>
                          </a:solidFill>
                          <a:latin typeface="微软雅黑"/>
                          <a:ea typeface="微软雅黑"/>
                          <a:cs typeface="微软雅黑"/>
                        </a:rPr>
                        <a:t>激励</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solidFill>
                      <a:schemeClr val="accent1"/>
                    </a:solid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c>
                  <a:txBody>
                    <a:bodyPr/>
                    <a:lstStyle/>
                    <a:p>
                      <a:pPr algn="ctr">
                        <a:buNone/>
                      </a:pPr>
                      <a:r>
                        <a:rPr sz="1000" b="1" i="0">
                          <a:solidFill>
                            <a:srgbClr val="000000"/>
                          </a:solidFill>
                          <a:latin typeface="宋体"/>
                          <a:ea typeface="宋体"/>
                          <a:cs typeface="宋体"/>
                        </a:rPr>
                        <a:t>0</a:t>
                      </a:r>
                    </a:p>
                  </a:txBody>
                  <a:tcPr marL="9842" marR="9842" marT="9842" marB="0" anchor="ctr" anchorCtr="0">
                    <a:lnL w="6350" cmpd="sng">
                      <a:solidFill>
                        <a:srgbClr val="000000"/>
                      </a:solidFill>
                      <a:prstDash val="solid"/>
                    </a:lnL>
                    <a:lnR w="6350" cmpd="sng">
                      <a:solidFill>
                        <a:srgbClr val="000000"/>
                      </a:solidFill>
                      <a:prstDash val="solid"/>
                    </a:lnR>
                    <a:lnT w="6350" cmpd="sng">
                      <a:solidFill>
                        <a:srgbClr val="000000"/>
                      </a:solidFill>
                      <a:prstDash val="solid"/>
                    </a:lnT>
                    <a:lnB w="6350" cmpd="sng">
                      <a:solidFill>
                        <a:srgbClr val="000000"/>
                      </a:solidFill>
                      <a:prstDash val="solid"/>
                    </a:lnB>
                    <a:noFill/>
                  </a:tcPr>
                </a:tc>
              </a:tr>
            </a:tbl>
          </a:graphicData>
        </a:graphic>
      </p:graphicFrame>
    </p:spTree>
    <p:extLst>
      <p:ext uri="{BB962C8B-B14F-4D97-AF65-F5344CB8AC3E}">
        <p14:creationId xmlns:p14="http://schemas.microsoft.com/office/powerpoint/2010/main" val="189876785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D28E005D-A8F4-4E5C-94E8-640121AC5925}"/>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684FD69C-BC7A-4BF4-8B4D-0E5BE8563C48}"/>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BDB9DBFC-71D0-459B-9C2F-1D3CD6ED8CE1}"/>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一、</a:t>
            </a:r>
            <a:r>
              <a:rPr sz="2400" b="1">
                <a:solidFill>
                  <a:srgbClr val="0599D9">
                    <a:alpha val="100000"/>
                  </a:srgbClr>
                </a:solidFill>
              </a:rPr>
              <a:t>部门任务跟踪</a:t>
            </a:r>
          </a:p>
        </p:txBody>
      </p:sp>
      <p:sp>
        <p:nvSpPr>
          <p:cNvPr id="25" name="标题 3">
            <a:extLst xmlns:a="http://schemas.openxmlformats.org/drawingml/2006/main">
              <a:ext uri="{FF2B5EF4-FFF2-40B4-BE49-F238E27FC236}">
                <a16:creationId xmlns:a16="http://schemas.microsoft.com/office/drawing/2014/main" id="{39FD64AF-982C-4160-BD8F-C23A8C592CB9}"/>
              </a:ext>
            </a:extLst>
          </p:cNvPr>
          <p:cNvSpPr>
            <a:spLocks xmlns:a="http://schemas.openxmlformats.org/drawingml/2006/main" noGrp="1"/>
          </p:cNvSpPr>
          <p:nvPr/>
        </p:nvSpPr>
        <p:spPr>
          <a:xfrm xmlns:a="http://schemas.openxmlformats.org/drawingml/2006/main">
            <a:off x="438225" y="1124382"/>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8</a:t>
            </a:r>
            <a:r>
              <a:rPr sz="2200" b="1">
                <a:solidFill>
                  <a:srgbClr val="000000"/>
                </a:solidFill>
                <a:latin typeface="微软雅黑"/>
                <a:ea typeface="微软雅黑"/>
                <a:cs typeface="微软雅黑"/>
              </a:rPr>
              <a:t>、整改单关闭情况（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1" name="表格 3"/>
          <p:cNvGraphicFramePr/>
          <p:nvPr/>
        </p:nvGraphicFramePr>
        <p:xfrm>
          <a:off xmlns:a="http://schemas.openxmlformats.org/drawingml/2006/main" x="314325" y="2042795"/>
          <a:ext xmlns:a="http://schemas.openxmlformats.org/drawingml/2006/main" cx="11583670" cy="2811145"/>
        </p:xfrm>
        <a:graphic xmlns:a="http://schemas.openxmlformats.org/drawingml/2006/main">
          <a:graphicData uri="http://schemas.openxmlformats.org/drawingml/2006/table">
            <a:tbl>
              <a:tblPr firstRow="1" bandRow="1">
                <a:tableStyleId>{5940675A-B579-460E-94D1-54222C63F5DA}</a:tableStyleId>
              </a:tblPr>
              <a:tblGrid>
                <a:gridCol w="561975"/>
                <a:gridCol w="3472815"/>
                <a:gridCol w="1298575"/>
                <a:gridCol w="1022350"/>
                <a:gridCol w="1294130"/>
                <a:gridCol w="1240790"/>
                <a:gridCol w="1497965"/>
                <a:gridCol w="1195070"/>
              </a:tblGrid>
              <a:tr h="430530">
                <a:tc>
                  <a:txBody>
                    <a:bodyPr/>
                    <a:lstStyle/>
                    <a:p>
                      <a:pPr indent="0" algn="ctr">
                        <a:buNone/>
                      </a:pPr>
                      <a:r>
                        <a:rPr sz="1600" b="1">
                          <a:solidFill>
                            <a:schemeClr val="bg1"/>
                          </a:solidFill>
                          <a:latin typeface="微软雅黑"/>
                          <a:ea typeface="微软雅黑"/>
                          <a:cs typeface="微软雅黑"/>
                        </a:rPr>
                        <a:t>序号</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整改单</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责任部门</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责任人</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下发日期</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到期</a:t>
                      </a:r>
                      <a:r>
                        <a:rPr sz="1600" b="1">
                          <a:solidFill>
                            <a:schemeClr val="bg1"/>
                          </a:solidFill>
                          <a:latin typeface="微软雅黑"/>
                          <a:ea typeface="微软雅黑"/>
                          <a:cs typeface="微软雅黑"/>
                        </a:rPr>
                        <a:t>日期</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是否</a:t>
                      </a:r>
                      <a:r>
                        <a:rPr sz="1600" b="1">
                          <a:solidFill>
                            <a:schemeClr val="bg1"/>
                          </a:solidFill>
                          <a:latin typeface="微软雅黑"/>
                          <a:ea typeface="微软雅黑"/>
                          <a:cs typeface="微软雅黑"/>
                        </a:rPr>
                        <a:t>按时关闭</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跟踪责任人</a:t>
                      </a:r>
                    </a:p>
                  </a:txBody>
                  <a:tcPr marL="68580" marR="68580" marT="0" marB="0" vert="horz" anchor="ctr">
                    <a:solidFill>
                      <a:srgbClr val="00B0F0"/>
                    </a:solidFill>
                  </a:tcPr>
                </a:tc>
              </a:tr>
              <a:tr h="560070">
                <a:tc>
                  <a:txBody>
                    <a:bodyPr/>
                    <a:lstStyle/>
                    <a:p>
                      <a:pPr algn="ctr">
                        <a:buClrTx/>
                        <a:buSzTx/>
                        <a:buFontTx/>
                        <a:buNone/>
                      </a:pPr>
                      <a:r>
                        <a:rPr b="1">
                          <a:latin typeface="微软雅黑"/>
                          <a:ea typeface="微软雅黑"/>
                          <a:cs typeface="微软雅黑"/>
                        </a:rPr>
                        <a:t>1</a:t>
                      </a:r>
                    </a:p>
                  </a:txBody>
                  <a:tcPr marL="91440" marR="91440" marT="45720" marB="45720" anchor="ctr" anchorCtr="0"/>
                </a:tc>
                <a:tc>
                  <a:txBody>
                    <a:bodyPr/>
                    <a:lstStyle/>
                    <a:p>
                      <a:pPr algn="ctr">
                        <a:buClrTx/>
                        <a:buSzTx/>
                        <a:buFontTx/>
                        <a:buNone/>
                      </a:pPr>
                      <a:r>
                        <a:rPr sz="1800" b="1" i="0">
                          <a:latin typeface="微软雅黑"/>
                          <a:ea typeface="微软雅黑"/>
                          <a:cs typeface="微软雅黑"/>
                        </a:rPr>
                        <a:t>关于对BOP队在BDL11段钢筋墙体防倾覆与作业脚手架违规连接的整改通知单</a:t>
                      </a:r>
                    </a:p>
                  </a:txBody>
                  <a:tcPr marL="6667" marR="6667" marT="6667" marB="0" anchor="ctr" anchorCtr="0"/>
                </a:tc>
                <a:tc>
                  <a:txBody>
                    <a:bodyPr/>
                    <a:lstStyle/>
                    <a:p>
                      <a:pPr algn="ctr">
                        <a:buClrTx/>
                        <a:buSzTx/>
                        <a:buFontTx/>
                        <a:buNone/>
                      </a:pPr>
                      <a:r>
                        <a:rPr sz="1800" b="1" i="0">
                          <a:latin typeface="微软雅黑"/>
                          <a:ea typeface="微软雅黑"/>
                          <a:cs typeface="微软雅黑"/>
                        </a:rPr>
                        <a:t>BOP队</a:t>
                      </a:r>
                    </a:p>
                  </a:txBody>
                  <a:tcPr marL="6667" marR="6667" marT="6667" marB="0" anchor="ctr" anchorCtr="0"/>
                </a:tc>
                <a:tc>
                  <a:txBody>
                    <a:bodyPr/>
                    <a:lstStyle/>
                    <a:p>
                      <a:pPr algn="ctr">
                        <a:buClrTx/>
                        <a:buSzTx/>
                        <a:buFontTx/>
                        <a:buNone/>
                      </a:pPr>
                      <a:r>
                        <a:rPr sz="1800" b="1" i="0">
                          <a:latin typeface="微软雅黑"/>
                          <a:ea typeface="微软雅黑"/>
                          <a:cs typeface="微软雅黑"/>
                        </a:rPr>
                        <a:t>段龙飞</a:t>
                      </a:r>
                    </a:p>
                  </a:txBody>
                  <a:tcPr marL="6667" marR="6667" marT="6667" marB="0" anchor="ctr" anchorCtr="0"/>
                </a:tc>
                <a:tc>
                  <a:txBody>
                    <a:bodyPr/>
                    <a:lstStyle/>
                    <a:p>
                      <a:pPr algn="ctr">
                        <a:buClrTx/>
                        <a:buSzTx/>
                        <a:buFontTx/>
                        <a:buNone/>
                      </a:pPr>
                      <a:r>
                        <a:rPr sz="1800" b="1" i="0">
                          <a:latin typeface="微软雅黑"/>
                          <a:ea typeface="微软雅黑"/>
                          <a:cs typeface="微软雅黑"/>
                        </a:rPr>
                        <a:t>2026/7/19</a:t>
                      </a:r>
                    </a:p>
                  </a:txBody>
                  <a:tcPr marL="6667" marR="6667" marT="6667" marB="0" anchor="ctr" anchorCtr="0"/>
                </a:tc>
                <a:tc>
                  <a:txBody>
                    <a:bodyPr/>
                    <a:lstStyle/>
                    <a:p>
                      <a:pPr algn="ctr">
                        <a:buClrTx/>
                        <a:buSzTx/>
                        <a:buFontTx/>
                        <a:buNone/>
                      </a:pPr>
                      <a:r>
                        <a:rPr sz="1800" b="1" i="0">
                          <a:latin typeface="微软雅黑"/>
                          <a:ea typeface="微软雅黑"/>
                          <a:cs typeface="微软雅黑"/>
                        </a:rPr>
                        <a:t>2026/7/25</a:t>
                      </a:r>
                    </a:p>
                  </a:txBody>
                  <a:tcPr marL="6667" marR="6667" marT="6667" marB="0" anchor="ctr" anchorCtr="0"/>
                </a:tc>
                <a:tc>
                  <a:txBody>
                    <a:bodyPr/>
                    <a:lstStyle/>
                    <a:p>
                      <a:pPr algn="ctr">
                        <a:buClrTx/>
                        <a:buSzTx/>
                        <a:buFontTx/>
                        <a:buNone/>
                      </a:pPr>
                      <a:r>
                        <a:rPr sz="1800" b="1" i="0">
                          <a:latin typeface="微软雅黑"/>
                          <a:ea typeface="微软雅黑"/>
                          <a:cs typeface="微软雅黑"/>
                        </a:rPr>
                        <a:t>未到期</a:t>
                      </a:r>
                    </a:p>
                  </a:txBody>
                  <a:tcPr marL="5080" marR="5080" marT="5080" marB="0" anchor="ctr" anchorCtr="0"/>
                </a:tc>
                <a:tc>
                  <a:txBody>
                    <a:bodyPr/>
                    <a:lstStyle/>
                    <a:p>
                      <a:pPr algn="ctr">
                        <a:buClrTx/>
                        <a:buSzTx/>
                        <a:buFontTx/>
                        <a:buNone/>
                      </a:pPr>
                      <a:r>
                        <a:rPr sz="1800" b="1" i="0">
                          <a:latin typeface="微软雅黑"/>
                          <a:ea typeface="微软雅黑"/>
                          <a:cs typeface="微软雅黑"/>
                        </a:rPr>
                        <a:t>刘友三</a:t>
                      </a:r>
                    </a:p>
                  </a:txBody>
                  <a:tcPr marL="6667" marR="6667" marT="6667" marB="0" anchor="ctr" anchorCtr="0"/>
                </a:tc>
              </a:tr>
            </a:tbl>
          </a:graphicData>
        </a:graphic>
      </p:graphicFrame>
      <p:sp>
        <p:nvSpPr>
          <p:cNvPr id="2" name="文本框 1">
            <a:extLst xmlns:a="http://schemas.openxmlformats.org/drawingml/2006/main">
              <a:ext uri="{FF2B5EF4-FFF2-40B4-BE49-F238E27FC236}">
                <a16:creationId xmlns:a16="http://schemas.microsoft.com/office/drawing/2014/main" id="{CB9CC4B3-0415-437B-9D1B-295C7F6A3CBF}"/>
              </a:ext>
            </a:extLst>
          </p:cNvPr>
          <p:cNvSpPr>
            <a:spLocks xmlns:a="http://schemas.openxmlformats.org/drawingml/2006/main" noGrp="1"/>
          </p:cNvSpPr>
          <p:nvPr/>
        </p:nvSpPr>
        <p:spPr>
          <a:xfrm xmlns:a="http://schemas.openxmlformats.org/drawingml/2006/main">
            <a:off x="1005205" y="1582420"/>
            <a:ext cx="1100645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000000"/>
                </a:solidFill>
                <a:latin typeface="微软雅黑"/>
                <a:ea typeface="微软雅黑"/>
                <a:cs typeface="微软雅黑"/>
              </a:rPr>
              <a:t>本报告周期内，安监部发出及延期整改通知单</a:t>
            </a:r>
            <a:r>
              <a:rPr sz="2400" b="1">
                <a:solidFill>
                  <a:srgbClr val="FF0000"/>
                </a:solidFill>
                <a:latin typeface="微软雅黑"/>
                <a:ea typeface="微软雅黑"/>
                <a:cs typeface="微软雅黑"/>
              </a:rPr>
              <a:t>1</a:t>
            </a:r>
            <a:r>
              <a:rPr sz="2400" b="1">
                <a:solidFill>
                  <a:srgbClr val="FF0000"/>
                </a:solidFill>
                <a:latin typeface="微软雅黑"/>
                <a:ea typeface="微软雅黑"/>
                <a:cs typeface="微软雅黑"/>
              </a:rPr>
              <a:t>份</a:t>
            </a:r>
            <a:r>
              <a:rPr b="1">
                <a:solidFill>
                  <a:schemeClr val="tx1"/>
                </a:solidFill>
                <a:latin typeface="微软雅黑"/>
                <a:ea typeface="微软雅黑"/>
                <a:cs typeface="微软雅黑"/>
              </a:rPr>
              <a:t>、</a:t>
            </a:r>
            <a:r>
              <a:rPr b="1">
                <a:latin typeface="微软雅黑"/>
                <a:ea typeface="微软雅黑"/>
                <a:cs typeface="微软雅黑"/>
              </a:rPr>
              <a:t>整改通知单</a:t>
            </a:r>
            <a:r>
              <a:rPr b="1">
                <a:solidFill>
                  <a:srgbClr val="000000"/>
                </a:solidFill>
                <a:latin typeface="微软雅黑"/>
                <a:ea typeface="微软雅黑"/>
                <a:cs typeface="微软雅黑"/>
              </a:rPr>
              <a:t>关闭</a:t>
            </a:r>
            <a:r>
              <a:rPr sz="2400" b="1">
                <a:solidFill>
                  <a:srgbClr val="FF0000"/>
                </a:solidFill>
                <a:latin typeface="微软雅黑"/>
                <a:ea typeface="微软雅黑"/>
                <a:cs typeface="微软雅黑"/>
              </a:rPr>
              <a:t>0</a:t>
            </a:r>
            <a:r>
              <a:rPr sz="2400" b="1">
                <a:solidFill>
                  <a:srgbClr val="FF0000"/>
                </a:solidFill>
                <a:latin typeface="微软雅黑"/>
                <a:ea typeface="微软雅黑"/>
                <a:cs typeface="微软雅黑"/>
              </a:rPr>
              <a:t>份</a:t>
            </a:r>
            <a:r>
              <a:rPr b="1">
                <a:solidFill>
                  <a:schemeClr val="tx1"/>
                </a:solidFill>
                <a:latin typeface="微软雅黑"/>
                <a:ea typeface="微软雅黑"/>
                <a:cs typeface="微软雅黑"/>
              </a:rPr>
              <a:t>、还剩</a:t>
            </a:r>
            <a:r>
              <a:rPr sz="2400" b="1">
                <a:solidFill>
                  <a:srgbClr val="FF0000"/>
                </a:solidFill>
                <a:latin typeface="微软雅黑"/>
                <a:ea typeface="微软雅黑"/>
                <a:cs typeface="微软雅黑"/>
              </a:rPr>
              <a:t>1</a:t>
            </a:r>
            <a:r>
              <a:rPr sz="2400" b="1">
                <a:solidFill>
                  <a:srgbClr val="FF0000"/>
                </a:solidFill>
                <a:latin typeface="微软雅黑"/>
                <a:ea typeface="微软雅黑"/>
                <a:cs typeface="微软雅黑"/>
              </a:rPr>
              <a:t>份</a:t>
            </a:r>
            <a:r>
              <a:rPr b="1">
                <a:solidFill>
                  <a:schemeClr val="tx1"/>
                </a:solidFill>
                <a:latin typeface="微软雅黑"/>
                <a:ea typeface="微软雅黑"/>
                <a:cs typeface="微软雅黑"/>
              </a:rPr>
              <a:t>整改通知单</a:t>
            </a:r>
            <a:r>
              <a:rPr b="1">
                <a:solidFill>
                  <a:schemeClr val="tx1"/>
                </a:solidFill>
                <a:latin typeface="微软雅黑"/>
                <a:ea typeface="微软雅黑"/>
                <a:cs typeface="微软雅黑"/>
              </a:rPr>
              <a:t>未关闭。</a:t>
            </a:r>
          </a:p>
        </p:txBody>
      </p:sp>
    </p:spTree>
    <p:extLst>
      <p:ext uri="{BB962C8B-B14F-4D97-AF65-F5344CB8AC3E}">
        <p14:creationId xmlns:p14="http://schemas.microsoft.com/office/powerpoint/2010/main" val="1813230115"/>
      </p:ext>
    </p:extLst>
  </p:cSld>
</p:sld>
</file>

<file path=ppt/slides/slide13.xml><?xml version="1.0" encoding="utf-8"?>
<p:sld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E634E986-C9F4-41D8-84E5-AB23491E19F1}"/>
              </a:ext>
            </a:extLst>
          </p:cNvPr>
          <p:cNvSpPr>
            <a:spLocks xmlns:a="http://schemas.openxmlformats.org/drawingml/2006/main" noGrp="1"/>
          </p:cNvSpPr>
          <p:nvPr/>
        </p:nvSpPr>
        <p:spPr>
          <a:xfrm xmlns:a="http://schemas.openxmlformats.org/drawingml/2006/main" rot="0" flipH="0" flipV="0">
            <a:off x="208280" y="531495"/>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B3C56165-7C02-4BFF-9615-794630F3E492}"/>
              </a:ext>
            </a:extLst>
          </p:cNvPr>
          <p:cNvSpPr>
            <a:spLocks xmlns:a="http://schemas.openxmlformats.org/drawingml/2006/main" noGrp="1"/>
          </p:cNvSpPr>
          <p:nvPr/>
        </p:nvSpPr>
        <p:spPr>
          <a:xfrm xmlns:a="http://schemas.openxmlformats.org/drawingml/2006/main" rot="0" flipH="0" flipV="1">
            <a:off x="723265" y="909320"/>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7DF227A0-2CE8-4DD5-A2F5-DAE869CE1272}"/>
              </a:ext>
            </a:extLst>
          </p:cNvPr>
          <p:cNvSpPr>
            <a:spLocks xmlns:a="http://schemas.openxmlformats.org/drawingml/2006/main" noGrp="1"/>
          </p:cNvSpPr>
          <p:nvPr/>
        </p:nvSpPr>
        <p:spPr>
          <a:xfrm xmlns:a="http://schemas.openxmlformats.org/drawingml/2006/main" rot="0" flipH="0" flipV="0">
            <a:off x="715010" y="446405"/>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一、</a:t>
            </a:r>
            <a:r>
              <a:rPr sz="2400" b="1">
                <a:solidFill>
                  <a:srgbClr val="0599D9">
                    <a:alpha val="100000"/>
                  </a:srgbClr>
                </a:solidFill>
              </a:rPr>
              <a:t>部门任务跟踪</a:t>
            </a:r>
          </a:p>
        </p:txBody>
      </p:sp>
      <p:sp>
        <p:nvSpPr>
          <p:cNvPr id="25" name="标题 3">
            <a:extLst xmlns:a="http://schemas.openxmlformats.org/drawingml/2006/main">
              <a:ext uri="{FF2B5EF4-FFF2-40B4-BE49-F238E27FC236}">
                <a16:creationId xmlns:a16="http://schemas.microsoft.com/office/drawing/2014/main" id="{D1CF2358-3557-4C7A-B7C6-1F953CF45D44}"/>
              </a:ext>
            </a:extLst>
          </p:cNvPr>
          <p:cNvSpPr>
            <a:spLocks xmlns:a="http://schemas.openxmlformats.org/drawingml/2006/main" noGrp="1"/>
          </p:cNvSpPr>
          <p:nvPr/>
        </p:nvSpPr>
        <p:spPr>
          <a:xfrm xmlns:a="http://schemas.openxmlformats.org/drawingml/2006/main">
            <a:off x="480135" y="965632"/>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9</a:t>
            </a:r>
            <a:r>
              <a:rPr sz="2200" b="1">
                <a:solidFill>
                  <a:srgbClr val="000000"/>
                </a:solidFill>
                <a:latin typeface="微软雅黑"/>
                <a:ea typeface="微软雅黑"/>
                <a:cs typeface="微软雅黑"/>
              </a:rPr>
              <a:t>、通报关闭情况（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1" name="表格 3"/>
          <p:cNvGraphicFramePr/>
          <p:nvPr/>
        </p:nvGraphicFramePr>
        <p:xfrm>
          <a:off xmlns:a="http://schemas.openxmlformats.org/drawingml/2006/main" x="198120" y="1740535"/>
          <a:ext xmlns:a="http://schemas.openxmlformats.org/drawingml/2006/main" cx="11920855" cy="4288790"/>
        </p:xfrm>
        <a:graphic xmlns:a="http://schemas.openxmlformats.org/drawingml/2006/main">
          <a:graphicData uri="http://schemas.openxmlformats.org/drawingml/2006/table">
            <a:tbl>
              <a:tblPr firstRow="1" bandRow="1">
                <a:tableStyleId>{5940675A-B579-460E-94D1-54222C63F5DA}</a:tableStyleId>
              </a:tblPr>
              <a:tblGrid>
                <a:gridCol w="558800"/>
                <a:gridCol w="3507105"/>
                <a:gridCol w="1670685"/>
                <a:gridCol w="1002665"/>
                <a:gridCol w="1335405"/>
                <a:gridCol w="1281430"/>
                <a:gridCol w="1355090"/>
                <a:gridCol w="1209675"/>
              </a:tblGrid>
              <a:tr h="487680">
                <a:tc>
                  <a:txBody>
                    <a:bodyPr/>
                    <a:lstStyle/>
                    <a:p>
                      <a:pPr indent="0" algn="ctr">
                        <a:buNone/>
                      </a:pPr>
                      <a:r>
                        <a:rPr sz="1600" b="1">
                          <a:solidFill>
                            <a:schemeClr val="bg1"/>
                          </a:solidFill>
                          <a:latin typeface="微软雅黑"/>
                          <a:ea typeface="微软雅黑"/>
                          <a:cs typeface="微软雅黑"/>
                        </a:rPr>
                        <a:t>序号</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通报</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责任部门</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责任人</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下发日期</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到期</a:t>
                      </a:r>
                      <a:r>
                        <a:rPr sz="1600" b="1">
                          <a:solidFill>
                            <a:schemeClr val="bg1"/>
                          </a:solidFill>
                          <a:latin typeface="微软雅黑"/>
                          <a:ea typeface="微软雅黑"/>
                          <a:cs typeface="微软雅黑"/>
                        </a:rPr>
                        <a:t>日期</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是否</a:t>
                      </a:r>
                      <a:r>
                        <a:rPr sz="1600" b="1">
                          <a:solidFill>
                            <a:schemeClr val="bg1"/>
                          </a:solidFill>
                          <a:latin typeface="微软雅黑"/>
                          <a:ea typeface="微软雅黑"/>
                          <a:cs typeface="微软雅黑"/>
                        </a:rPr>
                        <a:t>按时关闭</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跟踪责任人</a:t>
                      </a:r>
                    </a:p>
                  </a:txBody>
                  <a:tcPr marL="68580" marR="68580" marT="0" marB="0" vert="horz" anchor="ctr">
                    <a:solidFill>
                      <a:srgbClr val="00B0F0"/>
                    </a:solidFill>
                  </a:tcPr>
                </a:tc>
              </a:tr>
              <a:tr h="632460">
                <a:tc>
                  <a:txBody>
                    <a:bodyPr/>
                    <a:lstStyle/>
                    <a:p>
                      <a:pPr algn="ctr">
                        <a:buClrTx/>
                        <a:buSzTx/>
                        <a:buFontTx/>
                        <a:buNone/>
                      </a:pPr>
                      <a:r>
                        <a:rPr b="0">
                          <a:latin typeface="微软雅黑"/>
                          <a:ea typeface="微软雅黑"/>
                          <a:cs typeface="微软雅黑"/>
                        </a:rPr>
                        <a:t>1</a:t>
                      </a:r>
                    </a:p>
                  </a:txBody>
                  <a:tcPr marL="91440" marR="91440" marT="45720" marB="45720" anchor="ctr" anchorCtr="0"/>
                </a:tc>
                <a:tc>
                  <a:txBody>
                    <a:bodyPr/>
                    <a:lstStyle/>
                    <a:p>
                      <a:pPr algn="ctr">
                        <a:buClrTx/>
                        <a:buSzTx/>
                        <a:buFontTx/>
                        <a:buNone/>
                      </a:pPr>
                      <a:r>
                        <a:rPr sz="1800" b="0" i="0">
                          <a:latin typeface="微软雅黑"/>
                          <a:ea typeface="微软雅黑"/>
                          <a:cs typeface="微软雅黑"/>
                        </a:rPr>
                        <a:t>关于对综合车间在临建二区灭火器检查不到位的处理通报</a:t>
                      </a:r>
                    </a:p>
                  </a:txBody>
                  <a:tcPr marL="6667" marR="6667" marT="6667" marB="0" anchor="ctr" anchorCtr="0"/>
                </a:tc>
                <a:tc>
                  <a:txBody>
                    <a:bodyPr/>
                    <a:lstStyle/>
                    <a:p>
                      <a:pPr algn="ctr">
                        <a:buClrTx/>
                        <a:buSzTx/>
                        <a:buFontTx/>
                        <a:buNone/>
                      </a:pPr>
                      <a:r>
                        <a:rPr sz="1800" b="0" i="0">
                          <a:latin typeface="微软雅黑"/>
                          <a:ea typeface="微软雅黑"/>
                          <a:cs typeface="微软雅黑"/>
                        </a:rPr>
                        <a:t>综合车间</a:t>
                      </a:r>
                    </a:p>
                  </a:txBody>
                  <a:tcPr marL="6667" marR="6667" marT="6667" marB="0" anchor="ctr" anchorCtr="0"/>
                </a:tc>
                <a:tc>
                  <a:txBody>
                    <a:bodyPr/>
                    <a:lstStyle/>
                    <a:p>
                      <a:pPr algn="ctr">
                        <a:buClrTx/>
                        <a:buSzTx/>
                        <a:buFontTx/>
                        <a:buNone/>
                      </a:pPr>
                      <a:r>
                        <a:rPr sz="1800" b="0" i="0">
                          <a:latin typeface="微软雅黑"/>
                          <a:ea typeface="微软雅黑"/>
                          <a:cs typeface="微软雅黑"/>
                        </a:rPr>
                        <a:t>韦伴锋</a:t>
                      </a:r>
                    </a:p>
                  </a:txBody>
                  <a:tcPr marL="9842" marR="9842" marT="9842" marB="0" anchor="ctr" anchorCtr="0"/>
                </a:tc>
                <a:tc>
                  <a:txBody>
                    <a:bodyPr/>
                    <a:lstStyle/>
                    <a:p>
                      <a:pPr algn="ctr">
                        <a:buClrTx/>
                        <a:buSzTx/>
                        <a:buFontTx/>
                        <a:buNone/>
                      </a:pPr>
                      <a:r>
                        <a:rPr sz="1800" b="0" i="0">
                          <a:latin typeface="微软雅黑"/>
                          <a:ea typeface="微软雅黑"/>
                          <a:cs typeface="微软雅黑"/>
                        </a:rPr>
                        <a:t>2026/7/16</a:t>
                      </a:r>
                    </a:p>
                  </a:txBody>
                  <a:tcPr marL="6667" marR="6667" marT="6667" marB="0" anchor="ctr" anchorCtr="0"/>
                </a:tc>
                <a:tc>
                  <a:txBody>
                    <a:bodyPr/>
                    <a:lstStyle/>
                    <a:p>
                      <a:pPr algn="ctr">
                        <a:buClrTx/>
                        <a:buSzTx/>
                        <a:buFontTx/>
                        <a:buNone/>
                      </a:pPr>
                      <a:r>
                        <a:rPr sz="1800" b="0" i="0">
                          <a:latin typeface="微软雅黑"/>
                          <a:ea typeface="微软雅黑"/>
                          <a:cs typeface="微软雅黑"/>
                        </a:rPr>
                        <a:t>2026/7/22</a:t>
                      </a:r>
                    </a:p>
                  </a:txBody>
                  <a:tcPr marL="6667" marR="6667" marT="6667" marB="0" anchor="ctr" anchorCtr="0"/>
                </a:tc>
                <a:tc>
                  <a:txBody>
                    <a:bodyPr/>
                    <a:lstStyle/>
                    <a:p>
                      <a:pPr algn="ctr">
                        <a:buClrTx/>
                        <a:buSzTx/>
                        <a:buFontTx/>
                        <a:buNone/>
                      </a:pPr>
                      <a:r>
                        <a:rPr sz="1800" b="0">
                          <a:latin typeface="微软雅黑"/>
                          <a:ea typeface="微软雅黑"/>
                          <a:cs typeface="微软雅黑"/>
                        </a:rPr>
                        <a:t>否</a:t>
                      </a:r>
                    </a:p>
                  </a:txBody>
                  <a:tcPr marL="91440" marR="91440" marT="45720" marB="45720" anchor="ctr" anchorCtr="0"/>
                </a:tc>
                <a:tc>
                  <a:txBody>
                    <a:bodyPr/>
                    <a:lstStyle/>
                    <a:p>
                      <a:pPr algn="ctr">
                        <a:buClrTx/>
                        <a:buSzTx/>
                        <a:buFontTx/>
                        <a:buNone/>
                      </a:pPr>
                      <a:r>
                        <a:rPr sz="1800" b="0" i="0">
                          <a:latin typeface="微软雅黑"/>
                          <a:ea typeface="微软雅黑"/>
                          <a:cs typeface="微软雅黑"/>
                        </a:rPr>
                        <a:t>龚天顺</a:t>
                      </a:r>
                    </a:p>
                  </a:txBody>
                  <a:tcPr marL="6667" marR="6667" marT="6667" marB="0" anchor="ctr" anchorCtr="0"/>
                </a:tc>
              </a:tr>
            </a:tbl>
          </a:graphicData>
        </a:graphic>
      </p:graphicFrame>
      <p:sp>
        <p:nvSpPr>
          <p:cNvPr id="2" name="文本框 1">
            <a:extLst xmlns:a="http://schemas.openxmlformats.org/drawingml/2006/main">
              <a:ext uri="{FF2B5EF4-FFF2-40B4-BE49-F238E27FC236}">
                <a16:creationId xmlns:a16="http://schemas.microsoft.com/office/drawing/2014/main" id="{5CC80C34-6C7F-4700-A0F3-A823D7B3B943}"/>
              </a:ext>
            </a:extLst>
          </p:cNvPr>
          <p:cNvSpPr>
            <a:spLocks xmlns:a="http://schemas.openxmlformats.org/drawingml/2006/main" noGrp="1"/>
          </p:cNvSpPr>
          <p:nvPr/>
        </p:nvSpPr>
        <p:spPr>
          <a:xfrm xmlns:a="http://schemas.openxmlformats.org/drawingml/2006/main">
            <a:off x="1005205" y="1395730"/>
            <a:ext cx="11006455"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000000"/>
                </a:solidFill>
                <a:latin typeface="微软雅黑"/>
                <a:ea typeface="微软雅黑"/>
                <a:cs typeface="微软雅黑"/>
              </a:rPr>
              <a:t>本报告周期内，安监部发出通报</a:t>
            </a:r>
            <a:r>
              <a:rPr b="1">
                <a:solidFill>
                  <a:srgbClr val="FF0000"/>
                </a:solidFill>
                <a:latin typeface="微软雅黑"/>
                <a:ea typeface="微软雅黑"/>
                <a:cs typeface="微软雅黑"/>
              </a:rPr>
              <a:t>1</a:t>
            </a:r>
            <a:r>
              <a:rPr b="1">
                <a:solidFill>
                  <a:schemeClr val="tx1"/>
                </a:solidFill>
                <a:latin typeface="微软雅黑"/>
                <a:ea typeface="微软雅黑"/>
                <a:cs typeface="微软雅黑"/>
              </a:rPr>
              <a:t>份</a:t>
            </a:r>
            <a:r>
              <a:rPr b="1">
                <a:solidFill>
                  <a:schemeClr val="tx1"/>
                </a:solidFill>
                <a:latin typeface="微软雅黑"/>
                <a:ea typeface="微软雅黑"/>
                <a:cs typeface="微软雅黑"/>
              </a:rPr>
              <a:t>、通报</a:t>
            </a:r>
            <a:r>
              <a:rPr b="1">
                <a:latin typeface="微软雅黑"/>
                <a:ea typeface="微软雅黑"/>
                <a:cs typeface="微软雅黑"/>
              </a:rPr>
              <a:t>单</a:t>
            </a:r>
            <a:r>
              <a:rPr b="1">
                <a:solidFill>
                  <a:srgbClr val="000000"/>
                </a:solidFill>
                <a:latin typeface="微软雅黑"/>
                <a:ea typeface="微软雅黑"/>
                <a:cs typeface="微软雅黑"/>
              </a:rPr>
              <a:t>关闭</a:t>
            </a:r>
            <a:r>
              <a:rPr b="1">
                <a:solidFill>
                  <a:srgbClr val="FF0000"/>
                </a:solidFill>
                <a:latin typeface="微软雅黑"/>
                <a:ea typeface="微软雅黑"/>
                <a:cs typeface="微软雅黑"/>
              </a:rPr>
              <a:t>0</a:t>
            </a:r>
            <a:r>
              <a:rPr b="1">
                <a:solidFill>
                  <a:schemeClr val="tx1"/>
                </a:solidFill>
                <a:latin typeface="微软雅黑"/>
                <a:ea typeface="微软雅黑"/>
                <a:cs typeface="微软雅黑"/>
              </a:rPr>
              <a:t>份，</a:t>
            </a:r>
            <a:r>
              <a:rPr b="1">
                <a:latin typeface="微软雅黑"/>
                <a:ea typeface="微软雅黑"/>
                <a:cs typeface="微软雅黑"/>
              </a:rPr>
              <a:t>还剩</a:t>
            </a:r>
            <a:r>
              <a:rPr b="1">
                <a:solidFill>
                  <a:srgbClr val="FF0000"/>
                </a:solidFill>
                <a:latin typeface="微软雅黑"/>
                <a:ea typeface="微软雅黑"/>
                <a:cs typeface="微软雅黑"/>
              </a:rPr>
              <a:t>1</a:t>
            </a:r>
            <a:r>
              <a:rPr b="1">
                <a:solidFill>
                  <a:schemeClr val="tx1"/>
                </a:solidFill>
                <a:latin typeface="微软雅黑"/>
                <a:ea typeface="微软雅黑"/>
                <a:cs typeface="微软雅黑"/>
              </a:rPr>
              <a:t>份</a:t>
            </a:r>
            <a:r>
              <a:rPr b="1">
                <a:solidFill>
                  <a:schemeClr val="tx1"/>
                </a:solidFill>
                <a:latin typeface="微软雅黑"/>
                <a:ea typeface="微软雅黑"/>
                <a:cs typeface="微软雅黑"/>
              </a:rPr>
              <a:t>通报</a:t>
            </a:r>
            <a:r>
              <a:rPr b="1">
                <a:latin typeface="微软雅黑"/>
                <a:ea typeface="微软雅黑"/>
                <a:cs typeface="微软雅黑"/>
              </a:rPr>
              <a:t>未关闭</a:t>
            </a:r>
            <a:r>
              <a:rPr b="1">
                <a:solidFill>
                  <a:schemeClr val="tx1"/>
                </a:solidFill>
                <a:latin typeface="微软雅黑"/>
                <a:ea typeface="微软雅黑"/>
                <a:cs typeface="微软雅黑"/>
              </a:rPr>
              <a:t>。</a:t>
            </a:r>
          </a:p>
        </p:txBody>
      </p:sp>
    </p:spTree>
    <p:extLst>
      <p:ext uri="{BB962C8B-B14F-4D97-AF65-F5344CB8AC3E}">
        <p14:creationId xmlns:p14="http://schemas.microsoft.com/office/powerpoint/2010/main" val="190162863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5F571B8A-79CA-4ADB-8B13-E5D9691CBF4A}"/>
              </a:ext>
            </a:extLst>
          </p:cNvPr>
          <p:cNvSpPr>
            <a:spLocks xmlns:a="http://schemas.openxmlformats.org/drawingml/2006/main" noGrp="1"/>
          </p:cNvSpPr>
          <p:nvPr/>
        </p:nvSpPr>
        <p:spPr>
          <a:xfrm xmlns:a="http://schemas.openxmlformats.org/drawingml/2006/main" rot="0" flipH="0" flipV="0">
            <a:off x="188595" y="620395"/>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4A927C64-B447-4435-95EE-10EB49FC95A5}"/>
              </a:ext>
            </a:extLst>
          </p:cNvPr>
          <p:cNvSpPr>
            <a:spLocks xmlns:a="http://schemas.openxmlformats.org/drawingml/2006/main" noGrp="1"/>
          </p:cNvSpPr>
          <p:nvPr/>
        </p:nvSpPr>
        <p:spPr>
          <a:xfrm xmlns:a="http://schemas.openxmlformats.org/drawingml/2006/main" rot="0" flipH="0" flipV="1">
            <a:off x="703580" y="998220"/>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D4C22F59-B576-4E68-9AD3-33B1804139BD}"/>
              </a:ext>
            </a:extLst>
          </p:cNvPr>
          <p:cNvSpPr>
            <a:spLocks xmlns:a="http://schemas.openxmlformats.org/drawingml/2006/main" noGrp="1"/>
          </p:cNvSpPr>
          <p:nvPr/>
        </p:nvSpPr>
        <p:spPr>
          <a:xfrm xmlns:a="http://schemas.openxmlformats.org/drawingml/2006/main" rot="0" flipH="0" flipV="0">
            <a:off x="695325" y="535305"/>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一、</a:t>
            </a:r>
            <a:r>
              <a:rPr sz="2400" b="1">
                <a:solidFill>
                  <a:srgbClr val="0599D9">
                    <a:alpha val="100000"/>
                  </a:srgbClr>
                </a:solidFill>
              </a:rPr>
              <a:t>部门任务跟踪</a:t>
            </a:r>
          </a:p>
        </p:txBody>
      </p:sp>
      <p:sp>
        <p:nvSpPr>
          <p:cNvPr id="25" name="标题 3">
            <a:extLst xmlns:a="http://schemas.openxmlformats.org/drawingml/2006/main">
              <a:ext uri="{FF2B5EF4-FFF2-40B4-BE49-F238E27FC236}">
                <a16:creationId xmlns:a16="http://schemas.microsoft.com/office/drawing/2014/main" id="{84CC1709-B5B8-4E10-9821-4B6C7CEF589E}"/>
              </a:ext>
            </a:extLst>
          </p:cNvPr>
          <p:cNvSpPr>
            <a:spLocks xmlns:a="http://schemas.openxmlformats.org/drawingml/2006/main" noGrp="1"/>
          </p:cNvSpPr>
          <p:nvPr/>
        </p:nvSpPr>
        <p:spPr>
          <a:xfrm xmlns:a="http://schemas.openxmlformats.org/drawingml/2006/main">
            <a:off x="695400" y="1124382"/>
            <a:ext cx="11233248" cy="110680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10</a:t>
            </a:r>
            <a:r>
              <a:rPr sz="2200" b="1">
                <a:solidFill>
                  <a:srgbClr val="000000"/>
                </a:solidFill>
                <a:latin typeface="微软雅黑"/>
                <a:ea typeface="微软雅黑"/>
                <a:cs typeface="微软雅黑"/>
              </a:rPr>
              <a:t>、停工令关闭情况（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a:p xmlns:a="http://schemas.openxmlformats.org/drawingml/2006/main">
            <a:pPr marL="0" lvl="0" indent="0">
              <a:buFont typeface="Wingdings"/>
              <a:buNone/>
            </a:pPr>
          </a:p>
          <a:p xmlns:a="http://schemas.openxmlformats.org/drawingml/2006/main">
            <a:pPr marL="0" lvl="0" indent="0">
              <a:buFont typeface="Wingdings"/>
              <a:buNone/>
            </a:pPr>
          </a:p>
        </p:txBody>
      </p:sp>
      <p:graphicFrame>
        <p:nvGraphicFramePr>
          <p:cNvPr id="31" name="表格 3"/>
          <p:cNvGraphicFramePr/>
          <p:nvPr/>
        </p:nvGraphicFramePr>
        <p:xfrm>
          <a:off xmlns:a="http://schemas.openxmlformats.org/drawingml/2006/main" x="225425" y="1945640"/>
          <a:ext xmlns:a="http://schemas.openxmlformats.org/drawingml/2006/main" cx="11205210" cy="1849120"/>
        </p:xfrm>
        <a:graphic xmlns:a="http://schemas.openxmlformats.org/drawingml/2006/main">
          <a:graphicData uri="http://schemas.openxmlformats.org/drawingml/2006/table">
            <a:tbl>
              <a:tblPr firstRow="1" bandRow="1">
                <a:tableStyleId>{5940675A-B579-460E-94D1-54222C63F5DA}</a:tableStyleId>
              </a:tblPr>
              <a:tblGrid>
                <a:gridCol w="845820"/>
                <a:gridCol w="4012565"/>
                <a:gridCol w="1188085"/>
                <a:gridCol w="1064260"/>
                <a:gridCol w="1557655"/>
                <a:gridCol w="1424305"/>
                <a:gridCol w="1112520"/>
              </a:tblGrid>
              <a:tr h="591820">
                <a:tc>
                  <a:txBody>
                    <a:bodyPr/>
                    <a:lstStyle/>
                    <a:p>
                      <a:pPr indent="0" algn="ctr">
                        <a:buNone/>
                      </a:pPr>
                      <a:r>
                        <a:rPr sz="1600" b="1">
                          <a:solidFill>
                            <a:schemeClr val="bg1"/>
                          </a:solidFill>
                          <a:latin typeface="微软雅黑"/>
                          <a:ea typeface="微软雅黑"/>
                          <a:cs typeface="微软雅黑"/>
                        </a:rPr>
                        <a:t>序号</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停工令</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责任部门</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责任人</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下发日期</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复工</a:t>
                      </a:r>
                      <a:r>
                        <a:rPr sz="1600" b="1">
                          <a:solidFill>
                            <a:schemeClr val="bg1"/>
                          </a:solidFill>
                          <a:latin typeface="微软雅黑"/>
                          <a:ea typeface="微软雅黑"/>
                          <a:cs typeface="微软雅黑"/>
                        </a:rPr>
                        <a:t>日期</a:t>
                      </a:r>
                    </a:p>
                  </a:txBody>
                  <a:tcPr marL="68580" marR="68580" marT="0" marB="0" vert="horz" anchor="ctr">
                    <a:solidFill>
                      <a:srgbClr val="00B0F0"/>
                    </a:solidFill>
                  </a:tcPr>
                </a:tc>
                <a:tc>
                  <a:txBody>
                    <a:bodyPr/>
                    <a:lstStyle/>
                    <a:p>
                      <a:pPr indent="0" algn="ctr">
                        <a:buNone/>
                      </a:pPr>
                      <a:r>
                        <a:rPr sz="1600" b="1">
                          <a:solidFill>
                            <a:schemeClr val="bg1"/>
                          </a:solidFill>
                          <a:latin typeface="微软雅黑"/>
                          <a:ea typeface="微软雅黑"/>
                          <a:cs typeface="微软雅黑"/>
                        </a:rPr>
                        <a:t>跟踪责任人</a:t>
                      </a:r>
                    </a:p>
                  </a:txBody>
                  <a:tcPr marL="68580" marR="68580" marT="0" marB="0" vert="horz" anchor="ctr">
                    <a:solidFill>
                      <a:srgbClr val="00B0F0"/>
                    </a:solidFill>
                  </a:tcPr>
                </a:tc>
              </a:tr>
              <a:tr h="628650">
                <a:tc>
                  <a:txBody>
                    <a:bodyPr/>
                    <a:lstStyle/>
                    <a:p>
                      <a:pPr algn="ctr">
                        <a:buNone/>
                      </a:pPr>
                      <a:r>
                        <a:rPr b="1">
                          <a:latin typeface="微软雅黑"/>
                          <a:ea typeface="微软雅黑"/>
                          <a:cs typeface="微软雅黑"/>
                        </a:rPr>
                        <a:t>1</a:t>
                      </a:r>
                    </a:p>
                  </a:txBody>
                  <a:tcPr marL="91440" marR="91440" marT="45720" marB="45720" anchor="ctr" anchorCtr="0"/>
                </a:tc>
                <a:tc>
                  <a:txBody>
                    <a:bodyPr/>
                    <a:lstStyle/>
                    <a:p>
                      <a:pPr algn="ctr">
                        <a:buNone/>
                      </a:pPr>
                      <a:r>
                        <a:rPr sz="1800" b="1" i="0">
                          <a:latin typeface="微软雅黑"/>
                          <a:ea typeface="微软雅黑"/>
                          <a:cs typeface="微软雅黑"/>
                        </a:rPr>
                        <a:t>无</a:t>
                      </a:r>
                    </a:p>
                  </a:txBody>
                  <a:tcPr marL="5080" marR="5080" marT="5080" marB="0" anchor="ctr" anchorCtr="0"/>
                </a:tc>
                <a:tc>
                  <a:txBody>
                    <a:bodyPr/>
                    <a:lstStyle/>
                    <a:p>
                      <a:pPr algn="ctr">
                        <a:buClrTx/>
                        <a:buSzTx/>
                        <a:buFontTx/>
                        <a:buNone/>
                      </a:pPr>
                    </a:p>
                  </a:txBody>
                  <a:tcPr marL="5080" marR="5080" marT="5080" marB="0" anchor="ctr" anchorCtr="0"/>
                </a:tc>
                <a:tc>
                  <a:txBody>
                    <a:bodyPr/>
                    <a:lstStyle/>
                    <a:p>
                      <a:pPr algn="ctr">
                        <a:buClrTx/>
                        <a:buSzTx/>
                        <a:buFontTx/>
                        <a:buNone/>
                      </a:pPr>
                    </a:p>
                  </a:txBody>
                  <a:tcPr marL="91440" marR="91440" marT="45720" marB="45720" anchor="ctr" anchorCtr="0"/>
                </a:tc>
                <a:tc>
                  <a:txBody>
                    <a:bodyPr/>
                    <a:lstStyle/>
                    <a:p>
                      <a:pPr algn="ctr">
                        <a:buNone/>
                      </a:pPr>
                    </a:p>
                  </a:txBody>
                  <a:tcPr marL="5080" marR="5080" marT="5080" marB="0" anchor="ctr" anchorCtr="0"/>
                </a:tc>
                <a:tc>
                  <a:txBody>
                    <a:bodyPr/>
                    <a:lstStyle/>
                    <a:p>
                      <a:pPr algn="ctr">
                        <a:buNone/>
                      </a:pPr>
                    </a:p>
                  </a:txBody>
                  <a:tcPr marL="91440" marR="91440" marT="45720" marB="45720" anchor="ctr" anchorCtr="0"/>
                </a:tc>
                <a:tc>
                  <a:txBody>
                    <a:bodyPr/>
                    <a:lstStyle/>
                    <a:p>
                      <a:pPr algn="ctr">
                        <a:buNone/>
                      </a:pPr>
                    </a:p>
                  </a:txBody>
                  <a:tcPr marL="91440" marR="91440" marT="45720" marB="45720" anchor="ctr" anchorCtr="0"/>
                </a:tc>
              </a:tr>
            </a:tbl>
          </a:graphicData>
        </a:graphic>
      </p:graphicFrame>
      <p:sp>
        <p:nvSpPr>
          <p:cNvPr id="9" name="文本框 8">
            <a:extLst xmlns:a="http://schemas.openxmlformats.org/drawingml/2006/main">
              <a:ext uri="{FF2B5EF4-FFF2-40B4-BE49-F238E27FC236}">
                <a16:creationId xmlns:a16="http://schemas.microsoft.com/office/drawing/2014/main" id="{86126761-DBDC-4C0B-9D98-ECDF7A0B567D}"/>
              </a:ext>
            </a:extLst>
          </p:cNvPr>
          <p:cNvSpPr>
            <a:spLocks xmlns:a="http://schemas.openxmlformats.org/drawingml/2006/main" noGrp="1"/>
          </p:cNvSpPr>
          <p:nvPr/>
        </p:nvSpPr>
        <p:spPr>
          <a:xfrm xmlns:a="http://schemas.openxmlformats.org/drawingml/2006/main">
            <a:off x="399415" y="1485265"/>
            <a:ext cx="10994390" cy="460375"/>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r>
              <a:rPr b="1">
                <a:solidFill>
                  <a:srgbClr val="000000"/>
                </a:solidFill>
                <a:latin typeface="微软雅黑"/>
                <a:ea typeface="微软雅黑"/>
                <a:cs typeface="微软雅黑"/>
              </a:rPr>
              <a:t>本报告周期内，安监部发出停工令</a:t>
            </a:r>
            <a:r>
              <a:rPr sz="2400" b="1">
                <a:solidFill>
                  <a:srgbClr val="FF0000"/>
                </a:solidFill>
                <a:latin typeface="微软雅黑"/>
                <a:ea typeface="微软雅黑"/>
                <a:cs typeface="微软雅黑"/>
              </a:rPr>
              <a:t>0</a:t>
            </a:r>
            <a:r>
              <a:rPr sz="2400" b="1">
                <a:solidFill>
                  <a:srgbClr val="FF0000"/>
                </a:solidFill>
                <a:latin typeface="微软雅黑"/>
                <a:ea typeface="微软雅黑"/>
                <a:cs typeface="微软雅黑"/>
              </a:rPr>
              <a:t>份</a:t>
            </a:r>
            <a:r>
              <a:rPr b="1">
                <a:latin typeface="微软雅黑"/>
                <a:ea typeface="微软雅黑"/>
                <a:cs typeface="微软雅黑"/>
              </a:rPr>
              <a:t>、停工令</a:t>
            </a:r>
            <a:r>
              <a:rPr b="1">
                <a:solidFill>
                  <a:srgbClr val="000000"/>
                </a:solidFill>
                <a:latin typeface="微软雅黑"/>
                <a:ea typeface="微软雅黑"/>
                <a:cs typeface="微软雅黑"/>
              </a:rPr>
              <a:t>关闭</a:t>
            </a:r>
            <a:r>
              <a:rPr sz="2400" b="1">
                <a:solidFill>
                  <a:srgbClr val="FF0000"/>
                </a:solidFill>
                <a:latin typeface="微软雅黑"/>
                <a:ea typeface="微软雅黑"/>
                <a:cs typeface="微软雅黑"/>
              </a:rPr>
              <a:t>0</a:t>
            </a:r>
            <a:r>
              <a:rPr sz="2400" b="1">
                <a:solidFill>
                  <a:srgbClr val="FF0000"/>
                </a:solidFill>
                <a:latin typeface="微软雅黑"/>
                <a:ea typeface="微软雅黑"/>
                <a:cs typeface="微软雅黑"/>
              </a:rPr>
              <a:t>份</a:t>
            </a:r>
            <a:r>
              <a:rPr b="1">
                <a:latin typeface="微软雅黑"/>
                <a:ea typeface="微软雅黑"/>
                <a:cs typeface="微软雅黑"/>
              </a:rPr>
              <a:t>、还剩</a:t>
            </a:r>
            <a:r>
              <a:rPr sz="2400" b="1">
                <a:solidFill>
                  <a:srgbClr val="FF0000"/>
                </a:solidFill>
                <a:latin typeface="微软雅黑"/>
                <a:ea typeface="微软雅黑"/>
                <a:cs typeface="微软雅黑"/>
              </a:rPr>
              <a:t>0</a:t>
            </a:r>
            <a:r>
              <a:rPr sz="2400" b="1">
                <a:solidFill>
                  <a:srgbClr val="FF0000"/>
                </a:solidFill>
                <a:latin typeface="微软雅黑"/>
                <a:ea typeface="微软雅黑"/>
                <a:cs typeface="微软雅黑"/>
              </a:rPr>
              <a:t>份</a:t>
            </a:r>
            <a:r>
              <a:rPr sz="1800" b="1">
                <a:latin typeface="微软雅黑"/>
                <a:ea typeface="微软雅黑"/>
                <a:cs typeface="微软雅黑"/>
              </a:rPr>
              <a:t>停工令</a:t>
            </a:r>
            <a:r>
              <a:rPr b="1">
                <a:latin typeface="微软雅黑"/>
                <a:ea typeface="微软雅黑"/>
                <a:cs typeface="微软雅黑"/>
              </a:rPr>
              <a:t>未关闭。</a:t>
            </a:r>
          </a:p>
        </p:txBody>
      </p:sp>
    </p:spTree>
    <p:extLst>
      <p:ext uri="{BB962C8B-B14F-4D97-AF65-F5344CB8AC3E}">
        <p14:creationId xmlns:p14="http://schemas.microsoft.com/office/powerpoint/2010/main" val="23671914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PA-文本框 1">
            <a:extLst xmlns:a="http://schemas.openxmlformats.org/drawingml/2006/main">
              <a:ext uri="{FF2B5EF4-FFF2-40B4-BE49-F238E27FC236}">
                <a16:creationId xmlns:a16="http://schemas.microsoft.com/office/drawing/2014/main" id="{7EDB8DEC-29F0-41AE-8763-94606846FE21}"/>
              </a:ext>
            </a:extLst>
          </p:cNvPr>
          <p:cNvSpPr>
            <a:spLocks xmlns:a="http://schemas.openxmlformats.org/drawingml/2006/main" noGrp="1"/>
          </p:cNvSpPr>
          <p:nvPr/>
        </p:nvSpPr>
        <p:spPr>
          <a:xfrm xmlns:a="http://schemas.openxmlformats.org/drawingml/2006/main">
            <a:off x="187325" y="781050"/>
            <a:ext cx="5486400" cy="47815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buNone/>
            </a:pPr>
            <a:r>
              <a:rPr sz="2000" b="1">
                <a:solidFill>
                  <a:srgbClr val="000000"/>
                </a:solidFill>
                <a:latin typeface="微软雅黑"/>
                <a:ea typeface="微软雅黑"/>
                <a:cs typeface="微软雅黑"/>
              </a:rPr>
              <a:t>1</a:t>
            </a:r>
            <a:r>
              <a:rPr sz="2000" b="1">
                <a:solidFill>
                  <a:srgbClr val="000000"/>
                </a:solidFill>
                <a:latin typeface="微软雅黑"/>
                <a:ea typeface="微软雅黑"/>
                <a:cs typeface="微软雅黑"/>
              </a:rPr>
              <a:t>、证件办理情况（</a:t>
            </a:r>
            <a:r>
              <a:rPr sz="2000" b="1">
                <a:solidFill>
                  <a:srgbClr val="000000"/>
                </a:solidFill>
                <a:latin typeface="微软雅黑"/>
                <a:ea typeface="微软雅黑"/>
                <a:cs typeface="微软雅黑"/>
              </a:rPr>
              <a:t>7</a:t>
            </a:r>
            <a:r>
              <a:rPr sz="2000" b="1">
                <a:solidFill>
                  <a:srgbClr val="000000"/>
                </a:solidFill>
                <a:latin typeface="微软雅黑"/>
                <a:ea typeface="微软雅黑"/>
                <a:cs typeface="微软雅黑"/>
              </a:rPr>
              <a:t>月</a:t>
            </a:r>
            <a:r>
              <a:rPr sz="2000" b="1">
                <a:solidFill>
                  <a:srgbClr val="000000"/>
                </a:solidFill>
                <a:latin typeface="微软雅黑"/>
                <a:ea typeface="微软雅黑"/>
                <a:cs typeface="微软雅黑"/>
              </a:rPr>
              <a:t>16</a:t>
            </a:r>
            <a:r>
              <a:rPr sz="2000" b="1">
                <a:solidFill>
                  <a:srgbClr val="000000"/>
                </a:solidFill>
                <a:latin typeface="微软雅黑"/>
                <a:ea typeface="微软雅黑"/>
                <a:cs typeface="微软雅黑"/>
              </a:rPr>
              <a:t>日</a:t>
            </a:r>
            <a:r>
              <a:rPr sz="2000" b="1">
                <a:solidFill>
                  <a:srgbClr val="000000"/>
                </a:solidFill>
                <a:latin typeface="微软雅黑"/>
                <a:ea typeface="微软雅黑"/>
                <a:cs typeface="微软雅黑"/>
              </a:rPr>
              <a:t>--7</a:t>
            </a:r>
            <a:r>
              <a:rPr sz="2000" b="1">
                <a:solidFill>
                  <a:srgbClr val="000000"/>
                </a:solidFill>
                <a:latin typeface="微软雅黑"/>
                <a:ea typeface="微软雅黑"/>
                <a:cs typeface="微软雅黑"/>
              </a:rPr>
              <a:t>月</a:t>
            </a:r>
            <a:r>
              <a:rPr sz="2000" b="1">
                <a:solidFill>
                  <a:srgbClr val="000000"/>
                </a:solidFill>
                <a:latin typeface="微软雅黑"/>
                <a:ea typeface="微软雅黑"/>
                <a:cs typeface="微软雅黑"/>
              </a:rPr>
              <a:t>21</a:t>
            </a:r>
            <a:r>
              <a:rPr sz="2000" b="1">
                <a:solidFill>
                  <a:srgbClr val="000000"/>
                </a:solidFill>
                <a:latin typeface="微软雅黑"/>
                <a:ea typeface="微软雅黑"/>
                <a:cs typeface="微软雅黑"/>
              </a:rPr>
              <a:t>日）</a:t>
            </a:r>
            <a:r>
              <a:rPr sz="2000" b="1">
                <a:solidFill>
                  <a:schemeClr val="bg1"/>
                </a:solidFill>
                <a:latin typeface="微软雅黑"/>
                <a:ea typeface="微软雅黑"/>
                <a:cs typeface="微软雅黑"/>
              </a:rPr>
              <a:t>1</a:t>
            </a:r>
          </a:p>
        </p:txBody>
      </p:sp>
      <p:sp>
        <p:nvSpPr>
          <p:cNvPr id="16" name="PA-文本框 15">
            <a:extLst xmlns:a="http://schemas.openxmlformats.org/drawingml/2006/main">
              <a:ext uri="{FF2B5EF4-FFF2-40B4-BE49-F238E27FC236}">
                <a16:creationId xmlns:a16="http://schemas.microsoft.com/office/drawing/2014/main" id="{D63DC177-37D6-4FD1-B1A4-83B2625449F2}"/>
              </a:ext>
            </a:extLst>
          </p:cNvPr>
          <p:cNvSpPr>
            <a:spLocks xmlns:a="http://schemas.openxmlformats.org/drawingml/2006/main" noGrp="1"/>
          </p:cNvSpPr>
          <p:nvPr/>
        </p:nvSpPr>
        <p:spPr>
          <a:xfrm xmlns:a="http://schemas.openxmlformats.org/drawingml/2006/main">
            <a:off x="119080" y="4512141"/>
            <a:ext cx="821992"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000">
                <a:solidFill>
                  <a:schemeClr val="bg1"/>
                </a:solidFill>
                <a:latin typeface="+mj-ea"/>
                <a:ea typeface="+mj-ea"/>
                <a:cs typeface="+mj-ea"/>
              </a:rPr>
              <a:t>1</a:t>
            </a:r>
          </a:p>
        </p:txBody>
      </p:sp>
      <p:graphicFrame>
        <p:nvGraphicFramePr>
          <p:cNvPr id="46" name="表格 2"/>
          <p:cNvGraphicFramePr/>
          <p:nvPr/>
        </p:nvGraphicFramePr>
        <p:xfrm>
          <a:off xmlns:a="http://schemas.openxmlformats.org/drawingml/2006/main" x="979805" y="1417320"/>
          <a:ext xmlns:a="http://schemas.openxmlformats.org/drawingml/2006/main" cx="4013200" cy="3629660"/>
        </p:xfrm>
        <a:graphic xmlns:a="http://schemas.openxmlformats.org/drawingml/2006/main">
          <a:graphicData uri="http://schemas.openxmlformats.org/drawingml/2006/table">
            <a:tbl>
              <a:tblPr firstRow="1">
                <a:tableStyleId>{F7A789F1-B653-4B05-9413-55619C3911C9}</a:tableStyleId>
              </a:tblPr>
              <a:tblGrid>
                <a:gridCol w="613410"/>
                <a:gridCol w="1546860"/>
                <a:gridCol w="909955"/>
                <a:gridCol w="942975"/>
              </a:tblGrid>
              <a:tr h="1021080">
                <a:tc>
                  <a:txBody>
                    <a:bodyPr/>
                    <a:lstStyle/>
                    <a:p>
                      <a:pPr algn="ctr">
                        <a:buNone/>
                      </a:pPr>
                      <a:r>
                        <a:rPr sz="1600" u="none"/>
                        <a:t>序号</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证件类型</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办理证件数量</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证件回收数量</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7035">
                <a:tc>
                  <a:txBody>
                    <a:bodyPr/>
                    <a:lstStyle/>
                    <a:p>
                      <a:pPr algn="ctr">
                        <a:buNone/>
                      </a:pPr>
                      <a:r>
                        <a:rPr sz="1600" b="1"/>
                        <a:t>1</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a:lnSpc>
                          <a:spcPct val="100000"/>
                        </a:lnSpc>
                        <a:spcBef>
                          <a:spcPts val="0"/>
                        </a:spcBef>
                        <a:spcAft>
                          <a:spcPts val="0"/>
                        </a:spcAft>
                        <a:buClrTx/>
                        <a:buSzTx/>
                        <a:buFontTx/>
                        <a:buNone/>
                      </a:pPr>
                      <a:r>
                        <a:rPr sz="1600" b="1"/>
                        <a:t>人员长期通行证</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47</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32</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7035">
                <a:tc>
                  <a:txBody>
                    <a:bodyPr/>
                    <a:lstStyle/>
                    <a:p>
                      <a:pPr algn="ctr">
                        <a:buNone/>
                      </a:pPr>
                      <a:r>
                        <a:rPr sz="1600" b="1"/>
                        <a:t>2</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b="1"/>
                        <a:t>人员临时通行证</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1</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1</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6400">
                <a:tc>
                  <a:txBody>
                    <a:bodyPr/>
                    <a:lstStyle/>
                    <a:p>
                      <a:pPr algn="ctr">
                        <a:buNone/>
                      </a:pPr>
                      <a:r>
                        <a:rPr sz="1600" b="1" u="none"/>
                        <a:t>3</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a:lnSpc>
                          <a:spcPct val="100000"/>
                        </a:lnSpc>
                        <a:spcBef>
                          <a:spcPts val="0"/>
                        </a:spcBef>
                        <a:spcAft>
                          <a:spcPts val="0"/>
                        </a:spcAft>
                        <a:buClrTx/>
                        <a:buSzTx/>
                        <a:buFontTx/>
                        <a:buNone/>
                      </a:pPr>
                      <a:r>
                        <a:rPr sz="1600" b="1"/>
                        <a:t>车辆长期通行证</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1</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0</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7670">
                <a:tc>
                  <a:txBody>
                    <a:bodyPr/>
                    <a:lstStyle/>
                    <a:p>
                      <a:pPr marL="0" algn="ctr" defTabSz="914400">
                        <a:buNone/>
                      </a:pPr>
                      <a:r>
                        <a:rPr sz="1600" b="1" u="none"/>
                        <a:t>4</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a:lnSpc>
                          <a:spcPct val="100000"/>
                        </a:lnSpc>
                        <a:spcBef>
                          <a:spcPts val="0"/>
                        </a:spcBef>
                        <a:spcAft>
                          <a:spcPts val="0"/>
                        </a:spcAft>
                        <a:buClrTx/>
                        <a:buSzTx/>
                        <a:buFontTx/>
                        <a:buNone/>
                      </a:pPr>
                      <a:r>
                        <a:rPr sz="1600" b="1"/>
                        <a:t>临时</a:t>
                      </a:r>
                      <a:r>
                        <a:rPr sz="1600" b="1"/>
                        <a:t>车辆通行证</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21</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1</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5755">
                <a:tc>
                  <a:txBody>
                    <a:bodyPr/>
                    <a:lstStyle/>
                    <a:p>
                      <a:pPr marL="0" algn="ctr" defTabSz="914400">
                        <a:buNone/>
                      </a:pPr>
                      <a:r>
                        <a:rPr sz="1600" b="1" u="none"/>
                        <a:t>5</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a:lnSpc>
                          <a:spcPct val="100000"/>
                        </a:lnSpc>
                        <a:spcBef>
                          <a:spcPts val="0"/>
                        </a:spcBef>
                        <a:spcAft>
                          <a:spcPts val="0"/>
                        </a:spcAft>
                        <a:buClrTx/>
                        <a:buSzTx/>
                        <a:buFontTx/>
                        <a:buNone/>
                      </a:pPr>
                      <a:r>
                        <a:rPr sz="1600" b="1"/>
                        <a:t>访客通行证</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35</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5</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8930">
                <a:tc>
                  <a:txBody>
                    <a:bodyPr/>
                    <a:lstStyle/>
                    <a:p>
                      <a:pPr marL="0" algn="ctr" defTabSz="914400">
                        <a:buNone/>
                      </a:pPr>
                      <a:r>
                        <a:rPr sz="1600" b="1" u="none"/>
                        <a:t>6</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a:lnSpc>
                          <a:spcPct val="100000"/>
                        </a:lnSpc>
                        <a:spcBef>
                          <a:spcPts val="0"/>
                        </a:spcBef>
                        <a:spcAft>
                          <a:spcPts val="0"/>
                        </a:spcAft>
                        <a:buClrTx/>
                        <a:buSzTx/>
                        <a:buFontTx/>
                        <a:buNone/>
                      </a:pPr>
                      <a:r>
                        <a:rPr sz="1600" b="1"/>
                        <a:t>一期证件</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0</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404040"/>
                          </a:solidFill>
                          <a:latin typeface="+mn-ea"/>
                          <a:ea typeface="+mn-ea"/>
                          <a:cs typeface="+mn-ea"/>
                        </a:rPr>
                        <a:t>0</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5755">
                <a:tc>
                  <a:txBody>
                    <a:bodyPr/>
                    <a:lstStyle/>
                    <a:p>
                      <a:pPr marL="0" algn="ctr" defTabSz="914400">
                        <a:buNone/>
                      </a:pPr>
                      <a:r>
                        <a:rPr sz="1600" b="1" u="none"/>
                        <a:t>7</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indent="0" algn="ctr" defTabSz="914400">
                        <a:lnSpc>
                          <a:spcPct val="100000"/>
                        </a:lnSpc>
                        <a:spcBef>
                          <a:spcPts val="0"/>
                        </a:spcBef>
                        <a:spcAft>
                          <a:spcPts val="0"/>
                        </a:spcAft>
                        <a:buClrTx/>
                        <a:buSzTx/>
                        <a:buFontTx/>
                        <a:buNone/>
                      </a:pPr>
                      <a:r>
                        <a:rPr sz="1600" b="1"/>
                        <a:t>合计</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ClrTx/>
                        <a:buSzTx/>
                        <a:buFontTx/>
                        <a:buNone/>
                      </a:pPr>
                      <a:r>
                        <a:rPr sz="1600" b="1" i="0">
                          <a:solidFill>
                            <a:srgbClr val="FF0000"/>
                          </a:solidFill>
                          <a:latin typeface="+mn-ea"/>
                          <a:ea typeface="+mn-ea"/>
                          <a:cs typeface="+mn-ea"/>
                        </a:rPr>
                        <a:t>105</a:t>
                      </a: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ClrTx/>
                        <a:buSzTx/>
                        <a:buFontTx/>
                        <a:buNone/>
                      </a:pPr>
                      <a:r>
                        <a:rPr sz="1600" b="1" i="0">
                          <a:solidFill>
                            <a:srgbClr val="FF0000"/>
                          </a:solidFill>
                          <a:latin typeface="+mn-ea"/>
                          <a:ea typeface="+mn-ea"/>
                          <a:cs typeface="+mn-ea"/>
                        </a:rPr>
                        <a:t>39</a:t>
                      </a:r>
                    </a:p>
                  </a:txBody>
                  <a:tcPr marL="7937" marR="7937" marT="7937" marB="0"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4" name="圆角矩形 3">
            <a:extLst xmlns:a="http://schemas.openxmlformats.org/drawingml/2006/main">
              <a:ext uri="{FF2B5EF4-FFF2-40B4-BE49-F238E27FC236}">
                <a16:creationId xmlns:a16="http://schemas.microsoft.com/office/drawing/2014/main" id="{A38C1700-74E7-46D3-9EA8-F0897A34E949}"/>
              </a:ext>
            </a:extLst>
          </p:cNvPr>
          <p:cNvSpPr>
            <a:spLocks xmlns:a="http://schemas.openxmlformats.org/drawingml/2006/main" noGrp="1"/>
          </p:cNvSpPr>
          <p:nvPr/>
        </p:nvSpPr>
        <p:spPr>
          <a:xfrm xmlns:a="http://schemas.openxmlformats.org/drawingml/2006/main" rot="0" flipH="0" flipV="0">
            <a:off x="319828" y="1522607"/>
            <a:ext cx="585893" cy="2726178"/>
          </a:xfrm>
          <a:prstGeom xmlns:a="http://schemas.openxmlformats.org/drawingml/2006/main" prst="roundRect">
            <a:avLst/>
          </a:prstGeom>
          <a:solidFill xmlns:a="http://schemas.openxmlformats.org/drawingml/2006/main">
            <a:schemeClr val="bg1">
              <a:lumMod val="85000"/>
            </a:schemeClr>
          </a:solidFill>
          <a:ln xmlns:a="http://schemas.openxmlformats.org/drawingml/2006/main">
            <a:solidFill>
              <a:schemeClr val="tx1"/>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rPr sz="135"/>
              <a:t>整改</a:t>
            </a:r>
          </a:p>
        </p:txBody>
      </p:sp>
      <p:sp>
        <p:nvSpPr>
          <p:cNvPr id="9" name="文本框 8">
            <a:extLst xmlns:a="http://schemas.openxmlformats.org/drawingml/2006/main">
              <a:ext uri="{FF2B5EF4-FFF2-40B4-BE49-F238E27FC236}">
                <a16:creationId xmlns:a16="http://schemas.microsoft.com/office/drawing/2014/main" id="{2EAD9764-1730-476B-8C57-6C5D12F9A9E3}"/>
              </a:ext>
            </a:extLst>
          </p:cNvPr>
          <p:cNvSpPr>
            <a:spLocks xmlns:a="http://schemas.openxmlformats.org/drawingml/2006/main" noGrp="1"/>
          </p:cNvSpPr>
          <p:nvPr/>
        </p:nvSpPr>
        <p:spPr>
          <a:xfrm xmlns:a="http://schemas.openxmlformats.org/drawingml/2006/main" rot="0" flipH="0" flipV="0">
            <a:off x="390101" y="1683985"/>
            <a:ext cx="514773" cy="230733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t>证件办理回收</a:t>
            </a:r>
          </a:p>
        </p:txBody>
      </p:sp>
      <p:graphicFrame>
        <p:nvGraphicFramePr>
          <p:cNvPr id="49" name="表格 30"/>
          <p:cNvGraphicFramePr/>
          <p:nvPr/>
        </p:nvGraphicFramePr>
        <p:xfrm>
          <a:off xmlns:a="http://schemas.openxmlformats.org/drawingml/2006/main" x="6026150" y="713105"/>
          <a:ext xmlns:a="http://schemas.openxmlformats.org/drawingml/2006/main" cx="5596890" cy="6105525"/>
        </p:xfrm>
        <a:graphic xmlns:a="http://schemas.openxmlformats.org/drawingml/2006/main">
          <a:graphicData uri="http://schemas.openxmlformats.org/drawingml/2006/table">
            <a:tbl>
              <a:tblPr firstRow="1">
                <a:tableStyleId>{B82968AF-1C86-418F-AAF9-C721EBBA184F}</a:tableStyleId>
              </a:tblPr>
              <a:tblGrid>
                <a:gridCol w="1074420"/>
                <a:gridCol w="736600"/>
                <a:gridCol w="1203960"/>
                <a:gridCol w="774065"/>
                <a:gridCol w="1101090"/>
                <a:gridCol w="706755"/>
              </a:tblGrid>
              <a:tr h="801370">
                <a:tc>
                  <a:txBody>
                    <a:bodyPr/>
                    <a:lstStyle/>
                    <a:p>
                      <a:pPr indent="0" algn="ctr">
                        <a:lnSpc>
                          <a:spcPct val="120000"/>
                        </a:lnSpc>
                        <a:spcBef>
                          <a:spcPts val="0"/>
                        </a:spcBef>
                        <a:spcAft>
                          <a:spcPts val="0"/>
                        </a:spcAft>
                        <a:buNone/>
                      </a:pPr>
                      <a:r>
                        <a:rPr sz="1600"/>
                        <a:t>证件类型</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a:t>办理证件数量</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a:t>证件类型</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a:t>办理证件数量</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a:t>证件类型</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a:t>办理证件数量</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35000">
                <a:tc>
                  <a:txBody>
                    <a:bodyPr/>
                    <a:lstStyle/>
                    <a:p>
                      <a:pPr marR="0" indent="0" algn="ctr" defTabSz="914400">
                        <a:lnSpc>
                          <a:spcPct val="120000"/>
                        </a:lnSpc>
                        <a:spcBef>
                          <a:spcPts val="0"/>
                        </a:spcBef>
                        <a:spcAft>
                          <a:spcPts val="0"/>
                        </a:spcAft>
                        <a:buClrTx/>
                        <a:buSzTx/>
                        <a:buFontTx/>
                        <a:buNone/>
                      </a:pPr>
                      <a:r>
                        <a:rPr sz="1600" b="1"/>
                        <a:t>安全监督人员</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t>设备安装工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b="1"/>
                        <a:t>油漆工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83540">
                <a:tc>
                  <a:txBody>
                    <a:bodyPr/>
                    <a:lstStyle/>
                    <a:p>
                      <a:pPr indent="0" algn="ctr" defTabSz="914400">
                        <a:lnSpc>
                          <a:spcPct val="120000"/>
                        </a:lnSpc>
                        <a:spcBef>
                          <a:spcPts val="0"/>
                        </a:spcBef>
                        <a:spcAft>
                          <a:spcPts val="0"/>
                        </a:spcAft>
                        <a:buNone/>
                      </a:pPr>
                      <a:r>
                        <a:rPr sz="1600" b="1"/>
                        <a:t>QA</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b="1"/>
                        <a:t>机械操作工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solidFill>
                            <a:srgbClr val="404040"/>
                          </a:solidFill>
                          <a:latin typeface="微软雅黑"/>
                          <a:ea typeface="微软雅黑"/>
                          <a:cs typeface="微软雅黑"/>
                        </a:rPr>
                        <a:t>2</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b="1"/>
                        <a:t>钢筋工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b="1">
                          <a:solidFill>
                            <a:srgbClr val="404040"/>
                          </a:solidFill>
                          <a:latin typeface="微软雅黑"/>
                          <a:ea typeface="微软雅黑"/>
                          <a:cs typeface="微软雅黑"/>
                        </a:rPr>
                        <a:t>1</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53695">
                <a:tc>
                  <a:txBody>
                    <a:bodyPr/>
                    <a:lstStyle/>
                    <a:p>
                      <a:pPr indent="0" algn="ctr">
                        <a:lnSpc>
                          <a:spcPct val="120000"/>
                        </a:lnSpc>
                        <a:spcBef>
                          <a:spcPts val="0"/>
                        </a:spcBef>
                        <a:spcAft>
                          <a:spcPts val="0"/>
                        </a:spcAft>
                        <a:buNone/>
                      </a:pPr>
                      <a:r>
                        <a:rPr sz="1600" b="1"/>
                        <a:t>QC</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机修工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t>木工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78460">
                <a:tc>
                  <a:txBody>
                    <a:bodyPr/>
                    <a:lstStyle/>
                    <a:p>
                      <a:pPr indent="0" algn="ctr" defTabSz="914400">
                        <a:lnSpc>
                          <a:spcPct val="120000"/>
                        </a:lnSpc>
                        <a:spcBef>
                          <a:spcPts val="0"/>
                        </a:spcBef>
                        <a:spcAft>
                          <a:spcPts val="0"/>
                        </a:spcAft>
                        <a:buNone/>
                      </a:pPr>
                      <a:r>
                        <a:rPr sz="1600" b="1"/>
                        <a:t>工程师</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其他起重工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solidFill>
                            <a:srgbClr val="404040"/>
                          </a:solidFill>
                          <a:latin typeface="微软雅黑"/>
                          <a:ea typeface="微软雅黑"/>
                          <a:cs typeface="微软雅黑"/>
                        </a:rPr>
                        <a:t>2</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架子工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34645">
                <a:tc>
                  <a:txBody>
                    <a:bodyPr/>
                    <a:lstStyle/>
                    <a:p>
                      <a:pPr marR="0" indent="0" algn="ctr" defTabSz="914400">
                        <a:lnSpc>
                          <a:spcPct val="120000"/>
                        </a:lnSpc>
                        <a:spcBef>
                          <a:spcPts val="0"/>
                        </a:spcBef>
                        <a:spcAft>
                          <a:spcPts val="0"/>
                        </a:spcAft>
                        <a:buClrTx/>
                        <a:buSzTx/>
                        <a:buFontTx/>
                        <a:buNone/>
                      </a:pPr>
                      <a:r>
                        <a:rPr sz="1600" b="1"/>
                        <a:t>工长</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t>钳工</a:t>
                      </a:r>
                      <a:r>
                        <a:rPr sz="1600" b="1"/>
                        <a:t>/</a:t>
                      </a:r>
                      <a:r>
                        <a:rPr sz="1600" b="1"/>
                        <a:t>铆工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solidFill>
                            <a:srgbClr val="404040"/>
                          </a:solidFill>
                          <a:latin typeface="微软雅黑"/>
                          <a:ea typeface="微软雅黑"/>
                          <a:cs typeface="微软雅黑"/>
                        </a:rPr>
                        <a:t>5</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预应力工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35915">
                <a:tc>
                  <a:txBody>
                    <a:bodyPr/>
                    <a:lstStyle/>
                    <a:p>
                      <a:pPr indent="0" algn="ctr">
                        <a:lnSpc>
                          <a:spcPct val="120000"/>
                        </a:lnSpc>
                        <a:spcBef>
                          <a:spcPts val="0"/>
                        </a:spcBef>
                        <a:spcAft>
                          <a:spcPts val="0"/>
                        </a:spcAft>
                        <a:buNone/>
                      </a:pPr>
                      <a:r>
                        <a:rPr sz="1600" b="1"/>
                        <a:t>队长</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t>焊工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solidFill>
                            <a:srgbClr val="404040"/>
                          </a:solidFill>
                          <a:latin typeface="微软雅黑"/>
                          <a:ea typeface="微软雅黑"/>
                          <a:cs typeface="微软雅黑"/>
                        </a:rPr>
                        <a:t>1</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t>其他普工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34010">
                <a:tc>
                  <a:txBody>
                    <a:bodyPr/>
                    <a:lstStyle/>
                    <a:p>
                      <a:pPr indent="0" algn="ctr">
                        <a:lnSpc>
                          <a:spcPct val="120000"/>
                        </a:lnSpc>
                        <a:spcBef>
                          <a:spcPts val="0"/>
                        </a:spcBef>
                        <a:spcAft>
                          <a:spcPts val="0"/>
                        </a:spcAft>
                        <a:buNone/>
                      </a:pPr>
                      <a:r>
                        <a:rPr sz="1600" b="1"/>
                        <a:t>综合管理</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a:lnSpc>
                          <a:spcPct val="120000"/>
                        </a:lnSpc>
                        <a:spcBef>
                          <a:spcPts val="0"/>
                        </a:spcBef>
                        <a:spcAft>
                          <a:spcPts val="0"/>
                        </a:spcAft>
                        <a:buNone/>
                      </a:pPr>
                      <a:r>
                        <a:rPr sz="1600" b="1">
                          <a:solidFill>
                            <a:srgbClr val="404040"/>
                          </a:solidFill>
                          <a:latin typeface="微软雅黑"/>
                          <a:ea typeface="微软雅黑"/>
                          <a:cs typeface="微软雅黑"/>
                        </a:rPr>
                        <a:t>1</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t>管工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后勤人员</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42900">
                <a:tc>
                  <a:txBody>
                    <a:bodyPr/>
                    <a:lstStyle/>
                    <a:p>
                      <a:pPr indent="0" algn="ctr" defTabSz="914400">
                        <a:lnSpc>
                          <a:spcPct val="120000"/>
                        </a:lnSpc>
                        <a:spcBef>
                          <a:spcPts val="0"/>
                        </a:spcBef>
                        <a:spcAft>
                          <a:spcPts val="0"/>
                        </a:spcAft>
                        <a:buNone/>
                      </a:pPr>
                      <a:r>
                        <a:rPr sz="1600" b="1"/>
                        <a:t>技术员</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电工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辅助工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r>
                        <a:rPr sz="1600" b="1">
                          <a:solidFill>
                            <a:srgbClr val="404040"/>
                          </a:solidFill>
                          <a:latin typeface="微软雅黑"/>
                          <a:ea typeface="微软雅黑"/>
                          <a:cs typeface="微软雅黑"/>
                        </a:rPr>
                        <a:t>1</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63220">
                <a:tc>
                  <a:txBody>
                    <a:bodyPr/>
                    <a:lstStyle/>
                    <a:p>
                      <a:pPr marR="0" indent="0" algn="ctr" defTabSz="914400">
                        <a:lnSpc>
                          <a:spcPct val="120000"/>
                        </a:lnSpc>
                        <a:spcBef>
                          <a:spcPts val="0"/>
                        </a:spcBef>
                        <a:spcAft>
                          <a:spcPts val="0"/>
                        </a:spcAft>
                        <a:buClrTx/>
                        <a:buSzTx/>
                        <a:buFontTx/>
                        <a:buNone/>
                      </a:pPr>
                      <a:r>
                        <a:rPr sz="1600" b="1"/>
                        <a:t>车辆司机</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solidFill>
                            <a:srgbClr val="404040"/>
                          </a:solidFill>
                          <a:latin typeface="微软雅黑"/>
                          <a:ea typeface="微软雅黑"/>
                          <a:cs typeface="微软雅黑"/>
                        </a:rPr>
                        <a:t>2</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混凝土工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保卫人员</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64515">
                <a:tc>
                  <a:txBody>
                    <a:bodyPr/>
                    <a:lstStyle/>
                    <a:p>
                      <a:pPr indent="0" algn="ctr" defTabSz="914400">
                        <a:lnSpc>
                          <a:spcPct val="120000"/>
                        </a:lnSpc>
                        <a:spcBef>
                          <a:spcPts val="0"/>
                        </a:spcBef>
                        <a:spcAft>
                          <a:spcPts val="0"/>
                        </a:spcAft>
                        <a:buNone/>
                      </a:pPr>
                      <a:r>
                        <a:rPr sz="1600" b="1"/>
                        <a:t>塔式起重机司机</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测量防线工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solidFill>
                            <a:srgbClr val="404040"/>
                          </a:solidFill>
                          <a:latin typeface="微软雅黑"/>
                          <a:ea typeface="微软雅黑"/>
                          <a:cs typeface="微软雅黑"/>
                        </a:rPr>
                        <a:t>2</a:t>
                      </a: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solidFill>
                            <a:srgbClr val="404040"/>
                          </a:solidFill>
                          <a:latin typeface="微软雅黑"/>
                          <a:ea typeface="微软雅黑"/>
                          <a:cs typeface="微软雅黑"/>
                        </a:rPr>
                        <a:t>射线检验员（</a:t>
                      </a:r>
                      <a:r>
                        <a:rPr sz="1600" b="1">
                          <a:solidFill>
                            <a:srgbClr val="404040"/>
                          </a:solidFill>
                          <a:latin typeface="微软雅黑"/>
                          <a:ea typeface="微软雅黑"/>
                          <a:cs typeface="微软雅黑"/>
                        </a:rPr>
                        <a:t>RT)</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8640">
                <a:tc>
                  <a:txBody>
                    <a:bodyPr/>
                    <a:lstStyle/>
                    <a:p>
                      <a:pPr indent="0" algn="ctr" defTabSz="914400">
                        <a:lnSpc>
                          <a:spcPct val="120000"/>
                        </a:lnSpc>
                        <a:spcBef>
                          <a:spcPts val="0"/>
                        </a:spcBef>
                        <a:spcAft>
                          <a:spcPts val="0"/>
                        </a:spcAft>
                        <a:buNone/>
                      </a:pPr>
                      <a:r>
                        <a:rPr sz="1600" b="1"/>
                        <a:t>清扫工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装修工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防水工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8640">
                <a:tc>
                  <a:txBody>
                    <a:bodyPr/>
                    <a:lstStyle/>
                    <a:p>
                      <a:pPr indent="0" algn="ctr" defTabSz="914400">
                        <a:lnSpc>
                          <a:spcPct val="120000"/>
                        </a:lnSpc>
                        <a:spcBef>
                          <a:spcPts val="0"/>
                        </a:spcBef>
                        <a:spcAft>
                          <a:spcPts val="0"/>
                        </a:spcAft>
                        <a:buNone/>
                      </a:pPr>
                      <a:r>
                        <a:rPr sz="1600" b="1"/>
                        <a:t>库管工</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经理部</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R="0" indent="0" algn="ctr" defTabSz="914400">
                        <a:lnSpc>
                          <a:spcPct val="120000"/>
                        </a:lnSpc>
                        <a:spcBef>
                          <a:spcPts val="0"/>
                        </a:spcBef>
                        <a:spcAft>
                          <a:spcPts val="0"/>
                        </a:spcAft>
                        <a:buClrTx/>
                        <a:buSzTx/>
                        <a:buFontTx/>
                        <a:buNone/>
                      </a:pPr>
                      <a:r>
                        <a:rPr sz="1600" b="1"/>
                        <a:t>理化试验员</a:t>
                      </a:r>
                    </a:p>
                  </a:txBody>
                  <a:tcPr marL="25400" marR="25400" marT="25400" marB="2540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indent="0" algn="ctr" defTabSz="914400">
                        <a:lnSpc>
                          <a:spcPct val="120000"/>
                        </a:lnSpc>
                        <a:spcBef>
                          <a:spcPts val="0"/>
                        </a:spcBef>
                        <a:spcAft>
                          <a:spcPts val="0"/>
                        </a:spcAft>
                        <a:buNone/>
                      </a:pPr>
                    </a:p>
                  </a:txBody>
                  <a:tcPr marL="19050" marR="19050" marT="19050" marB="1905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38" name="圆角矩形 37">
            <a:extLst xmlns:a="http://schemas.openxmlformats.org/drawingml/2006/main">
              <a:ext uri="{FF2B5EF4-FFF2-40B4-BE49-F238E27FC236}">
                <a16:creationId xmlns:a16="http://schemas.microsoft.com/office/drawing/2014/main" id="{18FC3B07-F614-400D-B5F4-471C99EED66D}"/>
              </a:ext>
            </a:extLst>
          </p:cNvPr>
          <p:cNvSpPr>
            <a:spLocks xmlns:a="http://schemas.openxmlformats.org/drawingml/2006/main" noGrp="1"/>
          </p:cNvSpPr>
          <p:nvPr/>
        </p:nvSpPr>
        <p:spPr>
          <a:xfrm xmlns:a="http://schemas.openxmlformats.org/drawingml/2006/main" rot="0" flipH="0" flipV="0">
            <a:off x="5274945" y="1417320"/>
            <a:ext cx="627380" cy="2830830"/>
          </a:xfrm>
          <a:prstGeom xmlns:a="http://schemas.openxmlformats.org/drawingml/2006/main" prst="roundRect">
            <a:avLst/>
          </a:prstGeom>
          <a:solidFill xmlns:a="http://schemas.openxmlformats.org/drawingml/2006/main">
            <a:schemeClr val="bg1">
              <a:lumMod val="85000"/>
            </a:schemeClr>
          </a:solidFill>
          <a:ln xmlns:a="http://schemas.openxmlformats.org/drawingml/2006/main">
            <a:solidFill>
              <a:schemeClr val="tx1"/>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文本框 38">
            <a:extLst xmlns:a="http://schemas.openxmlformats.org/drawingml/2006/main">
              <a:ext uri="{FF2B5EF4-FFF2-40B4-BE49-F238E27FC236}">
                <a16:creationId xmlns:a16="http://schemas.microsoft.com/office/drawing/2014/main" id="{1C23DFCF-9331-4633-9EED-2DBD4E80C8B9}"/>
              </a:ext>
            </a:extLst>
          </p:cNvPr>
          <p:cNvSpPr>
            <a:spLocks xmlns:a="http://schemas.openxmlformats.org/drawingml/2006/main" noGrp="1"/>
          </p:cNvSpPr>
          <p:nvPr/>
        </p:nvSpPr>
        <p:spPr>
          <a:xfrm xmlns:a="http://schemas.openxmlformats.org/drawingml/2006/main" rot="0" flipH="0" flipV="0">
            <a:off x="5326592" y="1600359"/>
            <a:ext cx="514773" cy="2048527"/>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2400"/>
              <a:t>各工种证件办理</a:t>
            </a:r>
          </a:p>
        </p:txBody>
      </p:sp>
      <p:sp>
        <p:nvSpPr>
          <p:cNvPr id="6" name="文本框 5">
            <a:extLst xmlns:a="http://schemas.openxmlformats.org/drawingml/2006/main">
              <a:ext uri="{FF2B5EF4-FFF2-40B4-BE49-F238E27FC236}">
                <a16:creationId xmlns:a16="http://schemas.microsoft.com/office/drawing/2014/main" id="{83267EA0-886C-4796-A315-56A7B1D87AE0}"/>
              </a:ext>
            </a:extLst>
          </p:cNvPr>
          <p:cNvSpPr>
            <a:spLocks xmlns:a="http://schemas.openxmlformats.org/drawingml/2006/main" noGrp="1"/>
          </p:cNvSpPr>
          <p:nvPr/>
        </p:nvSpPr>
        <p:spPr>
          <a:xfrm xmlns:a="http://schemas.openxmlformats.org/drawingml/2006/main">
            <a:off x="5493385" y="344805"/>
            <a:ext cx="4064000"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p:txBody>
      </p:sp>
      <p:sp>
        <p:nvSpPr>
          <p:cNvPr id="17" name="任意多边形 8">
            <a:extLst xmlns:a="http://schemas.openxmlformats.org/drawingml/2006/main">
              <a:ext uri="{FF2B5EF4-FFF2-40B4-BE49-F238E27FC236}">
                <a16:creationId xmlns:a16="http://schemas.microsoft.com/office/drawing/2014/main" id="{BBFEE201-CE59-4AD7-85B6-F2B705877FF5}"/>
              </a:ext>
            </a:extLst>
          </p:cNvPr>
          <p:cNvSpPr>
            <a:spLocks xmlns:a="http://schemas.openxmlformats.org/drawingml/2006/main" noGrp="1"/>
          </p:cNvSpPr>
          <p:nvPr/>
        </p:nvSpPr>
        <p:spPr>
          <a:xfrm xmlns:a="http://schemas.openxmlformats.org/drawingml/2006/main" rot="0" flipH="0" flipV="0">
            <a:off x="140970" y="121920"/>
            <a:ext cx="431886"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8" name="任意多边形 7">
            <a:extLst xmlns:a="http://schemas.openxmlformats.org/drawingml/2006/main">
              <a:ext uri="{FF2B5EF4-FFF2-40B4-BE49-F238E27FC236}">
                <a16:creationId xmlns:a16="http://schemas.microsoft.com/office/drawing/2014/main" id="{2F591ECA-B0D5-42BC-BDD3-2C682F60FC38}"/>
              </a:ext>
            </a:extLst>
          </p:cNvPr>
          <p:cNvSpPr>
            <a:spLocks xmlns:a="http://schemas.openxmlformats.org/drawingml/2006/main" noGrp="1"/>
          </p:cNvSpPr>
          <p:nvPr/>
        </p:nvSpPr>
        <p:spPr>
          <a:xfrm xmlns:a="http://schemas.openxmlformats.org/drawingml/2006/main" rot="0" flipH="0" flipV="1">
            <a:off x="648287" y="501650"/>
            <a:ext cx="1097472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9" name="文本框 18">
            <a:extLst xmlns:a="http://schemas.openxmlformats.org/drawingml/2006/main">
              <a:ext uri="{FF2B5EF4-FFF2-40B4-BE49-F238E27FC236}">
                <a16:creationId xmlns:a16="http://schemas.microsoft.com/office/drawing/2014/main" id="{CB6F9491-9931-4FFC-9CE2-A5982112F368}"/>
              </a:ext>
            </a:extLst>
          </p:cNvPr>
          <p:cNvSpPr>
            <a:spLocks xmlns:a="http://schemas.openxmlformats.org/drawingml/2006/main" noGrp="1"/>
          </p:cNvSpPr>
          <p:nvPr/>
        </p:nvSpPr>
        <p:spPr>
          <a:xfrm xmlns:a="http://schemas.openxmlformats.org/drawingml/2006/main" rot="0" flipH="0" flipV="0">
            <a:off x="648287" y="50800"/>
            <a:ext cx="11053493"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三、</a:t>
            </a:r>
            <a:r>
              <a:rPr sz="2400" b="1">
                <a:solidFill>
                  <a:srgbClr val="0599D9">
                    <a:alpha val="100000"/>
                  </a:srgbClr>
                </a:solidFill>
              </a:rPr>
              <a:t>上周主要工作</a:t>
            </a:r>
          </a:p>
        </p:txBody>
      </p:sp>
      <p:graphicFrame>
        <p:nvGraphicFramePr>
          <p:cNvPr id="56" name="表格 7"/>
          <p:cNvGraphicFramePr/>
          <p:nvPr/>
        </p:nvGraphicFramePr>
        <p:xfrm>
          <a:off xmlns:a="http://schemas.openxmlformats.org/drawingml/2006/main" x="999490" y="5130165"/>
          <a:ext xmlns:a="http://schemas.openxmlformats.org/drawingml/2006/main" cx="3943350" cy="664210"/>
        </p:xfrm>
        <a:graphic xmlns:a="http://schemas.openxmlformats.org/drawingml/2006/main">
          <a:graphicData uri="http://schemas.openxmlformats.org/drawingml/2006/table">
            <a:tbl>
              <a:tblPr firstRow="1">
                <a:tableStyleId>{F7A789F1-B653-4B05-9413-55619C3911C9}</a:tableStyleId>
              </a:tblPr>
              <a:tblGrid>
                <a:gridCol w="886460"/>
                <a:gridCol w="1369060"/>
                <a:gridCol w="1687830"/>
              </a:tblGrid>
              <a:tr h="410845">
                <a:tc>
                  <a:txBody>
                    <a:bodyPr/>
                    <a:lstStyle/>
                    <a:p>
                      <a:pPr algn="ctr">
                        <a:buNone/>
                      </a:pPr>
                      <a:r>
                        <a:rPr sz="1600" u="none"/>
                        <a:t>序号</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新入场</a:t>
                      </a:r>
                      <a:r>
                        <a:rPr sz="1600" u="none"/>
                        <a:t>人数</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帽贴制作</a:t>
                      </a:r>
                      <a:r>
                        <a:rPr sz="1600" u="none"/>
                        <a:t>数量</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43205">
                <a:tc>
                  <a:txBody>
                    <a:bodyPr/>
                    <a:lstStyle/>
                    <a:p>
                      <a:pPr algn="ctr">
                        <a:buNone/>
                      </a:pPr>
                      <a:r>
                        <a:rPr sz="1600" b="1"/>
                        <a:t>1</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a:solidFill>
                            <a:srgbClr val="FF0000"/>
                          </a:solidFill>
                          <a:latin typeface="+mn-ea"/>
                          <a:ea typeface="+mn-ea"/>
                          <a:cs typeface="+mn-ea"/>
                        </a:rPr>
                        <a:t>17</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FF0000"/>
                          </a:solidFill>
                          <a:latin typeface="+mn-ea"/>
                          <a:ea typeface="+mn-ea"/>
                          <a:cs typeface="+mn-ea"/>
                        </a:rPr>
                        <a:t>62</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graphicFrame>
        <p:nvGraphicFramePr>
          <p:cNvPr id="57" name="表格 6"/>
          <p:cNvGraphicFramePr/>
          <p:nvPr/>
        </p:nvGraphicFramePr>
        <p:xfrm>
          <a:off xmlns:a="http://schemas.openxmlformats.org/drawingml/2006/main" x="999490" y="5942965"/>
          <a:ext xmlns:a="http://schemas.openxmlformats.org/drawingml/2006/main" cx="3943350" cy="706120"/>
        </p:xfrm>
        <a:graphic xmlns:a="http://schemas.openxmlformats.org/drawingml/2006/main">
          <a:graphicData uri="http://schemas.openxmlformats.org/drawingml/2006/table">
            <a:tbl>
              <a:tblPr firstRow="1">
                <a:tableStyleId>{F7A789F1-B653-4B05-9413-55619C3911C9}</a:tableStyleId>
              </a:tblPr>
              <a:tblGrid>
                <a:gridCol w="886460"/>
                <a:gridCol w="1369060"/>
                <a:gridCol w="1687830"/>
              </a:tblGrid>
              <a:tr h="381635">
                <a:tc>
                  <a:txBody>
                    <a:bodyPr/>
                    <a:lstStyle/>
                    <a:p>
                      <a:pPr algn="ctr">
                        <a:buNone/>
                      </a:pPr>
                      <a:r>
                        <a:rPr sz="1600" u="none"/>
                        <a:t>序号</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办证台账</a:t>
                      </a:r>
                      <a:r>
                        <a:rPr sz="1600" u="none"/>
                        <a:t>人数</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u="none"/>
                        <a:t>工程部</a:t>
                      </a:r>
                      <a:r>
                        <a:rPr sz="1600" u="none"/>
                        <a:t>人数</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4485">
                <a:tc>
                  <a:txBody>
                    <a:bodyPr/>
                    <a:lstStyle/>
                    <a:p>
                      <a:pPr algn="ctr">
                        <a:buNone/>
                      </a:pPr>
                      <a:r>
                        <a:rPr sz="1600" b="1"/>
                        <a:t>1</a:t>
                      </a:r>
                    </a:p>
                  </a:txBody>
                  <a:tcPr marL="9522" marR="9522" marT="9526"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FF0000"/>
                          </a:solidFill>
                          <a:latin typeface="+mn-ea"/>
                          <a:ea typeface="+mn-ea"/>
                          <a:cs typeface="+mn-ea"/>
                        </a:rPr>
                        <a:t>1608</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algn="ctr" defTabSz="914400">
                        <a:buNone/>
                      </a:pPr>
                      <a:r>
                        <a:rPr sz="1600" b="1" i="0" u="none">
                          <a:solidFill>
                            <a:srgbClr val="FF0000"/>
                          </a:solidFill>
                          <a:latin typeface="+mn-ea"/>
                          <a:ea typeface="+mn-ea"/>
                          <a:cs typeface="+mn-ea"/>
                        </a:rPr>
                        <a:t>1568</a:t>
                      </a:r>
                    </a:p>
                  </a:txBody>
                  <a:tcPr marL="7142" marR="7142" marT="7145"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52357548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278CEE91-5A33-4105-B0D2-D43988A84F0A}"/>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773DC4AA-7A90-4EBA-A46F-886CFA11705E}"/>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75CBF5B9-828E-4A50-95DF-D3645CCED788}"/>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二、</a:t>
            </a:r>
            <a:r>
              <a:rPr sz="2400" b="1">
                <a:solidFill>
                  <a:srgbClr val="0599D9">
                    <a:alpha val="100000"/>
                  </a:srgbClr>
                </a:solidFill>
              </a:rPr>
              <a:t>上</a:t>
            </a:r>
            <a:r>
              <a:rPr sz="2400" b="1">
                <a:solidFill>
                  <a:srgbClr val="0599D9">
                    <a:alpha val="100000"/>
                  </a:srgbClr>
                </a:solidFill>
              </a:rPr>
              <a:t>周主要工作</a:t>
            </a:r>
          </a:p>
        </p:txBody>
      </p:sp>
      <p:sp>
        <p:nvSpPr>
          <p:cNvPr id="25" name="标题 3">
            <a:extLst xmlns:a="http://schemas.openxmlformats.org/drawingml/2006/main">
              <a:ext uri="{FF2B5EF4-FFF2-40B4-BE49-F238E27FC236}">
                <a16:creationId xmlns:a16="http://schemas.microsoft.com/office/drawing/2014/main" id="{28DF236E-F155-4725-BF78-AD7C80064B55}"/>
              </a:ext>
            </a:extLst>
          </p:cNvPr>
          <p:cNvSpPr>
            <a:spLocks xmlns:a="http://schemas.openxmlformats.org/drawingml/2006/main" noGrp="1"/>
          </p:cNvSpPr>
          <p:nvPr/>
        </p:nvSpPr>
        <p:spPr>
          <a:xfrm xmlns:a="http://schemas.openxmlformats.org/drawingml/2006/main">
            <a:off x="695400" y="1124382"/>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11</a:t>
            </a:r>
            <a:r>
              <a:rPr sz="2200" b="1">
                <a:solidFill>
                  <a:srgbClr val="000000"/>
                </a:solidFill>
                <a:latin typeface="微软雅黑"/>
                <a:ea typeface="微软雅黑"/>
                <a:cs typeface="微软雅黑"/>
              </a:rPr>
              <a:t>、培训情况（</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1" name="表格 1"/>
          <p:cNvGraphicFramePr/>
          <p:nvPr/>
        </p:nvGraphicFramePr>
        <p:xfrm>
          <a:off xmlns:a="http://schemas.openxmlformats.org/drawingml/2006/main" x="712470" y="1678940"/>
          <a:ext xmlns:a="http://schemas.openxmlformats.org/drawingml/2006/main" cx="10387965" cy="4662170"/>
        </p:xfrm>
        <a:graphic xmlns:a="http://schemas.openxmlformats.org/drawingml/2006/main">
          <a:graphicData uri="http://schemas.openxmlformats.org/drawingml/2006/table">
            <a:tbl>
              <a:tblPr firstRow="1" bandRow="1">
                <a:tableStyleId>{5940675A-B579-460E-94D1-54222C63F5DA}</a:tableStyleId>
              </a:tblPr>
              <a:tblGrid>
                <a:gridCol w="833120"/>
                <a:gridCol w="4704080"/>
                <a:gridCol w="2425065"/>
                <a:gridCol w="2425700"/>
              </a:tblGrid>
              <a:tr h="533400">
                <a:tc>
                  <a:txBody>
                    <a:bodyPr/>
                    <a:lstStyle/>
                    <a:p>
                      <a:pPr algn="ctr">
                        <a:lnSpc>
                          <a:spcPct val="120000"/>
                        </a:lnSpc>
                        <a:spcBef>
                          <a:spcPts val="0"/>
                        </a:spcBef>
                        <a:spcAft>
                          <a:spcPts val="0"/>
                        </a:spcAft>
                        <a:buNone/>
                      </a:pPr>
                      <a:r>
                        <a:rPr sz="1800" b="1">
                          <a:solidFill>
                            <a:srgbClr val="FFFFFF"/>
                          </a:solidFill>
                          <a:latin typeface="微软雅黑"/>
                          <a:ea typeface="微软雅黑"/>
                          <a:cs typeface="微软雅黑"/>
                        </a:rPr>
                        <a:t>序号</a:t>
                      </a:r>
                    </a:p>
                  </a:txBody>
                  <a:tcPr marL="25400" marR="25400" marT="6350" marB="6350" anchor="ctr">
                    <a:solidFill>
                      <a:srgbClr val="00B0F0"/>
                    </a:solidFill>
                  </a:tcPr>
                </a:tc>
                <a:tc>
                  <a:txBody>
                    <a:bodyPr/>
                    <a:lstStyle/>
                    <a:p>
                      <a:pPr indent="0" algn="ctr">
                        <a:lnSpc>
                          <a:spcPct val="120000"/>
                        </a:lnSpc>
                        <a:spcBef>
                          <a:spcPts val="0"/>
                        </a:spcBef>
                        <a:spcAft>
                          <a:spcPts val="0"/>
                        </a:spcAft>
                        <a:buNone/>
                      </a:pPr>
                      <a:r>
                        <a:rPr sz="1800" b="1">
                          <a:solidFill>
                            <a:srgbClr val="FFFFFF"/>
                          </a:solidFill>
                          <a:latin typeface="微软雅黑"/>
                          <a:ea typeface="微软雅黑"/>
                          <a:cs typeface="微软雅黑"/>
                        </a:rPr>
                        <a:t>培训内容</a:t>
                      </a:r>
                    </a:p>
                  </a:txBody>
                  <a:tcPr marL="161925" marR="161925" marT="100012" marB="100012" anchor="ctr">
                    <a:solidFill>
                      <a:srgbClr val="00B0F0"/>
                    </a:solidFill>
                  </a:tcPr>
                </a:tc>
                <a:tc>
                  <a:txBody>
                    <a:bodyPr/>
                    <a:lstStyle/>
                    <a:p>
                      <a:pPr indent="0" algn="ctr">
                        <a:lnSpc>
                          <a:spcPct val="120000"/>
                        </a:lnSpc>
                        <a:spcBef>
                          <a:spcPts val="0"/>
                        </a:spcBef>
                        <a:spcAft>
                          <a:spcPts val="0"/>
                        </a:spcAft>
                        <a:buNone/>
                      </a:pPr>
                      <a:r>
                        <a:rPr sz="1800" b="1">
                          <a:solidFill>
                            <a:srgbClr val="FFFFFF"/>
                          </a:solidFill>
                          <a:latin typeface="微软雅黑"/>
                          <a:ea typeface="微软雅黑"/>
                          <a:cs typeface="微软雅黑"/>
                        </a:rPr>
                        <a:t>培训场次</a:t>
                      </a:r>
                    </a:p>
                  </a:txBody>
                  <a:tcPr marL="161925" marR="161925" marT="100012" marB="100012" anchor="ctr">
                    <a:solidFill>
                      <a:srgbClr val="00B0F0"/>
                    </a:solidFill>
                  </a:tcPr>
                </a:tc>
                <a:tc>
                  <a:txBody>
                    <a:bodyPr/>
                    <a:lstStyle/>
                    <a:p>
                      <a:pPr indent="0" algn="ctr">
                        <a:lnSpc>
                          <a:spcPct val="120000"/>
                        </a:lnSpc>
                        <a:spcBef>
                          <a:spcPts val="0"/>
                        </a:spcBef>
                        <a:spcAft>
                          <a:spcPts val="0"/>
                        </a:spcAft>
                        <a:buNone/>
                      </a:pPr>
                      <a:r>
                        <a:rPr sz="1800" b="1">
                          <a:solidFill>
                            <a:srgbClr val="FFFFFF"/>
                          </a:solidFill>
                          <a:latin typeface="微软雅黑"/>
                          <a:ea typeface="微软雅黑"/>
                          <a:cs typeface="微软雅黑"/>
                        </a:rPr>
                        <a:t>培训人次</a:t>
                      </a:r>
                    </a:p>
                  </a:txBody>
                  <a:tcPr marL="161925" marR="161925" marT="100012" marB="100012" anchor="ctr">
                    <a:solidFill>
                      <a:srgbClr val="00B0F0"/>
                    </a:solidFill>
                  </a:tcPr>
                </a:tc>
              </a:tr>
              <a:tr h="462915">
                <a:tc>
                  <a:txBody>
                    <a:bodyPr/>
                    <a:lstStyle/>
                    <a:p>
                      <a:pPr algn="ctr">
                        <a:buNone/>
                      </a:pPr>
                      <a:r>
                        <a:rPr sz="1800" b="1">
                          <a:solidFill>
                            <a:schemeClr val="tx1"/>
                          </a:solidFill>
                          <a:latin typeface="微软雅黑"/>
                          <a:ea typeface="微软雅黑"/>
                          <a:cs typeface="微软雅黑"/>
                        </a:rPr>
                        <a:t>1</a:t>
                      </a:r>
                    </a:p>
                  </a:txBody>
                  <a:tcPr marL="91440" marR="91440" marT="45720" marB="45720" anchor="ctr" anchorCtr="0"/>
                </a:tc>
                <a:tc>
                  <a:txBody>
                    <a:bodyPr/>
                    <a:lstStyle/>
                    <a:p>
                      <a:pPr algn="ctr">
                        <a:buClrTx/>
                        <a:buSzTx/>
                        <a:buFontTx/>
                        <a:buNone/>
                      </a:pPr>
                      <a:r>
                        <a:rPr sz="1800" b="1" i="0">
                          <a:latin typeface="微软雅黑"/>
                          <a:ea typeface="微软雅黑"/>
                          <a:cs typeface="微软雅黑"/>
                        </a:rPr>
                        <a:t>入场培训</a:t>
                      </a:r>
                    </a:p>
                  </a:txBody>
                  <a:tcPr marL="3810" marR="3810" marT="3810" marB="0" anchor="ctr" anchorCtr="0"/>
                </a:tc>
                <a:tc>
                  <a:txBody>
                    <a:bodyPr/>
                    <a:lstStyle/>
                    <a:p>
                      <a:pPr algn="ctr">
                        <a:buNone/>
                      </a:pPr>
                      <a:r>
                        <a:rPr sz="1800" b="1">
                          <a:solidFill>
                            <a:schemeClr val="tx1"/>
                          </a:solidFill>
                          <a:latin typeface="微软雅黑"/>
                          <a:ea typeface="微软雅黑"/>
                          <a:cs typeface="微软雅黑"/>
                        </a:rPr>
                        <a:t>3</a:t>
                      </a:r>
                    </a:p>
                  </a:txBody>
                  <a:tcPr marL="68580" marR="68580" marT="34290" marB="34290" anchor="ctr" anchorCtr="0"/>
                </a:tc>
                <a:tc>
                  <a:txBody>
                    <a:bodyPr/>
                    <a:lstStyle/>
                    <a:p>
                      <a:pPr algn="ctr">
                        <a:buNone/>
                      </a:pPr>
                      <a:r>
                        <a:rPr sz="1800" b="1">
                          <a:solidFill>
                            <a:schemeClr val="tx1"/>
                          </a:solidFill>
                          <a:latin typeface="微软雅黑"/>
                          <a:ea typeface="微软雅黑"/>
                          <a:cs typeface="微软雅黑"/>
                        </a:rPr>
                        <a:t>31</a:t>
                      </a:r>
                    </a:p>
                  </a:txBody>
                  <a:tcPr marL="68580" marR="68580" marT="34290" marB="34290" anchor="ctr" anchorCtr="0"/>
                </a:tc>
              </a:tr>
              <a:tr h="462915">
                <a:tc>
                  <a:txBody>
                    <a:bodyPr/>
                    <a:lstStyle/>
                    <a:p>
                      <a:pPr algn="ctr">
                        <a:buNone/>
                      </a:pPr>
                      <a:r>
                        <a:rPr sz="1800" b="1">
                          <a:solidFill>
                            <a:schemeClr val="tx1"/>
                          </a:solidFill>
                          <a:latin typeface="微软雅黑"/>
                          <a:ea typeface="微软雅黑"/>
                          <a:cs typeface="微软雅黑"/>
                        </a:rPr>
                        <a:t>3</a:t>
                      </a:r>
                    </a:p>
                  </a:txBody>
                  <a:tcPr marL="91440" marR="91440" marT="45720" marB="45720" anchor="ctr" anchorCtr="0"/>
                </a:tc>
                <a:tc>
                  <a:txBody>
                    <a:bodyPr/>
                    <a:lstStyle/>
                    <a:p>
                      <a:pPr algn="ctr">
                        <a:buClrTx/>
                        <a:buSzTx/>
                        <a:buFontTx/>
                        <a:buNone/>
                      </a:pPr>
                      <a:r>
                        <a:rPr sz="1800" b="1" i="0">
                          <a:latin typeface="微软雅黑"/>
                          <a:ea typeface="微软雅黑"/>
                          <a:cs typeface="微软雅黑"/>
                        </a:rPr>
                        <a:t>有限空间专项</a:t>
                      </a:r>
                      <a:r>
                        <a:rPr sz="1800" b="1" i="0">
                          <a:latin typeface="微软雅黑"/>
                          <a:ea typeface="微软雅黑"/>
                          <a:cs typeface="微软雅黑"/>
                        </a:rPr>
                        <a:t>培训</a:t>
                      </a:r>
                    </a:p>
                  </a:txBody>
                  <a:tcPr marL="3810" marR="3810" marT="3810" marB="0" anchor="ctr" anchorCtr="0"/>
                </a:tc>
                <a:tc>
                  <a:txBody>
                    <a:bodyPr/>
                    <a:lstStyle/>
                    <a:p>
                      <a:pPr algn="ctr">
                        <a:buNone/>
                      </a:pPr>
                      <a:r>
                        <a:rPr sz="1800" b="1">
                          <a:solidFill>
                            <a:schemeClr val="tx1"/>
                          </a:solidFill>
                          <a:latin typeface="微软雅黑"/>
                          <a:ea typeface="微软雅黑"/>
                          <a:cs typeface="微软雅黑"/>
                        </a:rPr>
                        <a:t>2</a:t>
                      </a:r>
                    </a:p>
                  </a:txBody>
                  <a:tcPr marL="68580" marR="68580" marT="34290" marB="34290" anchor="ctr" anchorCtr="0"/>
                </a:tc>
                <a:tc>
                  <a:txBody>
                    <a:bodyPr/>
                    <a:lstStyle/>
                    <a:p>
                      <a:pPr algn="ctr">
                        <a:buNone/>
                      </a:pPr>
                      <a:r>
                        <a:rPr sz="1800" b="1">
                          <a:solidFill>
                            <a:schemeClr val="tx1"/>
                          </a:solidFill>
                          <a:latin typeface="微软雅黑"/>
                          <a:ea typeface="微软雅黑"/>
                          <a:cs typeface="微软雅黑"/>
                        </a:rPr>
                        <a:t>236</a:t>
                      </a:r>
                    </a:p>
                  </a:txBody>
                  <a:tcPr marL="68580" marR="68580" marT="34290" marB="34290" anchor="ctr" anchorCtr="0"/>
                </a:tc>
              </a:tr>
              <a:tr h="462915">
                <a:tc>
                  <a:txBody>
                    <a:bodyPr/>
                    <a:lstStyle/>
                    <a:p>
                      <a:pPr algn="ctr">
                        <a:buNone/>
                      </a:pPr>
                      <a:r>
                        <a:rPr sz="1800" b="1">
                          <a:solidFill>
                            <a:schemeClr val="tx1"/>
                          </a:solidFill>
                          <a:latin typeface="微软雅黑"/>
                          <a:ea typeface="微软雅黑"/>
                          <a:cs typeface="微软雅黑"/>
                        </a:rPr>
                        <a:t>4</a:t>
                      </a:r>
                    </a:p>
                  </a:txBody>
                  <a:tcPr marL="91440" marR="91440" marT="45720" marB="45720" anchor="ctr" anchorCtr="0"/>
                </a:tc>
                <a:tc>
                  <a:txBody>
                    <a:bodyPr/>
                    <a:lstStyle/>
                    <a:p>
                      <a:pPr algn="ctr">
                        <a:buClrTx/>
                        <a:buSzTx/>
                        <a:buFontTx/>
                        <a:buNone/>
                      </a:pPr>
                      <a:r>
                        <a:rPr sz="1800" b="1" i="0">
                          <a:latin typeface="微软雅黑"/>
                          <a:ea typeface="微软雅黑"/>
                          <a:cs typeface="微软雅黑"/>
                        </a:rPr>
                        <a:t>动土作业安全管理专项培训</a:t>
                      </a:r>
                    </a:p>
                  </a:txBody>
                  <a:tcPr marL="3810" marR="3810" marT="3810" marB="0" anchor="ctr" anchorCtr="0"/>
                </a:tc>
                <a:tc>
                  <a:txBody>
                    <a:bodyPr/>
                    <a:lstStyle/>
                    <a:p>
                      <a:pPr algn="ctr">
                        <a:buNone/>
                      </a:pPr>
                      <a:r>
                        <a:rPr sz="1800" b="1">
                          <a:solidFill>
                            <a:schemeClr val="tx1"/>
                          </a:solidFill>
                          <a:latin typeface="微软雅黑"/>
                          <a:ea typeface="微软雅黑"/>
                          <a:cs typeface="微软雅黑"/>
                        </a:rPr>
                        <a:t>1</a:t>
                      </a:r>
                    </a:p>
                  </a:txBody>
                  <a:tcPr marL="68580" marR="68580" marT="34290" marB="34290" anchor="ctr" anchorCtr="0"/>
                </a:tc>
                <a:tc>
                  <a:txBody>
                    <a:bodyPr/>
                    <a:lstStyle/>
                    <a:p>
                      <a:pPr algn="ctr">
                        <a:buNone/>
                      </a:pPr>
                      <a:r>
                        <a:rPr sz="1800" b="1">
                          <a:solidFill>
                            <a:schemeClr val="tx1"/>
                          </a:solidFill>
                          <a:latin typeface="微软雅黑"/>
                          <a:ea typeface="微软雅黑"/>
                          <a:cs typeface="微软雅黑"/>
                        </a:rPr>
                        <a:t>45</a:t>
                      </a:r>
                    </a:p>
                  </a:txBody>
                  <a:tcPr marL="68580" marR="68580" marT="34290" marB="34290" anchor="ctr" anchorCtr="0"/>
                </a:tc>
              </a:tr>
              <a:tr h="462915">
                <a:tc>
                  <a:txBody>
                    <a:bodyPr/>
                    <a:lstStyle/>
                    <a:p>
                      <a:pPr algn="ctr">
                        <a:buNone/>
                      </a:pPr>
                      <a:r>
                        <a:rPr sz="1800" b="1">
                          <a:solidFill>
                            <a:schemeClr val="tx1"/>
                          </a:solidFill>
                          <a:latin typeface="微软雅黑"/>
                          <a:ea typeface="微软雅黑"/>
                          <a:cs typeface="微软雅黑"/>
                        </a:rPr>
                        <a:t>5</a:t>
                      </a:r>
                    </a:p>
                  </a:txBody>
                  <a:tcPr marL="91440" marR="91440" marT="45720" marB="45720" anchor="ctr" anchorCtr="0"/>
                </a:tc>
                <a:tc>
                  <a:txBody>
                    <a:bodyPr/>
                    <a:lstStyle/>
                    <a:p>
                      <a:pPr algn="ctr">
                        <a:buClrTx/>
                        <a:buSzTx/>
                        <a:buFontTx/>
                        <a:buNone/>
                      </a:pPr>
                      <a:r>
                        <a:rPr sz="1800" b="1" i="0">
                          <a:latin typeface="微软雅黑"/>
                          <a:ea typeface="微软雅黑"/>
                          <a:cs typeface="微软雅黑"/>
                        </a:rPr>
                        <a:t>危化品安全</a:t>
                      </a:r>
                      <a:r>
                        <a:rPr sz="1800" b="1" i="0">
                          <a:latin typeface="微软雅黑"/>
                          <a:ea typeface="微软雅黑"/>
                          <a:cs typeface="微软雅黑"/>
                        </a:rPr>
                        <a:t>管理培训</a:t>
                      </a:r>
                    </a:p>
                  </a:txBody>
                  <a:tcPr marL="3810" marR="3810" marT="3810" marB="0" anchor="ctr" anchorCtr="0"/>
                </a:tc>
                <a:tc>
                  <a:txBody>
                    <a:bodyPr/>
                    <a:lstStyle/>
                    <a:p>
                      <a:pPr algn="ctr">
                        <a:buNone/>
                      </a:pPr>
                      <a:r>
                        <a:rPr sz="1800" b="1">
                          <a:solidFill>
                            <a:schemeClr val="tx1"/>
                          </a:solidFill>
                          <a:latin typeface="微软雅黑"/>
                          <a:ea typeface="微软雅黑"/>
                          <a:cs typeface="微软雅黑"/>
                        </a:rPr>
                        <a:t>1</a:t>
                      </a:r>
                    </a:p>
                  </a:txBody>
                  <a:tcPr marL="68580" marR="68580" marT="34290" marB="34290" anchor="ctr" anchorCtr="0"/>
                </a:tc>
                <a:tc>
                  <a:txBody>
                    <a:bodyPr/>
                    <a:lstStyle/>
                    <a:p>
                      <a:pPr algn="ctr">
                        <a:buNone/>
                      </a:pPr>
                      <a:r>
                        <a:rPr sz="1800" b="1">
                          <a:solidFill>
                            <a:schemeClr val="tx1"/>
                          </a:solidFill>
                          <a:latin typeface="微软雅黑"/>
                          <a:ea typeface="微软雅黑"/>
                          <a:cs typeface="微软雅黑"/>
                        </a:rPr>
                        <a:t>83</a:t>
                      </a:r>
                    </a:p>
                  </a:txBody>
                  <a:tcPr marL="68580" marR="68580" marT="34290" marB="34290" anchor="ctr" anchorCtr="0"/>
                </a:tc>
              </a:tr>
              <a:tr h="444500">
                <a:tc>
                  <a:txBody>
                    <a:bodyPr/>
                    <a:lstStyle/>
                    <a:p>
                      <a:pPr algn="ctr">
                        <a:buNone/>
                      </a:pPr>
                      <a:r>
                        <a:rPr sz="1800" b="1">
                          <a:solidFill>
                            <a:schemeClr val="tx1"/>
                          </a:solidFill>
                          <a:latin typeface="微软雅黑"/>
                          <a:ea typeface="微软雅黑"/>
                          <a:cs typeface="微软雅黑"/>
                        </a:rPr>
                        <a:t>6</a:t>
                      </a:r>
                    </a:p>
                  </a:txBody>
                  <a:tcPr marL="91440" marR="91440" marT="45720" marB="45720" anchor="ctr" anchorCtr="0"/>
                </a:tc>
                <a:tc>
                  <a:txBody>
                    <a:bodyPr/>
                    <a:lstStyle/>
                    <a:p>
                      <a:pPr algn="ctr">
                        <a:buClrTx/>
                        <a:buSzTx/>
                        <a:buFontTx/>
                        <a:buNone/>
                      </a:pPr>
                      <a:r>
                        <a:rPr sz="1800" b="1" i="0">
                          <a:latin typeface="微软雅黑"/>
                          <a:ea typeface="微软雅黑"/>
                          <a:cs typeface="微软雅黑"/>
                        </a:rPr>
                        <a:t>合计</a:t>
                      </a:r>
                    </a:p>
                  </a:txBody>
                  <a:tcPr marL="7937" marR="7937" marT="7937" marB="0" anchor="ctr" anchorCtr="0"/>
                </a:tc>
                <a:tc>
                  <a:txBody>
                    <a:bodyPr/>
                    <a:lstStyle/>
                    <a:p>
                      <a:pPr algn="ctr">
                        <a:buNone/>
                      </a:pPr>
                      <a:r>
                        <a:rPr sz="1800" b="1">
                          <a:solidFill>
                            <a:srgbClr val="FF0000"/>
                          </a:solidFill>
                          <a:latin typeface="微软雅黑"/>
                          <a:ea typeface="微软雅黑"/>
                          <a:cs typeface="微软雅黑"/>
                        </a:rPr>
                        <a:t>7</a:t>
                      </a:r>
                    </a:p>
                  </a:txBody>
                  <a:tcPr marL="68580" marR="68580" marT="34290" marB="34290" anchor="ctr" anchorCtr="0"/>
                </a:tc>
                <a:tc>
                  <a:txBody>
                    <a:bodyPr/>
                    <a:lstStyle/>
                    <a:p>
                      <a:pPr algn="ctr">
                        <a:buNone/>
                      </a:pPr>
                      <a:r>
                        <a:rPr sz="1800" b="1">
                          <a:solidFill>
                            <a:srgbClr val="FF0000"/>
                          </a:solidFill>
                          <a:latin typeface="微软雅黑"/>
                          <a:ea typeface="微软雅黑"/>
                          <a:cs typeface="微软雅黑"/>
                        </a:rPr>
                        <a:t>395</a:t>
                      </a:r>
                    </a:p>
                  </a:txBody>
                  <a:tcPr marL="68580" marR="68580" marT="34290" marB="34290" anchor="ctr" anchorCtr="0"/>
                </a:tc>
              </a:tr>
            </a:tbl>
          </a:graphicData>
        </a:graphic>
      </p:graphicFrame>
    </p:spTree>
    <p:extLst>
      <p:ext uri="{BB962C8B-B14F-4D97-AF65-F5344CB8AC3E}">
        <p14:creationId xmlns:p14="http://schemas.microsoft.com/office/powerpoint/2010/main" val="33369584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1FB22152-9E8A-436E-9A02-BBC9BA8FA8BB}"/>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3F8C64F3-6073-4666-91B8-7409355A440F}"/>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D1B2B9D1-F6EB-4C8E-8E83-AD60FD71C878}"/>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三、</a:t>
            </a:r>
            <a:r>
              <a:rPr sz="2400" b="1">
                <a:solidFill>
                  <a:srgbClr val="0599D9">
                    <a:alpha val="100000"/>
                  </a:srgbClr>
                </a:solidFill>
              </a:rPr>
              <a:t>上</a:t>
            </a:r>
            <a:r>
              <a:rPr sz="2400" b="1">
                <a:solidFill>
                  <a:srgbClr val="0599D9">
                    <a:alpha val="100000"/>
                  </a:srgbClr>
                </a:solidFill>
              </a:rPr>
              <a:t>周主要工作</a:t>
            </a:r>
          </a:p>
        </p:txBody>
      </p:sp>
      <p:sp>
        <p:nvSpPr>
          <p:cNvPr id="25" name="标题 3">
            <a:extLst xmlns:a="http://schemas.openxmlformats.org/drawingml/2006/main">
              <a:ext uri="{FF2B5EF4-FFF2-40B4-BE49-F238E27FC236}">
                <a16:creationId xmlns:a16="http://schemas.microsoft.com/office/drawing/2014/main" id="{D012214D-8627-423C-989F-24B306E0E0F4}"/>
              </a:ext>
            </a:extLst>
          </p:cNvPr>
          <p:cNvSpPr>
            <a:spLocks xmlns:a="http://schemas.openxmlformats.org/drawingml/2006/main" noGrp="1"/>
          </p:cNvSpPr>
          <p:nvPr/>
        </p:nvSpPr>
        <p:spPr>
          <a:xfrm xmlns:a="http://schemas.openxmlformats.org/drawingml/2006/main">
            <a:off x="706830" y="994207"/>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13</a:t>
            </a:r>
            <a:r>
              <a:rPr sz="2200" b="1">
                <a:solidFill>
                  <a:srgbClr val="000000"/>
                </a:solidFill>
                <a:latin typeface="微软雅黑"/>
                <a:ea typeface="微软雅黑"/>
                <a:cs typeface="微软雅黑"/>
              </a:rPr>
              <a:t>、体系主要工作（</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1" name="表格 1"/>
          <p:cNvGraphicFramePr/>
          <p:nvPr/>
        </p:nvGraphicFramePr>
        <p:xfrm>
          <a:off xmlns:a="http://schemas.openxmlformats.org/drawingml/2006/main" x="715010" y="1424305"/>
          <a:ext xmlns:a="http://schemas.openxmlformats.org/drawingml/2006/main" cx="11470640" cy="3589020"/>
        </p:xfrm>
        <a:graphic xmlns:a="http://schemas.openxmlformats.org/drawingml/2006/main">
          <a:graphicData uri="http://schemas.openxmlformats.org/drawingml/2006/table">
            <a:tbl>
              <a:tblPr firstRow="1" bandRow="1">
                <a:tableStyleId>{5940675A-B579-460E-94D1-54222C63F5DA}</a:tableStyleId>
              </a:tblPr>
              <a:tblGrid>
                <a:gridCol w="805815"/>
                <a:gridCol w="5734685"/>
                <a:gridCol w="1765935"/>
                <a:gridCol w="3164205"/>
              </a:tblGrid>
              <a:tr h="384175">
                <a:tc>
                  <a:txBody>
                    <a:bodyPr/>
                    <a:lstStyle/>
                    <a:p>
                      <a:pPr algn="ctr">
                        <a:lnSpc>
                          <a:spcPct val="60000"/>
                        </a:lnSpc>
                        <a:spcBef>
                          <a:spcPts val="0"/>
                        </a:spcBef>
                        <a:spcAft>
                          <a:spcPts val="0"/>
                        </a:spcAft>
                        <a:buNone/>
                      </a:pPr>
                      <a:r>
                        <a:rPr sz="2000" b="1">
                          <a:solidFill>
                            <a:srgbClr val="FFFFFF"/>
                          </a:solidFill>
                          <a:latin typeface="微软雅黑"/>
                          <a:ea typeface="微软雅黑"/>
                          <a:cs typeface="微软雅黑"/>
                        </a:rPr>
                        <a:t>序号</a:t>
                      </a:r>
                    </a:p>
                  </a:txBody>
                  <a:tcPr marL="25400" marR="25400" marT="6350" marB="6350" anchor="ctr">
                    <a:solidFill>
                      <a:srgbClr val="00B0F0"/>
                    </a:solidFill>
                  </a:tcPr>
                </a:tc>
                <a:tc>
                  <a:txBody>
                    <a:bodyPr/>
                    <a:lstStyle/>
                    <a:p>
                      <a:pPr indent="0" algn="ctr">
                        <a:lnSpc>
                          <a:spcPct val="60000"/>
                        </a:lnSpc>
                        <a:spcBef>
                          <a:spcPts val="0"/>
                        </a:spcBef>
                        <a:spcAft>
                          <a:spcPts val="0"/>
                        </a:spcAft>
                        <a:buNone/>
                      </a:pPr>
                      <a:r>
                        <a:rPr sz="2000" b="1">
                          <a:solidFill>
                            <a:srgbClr val="FFFFFF"/>
                          </a:solidFill>
                          <a:latin typeface="微软雅黑"/>
                          <a:ea typeface="微软雅黑"/>
                          <a:cs typeface="微软雅黑"/>
                        </a:rPr>
                        <a:t>工作内容</a:t>
                      </a:r>
                    </a:p>
                  </a:txBody>
                  <a:tcPr marL="161925" marR="161925" marT="100012" marB="100012" anchor="ctr">
                    <a:solidFill>
                      <a:srgbClr val="00B0F0"/>
                    </a:solidFill>
                  </a:tcPr>
                </a:tc>
                <a:tc>
                  <a:txBody>
                    <a:bodyPr/>
                    <a:lstStyle/>
                    <a:p>
                      <a:pPr algn="ctr">
                        <a:lnSpc>
                          <a:spcPct val="60000"/>
                        </a:lnSpc>
                        <a:buNone/>
                      </a:pPr>
                      <a:r>
                        <a:rPr sz="2000" b="1" u="none">
                          <a:solidFill>
                            <a:srgbClr val="FFFFFF"/>
                          </a:solidFill>
                          <a:latin typeface="微软雅黑"/>
                          <a:ea typeface="微软雅黑"/>
                          <a:cs typeface="微软雅黑"/>
                        </a:rPr>
                        <a:t>责任人</a:t>
                      </a:r>
                    </a:p>
                  </a:txBody>
                  <a:tcPr marL="51435" marR="51435" marT="25717" marB="25717" anchor="ctr">
                    <a:solidFill>
                      <a:srgbClr val="00B0F0"/>
                    </a:solidFill>
                  </a:tcPr>
                </a:tc>
                <a:tc>
                  <a:txBody>
                    <a:bodyPr/>
                    <a:lstStyle/>
                    <a:p>
                      <a:pPr algn="ctr">
                        <a:lnSpc>
                          <a:spcPct val="60000"/>
                        </a:lnSpc>
                        <a:buNone/>
                      </a:pPr>
                      <a:r>
                        <a:rPr sz="2000" b="1" u="none">
                          <a:solidFill>
                            <a:srgbClr val="FFFFFF"/>
                          </a:solidFill>
                          <a:latin typeface="微软雅黑"/>
                          <a:ea typeface="微软雅黑"/>
                          <a:cs typeface="微软雅黑"/>
                        </a:rPr>
                        <a:t>完成情况</a:t>
                      </a:r>
                    </a:p>
                  </a:txBody>
                  <a:tcPr marL="51435" marR="51435" marT="25717" marB="25717" anchor="ctr">
                    <a:solidFill>
                      <a:srgbClr val="00B0F0"/>
                    </a:solidFill>
                  </a:tcPr>
                </a:tc>
              </a:tr>
              <a:tr h="294640">
                <a:tc>
                  <a:txBody>
                    <a:bodyPr/>
                    <a:lstStyle/>
                    <a:p>
                      <a:pPr algn="ctr">
                        <a:lnSpc>
                          <a:spcPct val="60000"/>
                        </a:lnSpc>
                        <a:buNone/>
                      </a:pPr>
                      <a:r>
                        <a:rPr sz="1600" b="1">
                          <a:latin typeface="微软雅黑"/>
                          <a:ea typeface="微软雅黑"/>
                          <a:cs typeface="微软雅黑"/>
                        </a:rPr>
                        <a:t>1</a:t>
                      </a:r>
                    </a:p>
                  </a:txBody>
                  <a:tcPr marL="91440" marR="91440" marT="45720" marB="45720" anchor="ctr" anchorCtr="0"/>
                </a:tc>
                <a:tc>
                  <a:txBody>
                    <a:bodyPr/>
                    <a:lstStyle/>
                    <a:p>
                      <a:pPr algn="ctr">
                        <a:buNone/>
                      </a:pPr>
                      <a:r>
                        <a:rPr sz="1400">
                          <a:solidFill>
                            <a:srgbClr val="000000"/>
                          </a:solidFill>
                        </a:rPr>
                        <a:t>7</a:t>
                      </a:r>
                      <a:r>
                        <a:rPr sz="1400">
                          <a:solidFill>
                            <a:srgbClr val="000000"/>
                          </a:solidFill>
                        </a:rPr>
                        <a:t>月份特种作业人员及特种设备信息报送（监理）</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已完成</a:t>
                      </a:r>
                    </a:p>
                  </a:txBody>
                  <a:tcPr marL="0" marR="0" marT="0" marB="0" anchor="ctr" anchorCtr="0"/>
                </a:tc>
              </a:tr>
              <a:tr h="294640">
                <a:tc>
                  <a:txBody>
                    <a:bodyPr/>
                    <a:lstStyle/>
                    <a:p>
                      <a:pPr algn="ctr">
                        <a:lnSpc>
                          <a:spcPct val="60000"/>
                        </a:lnSpc>
                        <a:buNone/>
                      </a:pPr>
                      <a:r>
                        <a:rPr sz="1600" b="1">
                          <a:latin typeface="微软雅黑"/>
                          <a:ea typeface="微软雅黑"/>
                          <a:cs typeface="微软雅黑"/>
                        </a:rPr>
                        <a:t>2</a:t>
                      </a:r>
                    </a:p>
                  </a:txBody>
                  <a:tcPr marL="91440" marR="91440" marT="45720" marB="45720" anchor="ctr" anchorCtr="0"/>
                </a:tc>
                <a:tc>
                  <a:txBody>
                    <a:bodyPr/>
                    <a:lstStyle/>
                    <a:p>
                      <a:pPr algn="ctr">
                        <a:buNone/>
                      </a:pPr>
                      <a:r>
                        <a:rPr sz="1400">
                          <a:solidFill>
                            <a:srgbClr val="000000"/>
                          </a:solidFill>
                        </a:rPr>
                        <a:t>8</a:t>
                      </a:r>
                      <a:r>
                        <a:rPr sz="1400">
                          <a:solidFill>
                            <a:srgbClr val="000000"/>
                          </a:solidFill>
                        </a:rPr>
                        <a:t>月份</a:t>
                      </a:r>
                      <a:r>
                        <a:rPr sz="1400">
                          <a:solidFill>
                            <a:srgbClr val="000000"/>
                          </a:solidFill>
                        </a:rPr>
                        <a:t>A</a:t>
                      </a:r>
                      <a:r>
                        <a:rPr sz="1400">
                          <a:solidFill>
                            <a:srgbClr val="000000"/>
                          </a:solidFill>
                        </a:rPr>
                        <a:t>、</a:t>
                      </a:r>
                      <a:r>
                        <a:rPr sz="1400">
                          <a:solidFill>
                            <a:srgbClr val="000000"/>
                          </a:solidFill>
                        </a:rPr>
                        <a:t>B</a:t>
                      </a:r>
                      <a:r>
                        <a:rPr sz="1400">
                          <a:solidFill>
                            <a:srgbClr val="000000"/>
                          </a:solidFill>
                        </a:rPr>
                        <a:t>级作业活动报送</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已完成</a:t>
                      </a:r>
                    </a:p>
                  </a:txBody>
                  <a:tcPr marL="0" marR="0" marT="0" marB="0" anchor="ctr" anchorCtr="0"/>
                </a:tc>
              </a:tr>
              <a:tr h="338455">
                <a:tc>
                  <a:txBody>
                    <a:bodyPr/>
                    <a:lstStyle/>
                    <a:p>
                      <a:pPr algn="ctr">
                        <a:lnSpc>
                          <a:spcPct val="60000"/>
                        </a:lnSpc>
                        <a:buNone/>
                      </a:pPr>
                      <a:r>
                        <a:rPr sz="1600" b="1">
                          <a:latin typeface="微软雅黑"/>
                          <a:ea typeface="微软雅黑"/>
                          <a:cs typeface="微软雅黑"/>
                        </a:rPr>
                        <a:t>3</a:t>
                      </a:r>
                    </a:p>
                  </a:txBody>
                  <a:tcPr marL="91440" marR="91440" marT="45720" marB="45720" anchor="ctr" anchorCtr="0"/>
                </a:tc>
                <a:tc>
                  <a:txBody>
                    <a:bodyPr/>
                    <a:lstStyle/>
                    <a:p>
                      <a:pPr algn="ctr">
                        <a:buNone/>
                      </a:pPr>
                      <a:r>
                        <a:rPr sz="1400">
                          <a:solidFill>
                            <a:srgbClr val="000000"/>
                          </a:solidFill>
                        </a:rPr>
                        <a:t>7</a:t>
                      </a:r>
                      <a:r>
                        <a:rPr sz="1400">
                          <a:solidFill>
                            <a:srgbClr val="000000"/>
                          </a:solidFill>
                        </a:rPr>
                        <a:t>月份安全管理数据月报编制及报送</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已完成</a:t>
                      </a:r>
                    </a:p>
                  </a:txBody>
                  <a:tcPr marL="0" marR="0" marT="0" marB="0" anchor="ctr" anchorCtr="0"/>
                </a:tc>
              </a:tr>
              <a:tr h="446405">
                <a:tc>
                  <a:txBody>
                    <a:bodyPr/>
                    <a:lstStyle/>
                    <a:p>
                      <a:pPr algn="ctr">
                        <a:lnSpc>
                          <a:spcPct val="60000"/>
                        </a:lnSpc>
                        <a:buNone/>
                      </a:pPr>
                      <a:r>
                        <a:rPr sz="1600" b="1">
                          <a:latin typeface="微软雅黑"/>
                          <a:ea typeface="微软雅黑"/>
                          <a:cs typeface="微软雅黑"/>
                        </a:rPr>
                        <a:t>4</a:t>
                      </a:r>
                    </a:p>
                  </a:txBody>
                  <a:tcPr marL="91440" marR="91440" marT="45720" marB="45720" anchor="ctr" anchorCtr="0"/>
                </a:tc>
                <a:tc>
                  <a:txBody>
                    <a:bodyPr/>
                    <a:lstStyle/>
                    <a:p>
                      <a:pPr algn="ctr">
                        <a:buNone/>
                      </a:pPr>
                      <a:r>
                        <a:rPr sz="1400">
                          <a:solidFill>
                            <a:srgbClr val="000000"/>
                          </a:solidFill>
                        </a:rPr>
                        <a:t>工程公司任务跟踪</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持续（目前</a:t>
                      </a:r>
                      <a:r>
                        <a:rPr sz="1400">
                          <a:solidFill>
                            <a:srgbClr val="000000"/>
                          </a:solidFill>
                        </a:rPr>
                        <a:t>74</a:t>
                      </a:r>
                      <a:r>
                        <a:rPr sz="1400">
                          <a:solidFill>
                            <a:srgbClr val="000000"/>
                          </a:solidFill>
                        </a:rPr>
                        <a:t>项，完成</a:t>
                      </a:r>
                      <a:r>
                        <a:rPr sz="1400">
                          <a:solidFill>
                            <a:srgbClr val="000000"/>
                          </a:solidFill>
                        </a:rPr>
                        <a:t>59</a:t>
                      </a:r>
                      <a:r>
                        <a:rPr sz="1400">
                          <a:solidFill>
                            <a:srgbClr val="000000"/>
                          </a:solidFill>
                        </a:rPr>
                        <a:t>项，剩余</a:t>
                      </a:r>
                      <a:r>
                        <a:rPr sz="1400">
                          <a:solidFill>
                            <a:srgbClr val="000000"/>
                          </a:solidFill>
                        </a:rPr>
                        <a:t>15</a:t>
                      </a:r>
                      <a:r>
                        <a:rPr sz="1400">
                          <a:solidFill>
                            <a:srgbClr val="000000"/>
                          </a:solidFill>
                        </a:rPr>
                        <a:t>项）</a:t>
                      </a:r>
                    </a:p>
                  </a:txBody>
                  <a:tcPr marL="0" marR="0" marT="0" marB="0" anchor="ctr" anchorCtr="0"/>
                </a:tc>
              </a:tr>
              <a:tr h="287020">
                <a:tc>
                  <a:txBody>
                    <a:bodyPr/>
                    <a:lstStyle/>
                    <a:p>
                      <a:pPr algn="ctr">
                        <a:lnSpc>
                          <a:spcPct val="60000"/>
                        </a:lnSpc>
                        <a:buNone/>
                      </a:pPr>
                      <a:r>
                        <a:rPr sz="1600" b="1">
                          <a:latin typeface="微软雅黑"/>
                          <a:ea typeface="微软雅黑"/>
                          <a:cs typeface="微软雅黑"/>
                        </a:rPr>
                        <a:t>5</a:t>
                      </a:r>
                    </a:p>
                  </a:txBody>
                  <a:tcPr marL="91440" marR="91440" marT="45720" marB="45720" anchor="ctr" anchorCtr="0"/>
                </a:tc>
                <a:tc>
                  <a:txBody>
                    <a:bodyPr/>
                    <a:lstStyle/>
                    <a:p>
                      <a:pPr algn="ctr">
                        <a:buNone/>
                      </a:pPr>
                      <a:r>
                        <a:rPr sz="1400">
                          <a:solidFill>
                            <a:srgbClr val="000000"/>
                          </a:solidFill>
                        </a:rPr>
                        <a:t>中心任务跟踪</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持续（目前</a:t>
                      </a:r>
                      <a:r>
                        <a:rPr sz="1400">
                          <a:solidFill>
                            <a:srgbClr val="000000"/>
                          </a:solidFill>
                        </a:rPr>
                        <a:t>8</a:t>
                      </a:r>
                      <a:r>
                        <a:rPr sz="1400">
                          <a:solidFill>
                            <a:srgbClr val="000000"/>
                          </a:solidFill>
                        </a:rPr>
                        <a:t>项，完成</a:t>
                      </a:r>
                      <a:r>
                        <a:rPr sz="1400">
                          <a:solidFill>
                            <a:srgbClr val="000000"/>
                          </a:solidFill>
                        </a:rPr>
                        <a:t>6</a:t>
                      </a:r>
                      <a:r>
                        <a:rPr sz="1400">
                          <a:solidFill>
                            <a:srgbClr val="000000"/>
                          </a:solidFill>
                        </a:rPr>
                        <a:t>项，剩余</a:t>
                      </a:r>
                      <a:r>
                        <a:rPr sz="1400">
                          <a:solidFill>
                            <a:srgbClr val="000000"/>
                          </a:solidFill>
                        </a:rPr>
                        <a:t>2</a:t>
                      </a:r>
                      <a:r>
                        <a:rPr sz="1400">
                          <a:solidFill>
                            <a:srgbClr val="000000"/>
                          </a:solidFill>
                        </a:rPr>
                        <a:t>项）</a:t>
                      </a:r>
                    </a:p>
                  </a:txBody>
                  <a:tcPr marL="0" marR="0" marT="0" marB="0" anchor="ctr" anchorCtr="0"/>
                </a:tc>
              </a:tr>
              <a:tr h="287020">
                <a:tc>
                  <a:txBody>
                    <a:bodyPr/>
                    <a:lstStyle/>
                    <a:p>
                      <a:pPr algn="ctr">
                        <a:lnSpc>
                          <a:spcPct val="60000"/>
                        </a:lnSpc>
                        <a:buNone/>
                      </a:pPr>
                      <a:r>
                        <a:rPr sz="1600" b="1">
                          <a:latin typeface="微软雅黑"/>
                          <a:ea typeface="微软雅黑"/>
                          <a:cs typeface="微软雅黑"/>
                        </a:rPr>
                        <a:t>6</a:t>
                      </a:r>
                    </a:p>
                  </a:txBody>
                  <a:tcPr marL="91440" marR="91440" marT="45720" marB="45720" anchor="ctr" anchorCtr="0"/>
                </a:tc>
                <a:tc>
                  <a:txBody>
                    <a:bodyPr/>
                    <a:lstStyle/>
                    <a:p>
                      <a:pPr algn="ctr">
                        <a:buNone/>
                      </a:pPr>
                      <a:r>
                        <a:rPr sz="1400">
                          <a:solidFill>
                            <a:srgbClr val="000000"/>
                          </a:solidFill>
                        </a:rPr>
                        <a:t>编写监理例会材料</a:t>
                      </a:r>
                    </a:p>
                  </a:txBody>
                  <a:tcPr marL="0" marR="0" marT="0" marB="0" anchor="ctr" anchorCtr="0"/>
                </a:tc>
                <a:tc>
                  <a:txBody>
                    <a:bodyPr/>
                    <a:lstStyle/>
                    <a:p>
                      <a:pPr algn="ctr">
                        <a:buNone/>
                      </a:pPr>
                      <a:r>
                        <a:rPr sz="1400">
                          <a:solidFill>
                            <a:srgbClr val="000000"/>
                          </a:solidFill>
                        </a:rPr>
                        <a:t>韦瑞铭</a:t>
                      </a:r>
                    </a:p>
                  </a:txBody>
                  <a:tcPr marL="0" marR="0" marT="0" marB="0" anchor="ctr" anchorCtr="0"/>
                </a:tc>
                <a:tc>
                  <a:txBody>
                    <a:bodyPr/>
                    <a:lstStyle/>
                    <a:p>
                      <a:pPr algn="ctr">
                        <a:buNone/>
                      </a:pPr>
                      <a:r>
                        <a:rPr sz="1400">
                          <a:solidFill>
                            <a:srgbClr val="000000"/>
                          </a:solidFill>
                        </a:rPr>
                        <a:t>7.23</a:t>
                      </a:r>
                    </a:p>
                  </a:txBody>
                  <a:tcPr marL="0" marR="0" marT="0" marB="0" anchor="ctr" anchorCtr="0"/>
                </a:tc>
              </a:tr>
              <a:tr h="334645">
                <a:tc>
                  <a:txBody>
                    <a:bodyPr/>
                    <a:lstStyle/>
                    <a:p>
                      <a:pPr algn="ctr">
                        <a:lnSpc>
                          <a:spcPct val="60000"/>
                        </a:lnSpc>
                        <a:buNone/>
                      </a:pPr>
                      <a:r>
                        <a:rPr sz="1600" b="1">
                          <a:latin typeface="微软雅黑"/>
                          <a:ea typeface="微软雅黑"/>
                          <a:cs typeface="微软雅黑"/>
                        </a:rPr>
                        <a:t>7</a:t>
                      </a:r>
                    </a:p>
                  </a:txBody>
                  <a:tcPr marL="91440" marR="91440" marT="45720" marB="45720" anchor="ctr" anchorCtr="0"/>
                </a:tc>
                <a:tc>
                  <a:txBody>
                    <a:bodyPr/>
                    <a:lstStyle/>
                    <a:p>
                      <a:pPr algn="ctr">
                        <a:buNone/>
                      </a:pPr>
                      <a:r>
                        <a:rPr sz="1400">
                          <a:solidFill>
                            <a:srgbClr val="000000"/>
                          </a:solidFill>
                        </a:rPr>
                        <a:t>应急物资检查隐患整改</a:t>
                      </a:r>
                    </a:p>
                  </a:txBody>
                  <a:tcPr marL="0" marR="0" marT="0" marB="0" anchor="ctr" anchorCtr="0"/>
                </a:tc>
                <a:tc>
                  <a:txBody>
                    <a:bodyPr/>
                    <a:lstStyle/>
                    <a:p>
                      <a:pPr algn="ctr">
                        <a:buNone/>
                      </a:pPr>
                      <a:r>
                        <a:rPr sz="1400">
                          <a:solidFill>
                            <a:srgbClr val="000000"/>
                          </a:solidFill>
                        </a:rPr>
                        <a:t>韦瑞铭</a:t>
                      </a:r>
                    </a:p>
                  </a:txBody>
                  <a:tcPr marL="0" marR="0" marT="0" marB="0" anchor="ctr" anchorCtr="0"/>
                </a:tc>
                <a:tc>
                  <a:txBody>
                    <a:bodyPr/>
                    <a:lstStyle/>
                    <a:p>
                      <a:pPr algn="ctr">
                        <a:buNone/>
                      </a:pPr>
                      <a:r>
                        <a:rPr sz="1400">
                          <a:solidFill>
                            <a:srgbClr val="000000"/>
                          </a:solidFill>
                        </a:rPr>
                        <a:t>7.31</a:t>
                      </a:r>
                    </a:p>
                  </a:txBody>
                  <a:tcPr marL="0" marR="0" marT="0" marB="0" anchor="ctr" anchorCtr="0"/>
                </a:tc>
              </a:tr>
              <a:tr h="307340">
                <a:tc>
                  <a:txBody>
                    <a:bodyPr/>
                    <a:lstStyle/>
                    <a:p>
                      <a:pPr algn="ctr">
                        <a:lnSpc>
                          <a:spcPct val="60000"/>
                        </a:lnSpc>
                        <a:buNone/>
                      </a:pPr>
                      <a:r>
                        <a:rPr sz="1600" b="1">
                          <a:latin typeface="微软雅黑"/>
                          <a:ea typeface="微软雅黑"/>
                          <a:cs typeface="微软雅黑"/>
                        </a:rPr>
                        <a:t>8</a:t>
                      </a:r>
                    </a:p>
                  </a:txBody>
                  <a:tcPr marL="91440" marR="91440" marT="45720" marB="45720" anchor="ctr" anchorCtr="0"/>
                </a:tc>
                <a:tc>
                  <a:txBody>
                    <a:bodyPr/>
                    <a:lstStyle/>
                    <a:p>
                      <a:pPr algn="ctr">
                        <a:buNone/>
                      </a:pPr>
                      <a:r>
                        <a:rPr sz="1400">
                          <a:solidFill>
                            <a:srgbClr val="000000"/>
                          </a:solidFill>
                        </a:rPr>
                        <a:t>隐患数据看板开发</a:t>
                      </a:r>
                    </a:p>
                  </a:txBody>
                  <a:tcPr marL="0" marR="0" marT="0" marB="0" anchor="ctr" anchorCtr="0"/>
                </a:tc>
                <a:tc>
                  <a:txBody>
                    <a:bodyPr/>
                    <a:lstStyle/>
                    <a:p>
                      <a:pPr algn="ctr">
                        <a:buNone/>
                      </a:pPr>
                      <a:r>
                        <a:rPr sz="1400">
                          <a:solidFill>
                            <a:srgbClr val="000000"/>
                          </a:solidFill>
                        </a:rPr>
                        <a:t>邓宇聪</a:t>
                      </a:r>
                    </a:p>
                  </a:txBody>
                  <a:tcPr marL="0" marR="0" marT="0" marB="0" anchor="ctr" anchorCtr="0"/>
                </a:tc>
                <a:tc>
                  <a:txBody>
                    <a:bodyPr/>
                    <a:lstStyle/>
                    <a:p>
                      <a:pPr algn="ctr">
                        <a:buNone/>
                      </a:pPr>
                      <a:r>
                        <a:rPr sz="1400">
                          <a:solidFill>
                            <a:srgbClr val="000000"/>
                          </a:solidFill>
                        </a:rPr>
                        <a:t>已完成</a:t>
                      </a:r>
                    </a:p>
                  </a:txBody>
                  <a:tcPr marL="0" marR="0" marT="0" marB="0" anchor="ctr" anchorCtr="0"/>
                </a:tc>
              </a:tr>
              <a:tr h="307340">
                <a:tc>
                  <a:txBody>
                    <a:bodyPr/>
                    <a:lstStyle/>
                    <a:p>
                      <a:pPr algn="ctr">
                        <a:lnSpc>
                          <a:spcPct val="60000"/>
                        </a:lnSpc>
                        <a:buNone/>
                      </a:pPr>
                      <a:r>
                        <a:rPr sz="1600" b="1">
                          <a:latin typeface="微软雅黑"/>
                          <a:ea typeface="微软雅黑"/>
                          <a:cs typeface="微软雅黑"/>
                        </a:rPr>
                        <a:t>9</a:t>
                      </a:r>
                    </a:p>
                  </a:txBody>
                  <a:tcPr marL="91440" marR="91440" marT="45720" marB="45720" anchor="ctr" anchorCtr="0"/>
                </a:tc>
                <a:tc>
                  <a:txBody>
                    <a:bodyPr/>
                    <a:lstStyle/>
                    <a:p>
                      <a:pPr algn="ctr">
                        <a:buNone/>
                      </a:pPr>
                      <a:r>
                        <a:rPr sz="1400">
                          <a:solidFill>
                            <a:srgbClr val="000000"/>
                          </a:solidFill>
                        </a:rPr>
                        <a:t>危化品、</a:t>
                      </a:r>
                      <a:r>
                        <a:rPr sz="1400">
                          <a:solidFill>
                            <a:srgbClr val="000000"/>
                          </a:solidFill>
                        </a:rPr>
                        <a:t>有限空间专项培训组织</a:t>
                      </a:r>
                    </a:p>
                  </a:txBody>
                  <a:tcPr marL="0" marR="0" marT="0" marB="0" anchor="ctr" anchorCtr="0"/>
                </a:tc>
                <a:tc>
                  <a:txBody>
                    <a:bodyPr/>
                    <a:lstStyle/>
                    <a:p>
                      <a:pPr algn="ctr">
                        <a:buNone/>
                      </a:pPr>
                      <a:r>
                        <a:rPr sz="1400">
                          <a:solidFill>
                            <a:srgbClr val="000000"/>
                          </a:solidFill>
                        </a:rPr>
                        <a:t>邓宇聪</a:t>
                      </a:r>
                    </a:p>
                  </a:txBody>
                  <a:tcPr marL="0" marR="0" marT="0" marB="0" anchor="ctr" anchorCtr="0"/>
                </a:tc>
                <a:tc>
                  <a:txBody>
                    <a:bodyPr/>
                    <a:lstStyle/>
                    <a:p>
                      <a:pPr algn="ctr">
                        <a:buNone/>
                      </a:pPr>
                      <a:r>
                        <a:rPr sz="1400">
                          <a:solidFill>
                            <a:srgbClr val="000000"/>
                          </a:solidFill>
                        </a:rPr>
                        <a:t>已完成</a:t>
                      </a:r>
                    </a:p>
                  </a:txBody>
                  <a:tcPr marL="0" marR="0" marT="0" marB="0" anchor="ctr" anchorCtr="0"/>
                </a:tc>
              </a:tr>
              <a:tr h="307340">
                <a:tc>
                  <a:txBody>
                    <a:bodyPr/>
                    <a:lstStyle/>
                    <a:p>
                      <a:pPr algn="ctr">
                        <a:lnSpc>
                          <a:spcPct val="60000"/>
                        </a:lnSpc>
                        <a:buNone/>
                      </a:pPr>
                      <a:r>
                        <a:rPr sz="1600" b="1">
                          <a:latin typeface="微软雅黑"/>
                          <a:ea typeface="微软雅黑"/>
                          <a:cs typeface="微软雅黑"/>
                        </a:rPr>
                        <a:t>10</a:t>
                      </a:r>
                    </a:p>
                  </a:txBody>
                  <a:tcPr marL="91440" marR="91440" marT="45720" marB="45720" anchor="ctr" anchorCtr="0"/>
                </a:tc>
                <a:tc>
                  <a:txBody>
                    <a:bodyPr/>
                    <a:lstStyle/>
                    <a:p>
                      <a:pPr algn="ctr">
                        <a:buNone/>
                      </a:pPr>
                      <a:r>
                        <a:rPr sz="1400">
                          <a:solidFill>
                            <a:srgbClr val="000000"/>
                          </a:solidFill>
                        </a:rPr>
                        <a:t>每日总监日会任务跟踪</a:t>
                      </a:r>
                    </a:p>
                  </a:txBody>
                  <a:tcPr marL="0" marR="0" marT="0" marB="0" anchor="ctr" anchorCtr="0"/>
                </a:tc>
                <a:tc>
                  <a:txBody>
                    <a:bodyPr/>
                    <a:lstStyle/>
                    <a:p>
                      <a:pPr algn="ctr">
                        <a:buNone/>
                      </a:pPr>
                      <a:r>
                        <a:rPr sz="1400">
                          <a:solidFill>
                            <a:srgbClr val="000000"/>
                          </a:solidFill>
                        </a:rPr>
                        <a:t>唐星民</a:t>
                      </a:r>
                    </a:p>
                  </a:txBody>
                  <a:tcPr marL="0" marR="0" marT="0" marB="0" anchor="ctr" anchorCtr="0"/>
                </a:tc>
                <a:tc>
                  <a:txBody>
                    <a:bodyPr/>
                    <a:lstStyle/>
                    <a:p>
                      <a:pPr algn="ctr">
                        <a:buNone/>
                      </a:pPr>
                      <a:r>
                        <a:rPr sz="1400">
                          <a:solidFill>
                            <a:srgbClr val="000000"/>
                          </a:solidFill>
                        </a:rPr>
                        <a:t>已完成</a:t>
                      </a:r>
                    </a:p>
                  </a:txBody>
                  <a:tcPr marL="0" marR="0" marT="0" marB="0" anchor="ctr" anchorCtr="0"/>
                </a:tc>
              </a:tr>
            </a:tbl>
          </a:graphicData>
        </a:graphic>
      </p:graphicFrame>
    </p:spTree>
    <p:extLst>
      <p:ext uri="{BB962C8B-B14F-4D97-AF65-F5344CB8AC3E}">
        <p14:creationId xmlns:p14="http://schemas.microsoft.com/office/powerpoint/2010/main" val="83847207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66F854D5-26AE-4D91-8535-003D06223653}"/>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2A912DBB-CEBA-4597-9C6E-6A54B3B57EA2}"/>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C1EC0614-30F3-44B4-95B5-B20AFACF8877}"/>
              </a:ext>
            </a:extLst>
          </p:cNvPr>
          <p:cNvSpPr>
            <a:spLocks xmlns:a="http://schemas.openxmlformats.org/drawingml/2006/main" noGrp="1"/>
          </p:cNvSpPr>
          <p:nvPr/>
        </p:nvSpPr>
        <p:spPr>
          <a:xfrm xmlns:a="http://schemas.openxmlformats.org/drawingml/2006/main" rot="0" flipH="0" flipV="0">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三、</a:t>
            </a:r>
            <a:r>
              <a:rPr sz="2400" b="1">
                <a:solidFill>
                  <a:srgbClr val="0599D9">
                    <a:alpha val="100000"/>
                  </a:srgbClr>
                </a:solidFill>
              </a:rPr>
              <a:t>下</a:t>
            </a:r>
            <a:r>
              <a:rPr sz="2400" b="1">
                <a:solidFill>
                  <a:srgbClr val="0599D9">
                    <a:alpha val="100000"/>
                  </a:srgbClr>
                </a:solidFill>
              </a:rPr>
              <a:t>周主要工作</a:t>
            </a:r>
          </a:p>
        </p:txBody>
      </p:sp>
      <p:sp>
        <p:nvSpPr>
          <p:cNvPr id="25" name="标题 3">
            <a:extLst xmlns:a="http://schemas.openxmlformats.org/drawingml/2006/main">
              <a:ext uri="{FF2B5EF4-FFF2-40B4-BE49-F238E27FC236}">
                <a16:creationId xmlns:a16="http://schemas.microsoft.com/office/drawing/2014/main" id="{22232595-8326-4D45-8688-566C7C67A063}"/>
              </a:ext>
            </a:extLst>
          </p:cNvPr>
          <p:cNvSpPr>
            <a:spLocks xmlns:a="http://schemas.openxmlformats.org/drawingml/2006/main" noGrp="1"/>
          </p:cNvSpPr>
          <p:nvPr/>
        </p:nvSpPr>
        <p:spPr>
          <a:xfrm xmlns:a="http://schemas.openxmlformats.org/drawingml/2006/main">
            <a:off x="706830" y="1370127"/>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13</a:t>
            </a:r>
            <a:r>
              <a:rPr sz="2200" b="1">
                <a:solidFill>
                  <a:srgbClr val="000000"/>
                </a:solidFill>
                <a:latin typeface="微软雅黑"/>
                <a:ea typeface="微软雅黑"/>
                <a:cs typeface="微软雅黑"/>
              </a:rPr>
              <a:t>、体系主要工作（</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--7</a:t>
            </a:r>
            <a:r>
              <a:rPr sz="2200" b="1">
                <a:solidFill>
                  <a:srgbClr val="000000"/>
                </a:solidFill>
                <a:latin typeface="微软雅黑"/>
                <a:ea typeface="微软雅黑"/>
                <a:cs typeface="微软雅黑"/>
              </a:rPr>
              <a:t>月</a:t>
            </a:r>
            <a:r>
              <a:rPr sz="2200" b="1">
                <a:solidFill>
                  <a:srgbClr val="000000"/>
                </a:solidFill>
                <a:latin typeface="微软雅黑"/>
                <a:ea typeface="微软雅黑"/>
                <a:cs typeface="微软雅黑"/>
              </a:rPr>
              <a:t>21</a:t>
            </a:r>
            <a:r>
              <a:rPr sz="2200" b="1">
                <a:solidFill>
                  <a:srgbClr val="000000"/>
                </a:solidFill>
                <a:latin typeface="微软雅黑"/>
                <a:ea typeface="微软雅黑"/>
                <a:cs typeface="微软雅黑"/>
              </a:rPr>
              <a:t>日</a:t>
            </a:r>
            <a:r>
              <a:rPr sz="2200" b="1">
                <a:solidFill>
                  <a:srgbClr val="000000"/>
                </a:solidFill>
                <a:latin typeface="微软雅黑"/>
                <a:ea typeface="微软雅黑"/>
                <a:cs typeface="微软雅黑"/>
              </a:rPr>
              <a:t>）</a:t>
            </a:r>
          </a:p>
        </p:txBody>
      </p:sp>
      <p:graphicFrame>
        <p:nvGraphicFramePr>
          <p:cNvPr id="31" name="表格 1"/>
          <p:cNvGraphicFramePr/>
          <p:nvPr/>
        </p:nvGraphicFramePr>
        <p:xfrm>
          <a:off xmlns:a="http://schemas.openxmlformats.org/drawingml/2006/main" x="622935" y="1825625"/>
          <a:ext xmlns:a="http://schemas.openxmlformats.org/drawingml/2006/main" cx="10166985" cy="4253230"/>
        </p:xfrm>
        <a:graphic xmlns:a="http://schemas.openxmlformats.org/drawingml/2006/main">
          <a:graphicData uri="http://schemas.openxmlformats.org/drawingml/2006/table">
            <a:tbl>
              <a:tblPr firstRow="1" bandRow="1">
                <a:tableStyleId>{5940675A-B579-460E-94D1-54222C63F5DA}</a:tableStyleId>
              </a:tblPr>
              <a:tblGrid>
                <a:gridCol w="799465"/>
                <a:gridCol w="5688330"/>
                <a:gridCol w="1751330"/>
                <a:gridCol w="1927860"/>
              </a:tblGrid>
              <a:tr h="565150">
                <a:tc>
                  <a:txBody>
                    <a:bodyPr/>
                    <a:lstStyle/>
                    <a:p>
                      <a:pPr algn="ctr">
                        <a:lnSpc>
                          <a:spcPct val="120000"/>
                        </a:lnSpc>
                        <a:spcBef>
                          <a:spcPts val="0"/>
                        </a:spcBef>
                        <a:spcAft>
                          <a:spcPts val="0"/>
                        </a:spcAft>
                        <a:buNone/>
                      </a:pPr>
                      <a:r>
                        <a:rPr sz="2000" b="1">
                          <a:solidFill>
                            <a:srgbClr val="FFFFFF"/>
                          </a:solidFill>
                          <a:latin typeface="微软雅黑"/>
                          <a:ea typeface="微软雅黑"/>
                          <a:cs typeface="微软雅黑"/>
                        </a:rPr>
                        <a:t>序号</a:t>
                      </a:r>
                    </a:p>
                  </a:txBody>
                  <a:tcPr marL="25400" marR="25400" marT="6350" marB="6350" anchor="ctr">
                    <a:solidFill>
                      <a:srgbClr val="00B0F0"/>
                    </a:solidFill>
                  </a:tcPr>
                </a:tc>
                <a:tc>
                  <a:txBody>
                    <a:bodyPr/>
                    <a:lstStyle/>
                    <a:p>
                      <a:pPr indent="0" algn="ctr">
                        <a:lnSpc>
                          <a:spcPct val="120000"/>
                        </a:lnSpc>
                        <a:spcBef>
                          <a:spcPts val="0"/>
                        </a:spcBef>
                        <a:spcAft>
                          <a:spcPts val="0"/>
                        </a:spcAft>
                        <a:buNone/>
                      </a:pPr>
                      <a:r>
                        <a:rPr sz="2000" b="1">
                          <a:solidFill>
                            <a:srgbClr val="FFFFFF"/>
                          </a:solidFill>
                          <a:latin typeface="微软雅黑"/>
                          <a:ea typeface="微软雅黑"/>
                          <a:cs typeface="微软雅黑"/>
                        </a:rPr>
                        <a:t>工作内容</a:t>
                      </a:r>
                    </a:p>
                  </a:txBody>
                  <a:tcPr marL="161925" marR="161925" marT="100012" marB="100012" anchor="ctr">
                    <a:solidFill>
                      <a:srgbClr val="00B0F0"/>
                    </a:solidFill>
                  </a:tcPr>
                </a:tc>
                <a:tc>
                  <a:txBody>
                    <a:bodyPr/>
                    <a:lstStyle/>
                    <a:p>
                      <a:pPr algn="ctr">
                        <a:buNone/>
                      </a:pPr>
                      <a:r>
                        <a:rPr sz="2000" b="1" u="none">
                          <a:solidFill>
                            <a:srgbClr val="FFFFFF"/>
                          </a:solidFill>
                          <a:latin typeface="微软雅黑"/>
                          <a:ea typeface="微软雅黑"/>
                          <a:cs typeface="微软雅黑"/>
                        </a:rPr>
                        <a:t>责任人</a:t>
                      </a:r>
                    </a:p>
                  </a:txBody>
                  <a:tcPr marL="51435" marR="51435" marT="25717" marB="25717" anchor="ctr">
                    <a:solidFill>
                      <a:srgbClr val="00B0F0"/>
                    </a:solidFill>
                  </a:tcPr>
                </a:tc>
                <a:tc>
                  <a:txBody>
                    <a:bodyPr/>
                    <a:lstStyle/>
                    <a:p>
                      <a:pPr algn="ctr">
                        <a:buNone/>
                      </a:pPr>
                      <a:r>
                        <a:rPr sz="2000" b="1" u="none">
                          <a:solidFill>
                            <a:srgbClr val="FFFFFF"/>
                          </a:solidFill>
                          <a:latin typeface="微软雅黑"/>
                          <a:ea typeface="微软雅黑"/>
                          <a:cs typeface="微软雅黑"/>
                        </a:rPr>
                        <a:t>完成情况</a:t>
                      </a:r>
                    </a:p>
                  </a:txBody>
                  <a:tcPr marL="51435" marR="51435" marT="25717" marB="25717" anchor="ctr">
                    <a:solidFill>
                      <a:srgbClr val="00B0F0"/>
                    </a:solidFill>
                  </a:tcPr>
                </a:tc>
              </a:tr>
              <a:tr h="457200">
                <a:tc>
                  <a:txBody>
                    <a:bodyPr/>
                    <a:lstStyle/>
                    <a:p>
                      <a:pPr algn="ctr">
                        <a:lnSpc>
                          <a:spcPct val="150000"/>
                        </a:lnSpc>
                        <a:buNone/>
                      </a:pPr>
                      <a:r>
                        <a:rPr sz="1600" b="1">
                          <a:latin typeface="微软雅黑"/>
                          <a:ea typeface="微软雅黑"/>
                          <a:cs typeface="微软雅黑"/>
                        </a:rPr>
                        <a:t>1</a:t>
                      </a:r>
                    </a:p>
                  </a:txBody>
                  <a:tcPr marL="91440" marR="91440" marT="45720" marB="45720" anchor="ctr" anchorCtr="0"/>
                </a:tc>
                <a:tc>
                  <a:txBody>
                    <a:bodyPr/>
                    <a:lstStyle/>
                    <a:p>
                      <a:pPr algn="ctr">
                        <a:buNone/>
                      </a:pPr>
                      <a:r>
                        <a:rPr sz="1400">
                          <a:solidFill>
                            <a:srgbClr val="000000"/>
                          </a:solidFill>
                        </a:rPr>
                        <a:t>工程公司任务跟踪</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持续</a:t>
                      </a:r>
                    </a:p>
                  </a:txBody>
                  <a:tcPr marL="0" marR="0" marT="0" marB="0" anchor="ctr" anchorCtr="0"/>
                </a:tc>
              </a:tr>
              <a:tr h="457200">
                <a:tc>
                  <a:txBody>
                    <a:bodyPr/>
                    <a:lstStyle/>
                    <a:p>
                      <a:pPr algn="ctr">
                        <a:lnSpc>
                          <a:spcPct val="150000"/>
                        </a:lnSpc>
                        <a:buNone/>
                      </a:pPr>
                      <a:r>
                        <a:rPr sz="1600" b="1">
                          <a:latin typeface="微软雅黑"/>
                          <a:ea typeface="微软雅黑"/>
                          <a:cs typeface="微软雅黑"/>
                        </a:rPr>
                        <a:t>2</a:t>
                      </a:r>
                    </a:p>
                  </a:txBody>
                  <a:tcPr marL="91440" marR="91440" marT="45720" marB="45720" anchor="ctr" anchorCtr="0"/>
                </a:tc>
                <a:tc>
                  <a:txBody>
                    <a:bodyPr/>
                    <a:lstStyle/>
                    <a:p>
                      <a:pPr algn="ctr">
                        <a:buNone/>
                      </a:pPr>
                      <a:r>
                        <a:rPr sz="1400">
                          <a:solidFill>
                            <a:srgbClr val="000000"/>
                          </a:solidFill>
                        </a:rPr>
                        <a:t>中心任务跟踪</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持续</a:t>
                      </a:r>
                    </a:p>
                  </a:txBody>
                  <a:tcPr marL="0" marR="0" marT="0" marB="0" anchor="ctr" anchorCtr="0"/>
                </a:tc>
              </a:tr>
              <a:tr h="457200">
                <a:tc>
                  <a:txBody>
                    <a:bodyPr/>
                    <a:lstStyle/>
                    <a:p>
                      <a:pPr algn="ctr">
                        <a:lnSpc>
                          <a:spcPct val="150000"/>
                        </a:lnSpc>
                        <a:buNone/>
                      </a:pPr>
                      <a:r>
                        <a:rPr sz="1600" b="1">
                          <a:latin typeface="微软雅黑"/>
                          <a:ea typeface="微软雅黑"/>
                          <a:cs typeface="微软雅黑"/>
                        </a:rPr>
                        <a:t>3</a:t>
                      </a:r>
                    </a:p>
                  </a:txBody>
                  <a:tcPr marL="91440" marR="91440" marT="45720" marB="45720" anchor="ctr" anchorCtr="0"/>
                </a:tc>
                <a:tc>
                  <a:txBody>
                    <a:bodyPr/>
                    <a:lstStyle/>
                    <a:p>
                      <a:pPr algn="ctr">
                        <a:buNone/>
                      </a:pPr>
                      <a:r>
                        <a:rPr sz="1400">
                          <a:solidFill>
                            <a:srgbClr val="000000"/>
                          </a:solidFill>
                        </a:rPr>
                        <a:t>8</a:t>
                      </a:r>
                      <a:r>
                        <a:rPr sz="1400">
                          <a:solidFill>
                            <a:srgbClr val="000000"/>
                          </a:solidFill>
                        </a:rPr>
                        <a:t>月份危大工程信息报送</a:t>
                      </a:r>
                    </a:p>
                  </a:txBody>
                  <a:tcPr marL="0" marR="0" marT="0" marB="0" anchor="ctr" anchorCtr="0"/>
                </a:tc>
                <a:tc>
                  <a:txBody>
                    <a:bodyPr/>
                    <a:lstStyle/>
                    <a:p>
                      <a:pPr algn="ctr">
                        <a:buNone/>
                      </a:pPr>
                      <a:r>
                        <a:rPr sz="1400">
                          <a:solidFill>
                            <a:srgbClr val="000000"/>
                          </a:solidFill>
                        </a:rPr>
                        <a:t>谭健健</a:t>
                      </a:r>
                    </a:p>
                  </a:txBody>
                  <a:tcPr marL="0" marR="0" marT="0" marB="0" anchor="ctr" anchorCtr="0"/>
                </a:tc>
                <a:tc>
                  <a:txBody>
                    <a:bodyPr/>
                    <a:lstStyle/>
                    <a:p>
                      <a:pPr algn="ctr">
                        <a:buNone/>
                      </a:pPr>
                      <a:r>
                        <a:rPr sz="1400">
                          <a:solidFill>
                            <a:srgbClr val="000000"/>
                          </a:solidFill>
                        </a:rPr>
                        <a:t>7</a:t>
                      </a:r>
                      <a:r>
                        <a:rPr sz="1400">
                          <a:solidFill>
                            <a:srgbClr val="000000"/>
                          </a:solidFill>
                        </a:rPr>
                        <a:t>月</a:t>
                      </a:r>
                      <a:r>
                        <a:rPr sz="1400">
                          <a:solidFill>
                            <a:srgbClr val="000000"/>
                          </a:solidFill>
                        </a:rPr>
                        <a:t>24</a:t>
                      </a:r>
                      <a:r>
                        <a:rPr sz="1400">
                          <a:solidFill>
                            <a:srgbClr val="000000"/>
                          </a:solidFill>
                        </a:rPr>
                        <a:t>日</a:t>
                      </a:r>
                    </a:p>
                  </a:txBody>
                  <a:tcPr marL="0" marR="0" marT="0" marB="0" anchor="ctr" anchorCtr="0"/>
                </a:tc>
              </a:tr>
              <a:tr h="457200">
                <a:tc>
                  <a:txBody>
                    <a:bodyPr/>
                    <a:lstStyle/>
                    <a:p>
                      <a:pPr algn="ctr">
                        <a:lnSpc>
                          <a:spcPct val="150000"/>
                        </a:lnSpc>
                        <a:buNone/>
                      </a:pPr>
                      <a:r>
                        <a:rPr sz="1600" b="1">
                          <a:latin typeface="微软雅黑"/>
                          <a:ea typeface="微软雅黑"/>
                          <a:cs typeface="微软雅黑"/>
                        </a:rPr>
                        <a:t>4</a:t>
                      </a:r>
                    </a:p>
                  </a:txBody>
                  <a:tcPr marL="91440" marR="91440" marT="45720" marB="45720" anchor="ctr" anchorCtr="0"/>
                </a:tc>
                <a:tc>
                  <a:txBody>
                    <a:bodyPr/>
                    <a:lstStyle/>
                    <a:p>
                      <a:pPr algn="ctr">
                        <a:buNone/>
                      </a:pPr>
                      <a:r>
                        <a:rPr sz="1400">
                          <a:solidFill>
                            <a:srgbClr val="000000"/>
                          </a:solidFill>
                        </a:rPr>
                        <a:t>应急物资检查隐患整改</a:t>
                      </a:r>
                    </a:p>
                  </a:txBody>
                  <a:tcPr marL="0" marR="0" marT="0" marB="0" anchor="ctr" anchorCtr="0"/>
                </a:tc>
                <a:tc>
                  <a:txBody>
                    <a:bodyPr/>
                    <a:lstStyle/>
                    <a:p>
                      <a:pPr algn="ctr">
                        <a:buNone/>
                      </a:pPr>
                      <a:r>
                        <a:rPr sz="1400">
                          <a:solidFill>
                            <a:srgbClr val="000000"/>
                          </a:solidFill>
                        </a:rPr>
                        <a:t>韦瑞铭</a:t>
                      </a:r>
                    </a:p>
                  </a:txBody>
                  <a:tcPr marL="0" marR="0" marT="0" marB="0" anchor="ctr" anchorCtr="0"/>
                </a:tc>
                <a:tc>
                  <a:txBody>
                    <a:bodyPr/>
                    <a:lstStyle/>
                    <a:p>
                      <a:pPr algn="ctr">
                        <a:buNone/>
                      </a:pPr>
                      <a:r>
                        <a:rPr sz="1400">
                          <a:solidFill>
                            <a:srgbClr val="000000"/>
                          </a:solidFill>
                        </a:rPr>
                        <a:t>7.31</a:t>
                      </a:r>
                    </a:p>
                  </a:txBody>
                  <a:tcPr marL="0" marR="0" marT="0" marB="0" anchor="ctr" anchorCtr="0"/>
                </a:tc>
              </a:tr>
              <a:tr h="457200">
                <a:tc>
                  <a:txBody>
                    <a:bodyPr/>
                    <a:lstStyle/>
                    <a:p>
                      <a:pPr algn="ctr">
                        <a:lnSpc>
                          <a:spcPct val="150000"/>
                        </a:lnSpc>
                        <a:buNone/>
                      </a:pPr>
                      <a:r>
                        <a:rPr sz="1600" b="1">
                          <a:latin typeface="微软雅黑"/>
                          <a:ea typeface="微软雅黑"/>
                          <a:cs typeface="微软雅黑"/>
                        </a:rPr>
                        <a:t>5</a:t>
                      </a:r>
                    </a:p>
                  </a:txBody>
                  <a:tcPr marL="91440" marR="91440" marT="45720" marB="45720" anchor="ctr" anchorCtr="0"/>
                </a:tc>
                <a:tc>
                  <a:txBody>
                    <a:bodyPr/>
                    <a:lstStyle/>
                    <a:p>
                      <a:pPr algn="ctr">
                        <a:buNone/>
                      </a:pPr>
                      <a:r>
                        <a:rPr sz="1400">
                          <a:solidFill>
                            <a:srgbClr val="000000"/>
                          </a:solidFill>
                        </a:rPr>
                        <a:t>组织</a:t>
                      </a:r>
                      <a:r>
                        <a:rPr sz="1400">
                          <a:solidFill>
                            <a:srgbClr val="000000"/>
                          </a:solidFill>
                        </a:rPr>
                        <a:t>8</a:t>
                      </a:r>
                      <a:r>
                        <a:rPr sz="1400">
                          <a:solidFill>
                            <a:srgbClr val="000000"/>
                          </a:solidFill>
                        </a:rPr>
                        <a:t>月年度复训</a:t>
                      </a:r>
                    </a:p>
                  </a:txBody>
                  <a:tcPr marL="0" marR="0" marT="0" marB="0" anchor="ctr" anchorCtr="0"/>
                </a:tc>
                <a:tc>
                  <a:txBody>
                    <a:bodyPr/>
                    <a:lstStyle/>
                    <a:p>
                      <a:pPr algn="ctr">
                        <a:buNone/>
                      </a:pPr>
                      <a:r>
                        <a:rPr sz="1400">
                          <a:solidFill>
                            <a:srgbClr val="000000"/>
                          </a:solidFill>
                        </a:rPr>
                        <a:t>邓宇聪</a:t>
                      </a:r>
                    </a:p>
                  </a:txBody>
                  <a:tcPr marL="0" marR="0" marT="0" marB="0" anchor="ctr" anchorCtr="0"/>
                </a:tc>
                <a:tc>
                  <a:txBody>
                    <a:bodyPr/>
                    <a:lstStyle/>
                    <a:p>
                      <a:pPr algn="ctr">
                        <a:buNone/>
                      </a:pPr>
                      <a:r>
                        <a:rPr sz="1400">
                          <a:solidFill>
                            <a:srgbClr val="000000"/>
                          </a:solidFill>
                        </a:rPr>
                        <a:t>7.26</a:t>
                      </a:r>
                    </a:p>
                  </a:txBody>
                  <a:tcPr marL="0" marR="0" marT="0" marB="0" anchor="ctr" anchorCtr="0"/>
                </a:tc>
              </a:tr>
              <a:tr h="457200">
                <a:tc>
                  <a:txBody>
                    <a:bodyPr/>
                    <a:lstStyle/>
                    <a:p>
                      <a:pPr algn="ctr">
                        <a:lnSpc>
                          <a:spcPct val="150000"/>
                        </a:lnSpc>
                        <a:buNone/>
                      </a:pPr>
                      <a:r>
                        <a:rPr sz="1600" b="1">
                          <a:latin typeface="微软雅黑"/>
                          <a:ea typeface="微软雅黑"/>
                          <a:cs typeface="微软雅黑"/>
                        </a:rPr>
                        <a:t>6</a:t>
                      </a:r>
                    </a:p>
                  </a:txBody>
                  <a:tcPr marL="91440" marR="91440" marT="45720" marB="45720" anchor="ctr" anchorCtr="0"/>
                </a:tc>
                <a:tc>
                  <a:txBody>
                    <a:bodyPr/>
                    <a:lstStyle/>
                    <a:p>
                      <a:pPr algn="ctr">
                        <a:buNone/>
                      </a:pPr>
                      <a:r>
                        <a:rPr sz="1400">
                          <a:solidFill>
                            <a:srgbClr val="000000"/>
                          </a:solidFill>
                        </a:rPr>
                        <a:t>每日总监日会任务</a:t>
                      </a:r>
                      <a:r>
                        <a:rPr sz="1400">
                          <a:solidFill>
                            <a:srgbClr val="000000"/>
                          </a:solidFill>
                        </a:rPr>
                        <a:t>跟踪</a:t>
                      </a:r>
                    </a:p>
                  </a:txBody>
                  <a:tcPr marL="0" marR="0" marT="0" marB="0" anchor="ctr" anchorCtr="0"/>
                </a:tc>
                <a:tc>
                  <a:txBody>
                    <a:bodyPr/>
                    <a:lstStyle/>
                    <a:p>
                      <a:pPr algn="ctr">
                        <a:buNone/>
                      </a:pPr>
                      <a:r>
                        <a:rPr sz="1400">
                          <a:solidFill>
                            <a:srgbClr val="000000"/>
                          </a:solidFill>
                        </a:rPr>
                        <a:t>唐星民</a:t>
                      </a:r>
                    </a:p>
                  </a:txBody>
                  <a:tcPr marL="0" marR="0" marT="0" marB="0" anchor="ctr" anchorCtr="0"/>
                </a:tc>
                <a:tc>
                  <a:txBody>
                    <a:bodyPr/>
                    <a:lstStyle/>
                    <a:p>
                      <a:pPr algn="ctr">
                        <a:buNone/>
                      </a:pPr>
                      <a:r>
                        <a:rPr sz="1400">
                          <a:solidFill>
                            <a:srgbClr val="000000"/>
                          </a:solidFill>
                        </a:rPr>
                        <a:t>持续</a:t>
                      </a:r>
                    </a:p>
                  </a:txBody>
                  <a:tcPr marL="0" marR="0" marT="0" marB="0" anchor="ctr" anchorCtr="0"/>
                </a:tc>
              </a:tr>
            </a:tbl>
          </a:graphicData>
        </a:graphic>
      </p:graphicFrame>
    </p:spTree>
    <p:extLst>
      <p:ext uri="{BB962C8B-B14F-4D97-AF65-F5344CB8AC3E}">
        <p14:creationId xmlns:p14="http://schemas.microsoft.com/office/powerpoint/2010/main" val="112081836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100DC073-A348-4FC8-8014-5EFEBE667B1B}"/>
              </a:ext>
            </a:extLst>
          </p:cNvPr>
          <p:cNvSpPr>
            <a:spLocks xmlns:a="http://schemas.openxmlformats.org/drawingml/2006/main" noGrp="1"/>
          </p:cNvSpPr>
          <p:nvPr/>
        </p:nvSpPr>
        <p:spPr>
          <a:xfrm xmlns:a="http://schemas.openxmlformats.org/drawingml/2006/main" rot="0" flipH="0" flipV="0">
            <a:off x="200025" y="610870"/>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A869BCC2-3686-4AFF-B041-072AFA7A51B0}"/>
              </a:ext>
            </a:extLst>
          </p:cNvPr>
          <p:cNvSpPr>
            <a:spLocks xmlns:a="http://schemas.openxmlformats.org/drawingml/2006/main" noGrp="1"/>
          </p:cNvSpPr>
          <p:nvPr/>
        </p:nvSpPr>
        <p:spPr>
          <a:xfrm xmlns:a="http://schemas.openxmlformats.org/drawingml/2006/main" rot="0" flipH="0" flipV="1">
            <a:off x="715010" y="988695"/>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6C957966-44B6-4FC9-BA48-C65A50625670}"/>
              </a:ext>
            </a:extLst>
          </p:cNvPr>
          <p:cNvSpPr>
            <a:spLocks xmlns:a="http://schemas.openxmlformats.org/drawingml/2006/main" noGrp="1"/>
          </p:cNvSpPr>
          <p:nvPr/>
        </p:nvSpPr>
        <p:spPr>
          <a:xfrm xmlns:a="http://schemas.openxmlformats.org/drawingml/2006/main">
            <a:off x="706755" y="525780"/>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三、</a:t>
            </a:r>
            <a:r>
              <a:rPr sz="2400" b="1">
                <a:solidFill>
                  <a:srgbClr val="00B0F0"/>
                </a:solidFill>
                <a:latin typeface="微软雅黑"/>
                <a:ea typeface="微软雅黑"/>
                <a:cs typeface="微软雅黑"/>
              </a:rPr>
              <a:t>近期典型事件经验反馈</a:t>
            </a:r>
          </a:p>
        </p:txBody>
      </p:sp>
      <p:graphicFrame>
        <p:nvGraphicFramePr>
          <p:cNvPr id="29" name="表格 1"/>
          <p:cNvGraphicFramePr/>
          <p:nvPr/>
        </p:nvGraphicFramePr>
        <p:xfrm>
          <a:off xmlns:a="http://schemas.openxmlformats.org/drawingml/2006/main" x="695325" y="1268730"/>
          <a:ext xmlns:a="http://schemas.openxmlformats.org/drawingml/2006/main" cx="10732135" cy="4834255"/>
        </p:xfrm>
        <a:graphic xmlns:a="http://schemas.openxmlformats.org/drawingml/2006/main">
          <a:graphicData uri="http://schemas.openxmlformats.org/drawingml/2006/table">
            <a:tbl>
              <a:tblPr firstRow="1" bandRow="1">
                <a:tableStyleId>{5940675A-B579-460E-94D1-54222C63F5DA}</a:tableStyleId>
              </a:tblPr>
              <a:tblGrid>
                <a:gridCol w="1116965"/>
                <a:gridCol w="9615170"/>
              </a:tblGrid>
              <a:tr h="396240">
                <a:tc>
                  <a:txBody>
                    <a:bodyPr/>
                    <a:lstStyle/>
                    <a:p>
                      <a:pPr algn="ctr">
                        <a:buNone/>
                      </a:pPr>
                      <a:r>
                        <a:rPr b="1">
                          <a:latin typeface="微软雅黑"/>
                          <a:ea typeface="微软雅黑"/>
                          <a:cs typeface="微软雅黑"/>
                        </a:rPr>
                        <a:t>事件主题</a:t>
                      </a:r>
                    </a:p>
                  </a:txBody>
                  <a:tcPr marL="91440" marR="91440" marT="45720" marB="45720" anchor="ctr" anchorCtr="0">
                    <a:solidFill>
                      <a:srgbClr val="0091F6"/>
                    </a:solidFill>
                  </a:tcPr>
                </a:tc>
                <a:tc>
                  <a:txBody>
                    <a:bodyPr/>
                    <a:lstStyle/>
                    <a:p>
                      <a:pPr>
                        <a:buNone/>
                      </a:pPr>
                      <a:r>
                        <a:rPr sz="2000" b="1">
                          <a:latin typeface="微软雅黑"/>
                          <a:ea typeface="微软雅黑"/>
                          <a:cs typeface="微软雅黑"/>
                        </a:rPr>
                        <a:t>工程大厦惠阳建筑7月9日火险事件的经验反馈</a:t>
                      </a:r>
                    </a:p>
                  </a:txBody>
                  <a:tcPr marL="91440" marR="91440" marT="45720" marB="45720" anchor="ctr" anchorCtr="0"/>
                </a:tc>
              </a:tr>
              <a:tr h="2110740">
                <a:tc gridSpan="2">
                  <a:txBody>
                    <a:bodyPr/>
                    <a:lstStyle/>
                    <a:p>
                      <a:pPr algn="l">
                        <a:buNone/>
                      </a:pPr>
                      <a:r>
                        <a:rPr sz="1800">
                          <a:latin typeface="微软雅黑"/>
                          <a:ea typeface="微软雅黑"/>
                          <a:cs typeface="微软雅黑"/>
                        </a:rPr>
                        <a:t>       2026年7月9日14时21分，工程大厦</a:t>
                      </a:r>
                      <a:r>
                        <a:rPr sz="1800">
                          <a:latin typeface="微软雅黑"/>
                          <a:ea typeface="微软雅黑"/>
                          <a:cs typeface="微软雅黑"/>
                        </a:rPr>
                        <a:t>C</a:t>
                      </a:r>
                      <a:r>
                        <a:rPr sz="1800">
                          <a:latin typeface="微软雅黑"/>
                          <a:ea typeface="微软雅黑"/>
                          <a:cs typeface="微软雅黑"/>
                        </a:rPr>
                        <a:t>座5楼西侧一</a:t>
                      </a:r>
                      <a:r>
                        <a:rPr sz="1800">
                          <a:solidFill>
                            <a:srgbClr val="FF0000"/>
                          </a:solidFill>
                          <a:latin typeface="微软雅黑"/>
                          <a:ea typeface="微软雅黑"/>
                          <a:cs typeface="微软雅黑"/>
                        </a:rPr>
                        <a:t>空置房间烟感报警触发报警提示</a:t>
                      </a:r>
                      <a:r>
                        <a:rPr sz="1800">
                          <a:latin typeface="微软雅黑"/>
                          <a:ea typeface="微软雅黑"/>
                          <a:cs typeface="微软雅黑"/>
                        </a:rPr>
                        <a:t>，物业人员在消防中控室发现报警提示后安排附近工作人员前往现场查看，</a:t>
                      </a:r>
                      <a:r>
                        <a:rPr sz="1800">
                          <a:solidFill>
                            <a:srgbClr val="FF0000"/>
                          </a:solidFill>
                          <a:latin typeface="微软雅黑"/>
                          <a:ea typeface="微软雅黑"/>
                          <a:cs typeface="微软雅黑"/>
                        </a:rPr>
                        <a:t>发现房间内存在明火并立即开展扑救</a:t>
                      </a:r>
                      <a:r>
                        <a:rPr sz="1800">
                          <a:latin typeface="微软雅黑"/>
                          <a:ea typeface="微软雅黑"/>
                          <a:cs typeface="微软雅黑"/>
                        </a:rPr>
                        <a:t>，14时23分明火被扑灭，现场墙壁约0.15㎡过火损伤。本次事件未造成人员伤亡及其他财产损失。</a:t>
                      </a:r>
                    </a:p>
                  </a:txBody>
                  <a:tcPr marL="91440" marR="91440" marT="45720" marB="45720" anchor="t" anchorCtr="0"/>
                </a:tc>
                <a:tc hMerge="1">
                  <a:txBody>
                    <a:bodyPr/>
                    <a:lstStyle/>
                    <a:p>
                      <a:pPr/>
                    </a:p>
                  </a:txBody>
                  <a:tcPr marL="91440" marR="91440" marT="45720" marB="45720" anchor="t" anchorCtr="0"/>
                </a:tc>
              </a:tr>
              <a:tr h="914400">
                <a:tc>
                  <a:txBody>
                    <a:bodyPr/>
                    <a:lstStyle/>
                    <a:p>
                      <a:pPr algn="ctr">
                        <a:buNone/>
                      </a:pPr>
                      <a:r>
                        <a:rPr b="1">
                          <a:latin typeface="微软雅黑"/>
                          <a:ea typeface="微软雅黑"/>
                          <a:cs typeface="微软雅黑"/>
                        </a:rPr>
                        <a:t>原因分析</a:t>
                      </a:r>
                    </a:p>
                  </a:txBody>
                  <a:tcPr marL="91440" marR="91440" marT="45720" marB="45720" anchor="ctr" anchorCtr="0">
                    <a:noFill/>
                  </a:tcPr>
                </a:tc>
                <a:tc>
                  <a:txBody>
                    <a:bodyPr/>
                    <a:lstStyle/>
                    <a:p>
                      <a:pPr>
                        <a:buNone/>
                      </a:pPr>
                      <a:r>
                        <a:rPr>
                          <a:solidFill>
                            <a:schemeClr val="tx1"/>
                          </a:solidFill>
                          <a:latin typeface="微软雅黑"/>
                          <a:ea typeface="微软雅黑"/>
                          <a:cs typeface="微软雅黑"/>
                        </a:rPr>
                        <a:t> </a:t>
                      </a:r>
                      <a:r>
                        <a:rPr>
                          <a:solidFill>
                            <a:schemeClr val="tx1"/>
                          </a:solidFill>
                          <a:latin typeface="微软雅黑"/>
                          <a:ea typeface="微软雅黑"/>
                          <a:cs typeface="微软雅黑"/>
                        </a:rPr>
                        <a:t>      </a:t>
                      </a:r>
                      <a:r>
                        <a:rPr>
                          <a:solidFill>
                            <a:schemeClr val="tx1"/>
                          </a:solidFill>
                          <a:latin typeface="微软雅黑"/>
                          <a:ea typeface="微软雅黑"/>
                          <a:cs typeface="微软雅黑"/>
                        </a:rPr>
                        <a:t>起火原因为施工人员违反大厦管理规定，</a:t>
                      </a:r>
                      <a:r>
                        <a:rPr>
                          <a:solidFill>
                            <a:srgbClr val="FF0000"/>
                          </a:solidFill>
                          <a:latin typeface="微软雅黑"/>
                          <a:ea typeface="微软雅黑"/>
                          <a:cs typeface="微软雅黑"/>
                        </a:rPr>
                        <a:t>擅自在该房间内吸烟，并将未熄灭的烟头丢弃至现场塑料杂物中，引燃杂物导致火情</a:t>
                      </a:r>
                      <a:r>
                        <a:rPr>
                          <a:solidFill>
                            <a:schemeClr val="tx1"/>
                          </a:solidFill>
                          <a:latin typeface="微软雅黑"/>
                          <a:ea typeface="微软雅黑"/>
                          <a:cs typeface="微软雅黑"/>
                        </a:rPr>
                        <a:t>。</a:t>
                      </a:r>
                    </a:p>
                  </a:txBody>
                  <a:tcPr marL="91440" marR="91440" marT="45720" marB="45720" anchor="ctr" anchorCtr="0"/>
                </a:tc>
              </a:tr>
              <a:tr h="1412875">
                <a:tc>
                  <a:txBody>
                    <a:bodyPr/>
                    <a:lstStyle/>
                    <a:p>
                      <a:pPr algn="ctr">
                        <a:buNone/>
                      </a:pPr>
                      <a:r>
                        <a:rPr b="1">
                          <a:latin typeface="微软雅黑"/>
                          <a:ea typeface="微软雅黑"/>
                          <a:cs typeface="微软雅黑"/>
                        </a:rPr>
                        <a:t>反馈要点</a:t>
                      </a:r>
                    </a:p>
                  </a:txBody>
                  <a:tcPr marL="91440" marR="91440" marT="45720" marB="45720" anchor="ctr" anchorCtr="0">
                    <a:noFill/>
                  </a:tcPr>
                </a:tc>
                <a:tc>
                  <a:txBody>
                    <a:bodyPr/>
                    <a:lstStyle/>
                    <a:p>
                      <a:pPr marL="254000" indent="0" algn="l" defTabSz="914400">
                        <a:lnSpc>
                          <a:spcPct val="100000"/>
                        </a:lnSpc>
                        <a:buFont typeface="+mj-lt"/>
                        <a:buNone/>
                      </a:pPr>
                      <a:r>
                        <a:rPr sz="1800" b="0">
                          <a:solidFill>
                            <a:srgbClr val="FF0000"/>
                          </a:solidFill>
                          <a:latin typeface="微软雅黑"/>
                          <a:ea typeface="微软雅黑"/>
                          <a:cs typeface="微软雅黑"/>
                        </a:rPr>
                        <a:t>    </a:t>
                      </a:r>
                      <a:r>
                        <a:rPr sz="1800" b="0">
                          <a:solidFill>
                            <a:srgbClr val="FF0000"/>
                          </a:solidFill>
                          <a:latin typeface="微软雅黑"/>
                          <a:ea typeface="微软雅黑"/>
                          <a:cs typeface="微软雅黑"/>
                        </a:rPr>
                        <a:t>禁止在非吸烟区吸烟。</a:t>
                      </a:r>
                    </a:p>
                  </a:txBody>
                  <a:tcPr marL="91440" marR="91440" marT="45720" marB="45720" anchor="ctr" anchorCtr="0"/>
                </a:tc>
              </a:tr>
            </a:tbl>
          </a:graphicData>
        </a:graphic>
      </p:graphicFrame>
    </p:spTree>
    <p:extLst>
      <p:ext uri="{BB962C8B-B14F-4D97-AF65-F5344CB8AC3E}">
        <p14:creationId xmlns:p14="http://schemas.microsoft.com/office/powerpoint/2010/main" val="5211184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FBDB0F62-F8B9-49AB-992C-5E20721E0ED8}"/>
              </a:ext>
            </a:extLst>
          </p:cNvPr>
          <p:cNvSpPr>
            <a:spLocks xmlns:a="http://schemas.openxmlformats.org/drawingml/2006/main" noGrp="1"/>
          </p:cNvSpPr>
          <p:nvPr/>
        </p:nvSpPr>
        <p:spPr>
          <a:xfrm xmlns:a="http://schemas.openxmlformats.org/drawingml/2006/main" rot="0" flipH="0" flipV="0">
            <a:off x="200025" y="556895"/>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46AC407A-57D8-4170-A28E-CADA81B49BAB}"/>
              </a:ext>
            </a:extLst>
          </p:cNvPr>
          <p:cNvSpPr>
            <a:spLocks xmlns:a="http://schemas.openxmlformats.org/drawingml/2006/main" noGrp="1"/>
          </p:cNvSpPr>
          <p:nvPr/>
        </p:nvSpPr>
        <p:spPr>
          <a:xfrm xmlns:a="http://schemas.openxmlformats.org/drawingml/2006/main" rot="0" flipH="0" flipV="1">
            <a:off x="715010" y="934720"/>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7FF01EA9-303C-49EC-82D1-9DF534CA4675}"/>
              </a:ext>
            </a:extLst>
          </p:cNvPr>
          <p:cNvSpPr>
            <a:spLocks xmlns:a="http://schemas.openxmlformats.org/drawingml/2006/main" noGrp="1"/>
          </p:cNvSpPr>
          <p:nvPr/>
        </p:nvSpPr>
        <p:spPr>
          <a:xfrm xmlns:a="http://schemas.openxmlformats.org/drawingml/2006/main" rot="0" flipH="0" flipV="0">
            <a:off x="706755" y="471805"/>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五、其他任务项及宣贯</a:t>
            </a:r>
          </a:p>
        </p:txBody>
      </p:sp>
      <p:sp>
        <p:nvSpPr>
          <p:cNvPr id="25" name="标题 3">
            <a:extLst xmlns:a="http://schemas.openxmlformats.org/drawingml/2006/main">
              <a:ext uri="{FF2B5EF4-FFF2-40B4-BE49-F238E27FC236}">
                <a16:creationId xmlns:a16="http://schemas.microsoft.com/office/drawing/2014/main" id="{BA8934EE-0912-4903-83DD-EC6F81FD653A}"/>
              </a:ext>
            </a:extLst>
          </p:cNvPr>
          <p:cNvSpPr>
            <a:spLocks xmlns:a="http://schemas.openxmlformats.org/drawingml/2006/main" noGrp="1"/>
          </p:cNvSpPr>
          <p:nvPr/>
        </p:nvSpPr>
        <p:spPr>
          <a:xfrm xmlns:a="http://schemas.openxmlformats.org/drawingml/2006/main">
            <a:off x="695400" y="1217092"/>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、每会一学</a:t>
            </a:r>
          </a:p>
        </p:txBody>
      </p:sp>
      <p:graphicFrame>
        <p:nvGraphicFramePr>
          <p:cNvPr id="31" name="表格 8"/>
          <p:cNvGraphicFramePr/>
          <p:nvPr/>
        </p:nvGraphicFramePr>
        <p:xfrm>
          <a:off xmlns:a="http://schemas.openxmlformats.org/drawingml/2006/main" x="695325" y="1647190"/>
          <a:ext xmlns:a="http://schemas.openxmlformats.org/drawingml/2006/main" cx="10514965" cy="4636770"/>
        </p:xfrm>
        <a:graphic xmlns:a="http://schemas.openxmlformats.org/drawingml/2006/main">
          <a:graphicData uri="http://schemas.openxmlformats.org/drawingml/2006/table">
            <a:tbl>
              <a:tblPr firstRow="1" bandRow="1">
                <a:tableStyleId>{5940675A-B579-460E-94D1-54222C63F5DA}</a:tableStyleId>
              </a:tblPr>
              <a:tblGrid>
                <a:gridCol w="10514965"/>
              </a:tblGrid>
              <a:tr h="713740">
                <a:tc>
                  <a:txBody>
                    <a:bodyPr/>
                    <a:lstStyle/>
                    <a:p>
                      <a:pPr algn="ctr">
                        <a:lnSpc>
                          <a:spcPct val="120000"/>
                        </a:lnSpc>
                        <a:spcBef>
                          <a:spcPts val="0"/>
                        </a:spcBef>
                        <a:spcAft>
                          <a:spcPts val="0"/>
                        </a:spcAft>
                        <a:buNone/>
                      </a:pPr>
                    </a:p>
                  </a:txBody>
                  <a:tcPr marL="25400" marR="25400" marT="6350" marB="6350" anchor="ctr">
                    <a:solidFill>
                      <a:srgbClr val="00B0F0"/>
                    </a:solidFill>
                  </a:tcPr>
                </a:tc>
              </a:tr>
              <a:tr h="3923030">
                <a:tc>
                  <a:txBody>
                    <a:bodyPr/>
                    <a:lstStyle/>
                    <a:p>
                      <a:pPr algn="ctr">
                        <a:buClrTx/>
                        <a:buSzTx/>
                        <a:buFontTx/>
                        <a:buNone/>
                      </a:pPr>
                    </a:p>
                  </a:txBody>
                  <a:tcPr marL="0" marR="0" marT="0" marB="0" anchor="ctr" anchorCtr="0"/>
                </a:tc>
              </a:tr>
            </a:tbl>
          </a:graphicData>
        </a:graphic>
      </p:graphicFrame>
    </p:spTree>
    <p:extLst>
      <p:ext uri="{BB962C8B-B14F-4D97-AF65-F5344CB8AC3E}">
        <p14:creationId xmlns:p14="http://schemas.microsoft.com/office/powerpoint/2010/main" val="131349711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4" name="任意多边形 8">
            <a:extLst xmlns:a="http://schemas.openxmlformats.org/drawingml/2006/main">
              <a:ext uri="{FF2B5EF4-FFF2-40B4-BE49-F238E27FC236}">
                <a16:creationId xmlns:a16="http://schemas.microsoft.com/office/drawing/2014/main" id="{B3A29A59-7A85-4973-AE03-D0C594625A1A}"/>
              </a:ext>
            </a:extLst>
          </p:cNvPr>
          <p:cNvSpPr>
            <a:spLocks xmlns:a="http://schemas.openxmlformats.org/drawingml/2006/main" noGrp="1"/>
          </p:cNvSpPr>
          <p:nvPr/>
        </p:nvSpPr>
        <p:spPr>
          <a:xfrm xmlns:a="http://schemas.openxmlformats.org/drawingml/2006/main" rot="0" flipH="0" flipV="0">
            <a:off x="200025" y="556895"/>
            <a:ext cx="410845" cy="431800"/>
          </a:xfrm>
          <a:custGeom xmlns:a="http://schemas.openxmlformats.org/drawingml/2006/main">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rect l="l" t="t" r="r" b="b"/>
            <a:pathLst>
              <a:path w="577217" h="536832">
                <a:moveTo>
                  <a:pt x="284734" y="0"/>
                </a:moveTo>
                <a:lnTo>
                  <a:pt x="577217" y="536832"/>
                </a:lnTo>
                <a:lnTo>
                  <a:pt x="0" y="536832"/>
                </a:lnTo>
                <a:lnTo>
                  <a:pt x="0" y="184"/>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3" name="任意多边形 7">
            <a:extLst xmlns:a="http://schemas.openxmlformats.org/drawingml/2006/main">
              <a:ext uri="{FF2B5EF4-FFF2-40B4-BE49-F238E27FC236}">
                <a16:creationId xmlns:a16="http://schemas.microsoft.com/office/drawing/2014/main" id="{F7FD4524-30C7-47FA-8612-FA7FA7CF1F81}"/>
              </a:ext>
            </a:extLst>
          </p:cNvPr>
          <p:cNvSpPr>
            <a:spLocks xmlns:a="http://schemas.openxmlformats.org/drawingml/2006/main" noGrp="1"/>
          </p:cNvSpPr>
          <p:nvPr/>
        </p:nvSpPr>
        <p:spPr>
          <a:xfrm xmlns:a="http://schemas.openxmlformats.org/drawingml/2006/main" rot="0" flipH="0" flipV="1">
            <a:off x="715010" y="934720"/>
            <a:ext cx="10440035" cy="53975"/>
          </a:xfrm>
          <a:custGeom xmlns:a="http://schemas.openxmlformats.org/drawingml/2006/main">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rect l="l" t="t" r="r" b="b"/>
            <a:pathLst>
              <a:path w="12125327" h="31282">
                <a:moveTo>
                  <a:pt x="0" y="0"/>
                </a:moveTo>
                <a:lnTo>
                  <a:pt x="12125327" y="0"/>
                </a:lnTo>
                <a:lnTo>
                  <a:pt x="12125327" y="31282"/>
                </a:lnTo>
                <a:lnTo>
                  <a:pt x="17139" y="31282"/>
                </a:lnTo>
                <a:close/>
              </a:path>
            </a:pathLst>
          </a:custGeom>
          <a:solidFill xmlns:a="http://schemas.openxmlformats.org/drawingml/2006/main">
            <a:srgbClr val="0599D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67032" tIns="33516" rIns="67032" bIns="33516"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p>
        </p:txBody>
      </p:sp>
      <p:sp>
        <p:nvSpPr>
          <p:cNvPr id="13" name="文本框 12">
            <a:extLst xmlns:a="http://schemas.openxmlformats.org/drawingml/2006/main">
              <a:ext uri="{FF2B5EF4-FFF2-40B4-BE49-F238E27FC236}">
                <a16:creationId xmlns:a16="http://schemas.microsoft.com/office/drawing/2014/main" id="{608765C1-4048-4762-9505-C56DC50370A2}"/>
              </a:ext>
            </a:extLst>
          </p:cNvPr>
          <p:cNvSpPr>
            <a:spLocks xmlns:a="http://schemas.openxmlformats.org/drawingml/2006/main" noGrp="1"/>
          </p:cNvSpPr>
          <p:nvPr/>
        </p:nvSpPr>
        <p:spPr>
          <a:xfrm xmlns:a="http://schemas.openxmlformats.org/drawingml/2006/main" rot="0" flipH="0" flipV="0">
            <a:off x="706755" y="471805"/>
            <a:ext cx="105149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lvl="1">
              <a:spcBef>
                <a:spcPct val="20000"/>
              </a:spcBef>
              <a:buNone/>
            </a:pPr>
            <a:r>
              <a:rPr sz="2400" b="1">
                <a:solidFill>
                  <a:srgbClr val="0599D9"/>
                </a:solidFill>
                <a:latin typeface="微软雅黑"/>
                <a:ea typeface="微软雅黑"/>
                <a:cs typeface="微软雅黑"/>
              </a:rPr>
              <a:t>五、其他任务项及宣贯</a:t>
            </a:r>
          </a:p>
        </p:txBody>
      </p:sp>
      <p:sp>
        <p:nvSpPr>
          <p:cNvPr id="25" name="标题 3">
            <a:extLst xmlns:a="http://schemas.openxmlformats.org/drawingml/2006/main">
              <a:ext uri="{FF2B5EF4-FFF2-40B4-BE49-F238E27FC236}">
                <a16:creationId xmlns:a16="http://schemas.microsoft.com/office/drawing/2014/main" id="{1A871325-1576-4743-B26F-2D78CCC3A18C}"/>
              </a:ext>
            </a:extLst>
          </p:cNvPr>
          <p:cNvSpPr>
            <a:spLocks xmlns:a="http://schemas.openxmlformats.org/drawingml/2006/main" noGrp="1"/>
          </p:cNvSpPr>
          <p:nvPr/>
        </p:nvSpPr>
        <p:spPr>
          <a:xfrm xmlns:a="http://schemas.openxmlformats.org/drawingml/2006/main">
            <a:off x="695400" y="1217092"/>
            <a:ext cx="11233248" cy="429895"/>
          </a:xfrm>
          <a:prstGeom xmlns:a="http://schemas.openxmlformats.org/drawingml/2006/main" prst="rect">
            <a:avLst/>
          </a:prstGeom>
        </p:spPr>
        <p:txBody>
          <a:bodyPr xmlns:a="http://schemas.openxmlformats.org/drawingml/2006/main" wrap="square">
            <a:spAutoFit/>
          </a:bodyPr>
          <a:lstStyle xmlns:a="http://schemas.openxmlformats.org/drawingml/2006/main">
            <a:lvl1pPr algn="ctr">
              <a:spcBef>
                <a:spcPct val="0"/>
              </a:spcBef>
              <a:spcAft>
                <a:spcPct val="0"/>
              </a:spcAft>
              <a:buNone/>
              <a:defRPr sz="4400">
                <a:solidFill>
                  <a:schemeClr val="tx2"/>
                </a:solidFill>
                <a:latin typeface="+mj-lt"/>
                <a:ea typeface="+mj-lt"/>
                <a:cs typeface="+mj-lt"/>
              </a:defRPr>
            </a:lvl1pPr>
            <a:lvl2pPr algn="ctr">
              <a:spcBef>
                <a:spcPct val="0"/>
              </a:spcBef>
              <a:spcAft>
                <a:spcPct val="0"/>
              </a:spcAft>
              <a:buNone/>
              <a:defRPr sz="4400">
                <a:solidFill>
                  <a:schemeClr val="tx2"/>
                </a:solidFill>
                <a:latin typeface="黑体"/>
                <a:ea typeface="黑体"/>
                <a:cs typeface="黑体"/>
              </a:defRPr>
            </a:lvl2pPr>
            <a:lvl3pPr algn="ctr">
              <a:spcBef>
                <a:spcPct val="0"/>
              </a:spcBef>
              <a:spcAft>
                <a:spcPct val="0"/>
              </a:spcAft>
              <a:buNone/>
              <a:defRPr sz="4400">
                <a:solidFill>
                  <a:schemeClr val="tx2"/>
                </a:solidFill>
                <a:latin typeface="黑体"/>
                <a:ea typeface="黑体"/>
                <a:cs typeface="黑体"/>
              </a:defRPr>
            </a:lvl3pPr>
            <a:lvl4pPr algn="ctr">
              <a:spcBef>
                <a:spcPct val="0"/>
              </a:spcBef>
              <a:spcAft>
                <a:spcPct val="0"/>
              </a:spcAft>
              <a:buNone/>
              <a:defRPr sz="4400">
                <a:solidFill>
                  <a:schemeClr val="tx2"/>
                </a:solidFill>
                <a:latin typeface="黑体"/>
                <a:ea typeface="黑体"/>
                <a:cs typeface="黑体"/>
              </a:defRPr>
            </a:lvl4pPr>
            <a:lvl5pPr algn="ctr">
              <a:spcBef>
                <a:spcPct val="0"/>
              </a:spcBef>
              <a:spcAft>
                <a:spcPct val="0"/>
              </a:spcAft>
              <a:buNone/>
              <a:defRPr sz="4400">
                <a:solidFill>
                  <a:schemeClr val="tx2"/>
                </a:solidFill>
                <a:latin typeface="黑体"/>
                <a:ea typeface="黑体"/>
                <a:cs typeface="黑体"/>
              </a:defRPr>
            </a:lvl5pPr>
            <a:lvl6pPr marL="457200" algn="ctr">
              <a:spcBef>
                <a:spcPct val="0"/>
              </a:spcBef>
              <a:spcAft>
                <a:spcPct val="0"/>
              </a:spcAft>
              <a:buNone/>
              <a:defRPr sz="4400">
                <a:solidFill>
                  <a:schemeClr val="tx2"/>
                </a:solidFill>
                <a:latin typeface="黑体"/>
                <a:ea typeface="黑体"/>
                <a:cs typeface="黑体"/>
              </a:defRPr>
            </a:lvl6pPr>
            <a:lvl7pPr marL="914400" algn="ctr">
              <a:spcBef>
                <a:spcPct val="0"/>
              </a:spcBef>
              <a:spcAft>
                <a:spcPct val="0"/>
              </a:spcAft>
              <a:buNone/>
              <a:defRPr sz="4400">
                <a:solidFill>
                  <a:schemeClr val="tx2"/>
                </a:solidFill>
                <a:latin typeface="黑体"/>
                <a:ea typeface="黑体"/>
                <a:cs typeface="黑体"/>
              </a:defRPr>
            </a:lvl7pPr>
            <a:lvl8pPr marL="1371600" algn="ctr">
              <a:spcBef>
                <a:spcPct val="0"/>
              </a:spcBef>
              <a:spcAft>
                <a:spcPct val="0"/>
              </a:spcAft>
              <a:buNone/>
              <a:defRPr sz="4400">
                <a:solidFill>
                  <a:schemeClr val="tx2"/>
                </a:solidFill>
                <a:latin typeface="黑体"/>
                <a:ea typeface="黑体"/>
                <a:cs typeface="黑体"/>
              </a:defRPr>
            </a:lvl8pPr>
            <a:lvl9pPr marL="1828800" algn="ctr">
              <a:spcBef>
                <a:spcPct val="0"/>
              </a:spcBef>
              <a:spcAft>
                <a:spcPct val="0"/>
              </a:spcAft>
              <a:buNone/>
              <a:defRPr sz="4400">
                <a:solidFill>
                  <a:schemeClr val="tx2"/>
                </a:solidFill>
                <a:latin typeface="黑体"/>
                <a:ea typeface="黑体"/>
                <a:cs typeface="黑体"/>
              </a:defRPr>
            </a:lvl9pPr>
          </a:lstStyle>
          <a:p xmlns:a="http://schemas.openxmlformats.org/drawingml/2006/main">
            <a:pPr marL="0" lvl="0" indent="0">
              <a:buFont typeface="Wingdings"/>
              <a:buNone/>
            </a:pPr>
            <a:r>
              <a:rPr sz="2200" b="1">
                <a:solidFill>
                  <a:srgbClr val="000000"/>
                </a:solidFill>
                <a:latin typeface="微软雅黑"/>
                <a:ea typeface="微软雅黑"/>
                <a:cs typeface="微软雅黑"/>
              </a:rPr>
              <a:t>15</a:t>
            </a:r>
            <a:r>
              <a:rPr sz="2200" b="1">
                <a:solidFill>
                  <a:srgbClr val="000000"/>
                </a:solidFill>
                <a:latin typeface="微软雅黑"/>
                <a:ea typeface="微软雅黑"/>
                <a:cs typeface="微软雅黑"/>
              </a:rPr>
              <a:t>、每会一</a:t>
            </a:r>
            <a:r>
              <a:rPr sz="2200" b="1">
                <a:solidFill>
                  <a:srgbClr val="000000"/>
                </a:solidFill>
                <a:latin typeface="微软雅黑"/>
                <a:ea typeface="微软雅黑"/>
                <a:cs typeface="微软雅黑"/>
              </a:rPr>
              <a:t>测</a:t>
            </a:r>
          </a:p>
        </p:txBody>
      </p:sp>
      <p:graphicFrame>
        <p:nvGraphicFramePr>
          <p:cNvPr id="32" name="表格 8"/>
          <p:cNvGraphicFramePr/>
          <p:nvPr/>
        </p:nvGraphicFramePr>
        <p:xfrm>
          <a:off xmlns:a="http://schemas.openxmlformats.org/drawingml/2006/main" x="695325" y="1647190"/>
          <a:ext xmlns:a="http://schemas.openxmlformats.org/drawingml/2006/main" cx="10514965" cy="4636770"/>
        </p:xfrm>
        <a:graphic xmlns:a="http://schemas.openxmlformats.org/drawingml/2006/main">
          <a:graphicData uri="http://schemas.openxmlformats.org/drawingml/2006/table">
            <a:tbl>
              <a:tblPr firstRow="1" bandRow="1">
                <a:tableStyleId>{5940675A-B579-460E-94D1-54222C63F5DA}</a:tableStyleId>
              </a:tblPr>
              <a:tblGrid>
                <a:gridCol w="10514965"/>
              </a:tblGrid>
              <a:tr h="713740">
                <a:tc>
                  <a:txBody>
                    <a:bodyPr/>
                    <a:lstStyle/>
                    <a:p>
                      <a:pPr algn="ctr">
                        <a:lnSpc>
                          <a:spcPct val="120000"/>
                        </a:lnSpc>
                        <a:spcBef>
                          <a:spcPts val="0"/>
                        </a:spcBef>
                        <a:spcAft>
                          <a:spcPts val="0"/>
                        </a:spcAft>
                        <a:buNone/>
                      </a:pPr>
                    </a:p>
                  </a:txBody>
                  <a:tcPr marL="25400" marR="25400" marT="6350" marB="6350" anchor="ctr">
                    <a:solidFill>
                      <a:srgbClr val="00B0F0"/>
                    </a:solidFill>
                  </a:tcPr>
                </a:tc>
              </a:tr>
              <a:tr h="3923030">
                <a:tc>
                  <a:txBody>
                    <a:bodyPr/>
                    <a:lstStyle/>
                    <a:p>
                      <a:pPr algn="ctr">
                        <a:buClrTx/>
                        <a:buSzTx/>
                        <a:buFontTx/>
                        <a:buNone/>
                      </a:pPr>
                    </a:p>
                  </a:txBody>
                  <a:tcPr marL="0" marR="0" marT="0" marB="0" anchor="ctr" anchorCtr="0"/>
                </a:tc>
              </a:tr>
            </a:tbl>
          </a:graphicData>
        </a:graphic>
      </p:graphicFrame>
      <p:pic>
        <p:nvPicPr>
          <p:cNvPr id="33" name="图片 1"/>
          <p:cNvPicPr>
            <a:picLocks xmlns:a="http://schemas.openxmlformats.org/drawingml/2006/main" noChangeAspect="1"/>
          </p:cNvPicPr>
          <p:nvPr/>
        </p:nvPicPr>
        <p:blipFill>
          <a:blip xmlns:r="http://schemas.openxmlformats.org/officeDocument/2006/relationships" xmlns:a="http://schemas.openxmlformats.org/drawingml/2006/main" r:embed="R0a51324e869b4d3a"/>
          <a:stretch xmlns:a="http://schemas.openxmlformats.org/drawingml/2006/main">
            <a:fillRect l="0" t="0" r="0" b="0"/>
          </a:stretch>
        </p:blipFill>
        <p:spPr>
          <a:xfrm xmlns:a="http://schemas.openxmlformats.org/drawingml/2006/main">
            <a:off x="3971290" y="2602865"/>
            <a:ext cx="3650615" cy="3119755"/>
          </a:xfrm>
          <a:prstGeom xmlns:a="http://schemas.openxmlformats.org/drawingml/2006/main" prst="rect">
            <a:avLst/>
          </a:prstGeom>
        </p:spPr>
      </p:pic>
    </p:spTree>
    <p:extLst>
      <p:ext uri="{BB962C8B-B14F-4D97-AF65-F5344CB8AC3E}">
        <p14:creationId xmlns:p14="http://schemas.microsoft.com/office/powerpoint/2010/main" val="52968515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6" name="Freeform 5">
            <a:extLst xmlns:a="http://schemas.openxmlformats.org/drawingml/2006/main">
              <a:ext uri="{FF2B5EF4-FFF2-40B4-BE49-F238E27FC236}">
                <a16:creationId xmlns:a16="http://schemas.microsoft.com/office/drawing/2014/main" id="{7E591B57-0AB1-4F2F-816A-DB29B8D9105D}"/>
              </a:ext>
            </a:extLst>
          </p:cNvPr>
          <p:cNvSpPr>
            <a:spLocks xmlns:a="http://schemas.openxmlformats.org/drawingml/2006/main" noGrp="1"/>
          </p:cNvSpPr>
          <p:nvPr/>
        </p:nvSpPr>
        <p:spPr>
          <a:xfrm xmlns:a="http://schemas.openxmlformats.org/drawingml/2006/main">
            <a:off x="-20955" y="133350"/>
            <a:ext cx="12211050" cy="2352675"/>
          </a:xfrm>
          <a:custGeom xmlns:a="http://schemas.openxmlformats.org/drawingml/2006/main">
            <a:gdLst>
              <a:gd name="txL" fmla="*/ 0 w 8000"/>
              <a:gd name="txT" fmla="*/ 0 h 1542"/>
              <a:gd name="txR" fmla="*/ 8000 w 8000"/>
              <a:gd name="txB" fmla="*/ 1542 h 1542"/>
            </a:gdLst>
            <a:rect l="txL" t="txT" r="txR" b="txB"/>
            <a:pathLst>
              <a:path w="8000" h="1542">
                <a:moveTo>
                  <a:pt x="7978" y="1472"/>
                </a:moveTo>
                <a:cubicBezTo>
                  <a:pt x="7978" y="1462"/>
                  <a:pt x="7978" y="1462"/>
                  <a:pt x="7978" y="1462"/>
                </a:cubicBezTo>
                <a:cubicBezTo>
                  <a:pt x="7966" y="1462"/>
                  <a:pt x="7966" y="1462"/>
                  <a:pt x="7966" y="1462"/>
                </a:cubicBezTo>
                <a:cubicBezTo>
                  <a:pt x="7966" y="1436"/>
                  <a:pt x="7966" y="1436"/>
                  <a:pt x="7966" y="1436"/>
                </a:cubicBezTo>
                <a:cubicBezTo>
                  <a:pt x="7955" y="1436"/>
                  <a:pt x="7955" y="1436"/>
                  <a:pt x="7955" y="1436"/>
                </a:cubicBezTo>
                <a:cubicBezTo>
                  <a:pt x="7955" y="1420"/>
                  <a:pt x="7955" y="1420"/>
                  <a:pt x="7955" y="1420"/>
                </a:cubicBezTo>
                <a:cubicBezTo>
                  <a:pt x="7941" y="1420"/>
                  <a:pt x="7941" y="1420"/>
                  <a:pt x="7941" y="1420"/>
                </a:cubicBezTo>
                <a:cubicBezTo>
                  <a:pt x="7941" y="1428"/>
                  <a:pt x="7941" y="1428"/>
                  <a:pt x="7941" y="1428"/>
                </a:cubicBezTo>
                <a:cubicBezTo>
                  <a:pt x="7933" y="1428"/>
                  <a:pt x="7933" y="1428"/>
                  <a:pt x="7933" y="1428"/>
                </a:cubicBezTo>
                <a:cubicBezTo>
                  <a:pt x="7933" y="1418"/>
                  <a:pt x="7933" y="1418"/>
                  <a:pt x="7933" y="1418"/>
                </a:cubicBezTo>
                <a:cubicBezTo>
                  <a:pt x="7916" y="1418"/>
                  <a:pt x="7916" y="1418"/>
                  <a:pt x="7916" y="1418"/>
                </a:cubicBezTo>
                <a:cubicBezTo>
                  <a:pt x="7916" y="1433"/>
                  <a:pt x="7916" y="1433"/>
                  <a:pt x="7916" y="1433"/>
                </a:cubicBezTo>
                <a:cubicBezTo>
                  <a:pt x="7895" y="1433"/>
                  <a:pt x="7895" y="1433"/>
                  <a:pt x="7895" y="1433"/>
                </a:cubicBezTo>
                <a:cubicBezTo>
                  <a:pt x="7895" y="1335"/>
                  <a:pt x="7895" y="1335"/>
                  <a:pt x="7895" y="1335"/>
                </a:cubicBezTo>
                <a:cubicBezTo>
                  <a:pt x="7879" y="1335"/>
                  <a:pt x="7879" y="1335"/>
                  <a:pt x="7879" y="1335"/>
                </a:cubicBezTo>
                <a:cubicBezTo>
                  <a:pt x="7855" y="1316"/>
                  <a:pt x="7855" y="1316"/>
                  <a:pt x="7855" y="1316"/>
                </a:cubicBezTo>
                <a:cubicBezTo>
                  <a:pt x="7855" y="1300"/>
                  <a:pt x="7855" y="1300"/>
                  <a:pt x="7855" y="1300"/>
                </a:cubicBezTo>
                <a:cubicBezTo>
                  <a:pt x="7843" y="1300"/>
                  <a:pt x="7843" y="1300"/>
                  <a:pt x="7843" y="1300"/>
                </a:cubicBezTo>
                <a:cubicBezTo>
                  <a:pt x="7843" y="1315"/>
                  <a:pt x="7843" y="1315"/>
                  <a:pt x="7843" y="1315"/>
                </a:cubicBezTo>
                <a:cubicBezTo>
                  <a:pt x="7832" y="1315"/>
                  <a:pt x="7832" y="1315"/>
                  <a:pt x="7832" y="1315"/>
                </a:cubicBezTo>
                <a:cubicBezTo>
                  <a:pt x="7832" y="1300"/>
                  <a:pt x="7832" y="1300"/>
                  <a:pt x="7832" y="1300"/>
                </a:cubicBezTo>
                <a:cubicBezTo>
                  <a:pt x="7821" y="1300"/>
                  <a:pt x="7821" y="1300"/>
                  <a:pt x="7821" y="1300"/>
                </a:cubicBezTo>
                <a:cubicBezTo>
                  <a:pt x="7821" y="1315"/>
                  <a:pt x="7821" y="1315"/>
                  <a:pt x="7821" y="1315"/>
                </a:cubicBezTo>
                <a:cubicBezTo>
                  <a:pt x="7806" y="1335"/>
                  <a:pt x="7806" y="1335"/>
                  <a:pt x="7806" y="1335"/>
                </a:cubicBezTo>
                <a:cubicBezTo>
                  <a:pt x="7789" y="1335"/>
                  <a:pt x="7789" y="1335"/>
                  <a:pt x="7789" y="1335"/>
                </a:cubicBezTo>
                <a:cubicBezTo>
                  <a:pt x="7789" y="1436"/>
                  <a:pt x="7789" y="1436"/>
                  <a:pt x="7789" y="1436"/>
                </a:cubicBezTo>
                <a:cubicBezTo>
                  <a:pt x="7749" y="1436"/>
                  <a:pt x="7749" y="1436"/>
                  <a:pt x="7749" y="1436"/>
                </a:cubicBezTo>
                <a:cubicBezTo>
                  <a:pt x="7749" y="1345"/>
                  <a:pt x="7749" y="1345"/>
                  <a:pt x="7749" y="1345"/>
                </a:cubicBezTo>
                <a:cubicBezTo>
                  <a:pt x="7738" y="1345"/>
                  <a:pt x="7738" y="1345"/>
                  <a:pt x="7738" y="1345"/>
                </a:cubicBezTo>
                <a:cubicBezTo>
                  <a:pt x="7738" y="1352"/>
                  <a:pt x="7738" y="1352"/>
                  <a:pt x="7738" y="1352"/>
                </a:cubicBezTo>
                <a:cubicBezTo>
                  <a:pt x="7724" y="1352"/>
                  <a:pt x="7724" y="1352"/>
                  <a:pt x="7724" y="1352"/>
                </a:cubicBezTo>
                <a:cubicBezTo>
                  <a:pt x="7724" y="1337"/>
                  <a:pt x="7724" y="1337"/>
                  <a:pt x="7724" y="1337"/>
                </a:cubicBezTo>
                <a:cubicBezTo>
                  <a:pt x="7713" y="1337"/>
                  <a:pt x="7713" y="1337"/>
                  <a:pt x="7713" y="1337"/>
                </a:cubicBezTo>
                <a:cubicBezTo>
                  <a:pt x="7713" y="1321"/>
                  <a:pt x="7713" y="1321"/>
                  <a:pt x="7713" y="1321"/>
                </a:cubicBezTo>
                <a:cubicBezTo>
                  <a:pt x="7697" y="1321"/>
                  <a:pt x="7697" y="1321"/>
                  <a:pt x="7697" y="1321"/>
                </a:cubicBezTo>
                <a:cubicBezTo>
                  <a:pt x="7697" y="1336"/>
                  <a:pt x="7697" y="1336"/>
                  <a:pt x="7697" y="1336"/>
                </a:cubicBezTo>
                <a:cubicBezTo>
                  <a:pt x="7687" y="1336"/>
                  <a:pt x="7687" y="1336"/>
                  <a:pt x="7687" y="1336"/>
                </a:cubicBezTo>
                <a:cubicBezTo>
                  <a:pt x="7687" y="1324"/>
                  <a:pt x="7687" y="1324"/>
                  <a:pt x="7687" y="1324"/>
                </a:cubicBezTo>
                <a:cubicBezTo>
                  <a:pt x="7673" y="1324"/>
                  <a:pt x="7673" y="1324"/>
                  <a:pt x="7673" y="1324"/>
                </a:cubicBezTo>
                <a:cubicBezTo>
                  <a:pt x="7673" y="1336"/>
                  <a:pt x="7673" y="1336"/>
                  <a:pt x="7673" y="1336"/>
                </a:cubicBezTo>
                <a:cubicBezTo>
                  <a:pt x="7659" y="1336"/>
                  <a:pt x="7659" y="1336"/>
                  <a:pt x="7659" y="1336"/>
                </a:cubicBezTo>
                <a:cubicBezTo>
                  <a:pt x="7659" y="1326"/>
                  <a:pt x="7659" y="1326"/>
                  <a:pt x="7659" y="1326"/>
                </a:cubicBezTo>
                <a:cubicBezTo>
                  <a:pt x="7645" y="1326"/>
                  <a:pt x="7645" y="1326"/>
                  <a:pt x="7645" y="1326"/>
                </a:cubicBezTo>
                <a:cubicBezTo>
                  <a:pt x="7645" y="1356"/>
                  <a:pt x="7645" y="1356"/>
                  <a:pt x="7645" y="1356"/>
                </a:cubicBezTo>
                <a:cubicBezTo>
                  <a:pt x="7616" y="1356"/>
                  <a:pt x="7616" y="1356"/>
                  <a:pt x="7616" y="1356"/>
                </a:cubicBezTo>
                <a:cubicBezTo>
                  <a:pt x="7616" y="1439"/>
                  <a:pt x="7616" y="1439"/>
                  <a:pt x="7616" y="1439"/>
                </a:cubicBezTo>
                <a:cubicBezTo>
                  <a:pt x="7581" y="1439"/>
                  <a:pt x="7581" y="1439"/>
                  <a:pt x="7581" y="1439"/>
                </a:cubicBezTo>
                <a:cubicBezTo>
                  <a:pt x="7581" y="1337"/>
                  <a:pt x="7581" y="1337"/>
                  <a:pt x="7581" y="1337"/>
                </a:cubicBezTo>
                <a:cubicBezTo>
                  <a:pt x="7557" y="1337"/>
                  <a:pt x="7557" y="1337"/>
                  <a:pt x="7557" y="1337"/>
                </a:cubicBezTo>
                <a:cubicBezTo>
                  <a:pt x="7538" y="1313"/>
                  <a:pt x="7538" y="1313"/>
                  <a:pt x="7538" y="1313"/>
                </a:cubicBezTo>
                <a:cubicBezTo>
                  <a:pt x="7497" y="1313"/>
                  <a:pt x="7497" y="1313"/>
                  <a:pt x="7497" y="1313"/>
                </a:cubicBezTo>
                <a:cubicBezTo>
                  <a:pt x="7497" y="1416"/>
                  <a:pt x="7497" y="1416"/>
                  <a:pt x="7497" y="1416"/>
                </a:cubicBezTo>
                <a:cubicBezTo>
                  <a:pt x="7483" y="1416"/>
                  <a:pt x="7483" y="1416"/>
                  <a:pt x="7483" y="1416"/>
                </a:cubicBezTo>
                <a:cubicBezTo>
                  <a:pt x="7483" y="1314"/>
                  <a:pt x="7483" y="1314"/>
                  <a:pt x="7483" y="1314"/>
                </a:cubicBezTo>
                <a:cubicBezTo>
                  <a:pt x="7465" y="1285"/>
                  <a:pt x="7465" y="1285"/>
                  <a:pt x="7465" y="1285"/>
                </a:cubicBezTo>
                <a:cubicBezTo>
                  <a:pt x="7452" y="1285"/>
                  <a:pt x="7452" y="1285"/>
                  <a:pt x="7452" y="1285"/>
                </a:cubicBezTo>
                <a:cubicBezTo>
                  <a:pt x="7452" y="1291"/>
                  <a:pt x="7452" y="1291"/>
                  <a:pt x="7452" y="1291"/>
                </a:cubicBezTo>
                <a:cubicBezTo>
                  <a:pt x="7441" y="1291"/>
                  <a:pt x="7441" y="1291"/>
                  <a:pt x="7441" y="1291"/>
                </a:cubicBezTo>
                <a:cubicBezTo>
                  <a:pt x="7441" y="1287"/>
                  <a:pt x="7441" y="1287"/>
                  <a:pt x="7441" y="1287"/>
                </a:cubicBezTo>
                <a:cubicBezTo>
                  <a:pt x="7430" y="1287"/>
                  <a:pt x="7430" y="1287"/>
                  <a:pt x="7430" y="1287"/>
                </a:cubicBezTo>
                <a:cubicBezTo>
                  <a:pt x="7430" y="1301"/>
                  <a:pt x="7430" y="1301"/>
                  <a:pt x="7430" y="1301"/>
                </a:cubicBezTo>
                <a:cubicBezTo>
                  <a:pt x="7383" y="1301"/>
                  <a:pt x="7383" y="1301"/>
                  <a:pt x="7383" y="1301"/>
                </a:cubicBezTo>
                <a:cubicBezTo>
                  <a:pt x="7383" y="1286"/>
                  <a:pt x="7383" y="1286"/>
                  <a:pt x="7383" y="1286"/>
                </a:cubicBezTo>
                <a:cubicBezTo>
                  <a:pt x="7370" y="1261"/>
                  <a:pt x="7370" y="1261"/>
                  <a:pt x="7370" y="1261"/>
                </a:cubicBezTo>
                <a:cubicBezTo>
                  <a:pt x="7326" y="1261"/>
                  <a:pt x="7326" y="1261"/>
                  <a:pt x="7326" y="1261"/>
                </a:cubicBezTo>
                <a:cubicBezTo>
                  <a:pt x="7326" y="1286"/>
                  <a:pt x="7326" y="1286"/>
                  <a:pt x="7326" y="1286"/>
                </a:cubicBezTo>
                <a:cubicBezTo>
                  <a:pt x="7297" y="1286"/>
                  <a:pt x="7297" y="1286"/>
                  <a:pt x="7297" y="1286"/>
                </a:cubicBezTo>
                <a:cubicBezTo>
                  <a:pt x="7297" y="1303"/>
                  <a:pt x="7297" y="1303"/>
                  <a:pt x="7297" y="1303"/>
                </a:cubicBezTo>
                <a:cubicBezTo>
                  <a:pt x="7292" y="1303"/>
                  <a:pt x="7292" y="1303"/>
                  <a:pt x="7292" y="1303"/>
                </a:cubicBezTo>
                <a:cubicBezTo>
                  <a:pt x="7292" y="1358"/>
                  <a:pt x="7292" y="1358"/>
                  <a:pt x="7292" y="1358"/>
                </a:cubicBezTo>
                <a:cubicBezTo>
                  <a:pt x="7281" y="1358"/>
                  <a:pt x="7281" y="1358"/>
                  <a:pt x="7281" y="1358"/>
                </a:cubicBezTo>
                <a:cubicBezTo>
                  <a:pt x="7281" y="1302"/>
                  <a:pt x="7281" y="1302"/>
                  <a:pt x="7281" y="1302"/>
                </a:cubicBezTo>
                <a:cubicBezTo>
                  <a:pt x="7273" y="1302"/>
                  <a:pt x="7273" y="1302"/>
                  <a:pt x="7273" y="1302"/>
                </a:cubicBezTo>
                <a:cubicBezTo>
                  <a:pt x="7273" y="1279"/>
                  <a:pt x="7273" y="1279"/>
                  <a:pt x="7273" y="1279"/>
                </a:cubicBezTo>
                <a:cubicBezTo>
                  <a:pt x="7210" y="1279"/>
                  <a:pt x="7210" y="1279"/>
                  <a:pt x="7210" y="1279"/>
                </a:cubicBezTo>
                <a:cubicBezTo>
                  <a:pt x="7210" y="1303"/>
                  <a:pt x="7210" y="1303"/>
                  <a:pt x="7210" y="1303"/>
                </a:cubicBezTo>
                <a:cubicBezTo>
                  <a:pt x="7179" y="1303"/>
                  <a:pt x="7179" y="1303"/>
                  <a:pt x="7179" y="1303"/>
                </a:cubicBezTo>
                <a:cubicBezTo>
                  <a:pt x="7179" y="1323"/>
                  <a:pt x="7179" y="1323"/>
                  <a:pt x="7179" y="1323"/>
                </a:cubicBezTo>
                <a:cubicBezTo>
                  <a:pt x="7170" y="1323"/>
                  <a:pt x="7170" y="1323"/>
                  <a:pt x="7170" y="1323"/>
                </a:cubicBezTo>
                <a:cubicBezTo>
                  <a:pt x="7170" y="1352"/>
                  <a:pt x="7170" y="1352"/>
                  <a:pt x="7170" y="1352"/>
                </a:cubicBezTo>
                <a:cubicBezTo>
                  <a:pt x="7090" y="1352"/>
                  <a:pt x="7090" y="1352"/>
                  <a:pt x="7090" y="1352"/>
                </a:cubicBezTo>
                <a:cubicBezTo>
                  <a:pt x="7090" y="1362"/>
                  <a:pt x="7090" y="1362"/>
                  <a:pt x="7090" y="1362"/>
                </a:cubicBezTo>
                <a:cubicBezTo>
                  <a:pt x="7069" y="1362"/>
                  <a:pt x="7069" y="1362"/>
                  <a:pt x="7069" y="1362"/>
                </a:cubicBezTo>
                <a:cubicBezTo>
                  <a:pt x="7069" y="1308"/>
                  <a:pt x="7069" y="1308"/>
                  <a:pt x="7069" y="1308"/>
                </a:cubicBezTo>
                <a:cubicBezTo>
                  <a:pt x="7036" y="1308"/>
                  <a:pt x="7036" y="1308"/>
                  <a:pt x="7036" y="1308"/>
                </a:cubicBezTo>
                <a:cubicBezTo>
                  <a:pt x="7036" y="1291"/>
                  <a:pt x="7036" y="1291"/>
                  <a:pt x="7036" y="1291"/>
                </a:cubicBezTo>
                <a:cubicBezTo>
                  <a:pt x="7010" y="1291"/>
                  <a:pt x="7010" y="1291"/>
                  <a:pt x="7010" y="1291"/>
                </a:cubicBezTo>
                <a:cubicBezTo>
                  <a:pt x="7010" y="1305"/>
                  <a:pt x="7010" y="1305"/>
                  <a:pt x="7010" y="1305"/>
                </a:cubicBezTo>
                <a:cubicBezTo>
                  <a:pt x="6993" y="1305"/>
                  <a:pt x="6993" y="1305"/>
                  <a:pt x="6993" y="1305"/>
                </a:cubicBezTo>
                <a:cubicBezTo>
                  <a:pt x="6993" y="1400"/>
                  <a:pt x="6993" y="1400"/>
                  <a:pt x="6993" y="1400"/>
                </a:cubicBezTo>
                <a:cubicBezTo>
                  <a:pt x="6972" y="1400"/>
                  <a:pt x="6972" y="1400"/>
                  <a:pt x="6972" y="1400"/>
                </a:cubicBezTo>
                <a:cubicBezTo>
                  <a:pt x="6972" y="1391"/>
                  <a:pt x="6972" y="1391"/>
                  <a:pt x="6972" y="1391"/>
                </a:cubicBezTo>
                <a:cubicBezTo>
                  <a:pt x="6952" y="1391"/>
                  <a:pt x="6952" y="1391"/>
                  <a:pt x="6952" y="1391"/>
                </a:cubicBezTo>
                <a:cubicBezTo>
                  <a:pt x="6952" y="1405"/>
                  <a:pt x="6952" y="1405"/>
                  <a:pt x="6952" y="1405"/>
                </a:cubicBezTo>
                <a:cubicBezTo>
                  <a:pt x="6936" y="1405"/>
                  <a:pt x="6936" y="1405"/>
                  <a:pt x="6936" y="1405"/>
                </a:cubicBezTo>
                <a:cubicBezTo>
                  <a:pt x="6936" y="1375"/>
                  <a:pt x="6936" y="1375"/>
                  <a:pt x="6936" y="1375"/>
                </a:cubicBezTo>
                <a:cubicBezTo>
                  <a:pt x="6922" y="1375"/>
                  <a:pt x="6922" y="1375"/>
                  <a:pt x="6922" y="1375"/>
                </a:cubicBezTo>
                <a:cubicBezTo>
                  <a:pt x="6922" y="1357"/>
                  <a:pt x="6922" y="1357"/>
                  <a:pt x="6922" y="1357"/>
                </a:cubicBezTo>
                <a:cubicBezTo>
                  <a:pt x="6906" y="1357"/>
                  <a:pt x="6906" y="1357"/>
                  <a:pt x="6906" y="1357"/>
                </a:cubicBezTo>
                <a:cubicBezTo>
                  <a:pt x="6886" y="1357"/>
                  <a:pt x="6886" y="1357"/>
                  <a:pt x="6886" y="1357"/>
                </a:cubicBezTo>
                <a:cubicBezTo>
                  <a:pt x="6886" y="1348"/>
                  <a:pt x="6886" y="1348"/>
                  <a:pt x="6886" y="1348"/>
                </a:cubicBezTo>
                <a:cubicBezTo>
                  <a:pt x="6852" y="1348"/>
                  <a:pt x="6852" y="1348"/>
                  <a:pt x="6852" y="1348"/>
                </a:cubicBezTo>
                <a:cubicBezTo>
                  <a:pt x="6852" y="1334"/>
                  <a:pt x="6852" y="1334"/>
                  <a:pt x="6852" y="1334"/>
                </a:cubicBezTo>
                <a:cubicBezTo>
                  <a:pt x="6839" y="1334"/>
                  <a:pt x="6839" y="1334"/>
                  <a:pt x="6839" y="1334"/>
                </a:cubicBezTo>
                <a:cubicBezTo>
                  <a:pt x="6839" y="1344"/>
                  <a:pt x="6839" y="1344"/>
                  <a:pt x="6839" y="1344"/>
                </a:cubicBezTo>
                <a:cubicBezTo>
                  <a:pt x="6786" y="1344"/>
                  <a:pt x="6786" y="1344"/>
                  <a:pt x="6786" y="1344"/>
                </a:cubicBezTo>
                <a:cubicBezTo>
                  <a:pt x="6786" y="1355"/>
                  <a:pt x="6786" y="1355"/>
                  <a:pt x="6786" y="1355"/>
                </a:cubicBezTo>
                <a:cubicBezTo>
                  <a:pt x="6776" y="1355"/>
                  <a:pt x="6776" y="1355"/>
                  <a:pt x="6776" y="1355"/>
                </a:cubicBezTo>
                <a:cubicBezTo>
                  <a:pt x="6776" y="1370"/>
                  <a:pt x="6776" y="1370"/>
                  <a:pt x="6776" y="1370"/>
                </a:cubicBezTo>
                <a:cubicBezTo>
                  <a:pt x="6766" y="1380"/>
                  <a:pt x="6766" y="1380"/>
                  <a:pt x="6766" y="1380"/>
                </a:cubicBezTo>
                <a:cubicBezTo>
                  <a:pt x="6766" y="1411"/>
                  <a:pt x="6766" y="1411"/>
                  <a:pt x="6766" y="1411"/>
                </a:cubicBezTo>
                <a:cubicBezTo>
                  <a:pt x="6755" y="1411"/>
                  <a:pt x="6755" y="1411"/>
                  <a:pt x="6755" y="1411"/>
                </a:cubicBezTo>
                <a:cubicBezTo>
                  <a:pt x="6755" y="1381"/>
                  <a:pt x="6755" y="1381"/>
                  <a:pt x="6755" y="1381"/>
                </a:cubicBezTo>
                <a:cubicBezTo>
                  <a:pt x="6744" y="1367"/>
                  <a:pt x="6744" y="1367"/>
                  <a:pt x="6744" y="1367"/>
                </a:cubicBezTo>
                <a:cubicBezTo>
                  <a:pt x="6744" y="1291"/>
                  <a:pt x="6744" y="1291"/>
                  <a:pt x="6744" y="1291"/>
                </a:cubicBezTo>
                <a:cubicBezTo>
                  <a:pt x="6727" y="1291"/>
                  <a:pt x="6727" y="1291"/>
                  <a:pt x="6727" y="1291"/>
                </a:cubicBezTo>
                <a:cubicBezTo>
                  <a:pt x="6727" y="1217"/>
                  <a:pt x="6727" y="1217"/>
                  <a:pt x="6727" y="1217"/>
                </a:cubicBezTo>
                <a:cubicBezTo>
                  <a:pt x="6670" y="1217"/>
                  <a:pt x="6670" y="1217"/>
                  <a:pt x="6670" y="1217"/>
                </a:cubicBezTo>
                <a:cubicBezTo>
                  <a:pt x="6670" y="1194"/>
                  <a:pt x="6670" y="1194"/>
                  <a:pt x="6670" y="1194"/>
                </a:cubicBezTo>
                <a:cubicBezTo>
                  <a:pt x="6640" y="1194"/>
                  <a:pt x="6640" y="1194"/>
                  <a:pt x="6640" y="1194"/>
                </a:cubicBezTo>
                <a:cubicBezTo>
                  <a:pt x="6640" y="1246"/>
                  <a:pt x="6640" y="1246"/>
                  <a:pt x="6640" y="1246"/>
                </a:cubicBezTo>
                <a:cubicBezTo>
                  <a:pt x="6625" y="1246"/>
                  <a:pt x="6625" y="1246"/>
                  <a:pt x="6625" y="1246"/>
                </a:cubicBezTo>
                <a:cubicBezTo>
                  <a:pt x="6625" y="1229"/>
                  <a:pt x="6625" y="1229"/>
                  <a:pt x="6625" y="1229"/>
                </a:cubicBezTo>
                <a:cubicBezTo>
                  <a:pt x="6625" y="1229"/>
                  <a:pt x="6614" y="1229"/>
                  <a:pt x="6609" y="1229"/>
                </a:cubicBezTo>
                <a:cubicBezTo>
                  <a:pt x="6604" y="1229"/>
                  <a:pt x="6604" y="1246"/>
                  <a:pt x="6604" y="1246"/>
                </a:cubicBezTo>
                <a:cubicBezTo>
                  <a:pt x="6604" y="1293"/>
                  <a:pt x="6604" y="1293"/>
                  <a:pt x="6604" y="1293"/>
                </a:cubicBezTo>
                <a:cubicBezTo>
                  <a:pt x="6562" y="1293"/>
                  <a:pt x="6562" y="1293"/>
                  <a:pt x="6562" y="1293"/>
                </a:cubicBezTo>
                <a:cubicBezTo>
                  <a:pt x="6562" y="1130"/>
                  <a:pt x="6562" y="1130"/>
                  <a:pt x="6562" y="1130"/>
                </a:cubicBezTo>
                <a:cubicBezTo>
                  <a:pt x="6505" y="1130"/>
                  <a:pt x="6505" y="1130"/>
                  <a:pt x="6505" y="1130"/>
                </a:cubicBezTo>
                <a:cubicBezTo>
                  <a:pt x="6505" y="1157"/>
                  <a:pt x="6505" y="1157"/>
                  <a:pt x="6505" y="1157"/>
                </a:cubicBezTo>
                <a:cubicBezTo>
                  <a:pt x="6481" y="1157"/>
                  <a:pt x="6477" y="1169"/>
                  <a:pt x="6477" y="1169"/>
                </a:cubicBezTo>
                <a:cubicBezTo>
                  <a:pt x="6450" y="1169"/>
                  <a:pt x="6450" y="1169"/>
                  <a:pt x="6450" y="1169"/>
                </a:cubicBezTo>
                <a:cubicBezTo>
                  <a:pt x="6450" y="1202"/>
                  <a:pt x="6450" y="1202"/>
                  <a:pt x="6450" y="1202"/>
                </a:cubicBezTo>
                <a:cubicBezTo>
                  <a:pt x="6438" y="1202"/>
                  <a:pt x="6438" y="1202"/>
                  <a:pt x="6438" y="1202"/>
                </a:cubicBezTo>
                <a:cubicBezTo>
                  <a:pt x="6438" y="1333"/>
                  <a:pt x="6438" y="1333"/>
                  <a:pt x="6438" y="1333"/>
                </a:cubicBezTo>
                <a:cubicBezTo>
                  <a:pt x="6414" y="1333"/>
                  <a:pt x="6414" y="1333"/>
                  <a:pt x="6414" y="1333"/>
                </a:cubicBezTo>
                <a:cubicBezTo>
                  <a:pt x="6414" y="1314"/>
                  <a:pt x="6414" y="1314"/>
                  <a:pt x="6414" y="1314"/>
                </a:cubicBezTo>
                <a:cubicBezTo>
                  <a:pt x="6401" y="1301"/>
                  <a:pt x="6401" y="1301"/>
                  <a:pt x="6401" y="1301"/>
                </a:cubicBezTo>
                <a:cubicBezTo>
                  <a:pt x="6394" y="1301"/>
                  <a:pt x="6394" y="1301"/>
                  <a:pt x="6394" y="1301"/>
                </a:cubicBezTo>
                <a:cubicBezTo>
                  <a:pt x="6381" y="1311"/>
                  <a:pt x="6381" y="1311"/>
                  <a:pt x="6381" y="1311"/>
                </a:cubicBezTo>
                <a:cubicBezTo>
                  <a:pt x="6381" y="1078"/>
                  <a:pt x="6381" y="1078"/>
                  <a:pt x="6381" y="1078"/>
                </a:cubicBezTo>
                <a:cubicBezTo>
                  <a:pt x="6322" y="1065"/>
                  <a:pt x="6322" y="1065"/>
                  <a:pt x="6322" y="1065"/>
                </a:cubicBezTo>
                <a:cubicBezTo>
                  <a:pt x="6297" y="1065"/>
                  <a:pt x="6297" y="1065"/>
                  <a:pt x="6297" y="1065"/>
                </a:cubicBezTo>
                <a:cubicBezTo>
                  <a:pt x="6297" y="1080"/>
                  <a:pt x="6297" y="1080"/>
                  <a:pt x="6297" y="1080"/>
                </a:cubicBezTo>
                <a:cubicBezTo>
                  <a:pt x="6280" y="1080"/>
                  <a:pt x="6280" y="1080"/>
                  <a:pt x="6280" y="1080"/>
                </a:cubicBezTo>
                <a:cubicBezTo>
                  <a:pt x="6280" y="1135"/>
                  <a:pt x="6280" y="1135"/>
                  <a:pt x="6280" y="1135"/>
                </a:cubicBezTo>
                <a:cubicBezTo>
                  <a:pt x="6264" y="1135"/>
                  <a:pt x="6264" y="1135"/>
                  <a:pt x="6264" y="1135"/>
                </a:cubicBezTo>
                <a:cubicBezTo>
                  <a:pt x="6264" y="1207"/>
                  <a:pt x="6264" y="1207"/>
                  <a:pt x="6264" y="1207"/>
                </a:cubicBezTo>
                <a:cubicBezTo>
                  <a:pt x="6242" y="1207"/>
                  <a:pt x="6242" y="1207"/>
                  <a:pt x="6242" y="1207"/>
                </a:cubicBezTo>
                <a:cubicBezTo>
                  <a:pt x="6242" y="1181"/>
                  <a:pt x="6242" y="1181"/>
                  <a:pt x="6242" y="1181"/>
                </a:cubicBezTo>
                <a:cubicBezTo>
                  <a:pt x="6214" y="1181"/>
                  <a:pt x="6214" y="1181"/>
                  <a:pt x="6214" y="1181"/>
                </a:cubicBezTo>
                <a:cubicBezTo>
                  <a:pt x="6214" y="1098"/>
                  <a:pt x="6214" y="1098"/>
                  <a:pt x="6214" y="1098"/>
                </a:cubicBezTo>
                <a:cubicBezTo>
                  <a:pt x="6196" y="1098"/>
                  <a:pt x="6196" y="1098"/>
                  <a:pt x="6196" y="1098"/>
                </a:cubicBezTo>
                <a:cubicBezTo>
                  <a:pt x="6196" y="1048"/>
                  <a:pt x="6196" y="1048"/>
                  <a:pt x="6196" y="1048"/>
                </a:cubicBezTo>
                <a:cubicBezTo>
                  <a:pt x="6114" y="1039"/>
                  <a:pt x="6114" y="1039"/>
                  <a:pt x="6114" y="1039"/>
                </a:cubicBezTo>
                <a:cubicBezTo>
                  <a:pt x="6114" y="1024"/>
                  <a:pt x="6114" y="1024"/>
                  <a:pt x="6114" y="1024"/>
                </a:cubicBezTo>
                <a:cubicBezTo>
                  <a:pt x="5961" y="1014"/>
                  <a:pt x="5961" y="1014"/>
                  <a:pt x="5961" y="1014"/>
                </a:cubicBezTo>
                <a:cubicBezTo>
                  <a:pt x="5961" y="823"/>
                  <a:pt x="5961" y="823"/>
                  <a:pt x="5961" y="823"/>
                </a:cubicBezTo>
                <a:cubicBezTo>
                  <a:pt x="5826" y="790"/>
                  <a:pt x="5826" y="790"/>
                  <a:pt x="5826" y="790"/>
                </a:cubicBezTo>
                <a:cubicBezTo>
                  <a:pt x="5688" y="818"/>
                  <a:pt x="5688" y="818"/>
                  <a:pt x="5688" y="818"/>
                </a:cubicBezTo>
                <a:cubicBezTo>
                  <a:pt x="5688" y="1359"/>
                  <a:pt x="5688" y="1359"/>
                  <a:pt x="5688" y="1359"/>
                </a:cubicBezTo>
                <a:cubicBezTo>
                  <a:pt x="5605" y="1359"/>
                  <a:pt x="5605" y="1359"/>
                  <a:pt x="5605" y="1359"/>
                </a:cubicBezTo>
                <a:cubicBezTo>
                  <a:pt x="5605" y="451"/>
                  <a:pt x="5605" y="451"/>
                  <a:pt x="5605" y="451"/>
                </a:cubicBezTo>
                <a:cubicBezTo>
                  <a:pt x="5468" y="487"/>
                  <a:pt x="5468" y="487"/>
                  <a:pt x="5468" y="487"/>
                </a:cubicBezTo>
                <a:cubicBezTo>
                  <a:pt x="5468" y="1274"/>
                  <a:pt x="5468" y="1274"/>
                  <a:pt x="5468" y="1274"/>
                </a:cubicBezTo>
                <a:cubicBezTo>
                  <a:pt x="5414" y="1274"/>
                  <a:pt x="5414" y="1274"/>
                  <a:pt x="5414" y="1274"/>
                </a:cubicBezTo>
                <a:cubicBezTo>
                  <a:pt x="5414" y="683"/>
                  <a:pt x="5414" y="683"/>
                  <a:pt x="5414" y="683"/>
                </a:cubicBezTo>
                <a:cubicBezTo>
                  <a:pt x="5404" y="683"/>
                  <a:pt x="5404" y="683"/>
                  <a:pt x="5404" y="683"/>
                </a:cubicBezTo>
                <a:cubicBezTo>
                  <a:pt x="5404" y="674"/>
                  <a:pt x="5404" y="674"/>
                  <a:pt x="5404" y="674"/>
                </a:cubicBezTo>
                <a:cubicBezTo>
                  <a:pt x="5396" y="674"/>
                  <a:pt x="5396" y="674"/>
                  <a:pt x="5396" y="674"/>
                </a:cubicBezTo>
                <a:cubicBezTo>
                  <a:pt x="5396" y="655"/>
                  <a:pt x="5396" y="655"/>
                  <a:pt x="5396" y="655"/>
                </a:cubicBezTo>
                <a:cubicBezTo>
                  <a:pt x="5384" y="655"/>
                  <a:pt x="5384" y="655"/>
                  <a:pt x="5384" y="655"/>
                </a:cubicBezTo>
                <a:cubicBezTo>
                  <a:pt x="5384" y="634"/>
                  <a:pt x="5384" y="634"/>
                  <a:pt x="5384" y="634"/>
                </a:cubicBezTo>
                <a:cubicBezTo>
                  <a:pt x="5367" y="634"/>
                  <a:pt x="5367" y="634"/>
                  <a:pt x="5367" y="634"/>
                </a:cubicBezTo>
                <a:cubicBezTo>
                  <a:pt x="5367" y="615"/>
                  <a:pt x="5367" y="615"/>
                  <a:pt x="5367" y="615"/>
                </a:cubicBezTo>
                <a:cubicBezTo>
                  <a:pt x="5360" y="615"/>
                  <a:pt x="5360" y="615"/>
                  <a:pt x="5360" y="615"/>
                </a:cubicBezTo>
                <a:cubicBezTo>
                  <a:pt x="5360" y="593"/>
                  <a:pt x="5360" y="593"/>
                  <a:pt x="5360" y="593"/>
                </a:cubicBezTo>
                <a:cubicBezTo>
                  <a:pt x="5353" y="532"/>
                  <a:pt x="5353" y="532"/>
                  <a:pt x="5353" y="532"/>
                </a:cubicBezTo>
                <a:cubicBezTo>
                  <a:pt x="5346" y="593"/>
                  <a:pt x="5346" y="593"/>
                  <a:pt x="5346" y="593"/>
                </a:cubicBezTo>
                <a:cubicBezTo>
                  <a:pt x="5346" y="615"/>
                  <a:pt x="5346" y="615"/>
                  <a:pt x="5346" y="615"/>
                </a:cubicBezTo>
                <a:cubicBezTo>
                  <a:pt x="5339" y="615"/>
                  <a:pt x="5339" y="615"/>
                  <a:pt x="5339" y="615"/>
                </a:cubicBezTo>
                <a:cubicBezTo>
                  <a:pt x="5339" y="634"/>
                  <a:pt x="5339" y="634"/>
                  <a:pt x="5339" y="634"/>
                </a:cubicBezTo>
                <a:cubicBezTo>
                  <a:pt x="5322" y="634"/>
                  <a:pt x="5322" y="634"/>
                  <a:pt x="5322" y="634"/>
                </a:cubicBezTo>
                <a:cubicBezTo>
                  <a:pt x="5322" y="655"/>
                  <a:pt x="5322" y="655"/>
                  <a:pt x="5322" y="655"/>
                </a:cubicBezTo>
                <a:cubicBezTo>
                  <a:pt x="5310" y="655"/>
                  <a:pt x="5310" y="655"/>
                  <a:pt x="5310" y="655"/>
                </a:cubicBezTo>
                <a:cubicBezTo>
                  <a:pt x="5310" y="674"/>
                  <a:pt x="5310" y="674"/>
                  <a:pt x="5310" y="674"/>
                </a:cubicBezTo>
                <a:cubicBezTo>
                  <a:pt x="5302" y="674"/>
                  <a:pt x="5302" y="674"/>
                  <a:pt x="5302" y="674"/>
                </a:cubicBezTo>
                <a:cubicBezTo>
                  <a:pt x="5302" y="683"/>
                  <a:pt x="5302" y="683"/>
                  <a:pt x="5302" y="683"/>
                </a:cubicBezTo>
                <a:cubicBezTo>
                  <a:pt x="5292" y="683"/>
                  <a:pt x="5292" y="683"/>
                  <a:pt x="5292" y="683"/>
                </a:cubicBezTo>
                <a:cubicBezTo>
                  <a:pt x="5292" y="1274"/>
                  <a:pt x="5292" y="1274"/>
                  <a:pt x="5292" y="1274"/>
                </a:cubicBezTo>
                <a:cubicBezTo>
                  <a:pt x="5260" y="1274"/>
                  <a:pt x="5260" y="1274"/>
                  <a:pt x="5260" y="1274"/>
                </a:cubicBezTo>
                <a:cubicBezTo>
                  <a:pt x="5260" y="792"/>
                  <a:pt x="5260" y="792"/>
                  <a:pt x="5260" y="792"/>
                </a:cubicBezTo>
                <a:cubicBezTo>
                  <a:pt x="5098" y="792"/>
                  <a:pt x="5098" y="792"/>
                  <a:pt x="5098" y="792"/>
                </a:cubicBezTo>
                <a:cubicBezTo>
                  <a:pt x="5073" y="817"/>
                  <a:pt x="5073" y="817"/>
                  <a:pt x="5073" y="817"/>
                </a:cubicBezTo>
                <a:cubicBezTo>
                  <a:pt x="5073" y="1219"/>
                  <a:pt x="5073" y="1219"/>
                  <a:pt x="5073" y="1219"/>
                </a:cubicBezTo>
                <a:cubicBezTo>
                  <a:pt x="5044" y="1219"/>
                  <a:pt x="5044" y="1219"/>
                  <a:pt x="5044" y="1219"/>
                </a:cubicBezTo>
                <a:cubicBezTo>
                  <a:pt x="5031" y="1237"/>
                  <a:pt x="5031" y="1237"/>
                  <a:pt x="5031" y="1237"/>
                </a:cubicBezTo>
                <a:cubicBezTo>
                  <a:pt x="5031" y="1419"/>
                  <a:pt x="5031" y="1419"/>
                  <a:pt x="5031" y="1419"/>
                </a:cubicBezTo>
                <a:cubicBezTo>
                  <a:pt x="5007" y="1419"/>
                  <a:pt x="5007" y="1419"/>
                  <a:pt x="5007" y="1419"/>
                </a:cubicBezTo>
                <a:cubicBezTo>
                  <a:pt x="5007" y="1089"/>
                  <a:pt x="5007" y="1089"/>
                  <a:pt x="5007" y="1089"/>
                </a:cubicBezTo>
                <a:cubicBezTo>
                  <a:pt x="4993" y="1089"/>
                  <a:pt x="4993" y="1089"/>
                  <a:pt x="4993" y="1089"/>
                </a:cubicBezTo>
                <a:cubicBezTo>
                  <a:pt x="4993" y="1050"/>
                  <a:pt x="4993" y="1050"/>
                  <a:pt x="4993" y="1050"/>
                </a:cubicBezTo>
                <a:cubicBezTo>
                  <a:pt x="4981" y="1050"/>
                  <a:pt x="4981" y="1050"/>
                  <a:pt x="4981" y="1050"/>
                </a:cubicBezTo>
                <a:cubicBezTo>
                  <a:pt x="4981" y="1026"/>
                  <a:pt x="4981" y="1026"/>
                  <a:pt x="4981" y="1026"/>
                </a:cubicBezTo>
                <a:cubicBezTo>
                  <a:pt x="4959" y="1026"/>
                  <a:pt x="4959" y="1026"/>
                  <a:pt x="4959" y="1026"/>
                </a:cubicBezTo>
                <a:cubicBezTo>
                  <a:pt x="4945" y="1016"/>
                  <a:pt x="4945" y="1016"/>
                  <a:pt x="4945" y="1016"/>
                </a:cubicBezTo>
                <a:cubicBezTo>
                  <a:pt x="4945" y="887"/>
                  <a:pt x="4945" y="887"/>
                  <a:pt x="4945" y="887"/>
                </a:cubicBezTo>
                <a:cubicBezTo>
                  <a:pt x="4841" y="919"/>
                  <a:pt x="4841" y="919"/>
                  <a:pt x="4841" y="919"/>
                </a:cubicBezTo>
                <a:cubicBezTo>
                  <a:pt x="4819" y="902"/>
                  <a:pt x="4819" y="902"/>
                  <a:pt x="4819" y="902"/>
                </a:cubicBezTo>
                <a:cubicBezTo>
                  <a:pt x="4819" y="685"/>
                  <a:pt x="4819" y="685"/>
                  <a:pt x="4819" y="685"/>
                </a:cubicBezTo>
                <a:cubicBezTo>
                  <a:pt x="4750" y="668"/>
                  <a:pt x="4750" y="668"/>
                  <a:pt x="4750" y="668"/>
                </a:cubicBezTo>
                <a:cubicBezTo>
                  <a:pt x="4616" y="723"/>
                  <a:pt x="4616" y="723"/>
                  <a:pt x="4616" y="723"/>
                </a:cubicBezTo>
                <a:cubicBezTo>
                  <a:pt x="4616" y="734"/>
                  <a:pt x="4616" y="734"/>
                  <a:pt x="4616" y="734"/>
                </a:cubicBezTo>
                <a:cubicBezTo>
                  <a:pt x="4593" y="720"/>
                  <a:pt x="4593" y="720"/>
                  <a:pt x="4593" y="720"/>
                </a:cubicBezTo>
                <a:cubicBezTo>
                  <a:pt x="4574" y="720"/>
                  <a:pt x="4574" y="720"/>
                  <a:pt x="4574" y="720"/>
                </a:cubicBezTo>
                <a:cubicBezTo>
                  <a:pt x="4574" y="739"/>
                  <a:pt x="4574" y="739"/>
                  <a:pt x="4574" y="739"/>
                </a:cubicBezTo>
                <a:cubicBezTo>
                  <a:pt x="4551" y="739"/>
                  <a:pt x="4551" y="739"/>
                  <a:pt x="4551" y="739"/>
                </a:cubicBezTo>
                <a:cubicBezTo>
                  <a:pt x="4551" y="807"/>
                  <a:pt x="4551" y="807"/>
                  <a:pt x="4551" y="807"/>
                </a:cubicBezTo>
                <a:cubicBezTo>
                  <a:pt x="4540" y="807"/>
                  <a:pt x="4540" y="807"/>
                  <a:pt x="4540" y="807"/>
                </a:cubicBezTo>
                <a:cubicBezTo>
                  <a:pt x="4540" y="1250"/>
                  <a:pt x="4540" y="1250"/>
                  <a:pt x="4540" y="1250"/>
                </a:cubicBezTo>
                <a:cubicBezTo>
                  <a:pt x="4523" y="1250"/>
                  <a:pt x="4523" y="1250"/>
                  <a:pt x="4523" y="1250"/>
                </a:cubicBezTo>
                <a:cubicBezTo>
                  <a:pt x="4516" y="1237"/>
                  <a:pt x="4516" y="1237"/>
                  <a:pt x="4516" y="1237"/>
                </a:cubicBezTo>
                <a:cubicBezTo>
                  <a:pt x="4516" y="1205"/>
                  <a:pt x="4516" y="1205"/>
                  <a:pt x="4516" y="1205"/>
                </a:cubicBezTo>
                <a:cubicBezTo>
                  <a:pt x="4499" y="1205"/>
                  <a:pt x="4499" y="1205"/>
                  <a:pt x="4499" y="1205"/>
                </a:cubicBezTo>
                <a:cubicBezTo>
                  <a:pt x="4499" y="1238"/>
                  <a:pt x="4499" y="1238"/>
                  <a:pt x="4499" y="1238"/>
                </a:cubicBezTo>
                <a:cubicBezTo>
                  <a:pt x="4495" y="1234"/>
                  <a:pt x="4495" y="1234"/>
                  <a:pt x="4495" y="1234"/>
                </a:cubicBezTo>
                <a:cubicBezTo>
                  <a:pt x="4495" y="1245"/>
                  <a:pt x="4495" y="1245"/>
                  <a:pt x="4495" y="1245"/>
                </a:cubicBezTo>
                <a:cubicBezTo>
                  <a:pt x="4482" y="1245"/>
                  <a:pt x="4482" y="1245"/>
                  <a:pt x="4482" y="1245"/>
                </a:cubicBezTo>
                <a:cubicBezTo>
                  <a:pt x="4482" y="1255"/>
                  <a:pt x="4482" y="1255"/>
                  <a:pt x="4482" y="1255"/>
                </a:cubicBezTo>
                <a:cubicBezTo>
                  <a:pt x="4474" y="1255"/>
                  <a:pt x="4474" y="1255"/>
                  <a:pt x="4474" y="1255"/>
                </a:cubicBezTo>
                <a:cubicBezTo>
                  <a:pt x="4474" y="1263"/>
                  <a:pt x="4474" y="1263"/>
                  <a:pt x="4474" y="1263"/>
                </a:cubicBezTo>
                <a:cubicBezTo>
                  <a:pt x="4452" y="1263"/>
                  <a:pt x="4452" y="1263"/>
                  <a:pt x="4452" y="1263"/>
                </a:cubicBezTo>
                <a:cubicBezTo>
                  <a:pt x="4452" y="1251"/>
                  <a:pt x="4452" y="1251"/>
                  <a:pt x="4452" y="1251"/>
                </a:cubicBezTo>
                <a:cubicBezTo>
                  <a:pt x="4468" y="1248"/>
                  <a:pt x="4468" y="1248"/>
                  <a:pt x="4468" y="1248"/>
                </a:cubicBezTo>
                <a:cubicBezTo>
                  <a:pt x="4468" y="1242"/>
                  <a:pt x="4468" y="1242"/>
                  <a:pt x="4468" y="1242"/>
                </a:cubicBezTo>
                <a:cubicBezTo>
                  <a:pt x="4407" y="1242"/>
                  <a:pt x="4407" y="1242"/>
                  <a:pt x="4407" y="1242"/>
                </a:cubicBezTo>
                <a:cubicBezTo>
                  <a:pt x="4409" y="1247"/>
                  <a:pt x="4409" y="1247"/>
                  <a:pt x="4409" y="1247"/>
                </a:cubicBezTo>
                <a:cubicBezTo>
                  <a:pt x="4421" y="1249"/>
                  <a:pt x="4421" y="1249"/>
                  <a:pt x="4421" y="1249"/>
                </a:cubicBezTo>
                <a:cubicBezTo>
                  <a:pt x="4421" y="1260"/>
                  <a:pt x="4421" y="1260"/>
                  <a:pt x="4421" y="1260"/>
                </a:cubicBezTo>
                <a:cubicBezTo>
                  <a:pt x="4398" y="1265"/>
                  <a:pt x="4398" y="1265"/>
                  <a:pt x="4398" y="1265"/>
                </a:cubicBezTo>
                <a:cubicBezTo>
                  <a:pt x="4369" y="1201"/>
                  <a:pt x="4369" y="1201"/>
                  <a:pt x="4369" y="1201"/>
                </a:cubicBezTo>
                <a:cubicBezTo>
                  <a:pt x="4369" y="1161"/>
                  <a:pt x="4369" y="1161"/>
                  <a:pt x="4369" y="1161"/>
                </a:cubicBezTo>
                <a:cubicBezTo>
                  <a:pt x="4369" y="948"/>
                  <a:pt x="4369" y="948"/>
                  <a:pt x="4369" y="948"/>
                </a:cubicBezTo>
                <a:cubicBezTo>
                  <a:pt x="4369" y="948"/>
                  <a:pt x="4379" y="944"/>
                  <a:pt x="4379" y="932"/>
                </a:cubicBezTo>
                <a:cubicBezTo>
                  <a:pt x="4379" y="920"/>
                  <a:pt x="4346" y="917"/>
                  <a:pt x="4333" y="917"/>
                </a:cubicBezTo>
                <a:cubicBezTo>
                  <a:pt x="4320" y="917"/>
                  <a:pt x="4287" y="920"/>
                  <a:pt x="4287" y="932"/>
                </a:cubicBezTo>
                <a:cubicBezTo>
                  <a:pt x="4287" y="944"/>
                  <a:pt x="4297" y="948"/>
                  <a:pt x="4297" y="948"/>
                </a:cubicBezTo>
                <a:cubicBezTo>
                  <a:pt x="4297" y="1161"/>
                  <a:pt x="4297" y="1161"/>
                  <a:pt x="4297" y="1161"/>
                </a:cubicBezTo>
                <a:cubicBezTo>
                  <a:pt x="4286" y="1161"/>
                  <a:pt x="4286" y="1161"/>
                  <a:pt x="4286" y="1161"/>
                </a:cubicBezTo>
                <a:cubicBezTo>
                  <a:pt x="4286" y="1131"/>
                  <a:pt x="4286" y="1131"/>
                  <a:pt x="4286" y="1131"/>
                </a:cubicBezTo>
                <a:cubicBezTo>
                  <a:pt x="4238" y="1091"/>
                  <a:pt x="4238" y="1091"/>
                  <a:pt x="4238" y="1091"/>
                </a:cubicBezTo>
                <a:cubicBezTo>
                  <a:pt x="4238" y="974"/>
                  <a:pt x="4238" y="974"/>
                  <a:pt x="4238" y="974"/>
                </a:cubicBezTo>
                <a:cubicBezTo>
                  <a:pt x="4223" y="974"/>
                  <a:pt x="4223" y="974"/>
                  <a:pt x="4223" y="974"/>
                </a:cubicBezTo>
                <a:cubicBezTo>
                  <a:pt x="4166" y="1010"/>
                  <a:pt x="4166" y="1010"/>
                  <a:pt x="4166" y="1010"/>
                </a:cubicBezTo>
                <a:cubicBezTo>
                  <a:pt x="4166" y="995"/>
                  <a:pt x="4166" y="995"/>
                  <a:pt x="4166" y="995"/>
                </a:cubicBezTo>
                <a:cubicBezTo>
                  <a:pt x="4087" y="995"/>
                  <a:pt x="4087" y="995"/>
                  <a:pt x="4087" y="995"/>
                </a:cubicBezTo>
                <a:cubicBezTo>
                  <a:pt x="4087" y="1012"/>
                  <a:pt x="4087" y="1012"/>
                  <a:pt x="4087" y="1012"/>
                </a:cubicBezTo>
                <a:cubicBezTo>
                  <a:pt x="4069" y="1012"/>
                  <a:pt x="4069" y="1012"/>
                  <a:pt x="4069" y="1012"/>
                </a:cubicBezTo>
                <a:cubicBezTo>
                  <a:pt x="4069" y="1130"/>
                  <a:pt x="4069" y="1130"/>
                  <a:pt x="4069" y="1130"/>
                </a:cubicBezTo>
                <a:cubicBezTo>
                  <a:pt x="4046" y="1117"/>
                  <a:pt x="4046" y="1117"/>
                  <a:pt x="4046" y="1117"/>
                </a:cubicBezTo>
                <a:cubicBezTo>
                  <a:pt x="4046" y="1088"/>
                  <a:pt x="4046" y="1088"/>
                  <a:pt x="4046" y="1088"/>
                </a:cubicBezTo>
                <a:cubicBezTo>
                  <a:pt x="4039" y="1088"/>
                  <a:pt x="4039" y="1088"/>
                  <a:pt x="4039" y="1088"/>
                </a:cubicBezTo>
                <a:cubicBezTo>
                  <a:pt x="4039" y="1118"/>
                  <a:pt x="4039" y="1118"/>
                  <a:pt x="4039" y="1118"/>
                </a:cubicBezTo>
                <a:cubicBezTo>
                  <a:pt x="4032" y="1118"/>
                  <a:pt x="4032" y="1118"/>
                  <a:pt x="4032" y="1118"/>
                </a:cubicBezTo>
                <a:cubicBezTo>
                  <a:pt x="4032" y="1061"/>
                  <a:pt x="4032" y="1061"/>
                  <a:pt x="4032" y="1061"/>
                </a:cubicBezTo>
                <a:cubicBezTo>
                  <a:pt x="3989" y="1061"/>
                  <a:pt x="3989" y="1061"/>
                  <a:pt x="3989" y="1061"/>
                </a:cubicBezTo>
                <a:cubicBezTo>
                  <a:pt x="3989" y="1052"/>
                  <a:pt x="3984" y="1018"/>
                  <a:pt x="3943" y="995"/>
                </a:cubicBezTo>
                <a:cubicBezTo>
                  <a:pt x="3943" y="975"/>
                  <a:pt x="3943" y="975"/>
                  <a:pt x="3943" y="975"/>
                </a:cubicBezTo>
                <a:cubicBezTo>
                  <a:pt x="3933" y="975"/>
                  <a:pt x="3933" y="975"/>
                  <a:pt x="3933" y="975"/>
                </a:cubicBezTo>
                <a:cubicBezTo>
                  <a:pt x="3923" y="975"/>
                  <a:pt x="3923" y="975"/>
                  <a:pt x="3923" y="975"/>
                </a:cubicBezTo>
                <a:cubicBezTo>
                  <a:pt x="3923" y="995"/>
                  <a:pt x="3923" y="995"/>
                  <a:pt x="3923" y="995"/>
                </a:cubicBezTo>
                <a:cubicBezTo>
                  <a:pt x="3882" y="1018"/>
                  <a:pt x="3877" y="1052"/>
                  <a:pt x="3877" y="1061"/>
                </a:cubicBezTo>
                <a:cubicBezTo>
                  <a:pt x="3877" y="1070"/>
                  <a:pt x="3885" y="1078"/>
                  <a:pt x="3885" y="1078"/>
                </a:cubicBezTo>
                <a:cubicBezTo>
                  <a:pt x="3859" y="1078"/>
                  <a:pt x="3859" y="1078"/>
                  <a:pt x="3859" y="1078"/>
                </a:cubicBezTo>
                <a:cubicBezTo>
                  <a:pt x="3846" y="1078"/>
                  <a:pt x="3846" y="1078"/>
                  <a:pt x="3846" y="1078"/>
                </a:cubicBezTo>
                <a:cubicBezTo>
                  <a:pt x="3809" y="1051"/>
                  <a:pt x="3809" y="1051"/>
                  <a:pt x="3809" y="1051"/>
                </a:cubicBezTo>
                <a:cubicBezTo>
                  <a:pt x="3781" y="1070"/>
                  <a:pt x="3781" y="1070"/>
                  <a:pt x="3781" y="1070"/>
                </a:cubicBezTo>
                <a:cubicBezTo>
                  <a:pt x="3770" y="1080"/>
                  <a:pt x="3770" y="1080"/>
                  <a:pt x="3770" y="1080"/>
                </a:cubicBezTo>
                <a:cubicBezTo>
                  <a:pt x="3742" y="1080"/>
                  <a:pt x="3742" y="1080"/>
                  <a:pt x="3742" y="1080"/>
                </a:cubicBezTo>
                <a:cubicBezTo>
                  <a:pt x="3742" y="1095"/>
                  <a:pt x="3742" y="1095"/>
                  <a:pt x="3742" y="1095"/>
                </a:cubicBezTo>
                <a:cubicBezTo>
                  <a:pt x="3759" y="1095"/>
                  <a:pt x="3763" y="1109"/>
                  <a:pt x="3763" y="1109"/>
                </a:cubicBezTo>
                <a:cubicBezTo>
                  <a:pt x="3763" y="1133"/>
                  <a:pt x="3763" y="1133"/>
                  <a:pt x="3763" y="1133"/>
                </a:cubicBezTo>
                <a:cubicBezTo>
                  <a:pt x="3734" y="1133"/>
                  <a:pt x="3734" y="1133"/>
                  <a:pt x="3734" y="1133"/>
                </a:cubicBezTo>
                <a:cubicBezTo>
                  <a:pt x="3734" y="1123"/>
                  <a:pt x="3734" y="1123"/>
                  <a:pt x="3734" y="1123"/>
                </a:cubicBezTo>
                <a:cubicBezTo>
                  <a:pt x="3673" y="1123"/>
                  <a:pt x="3673" y="1123"/>
                  <a:pt x="3673" y="1123"/>
                </a:cubicBezTo>
                <a:cubicBezTo>
                  <a:pt x="3673" y="1147"/>
                  <a:pt x="3673" y="1147"/>
                  <a:pt x="3673" y="1147"/>
                </a:cubicBezTo>
                <a:cubicBezTo>
                  <a:pt x="3635" y="1147"/>
                  <a:pt x="3635" y="1147"/>
                  <a:pt x="3635" y="1147"/>
                </a:cubicBezTo>
                <a:cubicBezTo>
                  <a:pt x="3635" y="1405"/>
                  <a:pt x="3635" y="1405"/>
                  <a:pt x="3635" y="1405"/>
                </a:cubicBezTo>
                <a:cubicBezTo>
                  <a:pt x="3585" y="1405"/>
                  <a:pt x="3585" y="1405"/>
                  <a:pt x="3585" y="1405"/>
                </a:cubicBezTo>
                <a:cubicBezTo>
                  <a:pt x="3585" y="1415"/>
                  <a:pt x="3585" y="1415"/>
                  <a:pt x="3585" y="1415"/>
                </a:cubicBezTo>
                <a:cubicBezTo>
                  <a:pt x="3576" y="1415"/>
                  <a:pt x="3576" y="1415"/>
                  <a:pt x="3576" y="1415"/>
                </a:cubicBezTo>
                <a:cubicBezTo>
                  <a:pt x="3576" y="1437"/>
                  <a:pt x="3576" y="1437"/>
                  <a:pt x="3576" y="1437"/>
                </a:cubicBezTo>
                <a:cubicBezTo>
                  <a:pt x="3565" y="1437"/>
                  <a:pt x="3565" y="1437"/>
                  <a:pt x="3565" y="1437"/>
                </a:cubicBezTo>
                <a:cubicBezTo>
                  <a:pt x="3565" y="1403"/>
                  <a:pt x="3565" y="1403"/>
                  <a:pt x="3565" y="1403"/>
                </a:cubicBezTo>
                <a:cubicBezTo>
                  <a:pt x="3528" y="1403"/>
                  <a:pt x="3528" y="1403"/>
                  <a:pt x="3528" y="1403"/>
                </a:cubicBezTo>
                <a:cubicBezTo>
                  <a:pt x="3528" y="1259"/>
                  <a:pt x="3528" y="1259"/>
                  <a:pt x="3528" y="1259"/>
                </a:cubicBezTo>
                <a:cubicBezTo>
                  <a:pt x="3478" y="1259"/>
                  <a:pt x="3478" y="1259"/>
                  <a:pt x="3478" y="1259"/>
                </a:cubicBezTo>
                <a:cubicBezTo>
                  <a:pt x="3478" y="1245"/>
                  <a:pt x="3478" y="1245"/>
                  <a:pt x="3478" y="1245"/>
                </a:cubicBezTo>
                <a:cubicBezTo>
                  <a:pt x="3463" y="1245"/>
                  <a:pt x="3463" y="1245"/>
                  <a:pt x="3463" y="1245"/>
                </a:cubicBezTo>
                <a:cubicBezTo>
                  <a:pt x="3463" y="1255"/>
                  <a:pt x="3463" y="1255"/>
                  <a:pt x="3463" y="1255"/>
                </a:cubicBezTo>
                <a:cubicBezTo>
                  <a:pt x="3455" y="1255"/>
                  <a:pt x="3455" y="1255"/>
                  <a:pt x="3455" y="1255"/>
                </a:cubicBezTo>
                <a:cubicBezTo>
                  <a:pt x="3456" y="1251"/>
                  <a:pt x="3456" y="1248"/>
                  <a:pt x="3456" y="1245"/>
                </a:cubicBezTo>
                <a:cubicBezTo>
                  <a:pt x="3456" y="1211"/>
                  <a:pt x="3436" y="1182"/>
                  <a:pt x="3407" y="1168"/>
                </a:cubicBezTo>
                <a:cubicBezTo>
                  <a:pt x="3407" y="700"/>
                  <a:pt x="3407" y="700"/>
                  <a:pt x="3407" y="700"/>
                </a:cubicBezTo>
                <a:cubicBezTo>
                  <a:pt x="3431" y="687"/>
                  <a:pt x="3447" y="662"/>
                  <a:pt x="3447" y="634"/>
                </a:cubicBezTo>
                <a:cubicBezTo>
                  <a:pt x="3447" y="597"/>
                  <a:pt x="3421" y="567"/>
                  <a:pt x="3387" y="560"/>
                </a:cubicBezTo>
                <a:cubicBezTo>
                  <a:pt x="3383" y="429"/>
                  <a:pt x="3383" y="429"/>
                  <a:pt x="3383" y="429"/>
                </a:cubicBezTo>
                <a:cubicBezTo>
                  <a:pt x="3391" y="425"/>
                  <a:pt x="3397" y="417"/>
                  <a:pt x="3397" y="407"/>
                </a:cubicBezTo>
                <a:cubicBezTo>
                  <a:pt x="3397" y="400"/>
                  <a:pt x="3394" y="393"/>
                  <a:pt x="3390" y="389"/>
                </a:cubicBezTo>
                <a:cubicBezTo>
                  <a:pt x="3390" y="372"/>
                  <a:pt x="3390" y="372"/>
                  <a:pt x="3390" y="372"/>
                </a:cubicBezTo>
                <a:cubicBezTo>
                  <a:pt x="3382" y="372"/>
                  <a:pt x="3382" y="372"/>
                  <a:pt x="3382" y="372"/>
                </a:cubicBezTo>
                <a:cubicBezTo>
                  <a:pt x="3382" y="269"/>
                  <a:pt x="3382" y="269"/>
                  <a:pt x="3382" y="269"/>
                </a:cubicBezTo>
                <a:cubicBezTo>
                  <a:pt x="3377" y="269"/>
                  <a:pt x="3377" y="269"/>
                  <a:pt x="3377" y="269"/>
                </a:cubicBezTo>
                <a:cubicBezTo>
                  <a:pt x="3377" y="187"/>
                  <a:pt x="3377" y="187"/>
                  <a:pt x="3377" y="187"/>
                </a:cubicBezTo>
                <a:cubicBezTo>
                  <a:pt x="3377" y="187"/>
                  <a:pt x="3385" y="187"/>
                  <a:pt x="3385" y="177"/>
                </a:cubicBezTo>
                <a:cubicBezTo>
                  <a:pt x="3385" y="167"/>
                  <a:pt x="3377" y="170"/>
                  <a:pt x="3377" y="170"/>
                </a:cubicBezTo>
                <a:cubicBezTo>
                  <a:pt x="3372" y="0"/>
                  <a:pt x="3372" y="0"/>
                  <a:pt x="3372" y="0"/>
                </a:cubicBezTo>
                <a:cubicBezTo>
                  <a:pt x="3367" y="170"/>
                  <a:pt x="3367" y="170"/>
                  <a:pt x="3367" y="170"/>
                </a:cubicBezTo>
                <a:cubicBezTo>
                  <a:pt x="3367" y="170"/>
                  <a:pt x="3359" y="167"/>
                  <a:pt x="3359" y="177"/>
                </a:cubicBezTo>
                <a:cubicBezTo>
                  <a:pt x="3359" y="187"/>
                  <a:pt x="3367" y="187"/>
                  <a:pt x="3367" y="187"/>
                </a:cubicBezTo>
                <a:cubicBezTo>
                  <a:pt x="3367" y="269"/>
                  <a:pt x="3367" y="269"/>
                  <a:pt x="3367" y="269"/>
                </a:cubicBezTo>
                <a:cubicBezTo>
                  <a:pt x="3362" y="269"/>
                  <a:pt x="3362" y="269"/>
                  <a:pt x="3362" y="269"/>
                </a:cubicBezTo>
                <a:cubicBezTo>
                  <a:pt x="3362" y="372"/>
                  <a:pt x="3362" y="372"/>
                  <a:pt x="3362" y="372"/>
                </a:cubicBezTo>
                <a:cubicBezTo>
                  <a:pt x="3354" y="372"/>
                  <a:pt x="3354" y="372"/>
                  <a:pt x="3354" y="372"/>
                </a:cubicBezTo>
                <a:cubicBezTo>
                  <a:pt x="3354" y="389"/>
                  <a:pt x="3354" y="389"/>
                  <a:pt x="3354" y="389"/>
                </a:cubicBezTo>
                <a:cubicBezTo>
                  <a:pt x="3350" y="393"/>
                  <a:pt x="3347" y="400"/>
                  <a:pt x="3347" y="407"/>
                </a:cubicBezTo>
                <a:cubicBezTo>
                  <a:pt x="3347" y="417"/>
                  <a:pt x="3353" y="425"/>
                  <a:pt x="3361" y="429"/>
                </a:cubicBezTo>
                <a:cubicBezTo>
                  <a:pt x="3357" y="560"/>
                  <a:pt x="3357" y="560"/>
                  <a:pt x="3357" y="560"/>
                </a:cubicBezTo>
                <a:cubicBezTo>
                  <a:pt x="3323" y="567"/>
                  <a:pt x="3297" y="597"/>
                  <a:pt x="3297" y="634"/>
                </a:cubicBezTo>
                <a:cubicBezTo>
                  <a:pt x="3297" y="659"/>
                  <a:pt x="3310" y="681"/>
                  <a:pt x="3329" y="695"/>
                </a:cubicBezTo>
                <a:cubicBezTo>
                  <a:pt x="3329" y="1173"/>
                  <a:pt x="3329" y="1173"/>
                  <a:pt x="3329" y="1173"/>
                </a:cubicBezTo>
                <a:cubicBezTo>
                  <a:pt x="3304" y="1187"/>
                  <a:pt x="3288" y="1214"/>
                  <a:pt x="3288" y="1245"/>
                </a:cubicBezTo>
                <a:cubicBezTo>
                  <a:pt x="3288" y="1275"/>
                  <a:pt x="3304" y="1302"/>
                  <a:pt x="3329" y="1317"/>
                </a:cubicBezTo>
                <a:cubicBezTo>
                  <a:pt x="3329" y="1343"/>
                  <a:pt x="3329" y="1343"/>
                  <a:pt x="3329" y="1343"/>
                </a:cubicBezTo>
                <a:cubicBezTo>
                  <a:pt x="3287" y="1479"/>
                  <a:pt x="3287" y="1479"/>
                  <a:pt x="3287" y="1479"/>
                </a:cubicBezTo>
                <a:cubicBezTo>
                  <a:pt x="3180" y="1479"/>
                  <a:pt x="3180" y="1479"/>
                  <a:pt x="3180" y="1479"/>
                </a:cubicBezTo>
                <a:cubicBezTo>
                  <a:pt x="3180" y="1420"/>
                  <a:pt x="3180" y="1420"/>
                  <a:pt x="3180" y="1420"/>
                </a:cubicBezTo>
                <a:cubicBezTo>
                  <a:pt x="3132" y="1420"/>
                  <a:pt x="3132" y="1420"/>
                  <a:pt x="3132" y="1420"/>
                </a:cubicBezTo>
                <a:cubicBezTo>
                  <a:pt x="3132" y="1479"/>
                  <a:pt x="3132" y="1479"/>
                  <a:pt x="3132" y="1479"/>
                </a:cubicBezTo>
                <a:cubicBezTo>
                  <a:pt x="2997" y="1479"/>
                  <a:pt x="2997" y="1479"/>
                  <a:pt x="2997" y="1479"/>
                </a:cubicBezTo>
                <a:cubicBezTo>
                  <a:pt x="2997" y="1395"/>
                  <a:pt x="2997" y="1395"/>
                  <a:pt x="2997" y="1395"/>
                </a:cubicBezTo>
                <a:cubicBezTo>
                  <a:pt x="2850" y="1372"/>
                  <a:pt x="2850" y="1372"/>
                  <a:pt x="2850" y="1372"/>
                </a:cubicBezTo>
                <a:cubicBezTo>
                  <a:pt x="2850" y="1279"/>
                  <a:pt x="2850" y="1279"/>
                  <a:pt x="2850" y="1279"/>
                </a:cubicBezTo>
                <a:cubicBezTo>
                  <a:pt x="2844" y="1271"/>
                  <a:pt x="2844" y="1271"/>
                  <a:pt x="2844" y="1271"/>
                </a:cubicBezTo>
                <a:cubicBezTo>
                  <a:pt x="2844" y="1227"/>
                  <a:pt x="2844" y="1227"/>
                  <a:pt x="2844" y="1227"/>
                </a:cubicBezTo>
                <a:cubicBezTo>
                  <a:pt x="2838" y="1223"/>
                  <a:pt x="2838" y="1223"/>
                  <a:pt x="2838" y="1223"/>
                </a:cubicBezTo>
                <a:cubicBezTo>
                  <a:pt x="2838" y="1194"/>
                  <a:pt x="2838" y="1194"/>
                  <a:pt x="2838" y="1194"/>
                </a:cubicBezTo>
                <a:cubicBezTo>
                  <a:pt x="2818" y="1177"/>
                  <a:pt x="2818" y="1177"/>
                  <a:pt x="2818" y="1177"/>
                </a:cubicBezTo>
                <a:cubicBezTo>
                  <a:pt x="2803" y="1177"/>
                  <a:pt x="2803" y="1177"/>
                  <a:pt x="2803" y="1177"/>
                </a:cubicBezTo>
                <a:cubicBezTo>
                  <a:pt x="2797" y="1119"/>
                  <a:pt x="2797" y="1119"/>
                  <a:pt x="2797" y="1119"/>
                </a:cubicBezTo>
                <a:cubicBezTo>
                  <a:pt x="2791" y="1177"/>
                  <a:pt x="2791" y="1177"/>
                  <a:pt x="2791" y="1177"/>
                </a:cubicBezTo>
                <a:cubicBezTo>
                  <a:pt x="2776" y="1177"/>
                  <a:pt x="2776" y="1177"/>
                  <a:pt x="2776" y="1177"/>
                </a:cubicBezTo>
                <a:cubicBezTo>
                  <a:pt x="2756" y="1194"/>
                  <a:pt x="2756" y="1194"/>
                  <a:pt x="2756" y="1194"/>
                </a:cubicBezTo>
                <a:cubicBezTo>
                  <a:pt x="2756" y="1223"/>
                  <a:pt x="2756" y="1223"/>
                  <a:pt x="2756" y="1223"/>
                </a:cubicBezTo>
                <a:cubicBezTo>
                  <a:pt x="2750" y="1227"/>
                  <a:pt x="2750" y="1227"/>
                  <a:pt x="2750" y="1227"/>
                </a:cubicBezTo>
                <a:cubicBezTo>
                  <a:pt x="2750" y="1271"/>
                  <a:pt x="2750" y="1271"/>
                  <a:pt x="2750" y="1271"/>
                </a:cubicBezTo>
                <a:cubicBezTo>
                  <a:pt x="2744" y="1279"/>
                  <a:pt x="2744" y="1279"/>
                  <a:pt x="2744" y="1279"/>
                </a:cubicBezTo>
                <a:cubicBezTo>
                  <a:pt x="2744" y="1341"/>
                  <a:pt x="2744" y="1341"/>
                  <a:pt x="2744" y="1341"/>
                </a:cubicBezTo>
                <a:cubicBezTo>
                  <a:pt x="2744" y="1341"/>
                  <a:pt x="2733" y="1330"/>
                  <a:pt x="2701" y="1330"/>
                </a:cubicBezTo>
                <a:cubicBezTo>
                  <a:pt x="2658" y="1330"/>
                  <a:pt x="2628" y="1372"/>
                  <a:pt x="2628" y="1372"/>
                </a:cubicBezTo>
                <a:cubicBezTo>
                  <a:pt x="2572" y="1372"/>
                  <a:pt x="2572" y="1372"/>
                  <a:pt x="2572" y="1372"/>
                </a:cubicBezTo>
                <a:cubicBezTo>
                  <a:pt x="2572" y="1389"/>
                  <a:pt x="2572" y="1389"/>
                  <a:pt x="2572" y="1389"/>
                </a:cubicBezTo>
                <a:cubicBezTo>
                  <a:pt x="2553" y="1389"/>
                  <a:pt x="2553" y="1389"/>
                  <a:pt x="2553" y="1389"/>
                </a:cubicBezTo>
                <a:cubicBezTo>
                  <a:pt x="2553" y="1382"/>
                  <a:pt x="2553" y="1382"/>
                  <a:pt x="2553" y="1382"/>
                </a:cubicBezTo>
                <a:cubicBezTo>
                  <a:pt x="2510" y="1382"/>
                  <a:pt x="2510" y="1382"/>
                  <a:pt x="2510" y="1382"/>
                </a:cubicBezTo>
                <a:cubicBezTo>
                  <a:pt x="2502" y="1393"/>
                  <a:pt x="2502" y="1393"/>
                  <a:pt x="2502" y="1393"/>
                </a:cubicBezTo>
                <a:cubicBezTo>
                  <a:pt x="2478" y="1393"/>
                  <a:pt x="2478" y="1393"/>
                  <a:pt x="2478" y="1393"/>
                </a:cubicBezTo>
                <a:cubicBezTo>
                  <a:pt x="2478" y="1402"/>
                  <a:pt x="2478" y="1402"/>
                  <a:pt x="2478" y="1402"/>
                </a:cubicBezTo>
                <a:cubicBezTo>
                  <a:pt x="2470" y="1402"/>
                  <a:pt x="2470" y="1402"/>
                  <a:pt x="2470" y="1402"/>
                </a:cubicBezTo>
                <a:cubicBezTo>
                  <a:pt x="2470" y="1378"/>
                  <a:pt x="2470" y="1378"/>
                  <a:pt x="2470" y="1378"/>
                </a:cubicBezTo>
                <a:cubicBezTo>
                  <a:pt x="2443" y="1378"/>
                  <a:pt x="2443" y="1378"/>
                  <a:pt x="2443" y="1378"/>
                </a:cubicBezTo>
                <a:cubicBezTo>
                  <a:pt x="2432" y="1388"/>
                  <a:pt x="2432" y="1388"/>
                  <a:pt x="2432" y="1388"/>
                </a:cubicBezTo>
                <a:cubicBezTo>
                  <a:pt x="2417" y="1388"/>
                  <a:pt x="2417" y="1388"/>
                  <a:pt x="2417" y="1388"/>
                </a:cubicBezTo>
                <a:cubicBezTo>
                  <a:pt x="2408" y="1375"/>
                  <a:pt x="2408" y="1375"/>
                  <a:pt x="2408" y="1375"/>
                </a:cubicBezTo>
                <a:cubicBezTo>
                  <a:pt x="2393" y="1375"/>
                  <a:pt x="2393" y="1375"/>
                  <a:pt x="2393" y="1375"/>
                </a:cubicBezTo>
                <a:cubicBezTo>
                  <a:pt x="2381" y="1388"/>
                  <a:pt x="2381" y="1388"/>
                  <a:pt x="2381" y="1388"/>
                </a:cubicBezTo>
                <a:cubicBezTo>
                  <a:pt x="2365" y="1388"/>
                  <a:pt x="2365" y="1388"/>
                  <a:pt x="2365" y="1388"/>
                </a:cubicBezTo>
                <a:cubicBezTo>
                  <a:pt x="2365" y="1465"/>
                  <a:pt x="2365" y="1465"/>
                  <a:pt x="2365" y="1465"/>
                </a:cubicBezTo>
                <a:cubicBezTo>
                  <a:pt x="2310" y="1465"/>
                  <a:pt x="2310" y="1465"/>
                  <a:pt x="2310" y="1465"/>
                </a:cubicBezTo>
                <a:cubicBezTo>
                  <a:pt x="2310" y="1440"/>
                  <a:pt x="2310" y="1440"/>
                  <a:pt x="2310" y="1440"/>
                </a:cubicBezTo>
                <a:cubicBezTo>
                  <a:pt x="2284" y="1420"/>
                  <a:pt x="2284" y="1420"/>
                  <a:pt x="2284" y="1420"/>
                </a:cubicBezTo>
                <a:cubicBezTo>
                  <a:pt x="2279" y="1380"/>
                  <a:pt x="2279" y="1380"/>
                  <a:pt x="2279" y="1380"/>
                </a:cubicBezTo>
                <a:cubicBezTo>
                  <a:pt x="2273" y="1419"/>
                  <a:pt x="2273" y="1419"/>
                  <a:pt x="2273" y="1419"/>
                </a:cubicBezTo>
                <a:cubicBezTo>
                  <a:pt x="2243" y="1441"/>
                  <a:pt x="2243" y="1441"/>
                  <a:pt x="2243" y="1441"/>
                </a:cubicBezTo>
                <a:cubicBezTo>
                  <a:pt x="2243" y="1457"/>
                  <a:pt x="2243" y="1457"/>
                  <a:pt x="2243" y="1457"/>
                </a:cubicBezTo>
                <a:cubicBezTo>
                  <a:pt x="2199" y="1457"/>
                  <a:pt x="2199" y="1457"/>
                  <a:pt x="2199" y="1457"/>
                </a:cubicBezTo>
                <a:cubicBezTo>
                  <a:pt x="2199" y="1401"/>
                  <a:pt x="2199" y="1401"/>
                  <a:pt x="2199" y="1401"/>
                </a:cubicBezTo>
                <a:cubicBezTo>
                  <a:pt x="2177" y="1401"/>
                  <a:pt x="2177" y="1401"/>
                  <a:pt x="2177" y="1401"/>
                </a:cubicBezTo>
                <a:cubicBezTo>
                  <a:pt x="2177" y="1391"/>
                  <a:pt x="2177" y="1391"/>
                  <a:pt x="2177" y="1391"/>
                </a:cubicBezTo>
                <a:cubicBezTo>
                  <a:pt x="2152" y="1391"/>
                  <a:pt x="2152" y="1391"/>
                  <a:pt x="2152" y="1391"/>
                </a:cubicBezTo>
                <a:cubicBezTo>
                  <a:pt x="2152" y="1409"/>
                  <a:pt x="2152" y="1409"/>
                  <a:pt x="2152" y="1409"/>
                </a:cubicBezTo>
                <a:cubicBezTo>
                  <a:pt x="2139" y="1409"/>
                  <a:pt x="2139" y="1409"/>
                  <a:pt x="2139" y="1409"/>
                </a:cubicBezTo>
                <a:cubicBezTo>
                  <a:pt x="2139" y="1371"/>
                  <a:pt x="2139" y="1371"/>
                  <a:pt x="2139" y="1371"/>
                </a:cubicBezTo>
                <a:cubicBezTo>
                  <a:pt x="2093" y="1371"/>
                  <a:pt x="2093" y="1371"/>
                  <a:pt x="2093" y="1371"/>
                </a:cubicBezTo>
                <a:cubicBezTo>
                  <a:pt x="2093" y="1436"/>
                  <a:pt x="2093" y="1436"/>
                  <a:pt x="2093" y="1436"/>
                </a:cubicBezTo>
                <a:cubicBezTo>
                  <a:pt x="2077" y="1436"/>
                  <a:pt x="2077" y="1436"/>
                  <a:pt x="2077" y="1436"/>
                </a:cubicBezTo>
                <a:cubicBezTo>
                  <a:pt x="2077" y="1453"/>
                  <a:pt x="2077" y="1453"/>
                  <a:pt x="2077" y="1453"/>
                </a:cubicBezTo>
                <a:cubicBezTo>
                  <a:pt x="2068" y="1453"/>
                  <a:pt x="2068" y="1453"/>
                  <a:pt x="2068" y="1453"/>
                </a:cubicBezTo>
                <a:cubicBezTo>
                  <a:pt x="2068" y="1463"/>
                  <a:pt x="2068" y="1463"/>
                  <a:pt x="2068" y="1463"/>
                </a:cubicBezTo>
                <a:cubicBezTo>
                  <a:pt x="2055" y="1463"/>
                  <a:pt x="2055" y="1463"/>
                  <a:pt x="2055" y="1463"/>
                </a:cubicBezTo>
                <a:cubicBezTo>
                  <a:pt x="2055" y="1453"/>
                  <a:pt x="2055" y="1453"/>
                  <a:pt x="2055" y="1453"/>
                </a:cubicBezTo>
                <a:cubicBezTo>
                  <a:pt x="2033" y="1453"/>
                  <a:pt x="2033" y="1453"/>
                  <a:pt x="2033" y="1453"/>
                </a:cubicBezTo>
                <a:cubicBezTo>
                  <a:pt x="2033" y="1461"/>
                  <a:pt x="2033" y="1461"/>
                  <a:pt x="2033" y="1461"/>
                </a:cubicBezTo>
                <a:cubicBezTo>
                  <a:pt x="2004" y="1461"/>
                  <a:pt x="2004" y="1461"/>
                  <a:pt x="2004" y="1461"/>
                </a:cubicBezTo>
                <a:cubicBezTo>
                  <a:pt x="2004" y="1471"/>
                  <a:pt x="2004" y="1471"/>
                  <a:pt x="2004" y="1471"/>
                </a:cubicBezTo>
                <a:cubicBezTo>
                  <a:pt x="1996" y="1471"/>
                  <a:pt x="1996" y="1471"/>
                  <a:pt x="1996" y="1471"/>
                </a:cubicBezTo>
                <a:cubicBezTo>
                  <a:pt x="1996" y="1463"/>
                  <a:pt x="1996" y="1463"/>
                  <a:pt x="1996" y="1463"/>
                </a:cubicBezTo>
                <a:cubicBezTo>
                  <a:pt x="1983" y="1463"/>
                  <a:pt x="1983" y="1463"/>
                  <a:pt x="1983" y="1463"/>
                </a:cubicBezTo>
                <a:cubicBezTo>
                  <a:pt x="1983" y="1479"/>
                  <a:pt x="1983" y="1479"/>
                  <a:pt x="1983" y="1479"/>
                </a:cubicBezTo>
                <a:cubicBezTo>
                  <a:pt x="1975" y="1479"/>
                  <a:pt x="1975" y="1479"/>
                  <a:pt x="1975" y="1479"/>
                </a:cubicBezTo>
                <a:cubicBezTo>
                  <a:pt x="1975" y="1343"/>
                  <a:pt x="1975" y="1343"/>
                  <a:pt x="1975" y="1343"/>
                </a:cubicBezTo>
                <a:cubicBezTo>
                  <a:pt x="1952" y="1343"/>
                  <a:pt x="1952" y="1343"/>
                  <a:pt x="1952" y="1343"/>
                </a:cubicBezTo>
                <a:cubicBezTo>
                  <a:pt x="1952" y="1352"/>
                  <a:pt x="1952" y="1352"/>
                  <a:pt x="1952" y="1352"/>
                </a:cubicBezTo>
                <a:cubicBezTo>
                  <a:pt x="1943" y="1352"/>
                  <a:pt x="1943" y="1352"/>
                  <a:pt x="1943" y="1352"/>
                </a:cubicBezTo>
                <a:cubicBezTo>
                  <a:pt x="1935" y="1335"/>
                  <a:pt x="1935" y="1335"/>
                  <a:pt x="1935" y="1335"/>
                </a:cubicBezTo>
                <a:cubicBezTo>
                  <a:pt x="1921" y="1335"/>
                  <a:pt x="1921" y="1335"/>
                  <a:pt x="1921" y="1335"/>
                </a:cubicBezTo>
                <a:cubicBezTo>
                  <a:pt x="1912" y="1352"/>
                  <a:pt x="1912" y="1352"/>
                  <a:pt x="1912" y="1352"/>
                </a:cubicBezTo>
                <a:cubicBezTo>
                  <a:pt x="1877" y="1352"/>
                  <a:pt x="1877" y="1352"/>
                  <a:pt x="1877" y="1352"/>
                </a:cubicBezTo>
                <a:cubicBezTo>
                  <a:pt x="1877" y="1456"/>
                  <a:pt x="1877" y="1456"/>
                  <a:pt x="1877" y="1456"/>
                </a:cubicBezTo>
                <a:cubicBezTo>
                  <a:pt x="1805" y="1456"/>
                  <a:pt x="1805" y="1456"/>
                  <a:pt x="1805" y="1456"/>
                </a:cubicBezTo>
                <a:cubicBezTo>
                  <a:pt x="1791" y="1441"/>
                  <a:pt x="1791" y="1441"/>
                  <a:pt x="1791" y="1441"/>
                </a:cubicBezTo>
                <a:cubicBezTo>
                  <a:pt x="1781" y="1452"/>
                  <a:pt x="1781" y="1452"/>
                  <a:pt x="1781" y="1452"/>
                </a:cubicBezTo>
                <a:cubicBezTo>
                  <a:pt x="1771" y="1452"/>
                  <a:pt x="1771" y="1452"/>
                  <a:pt x="1771" y="1452"/>
                </a:cubicBezTo>
                <a:cubicBezTo>
                  <a:pt x="1756" y="1437"/>
                  <a:pt x="1756" y="1437"/>
                  <a:pt x="1756" y="1437"/>
                </a:cubicBezTo>
                <a:cubicBezTo>
                  <a:pt x="1744" y="1437"/>
                  <a:pt x="1744" y="1437"/>
                  <a:pt x="1744" y="1437"/>
                </a:cubicBezTo>
                <a:cubicBezTo>
                  <a:pt x="1731" y="1448"/>
                  <a:pt x="1731" y="1448"/>
                  <a:pt x="1731" y="1448"/>
                </a:cubicBezTo>
                <a:cubicBezTo>
                  <a:pt x="1699" y="1448"/>
                  <a:pt x="1699" y="1448"/>
                  <a:pt x="1699" y="1448"/>
                </a:cubicBezTo>
                <a:cubicBezTo>
                  <a:pt x="1699" y="1437"/>
                  <a:pt x="1699" y="1437"/>
                  <a:pt x="1699" y="1437"/>
                </a:cubicBezTo>
                <a:cubicBezTo>
                  <a:pt x="1673" y="1437"/>
                  <a:pt x="1673" y="1437"/>
                  <a:pt x="1673" y="1437"/>
                </a:cubicBezTo>
                <a:cubicBezTo>
                  <a:pt x="1673" y="1469"/>
                  <a:pt x="1673" y="1469"/>
                  <a:pt x="1673" y="1469"/>
                </a:cubicBezTo>
                <a:cubicBezTo>
                  <a:pt x="1656" y="1469"/>
                  <a:pt x="1656" y="1469"/>
                  <a:pt x="1656" y="1469"/>
                </a:cubicBezTo>
                <a:cubicBezTo>
                  <a:pt x="1656" y="1459"/>
                  <a:pt x="1656" y="1459"/>
                  <a:pt x="1656" y="1459"/>
                </a:cubicBezTo>
                <a:cubicBezTo>
                  <a:pt x="1619" y="1459"/>
                  <a:pt x="1619" y="1459"/>
                  <a:pt x="1619" y="1459"/>
                </a:cubicBezTo>
                <a:cubicBezTo>
                  <a:pt x="1619" y="1448"/>
                  <a:pt x="1619" y="1448"/>
                  <a:pt x="1619" y="1448"/>
                </a:cubicBezTo>
                <a:cubicBezTo>
                  <a:pt x="1587" y="1448"/>
                  <a:pt x="1587" y="1448"/>
                  <a:pt x="1587" y="1448"/>
                </a:cubicBezTo>
                <a:cubicBezTo>
                  <a:pt x="1587" y="1459"/>
                  <a:pt x="1587" y="1459"/>
                  <a:pt x="1587" y="1459"/>
                </a:cubicBezTo>
                <a:cubicBezTo>
                  <a:pt x="1563" y="1459"/>
                  <a:pt x="1563" y="1459"/>
                  <a:pt x="1563" y="1459"/>
                </a:cubicBezTo>
                <a:cubicBezTo>
                  <a:pt x="1563" y="1407"/>
                  <a:pt x="1563" y="1407"/>
                  <a:pt x="1563" y="1407"/>
                </a:cubicBezTo>
                <a:cubicBezTo>
                  <a:pt x="1531" y="1393"/>
                  <a:pt x="1531" y="1393"/>
                  <a:pt x="1531" y="1393"/>
                </a:cubicBezTo>
                <a:cubicBezTo>
                  <a:pt x="1531" y="1408"/>
                  <a:pt x="1531" y="1408"/>
                  <a:pt x="1531" y="1408"/>
                </a:cubicBezTo>
                <a:cubicBezTo>
                  <a:pt x="1524" y="1408"/>
                  <a:pt x="1524" y="1408"/>
                  <a:pt x="1524" y="1408"/>
                </a:cubicBezTo>
                <a:cubicBezTo>
                  <a:pt x="1524" y="1331"/>
                  <a:pt x="1524" y="1331"/>
                  <a:pt x="1524" y="1331"/>
                </a:cubicBezTo>
                <a:cubicBezTo>
                  <a:pt x="1507" y="1331"/>
                  <a:pt x="1507" y="1331"/>
                  <a:pt x="1507" y="1331"/>
                </a:cubicBezTo>
                <a:cubicBezTo>
                  <a:pt x="1507" y="1307"/>
                  <a:pt x="1507" y="1307"/>
                  <a:pt x="1507" y="1307"/>
                </a:cubicBezTo>
                <a:cubicBezTo>
                  <a:pt x="1479" y="1307"/>
                  <a:pt x="1479" y="1307"/>
                  <a:pt x="1479" y="1307"/>
                </a:cubicBezTo>
                <a:cubicBezTo>
                  <a:pt x="1479" y="1281"/>
                  <a:pt x="1479" y="1281"/>
                  <a:pt x="1479" y="1281"/>
                </a:cubicBezTo>
                <a:cubicBezTo>
                  <a:pt x="1465" y="1281"/>
                  <a:pt x="1465" y="1281"/>
                  <a:pt x="1465" y="1281"/>
                </a:cubicBezTo>
                <a:cubicBezTo>
                  <a:pt x="1465" y="1307"/>
                  <a:pt x="1465" y="1307"/>
                  <a:pt x="1465" y="1307"/>
                </a:cubicBezTo>
                <a:cubicBezTo>
                  <a:pt x="1443" y="1307"/>
                  <a:pt x="1443" y="1307"/>
                  <a:pt x="1443" y="1307"/>
                </a:cubicBezTo>
                <a:cubicBezTo>
                  <a:pt x="1443" y="1265"/>
                  <a:pt x="1443" y="1265"/>
                  <a:pt x="1443" y="1265"/>
                </a:cubicBezTo>
                <a:cubicBezTo>
                  <a:pt x="1443" y="1265"/>
                  <a:pt x="1412" y="1232"/>
                  <a:pt x="1389" y="1232"/>
                </a:cubicBezTo>
                <a:cubicBezTo>
                  <a:pt x="1367" y="1232"/>
                  <a:pt x="1337" y="1269"/>
                  <a:pt x="1337" y="1269"/>
                </a:cubicBezTo>
                <a:cubicBezTo>
                  <a:pt x="1337" y="1359"/>
                  <a:pt x="1337" y="1359"/>
                  <a:pt x="1337" y="1359"/>
                </a:cubicBezTo>
                <a:cubicBezTo>
                  <a:pt x="1315" y="1359"/>
                  <a:pt x="1315" y="1359"/>
                  <a:pt x="1315" y="1359"/>
                </a:cubicBezTo>
                <a:cubicBezTo>
                  <a:pt x="1315" y="1417"/>
                  <a:pt x="1315" y="1417"/>
                  <a:pt x="1315" y="1417"/>
                </a:cubicBezTo>
                <a:cubicBezTo>
                  <a:pt x="1275" y="1432"/>
                  <a:pt x="1275" y="1432"/>
                  <a:pt x="1275" y="1432"/>
                </a:cubicBezTo>
                <a:cubicBezTo>
                  <a:pt x="1275" y="1445"/>
                  <a:pt x="1275" y="1445"/>
                  <a:pt x="1275" y="1445"/>
                </a:cubicBezTo>
                <a:cubicBezTo>
                  <a:pt x="1267" y="1445"/>
                  <a:pt x="1267" y="1445"/>
                  <a:pt x="1267" y="1445"/>
                </a:cubicBezTo>
                <a:cubicBezTo>
                  <a:pt x="1267" y="1421"/>
                  <a:pt x="1267" y="1421"/>
                  <a:pt x="1267" y="1421"/>
                </a:cubicBezTo>
                <a:cubicBezTo>
                  <a:pt x="1253" y="1421"/>
                  <a:pt x="1253" y="1421"/>
                  <a:pt x="1253" y="1421"/>
                </a:cubicBezTo>
                <a:cubicBezTo>
                  <a:pt x="1235" y="1395"/>
                  <a:pt x="1235" y="1395"/>
                  <a:pt x="1235" y="1395"/>
                </a:cubicBezTo>
                <a:cubicBezTo>
                  <a:pt x="1213" y="1416"/>
                  <a:pt x="1213" y="1416"/>
                  <a:pt x="1213" y="1416"/>
                </a:cubicBezTo>
                <a:cubicBezTo>
                  <a:pt x="1213" y="1399"/>
                  <a:pt x="1213" y="1399"/>
                  <a:pt x="1213" y="1399"/>
                </a:cubicBezTo>
                <a:cubicBezTo>
                  <a:pt x="1200" y="1399"/>
                  <a:pt x="1200" y="1399"/>
                  <a:pt x="1200" y="1399"/>
                </a:cubicBezTo>
                <a:cubicBezTo>
                  <a:pt x="1200" y="1409"/>
                  <a:pt x="1200" y="1409"/>
                  <a:pt x="1200" y="1409"/>
                </a:cubicBezTo>
                <a:cubicBezTo>
                  <a:pt x="1189" y="1409"/>
                  <a:pt x="1189" y="1409"/>
                  <a:pt x="1189" y="1409"/>
                </a:cubicBezTo>
                <a:cubicBezTo>
                  <a:pt x="1189" y="1392"/>
                  <a:pt x="1189" y="1392"/>
                  <a:pt x="1189" y="1392"/>
                </a:cubicBezTo>
                <a:cubicBezTo>
                  <a:pt x="1164" y="1392"/>
                  <a:pt x="1164" y="1392"/>
                  <a:pt x="1164" y="1392"/>
                </a:cubicBezTo>
                <a:cubicBezTo>
                  <a:pt x="1164" y="1401"/>
                  <a:pt x="1164" y="1401"/>
                  <a:pt x="1164" y="1401"/>
                </a:cubicBezTo>
                <a:cubicBezTo>
                  <a:pt x="1155" y="1401"/>
                  <a:pt x="1155" y="1401"/>
                  <a:pt x="1155" y="1401"/>
                </a:cubicBezTo>
                <a:cubicBezTo>
                  <a:pt x="1155" y="1417"/>
                  <a:pt x="1155" y="1417"/>
                  <a:pt x="1155" y="1417"/>
                </a:cubicBezTo>
                <a:cubicBezTo>
                  <a:pt x="1133" y="1417"/>
                  <a:pt x="1133" y="1417"/>
                  <a:pt x="1133" y="1417"/>
                </a:cubicBezTo>
                <a:cubicBezTo>
                  <a:pt x="1133" y="1397"/>
                  <a:pt x="1133" y="1397"/>
                  <a:pt x="1133" y="1397"/>
                </a:cubicBezTo>
                <a:cubicBezTo>
                  <a:pt x="1123" y="1397"/>
                  <a:pt x="1123" y="1397"/>
                  <a:pt x="1123" y="1397"/>
                </a:cubicBezTo>
                <a:cubicBezTo>
                  <a:pt x="1112" y="1385"/>
                  <a:pt x="1112" y="1385"/>
                  <a:pt x="1112" y="1385"/>
                </a:cubicBezTo>
                <a:cubicBezTo>
                  <a:pt x="1104" y="1391"/>
                  <a:pt x="1104" y="1391"/>
                  <a:pt x="1104" y="1391"/>
                </a:cubicBezTo>
                <a:cubicBezTo>
                  <a:pt x="1095" y="1391"/>
                  <a:pt x="1095" y="1391"/>
                  <a:pt x="1095" y="1391"/>
                </a:cubicBezTo>
                <a:cubicBezTo>
                  <a:pt x="1076" y="1368"/>
                  <a:pt x="1076" y="1368"/>
                  <a:pt x="1076" y="1368"/>
                </a:cubicBezTo>
                <a:cubicBezTo>
                  <a:pt x="1063" y="1389"/>
                  <a:pt x="1063" y="1389"/>
                  <a:pt x="1063" y="1389"/>
                </a:cubicBezTo>
                <a:cubicBezTo>
                  <a:pt x="1051" y="1389"/>
                  <a:pt x="1051" y="1389"/>
                  <a:pt x="1051" y="1389"/>
                </a:cubicBezTo>
                <a:cubicBezTo>
                  <a:pt x="1051" y="1371"/>
                  <a:pt x="1051" y="1371"/>
                  <a:pt x="1051" y="1371"/>
                </a:cubicBezTo>
                <a:cubicBezTo>
                  <a:pt x="1031" y="1371"/>
                  <a:pt x="1031" y="1371"/>
                  <a:pt x="1031" y="1371"/>
                </a:cubicBezTo>
                <a:cubicBezTo>
                  <a:pt x="1031" y="1391"/>
                  <a:pt x="1031" y="1391"/>
                  <a:pt x="1031" y="1391"/>
                </a:cubicBezTo>
                <a:cubicBezTo>
                  <a:pt x="1020" y="1403"/>
                  <a:pt x="1020" y="1403"/>
                  <a:pt x="1020" y="1403"/>
                </a:cubicBezTo>
                <a:cubicBezTo>
                  <a:pt x="1012" y="1403"/>
                  <a:pt x="1012" y="1403"/>
                  <a:pt x="1012" y="1403"/>
                </a:cubicBezTo>
                <a:cubicBezTo>
                  <a:pt x="1012" y="1376"/>
                  <a:pt x="1012" y="1376"/>
                  <a:pt x="1012" y="1376"/>
                </a:cubicBezTo>
                <a:cubicBezTo>
                  <a:pt x="999" y="1376"/>
                  <a:pt x="999" y="1376"/>
                  <a:pt x="999" y="1376"/>
                </a:cubicBezTo>
                <a:cubicBezTo>
                  <a:pt x="988" y="1359"/>
                  <a:pt x="988" y="1359"/>
                  <a:pt x="988" y="1359"/>
                </a:cubicBezTo>
                <a:cubicBezTo>
                  <a:pt x="969" y="1381"/>
                  <a:pt x="969" y="1381"/>
                  <a:pt x="969" y="1381"/>
                </a:cubicBezTo>
                <a:cubicBezTo>
                  <a:pt x="969" y="1224"/>
                  <a:pt x="969" y="1224"/>
                  <a:pt x="969" y="1224"/>
                </a:cubicBezTo>
                <a:cubicBezTo>
                  <a:pt x="943" y="1224"/>
                  <a:pt x="943" y="1224"/>
                  <a:pt x="943" y="1224"/>
                </a:cubicBezTo>
                <a:cubicBezTo>
                  <a:pt x="943" y="1212"/>
                  <a:pt x="943" y="1212"/>
                  <a:pt x="943" y="1212"/>
                </a:cubicBezTo>
                <a:cubicBezTo>
                  <a:pt x="969" y="1212"/>
                  <a:pt x="969" y="1212"/>
                  <a:pt x="969" y="1212"/>
                </a:cubicBezTo>
                <a:cubicBezTo>
                  <a:pt x="969" y="1204"/>
                  <a:pt x="969" y="1204"/>
                  <a:pt x="969" y="1204"/>
                </a:cubicBezTo>
                <a:cubicBezTo>
                  <a:pt x="847" y="1204"/>
                  <a:pt x="847" y="1204"/>
                  <a:pt x="847" y="1204"/>
                </a:cubicBezTo>
                <a:cubicBezTo>
                  <a:pt x="847" y="1211"/>
                  <a:pt x="847" y="1211"/>
                  <a:pt x="847" y="1211"/>
                </a:cubicBezTo>
                <a:cubicBezTo>
                  <a:pt x="857" y="1211"/>
                  <a:pt x="857" y="1211"/>
                  <a:pt x="857" y="1211"/>
                </a:cubicBezTo>
                <a:cubicBezTo>
                  <a:pt x="857" y="1224"/>
                  <a:pt x="857" y="1224"/>
                  <a:pt x="857" y="1224"/>
                </a:cubicBezTo>
                <a:cubicBezTo>
                  <a:pt x="843" y="1224"/>
                  <a:pt x="843" y="1224"/>
                  <a:pt x="843" y="1224"/>
                </a:cubicBezTo>
                <a:cubicBezTo>
                  <a:pt x="843" y="1375"/>
                  <a:pt x="843" y="1375"/>
                  <a:pt x="843" y="1375"/>
                </a:cubicBezTo>
                <a:cubicBezTo>
                  <a:pt x="828" y="1375"/>
                  <a:pt x="828" y="1375"/>
                  <a:pt x="828" y="1375"/>
                </a:cubicBezTo>
                <a:cubicBezTo>
                  <a:pt x="828" y="1387"/>
                  <a:pt x="828" y="1387"/>
                  <a:pt x="828" y="1387"/>
                </a:cubicBezTo>
                <a:cubicBezTo>
                  <a:pt x="816" y="1387"/>
                  <a:pt x="816" y="1387"/>
                  <a:pt x="816" y="1387"/>
                </a:cubicBezTo>
                <a:cubicBezTo>
                  <a:pt x="816" y="1403"/>
                  <a:pt x="816" y="1403"/>
                  <a:pt x="816" y="1403"/>
                </a:cubicBezTo>
                <a:cubicBezTo>
                  <a:pt x="804" y="1403"/>
                  <a:pt x="804" y="1403"/>
                  <a:pt x="804" y="1403"/>
                </a:cubicBezTo>
                <a:cubicBezTo>
                  <a:pt x="787" y="1393"/>
                  <a:pt x="787" y="1393"/>
                  <a:pt x="787" y="1393"/>
                </a:cubicBezTo>
                <a:cubicBezTo>
                  <a:pt x="787" y="1193"/>
                  <a:pt x="787" y="1193"/>
                  <a:pt x="787" y="1193"/>
                </a:cubicBezTo>
                <a:cubicBezTo>
                  <a:pt x="691" y="1193"/>
                  <a:pt x="691" y="1193"/>
                  <a:pt x="691" y="1193"/>
                </a:cubicBezTo>
                <a:cubicBezTo>
                  <a:pt x="691" y="1427"/>
                  <a:pt x="691" y="1427"/>
                  <a:pt x="691" y="1427"/>
                </a:cubicBezTo>
                <a:cubicBezTo>
                  <a:pt x="664" y="1427"/>
                  <a:pt x="664" y="1427"/>
                  <a:pt x="664" y="1427"/>
                </a:cubicBezTo>
                <a:cubicBezTo>
                  <a:pt x="664" y="1445"/>
                  <a:pt x="664" y="1445"/>
                  <a:pt x="664" y="1445"/>
                </a:cubicBezTo>
                <a:cubicBezTo>
                  <a:pt x="640" y="1445"/>
                  <a:pt x="640" y="1445"/>
                  <a:pt x="640" y="1445"/>
                </a:cubicBezTo>
                <a:cubicBezTo>
                  <a:pt x="640" y="1436"/>
                  <a:pt x="640" y="1436"/>
                  <a:pt x="640" y="1436"/>
                </a:cubicBezTo>
                <a:cubicBezTo>
                  <a:pt x="625" y="1436"/>
                  <a:pt x="625" y="1436"/>
                  <a:pt x="625" y="1436"/>
                </a:cubicBezTo>
                <a:cubicBezTo>
                  <a:pt x="625" y="1237"/>
                  <a:pt x="625" y="1237"/>
                  <a:pt x="625" y="1237"/>
                </a:cubicBezTo>
                <a:cubicBezTo>
                  <a:pt x="601" y="1237"/>
                  <a:pt x="601" y="1237"/>
                  <a:pt x="601" y="1237"/>
                </a:cubicBezTo>
                <a:cubicBezTo>
                  <a:pt x="601" y="1228"/>
                  <a:pt x="601" y="1228"/>
                  <a:pt x="601" y="1228"/>
                </a:cubicBezTo>
                <a:cubicBezTo>
                  <a:pt x="536" y="1228"/>
                  <a:pt x="536" y="1228"/>
                  <a:pt x="536" y="1228"/>
                </a:cubicBezTo>
                <a:cubicBezTo>
                  <a:pt x="536" y="1241"/>
                  <a:pt x="536" y="1241"/>
                  <a:pt x="536" y="1241"/>
                </a:cubicBezTo>
                <a:cubicBezTo>
                  <a:pt x="515" y="1241"/>
                  <a:pt x="515" y="1241"/>
                  <a:pt x="515" y="1241"/>
                </a:cubicBezTo>
                <a:cubicBezTo>
                  <a:pt x="515" y="1227"/>
                  <a:pt x="515" y="1227"/>
                  <a:pt x="515" y="1227"/>
                </a:cubicBezTo>
                <a:cubicBezTo>
                  <a:pt x="501" y="1227"/>
                  <a:pt x="501" y="1227"/>
                  <a:pt x="501" y="1227"/>
                </a:cubicBezTo>
                <a:cubicBezTo>
                  <a:pt x="501" y="1227"/>
                  <a:pt x="487" y="1169"/>
                  <a:pt x="456" y="1169"/>
                </a:cubicBezTo>
                <a:cubicBezTo>
                  <a:pt x="425" y="1169"/>
                  <a:pt x="401" y="1224"/>
                  <a:pt x="401" y="1224"/>
                </a:cubicBezTo>
                <a:cubicBezTo>
                  <a:pt x="392" y="1224"/>
                  <a:pt x="392" y="1224"/>
                  <a:pt x="392" y="1224"/>
                </a:cubicBezTo>
                <a:cubicBezTo>
                  <a:pt x="392" y="1243"/>
                  <a:pt x="392" y="1243"/>
                  <a:pt x="392" y="1243"/>
                </a:cubicBezTo>
                <a:cubicBezTo>
                  <a:pt x="373" y="1243"/>
                  <a:pt x="373" y="1243"/>
                  <a:pt x="373" y="1243"/>
                </a:cubicBezTo>
                <a:cubicBezTo>
                  <a:pt x="373" y="1233"/>
                  <a:pt x="373" y="1233"/>
                  <a:pt x="373" y="1233"/>
                </a:cubicBezTo>
                <a:cubicBezTo>
                  <a:pt x="320" y="1233"/>
                  <a:pt x="320" y="1233"/>
                  <a:pt x="320" y="1233"/>
                </a:cubicBezTo>
                <a:cubicBezTo>
                  <a:pt x="320" y="1245"/>
                  <a:pt x="320" y="1245"/>
                  <a:pt x="320" y="1245"/>
                </a:cubicBezTo>
                <a:cubicBezTo>
                  <a:pt x="303" y="1245"/>
                  <a:pt x="303" y="1245"/>
                  <a:pt x="303" y="1245"/>
                </a:cubicBezTo>
                <a:cubicBezTo>
                  <a:pt x="288" y="1257"/>
                  <a:pt x="288" y="1257"/>
                  <a:pt x="288" y="1257"/>
                </a:cubicBezTo>
                <a:cubicBezTo>
                  <a:pt x="288" y="1331"/>
                  <a:pt x="288" y="1331"/>
                  <a:pt x="288" y="1331"/>
                </a:cubicBezTo>
                <a:cubicBezTo>
                  <a:pt x="268" y="1331"/>
                  <a:pt x="268" y="1331"/>
                  <a:pt x="268" y="1331"/>
                </a:cubicBezTo>
                <a:cubicBezTo>
                  <a:pt x="268" y="1373"/>
                  <a:pt x="268" y="1373"/>
                  <a:pt x="268" y="1373"/>
                </a:cubicBezTo>
                <a:cubicBezTo>
                  <a:pt x="252" y="1373"/>
                  <a:pt x="252" y="1373"/>
                  <a:pt x="252" y="1373"/>
                </a:cubicBezTo>
                <a:cubicBezTo>
                  <a:pt x="252" y="1325"/>
                  <a:pt x="252" y="1325"/>
                  <a:pt x="252" y="1325"/>
                </a:cubicBezTo>
                <a:cubicBezTo>
                  <a:pt x="236" y="1325"/>
                  <a:pt x="236" y="1325"/>
                  <a:pt x="236" y="1325"/>
                </a:cubicBezTo>
                <a:cubicBezTo>
                  <a:pt x="236" y="1342"/>
                  <a:pt x="236" y="1342"/>
                  <a:pt x="236" y="1342"/>
                </a:cubicBezTo>
                <a:cubicBezTo>
                  <a:pt x="218" y="1342"/>
                  <a:pt x="218" y="1342"/>
                  <a:pt x="218" y="1342"/>
                </a:cubicBezTo>
                <a:cubicBezTo>
                  <a:pt x="218" y="1331"/>
                  <a:pt x="218" y="1331"/>
                  <a:pt x="218" y="1331"/>
                </a:cubicBezTo>
                <a:cubicBezTo>
                  <a:pt x="195" y="1331"/>
                  <a:pt x="195" y="1331"/>
                  <a:pt x="195" y="1331"/>
                </a:cubicBezTo>
                <a:cubicBezTo>
                  <a:pt x="195" y="1312"/>
                  <a:pt x="195" y="1312"/>
                  <a:pt x="195" y="1312"/>
                </a:cubicBezTo>
                <a:cubicBezTo>
                  <a:pt x="182" y="1299"/>
                  <a:pt x="182" y="1299"/>
                  <a:pt x="182" y="1299"/>
                </a:cubicBezTo>
                <a:cubicBezTo>
                  <a:pt x="168" y="1283"/>
                  <a:pt x="168" y="1283"/>
                  <a:pt x="168" y="1283"/>
                </a:cubicBezTo>
                <a:cubicBezTo>
                  <a:pt x="134" y="1283"/>
                  <a:pt x="134" y="1283"/>
                  <a:pt x="134" y="1283"/>
                </a:cubicBezTo>
                <a:cubicBezTo>
                  <a:pt x="102" y="1307"/>
                  <a:pt x="102" y="1307"/>
                  <a:pt x="102" y="1307"/>
                </a:cubicBezTo>
                <a:cubicBezTo>
                  <a:pt x="78" y="1307"/>
                  <a:pt x="78" y="1307"/>
                  <a:pt x="78" y="1307"/>
                </a:cubicBezTo>
                <a:cubicBezTo>
                  <a:pt x="78" y="1401"/>
                  <a:pt x="78" y="1401"/>
                  <a:pt x="78" y="1401"/>
                </a:cubicBezTo>
                <a:cubicBezTo>
                  <a:pt x="56" y="1357"/>
                  <a:pt x="56" y="1357"/>
                  <a:pt x="56" y="1357"/>
                </a:cubicBezTo>
                <a:cubicBezTo>
                  <a:pt x="56" y="1333"/>
                  <a:pt x="56" y="1333"/>
                  <a:pt x="56" y="1333"/>
                </a:cubicBezTo>
                <a:cubicBezTo>
                  <a:pt x="0" y="1333"/>
                  <a:pt x="0" y="1333"/>
                  <a:pt x="0" y="1333"/>
                </a:cubicBezTo>
                <a:cubicBezTo>
                  <a:pt x="0" y="1542"/>
                  <a:pt x="0" y="1542"/>
                  <a:pt x="0" y="1542"/>
                </a:cubicBezTo>
                <a:cubicBezTo>
                  <a:pt x="8000" y="1542"/>
                  <a:pt x="8000" y="1542"/>
                  <a:pt x="8000" y="1542"/>
                </a:cubicBezTo>
                <a:cubicBezTo>
                  <a:pt x="8000" y="1472"/>
                  <a:pt x="8000" y="1472"/>
                  <a:pt x="8000" y="1472"/>
                </a:cubicBezTo>
                <a:lnTo>
                  <a:pt x="7978" y="1472"/>
                </a:lnTo>
                <a:close/>
                <a:moveTo>
                  <a:pt x="3369" y="1457"/>
                </a:moveTo>
                <a:cubicBezTo>
                  <a:pt x="3356" y="1457"/>
                  <a:pt x="3356" y="1457"/>
                  <a:pt x="3356" y="1457"/>
                </a:cubicBezTo>
                <a:cubicBezTo>
                  <a:pt x="3356" y="1408"/>
                  <a:pt x="3356" y="1408"/>
                  <a:pt x="3356" y="1408"/>
                </a:cubicBezTo>
                <a:cubicBezTo>
                  <a:pt x="3369" y="1408"/>
                  <a:pt x="3369" y="1408"/>
                  <a:pt x="3369" y="1408"/>
                </a:cubicBezTo>
                <a:lnTo>
                  <a:pt x="3369" y="1457"/>
                </a:lnTo>
                <a:close/>
                <a:moveTo>
                  <a:pt x="3369" y="1389"/>
                </a:moveTo>
                <a:cubicBezTo>
                  <a:pt x="3356" y="1389"/>
                  <a:pt x="3356" y="1389"/>
                  <a:pt x="3356" y="1389"/>
                </a:cubicBezTo>
                <a:cubicBezTo>
                  <a:pt x="3356" y="1335"/>
                  <a:pt x="3356" y="1335"/>
                  <a:pt x="3356" y="1335"/>
                </a:cubicBezTo>
                <a:cubicBezTo>
                  <a:pt x="3369" y="1335"/>
                  <a:pt x="3369" y="1335"/>
                  <a:pt x="3369" y="1335"/>
                </a:cubicBezTo>
                <a:lnTo>
                  <a:pt x="3369" y="1389"/>
                </a:lnTo>
                <a:close/>
                <a:moveTo>
                  <a:pt x="3356" y="1141"/>
                </a:moveTo>
                <a:cubicBezTo>
                  <a:pt x="3356" y="1098"/>
                  <a:pt x="3356" y="1098"/>
                  <a:pt x="3356" y="1098"/>
                </a:cubicBezTo>
                <a:cubicBezTo>
                  <a:pt x="3356" y="1098"/>
                  <a:pt x="3373" y="1103"/>
                  <a:pt x="3373" y="1119"/>
                </a:cubicBezTo>
                <a:cubicBezTo>
                  <a:pt x="3373" y="1136"/>
                  <a:pt x="3356" y="1141"/>
                  <a:pt x="3356" y="1141"/>
                </a:cubicBezTo>
                <a:close/>
                <a:moveTo>
                  <a:pt x="3356" y="1060"/>
                </a:moveTo>
                <a:cubicBezTo>
                  <a:pt x="3356" y="1024"/>
                  <a:pt x="3356" y="1024"/>
                  <a:pt x="3356" y="1024"/>
                </a:cubicBezTo>
                <a:cubicBezTo>
                  <a:pt x="3356" y="1024"/>
                  <a:pt x="3373" y="1029"/>
                  <a:pt x="3373" y="1042"/>
                </a:cubicBezTo>
                <a:cubicBezTo>
                  <a:pt x="3373" y="1055"/>
                  <a:pt x="3356" y="1060"/>
                  <a:pt x="3356" y="1060"/>
                </a:cubicBezTo>
                <a:close/>
                <a:moveTo>
                  <a:pt x="3356" y="988"/>
                </a:moveTo>
                <a:cubicBezTo>
                  <a:pt x="3356" y="950"/>
                  <a:pt x="3356" y="950"/>
                  <a:pt x="3356" y="950"/>
                </a:cubicBezTo>
                <a:cubicBezTo>
                  <a:pt x="3356" y="950"/>
                  <a:pt x="3373" y="953"/>
                  <a:pt x="3373" y="969"/>
                </a:cubicBezTo>
                <a:cubicBezTo>
                  <a:pt x="3373" y="985"/>
                  <a:pt x="3356" y="988"/>
                  <a:pt x="3356" y="988"/>
                </a:cubicBezTo>
                <a:close/>
                <a:moveTo>
                  <a:pt x="3356" y="911"/>
                </a:moveTo>
                <a:cubicBezTo>
                  <a:pt x="3356" y="872"/>
                  <a:pt x="3356" y="872"/>
                  <a:pt x="3356" y="872"/>
                </a:cubicBezTo>
                <a:cubicBezTo>
                  <a:pt x="3356" y="872"/>
                  <a:pt x="3373" y="878"/>
                  <a:pt x="3373" y="891"/>
                </a:cubicBezTo>
                <a:cubicBezTo>
                  <a:pt x="3373" y="905"/>
                  <a:pt x="3356" y="911"/>
                  <a:pt x="3356" y="911"/>
                </a:cubicBezTo>
                <a:close/>
                <a:moveTo>
                  <a:pt x="3356" y="835"/>
                </a:moveTo>
                <a:cubicBezTo>
                  <a:pt x="3356" y="796"/>
                  <a:pt x="3356" y="796"/>
                  <a:pt x="3356" y="796"/>
                </a:cubicBezTo>
                <a:cubicBezTo>
                  <a:pt x="3356" y="796"/>
                  <a:pt x="3373" y="800"/>
                  <a:pt x="3373" y="815"/>
                </a:cubicBezTo>
                <a:cubicBezTo>
                  <a:pt x="3373" y="831"/>
                  <a:pt x="3356" y="835"/>
                  <a:pt x="3356" y="835"/>
                </a:cubicBezTo>
                <a:close/>
                <a:moveTo>
                  <a:pt x="3356" y="756"/>
                </a:moveTo>
                <a:cubicBezTo>
                  <a:pt x="3356" y="718"/>
                  <a:pt x="3356" y="718"/>
                  <a:pt x="3356" y="718"/>
                </a:cubicBezTo>
                <a:cubicBezTo>
                  <a:pt x="3356" y="718"/>
                  <a:pt x="3373" y="720"/>
                  <a:pt x="3373" y="737"/>
                </a:cubicBezTo>
                <a:cubicBezTo>
                  <a:pt x="3373" y="754"/>
                  <a:pt x="3356" y="756"/>
                  <a:pt x="3356" y="756"/>
                </a:cubicBezTo>
                <a:close/>
                <a:moveTo>
                  <a:pt x="5556" y="570"/>
                </a:moveTo>
                <a:cubicBezTo>
                  <a:pt x="5508" y="582"/>
                  <a:pt x="5508" y="582"/>
                  <a:pt x="5508" y="582"/>
                </a:cubicBezTo>
                <a:cubicBezTo>
                  <a:pt x="5490" y="529"/>
                  <a:pt x="5490" y="529"/>
                  <a:pt x="5490" y="529"/>
                </a:cubicBezTo>
                <a:cubicBezTo>
                  <a:pt x="5566" y="508"/>
                  <a:pt x="5566" y="508"/>
                  <a:pt x="5566" y="508"/>
                </a:cubicBezTo>
                <a:lnTo>
                  <a:pt x="5556" y="570"/>
                </a:lnTo>
                <a:close/>
              </a:path>
            </a:pathLst>
          </a:custGeom>
          <a:noFill xmlns:a="http://schemas.openxmlformats.org/drawingml/2006/main"/>
          <a:ln xmlns:a="http://schemas.openxmlformats.org/drawingml/2006/main" w="9525" cmpd="sng">
            <a:solidFill>
              <a:srgbClr val="D1CFBD"/>
            </a:solidFill>
            <a:prstDash val="solid"/>
            <a:headEnd type="none" w="med" len="med"/>
            <a:tailEnd type="none" w="med" len="med"/>
          </a:ln>
        </p:spPr>
        <p:txBody>
          <a:bodyPr xmlns:a="http://schemas.openxmlformats.org/drawingml/2006/main"/>
          <a:lstStyle xmlns:a="http://schemas.openxmlformats.org/drawingml/2006/main"/>
          <a:p xmlns:a="http://schemas.openxmlformats.org/drawingml/2006/main"/>
        </p:txBody>
      </p:sp>
      <p:sp>
        <p:nvSpPr>
          <p:cNvPr id="17" name="矩形 1">
            <a:extLst xmlns:a="http://schemas.openxmlformats.org/drawingml/2006/main">
              <a:ext uri="{FF2B5EF4-FFF2-40B4-BE49-F238E27FC236}">
                <a16:creationId xmlns:a16="http://schemas.microsoft.com/office/drawing/2014/main" id="{251831F6-6A9E-49E8-B143-71676AC8B541}"/>
              </a:ext>
            </a:extLst>
          </p:cNvPr>
          <p:cNvSpPr>
            <a:spLocks xmlns:a="http://schemas.openxmlformats.org/drawingml/2006/main" noGrp="1"/>
          </p:cNvSpPr>
          <p:nvPr/>
        </p:nvSpPr>
        <p:spPr>
          <a:xfrm xmlns:a="http://schemas.openxmlformats.org/drawingml/2006/main">
            <a:off x="-20320" y="2692400"/>
            <a:ext cx="12232640" cy="1946910"/>
          </a:xfrm>
          <a:prstGeom xmlns:a="http://schemas.openxmlformats.org/drawingml/2006/main" prst="rect">
            <a:avLst/>
          </a:prstGeom>
          <a:solidFill xmlns:a="http://schemas.openxmlformats.org/drawingml/2006/main">
            <a:srgbClr val="0599D9"/>
          </a:solidFill>
          <a:ln xmlns:a="http://schemas.openxmlformats.org/drawingml/2006/main" w="9525">
            <a:noFill/>
          </a:ln>
        </p:spPr>
        <p:txBody>
          <a:bodyPr xmlns:a="http://schemas.openxmlformats.org/drawingml/2006/main" lIns="121920" tIns="60960" rIns="121920" bIns="60960" anchor="ctr"/>
          <a:lstStyle xmlns:a="http://schemas.openxmlformats.org/drawingml/2006/main">
            <a:lvl1pPr marL="365125" indent="-255905" algn="l">
              <a:spcBef>
                <a:spcPts val="400"/>
              </a:spcBef>
              <a:spcAft>
                <a:spcPct val="0"/>
              </a:spcAft>
              <a:buClr>
                <a:schemeClr val="accent1"/>
              </a:buClr>
              <a:buSzPct val="68000"/>
              <a:buFont typeface="Wingdings 3"/>
              <a:buChar char=""/>
              <a:defRPr sz="2700" kern="1200">
                <a:solidFill>
                  <a:schemeClr val="tx1"/>
                </a:solidFill>
                <a:latin typeface="+mn-lt"/>
                <a:ea typeface="+mn-lt"/>
                <a:cs typeface="+mn-lt"/>
              </a:defRPr>
            </a:lvl1pPr>
            <a:lvl2pPr marL="621030" indent="-228600" algn="l">
              <a:spcBef>
                <a:spcPts val="325"/>
              </a:spcBef>
              <a:spcAft>
                <a:spcPct val="0"/>
              </a:spcAft>
              <a:buClr>
                <a:schemeClr val="accent1"/>
              </a:buClr>
              <a:buFont typeface="Verdana"/>
              <a:buChar char="◦"/>
              <a:defRPr sz="2300" kern="1200">
                <a:solidFill>
                  <a:schemeClr val="tx1"/>
                </a:solidFill>
                <a:latin typeface="+mn-lt"/>
                <a:ea typeface="+mn-lt"/>
                <a:cs typeface="+mn-lt"/>
              </a:defRPr>
            </a:lvl2pPr>
            <a:lvl3pPr marL="859155" indent="-228600" algn="l">
              <a:spcBef>
                <a:spcPts val="350"/>
              </a:spcBef>
              <a:spcAft>
                <a:spcPct val="0"/>
              </a:spcAft>
              <a:buClr>
                <a:schemeClr val="accent2"/>
              </a:buClr>
              <a:buSzPct val="100000"/>
              <a:buFont typeface="Wingdings 2"/>
              <a:buChar char=""/>
              <a:defRPr sz="2100" kern="1200">
                <a:solidFill>
                  <a:schemeClr val="tx1"/>
                </a:solidFill>
                <a:latin typeface="+mn-lt"/>
                <a:ea typeface="+mn-lt"/>
                <a:cs typeface="+mn-lt"/>
              </a:defRPr>
            </a:lvl3pPr>
            <a:lvl4pPr marL="1143000" indent="-228600" algn="l">
              <a:spcBef>
                <a:spcPts val="350"/>
              </a:spcBef>
              <a:spcAft>
                <a:spcPct val="0"/>
              </a:spcAft>
              <a:buClr>
                <a:schemeClr val="accent2"/>
              </a:buClr>
              <a:buFont typeface="Wingdings 2"/>
              <a:buChar char=""/>
              <a:defRPr sz="1900" kern="1200">
                <a:solidFill>
                  <a:schemeClr val="tx1"/>
                </a:solidFill>
                <a:latin typeface="+mn-lt"/>
                <a:ea typeface="+mn-lt"/>
                <a:cs typeface="+mn-lt"/>
              </a:defRPr>
            </a:lvl4pPr>
            <a:lvl5pPr marL="1371600" indent="-228600" algn="l">
              <a:spcBef>
                <a:spcPts val="350"/>
              </a:spcBef>
              <a:spcAft>
                <a:spcPct val="0"/>
              </a:spcAft>
              <a:buClr>
                <a:schemeClr val="accent2"/>
              </a:buClr>
              <a:buFont typeface="Wingdings 2"/>
              <a:buChar char=""/>
              <a:defRPr sz="2000" kern="1200">
                <a:solidFill>
                  <a:schemeClr val="tx1"/>
                </a:solidFill>
                <a:latin typeface="+mn-lt"/>
                <a:ea typeface="+mn-lt"/>
                <a:cs typeface="+mn-lt"/>
              </a:defRPr>
            </a:lvl5pPr>
          </a:lstStyle>
          <a:p xmlns:a="http://schemas.openxmlformats.org/drawingml/2006/main">
            <a:pPr marL="0" lvl="0" indent="0" algn="ctr">
              <a:lnSpc>
                <a:spcPct val="120000"/>
              </a:lnSpc>
              <a:spcBef>
                <a:spcPct val="0"/>
              </a:spcBef>
              <a:buClrTx/>
              <a:buSzTx/>
              <a:buNone/>
            </a:pPr>
            <a:r>
              <a:rPr sz="4200" b="1">
                <a:ln w="11430"/>
                <a:solidFill>
                  <a:prstClr val="white"/>
                </a:solidFill>
                <a:latin typeface="微软雅黑"/>
                <a:ea typeface="微软雅黑"/>
                <a:cs typeface="微软雅黑"/>
              </a:rPr>
              <a:t>汇报完毕！</a:t>
            </a:r>
          </a:p>
        </p:txBody>
      </p:sp>
      <p:sp>
        <p:nvSpPr>
          <p:cNvPr id="18" name="直接连接符 24">
            <a:extLst xmlns:a="http://schemas.openxmlformats.org/drawingml/2006/main">
              <a:ext uri="{FF2B5EF4-FFF2-40B4-BE49-F238E27FC236}">
                <a16:creationId xmlns:a16="http://schemas.microsoft.com/office/drawing/2014/main" id="{263ED182-1534-4885-BF43-8734A0588DE1}"/>
              </a:ext>
            </a:extLst>
          </p:cNvPr>
          <p:cNvSpPr>
            <a:spLocks xmlns:a="http://schemas.openxmlformats.org/drawingml/2006/main" noGrp="1"/>
          </p:cNvSpPr>
          <p:nvPr/>
        </p:nvSpPr>
        <p:spPr>
          <a:xfrm xmlns:a="http://schemas.openxmlformats.org/drawingml/2006/main">
            <a:off x="6985" y="5078730"/>
            <a:ext cx="12178665" cy="1270"/>
          </a:xfrm>
          <a:prstGeom xmlns:a="http://schemas.openxmlformats.org/drawingml/2006/main" prst="line">
            <a:avLst/>
          </a:prstGeom>
          <a:ln xmlns:a="http://schemas.openxmlformats.org/drawingml/2006/main" w="19050" cmpd="sng">
            <a:solidFill>
              <a:srgbClr val="28A9D6"/>
            </a:solidFill>
            <a:prstDash val="solid"/>
            <a:headEnd type="none" w="med" len="med"/>
            <a:tailEnd type="none" w="med" len="med"/>
          </a:ln>
        </p:spPr>
      </p:sp>
      <p:sp>
        <p:nvSpPr>
          <p:cNvPr id="8" name="直接连接符 27">
            <a:extLst xmlns:a="http://schemas.openxmlformats.org/drawingml/2006/main">
              <a:ext uri="{FF2B5EF4-FFF2-40B4-BE49-F238E27FC236}">
                <a16:creationId xmlns:a16="http://schemas.microsoft.com/office/drawing/2014/main" id="{8452B1D8-811E-452F-B1F1-733AAB154A49}"/>
              </a:ext>
            </a:extLst>
          </p:cNvPr>
          <p:cNvSpPr>
            <a:spLocks xmlns:a="http://schemas.openxmlformats.org/drawingml/2006/main" noGrp="1"/>
          </p:cNvSpPr>
          <p:nvPr/>
        </p:nvSpPr>
        <p:spPr>
          <a:xfrm xmlns:a="http://schemas.openxmlformats.org/drawingml/2006/main" rot="0" flipH="0" flipV="0">
            <a:off x="6986" y="5490210"/>
            <a:ext cx="4514848" cy="1267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9" name="直接连接符 29">
            <a:extLst xmlns:a="http://schemas.openxmlformats.org/drawingml/2006/main">
              <a:ext uri="{FF2B5EF4-FFF2-40B4-BE49-F238E27FC236}">
                <a16:creationId xmlns:a16="http://schemas.microsoft.com/office/drawing/2014/main" id="{127EF29D-666A-41AD-AA92-E669BF6AEA37}"/>
              </a:ext>
            </a:extLst>
          </p:cNvPr>
          <p:cNvSpPr>
            <a:spLocks xmlns:a="http://schemas.openxmlformats.org/drawingml/2006/main" noGrp="1"/>
          </p:cNvSpPr>
          <p:nvPr/>
        </p:nvSpPr>
        <p:spPr>
          <a:xfrm xmlns:a="http://schemas.openxmlformats.org/drawingml/2006/main" rot="0" flipH="0" flipV="0">
            <a:off x="6985" y="5555154"/>
            <a:ext cx="4514850" cy="1267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0" name="直接连接符 31">
            <a:extLst xmlns:a="http://schemas.openxmlformats.org/drawingml/2006/main">
              <a:ext uri="{FF2B5EF4-FFF2-40B4-BE49-F238E27FC236}">
                <a16:creationId xmlns:a16="http://schemas.microsoft.com/office/drawing/2014/main" id="{648D1922-8B1D-4875-A5E4-C5CA45392BCB}"/>
              </a:ext>
            </a:extLst>
          </p:cNvPr>
          <p:cNvSpPr>
            <a:spLocks xmlns:a="http://schemas.openxmlformats.org/drawingml/2006/main" noGrp="1"/>
          </p:cNvSpPr>
          <p:nvPr/>
        </p:nvSpPr>
        <p:spPr>
          <a:xfrm xmlns:a="http://schemas.openxmlformats.org/drawingml/2006/main" rot="0" flipH="0" flipV="0">
            <a:off x="6985" y="5621683"/>
            <a:ext cx="4514850" cy="1267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2" name="直接连接符 39">
            <a:extLst xmlns:a="http://schemas.openxmlformats.org/drawingml/2006/main">
              <a:ext uri="{FF2B5EF4-FFF2-40B4-BE49-F238E27FC236}">
                <a16:creationId xmlns:a16="http://schemas.microsoft.com/office/drawing/2014/main" id="{13867F86-A18B-4D46-954A-C45FF27413FF}"/>
              </a:ext>
            </a:extLst>
          </p:cNvPr>
          <p:cNvSpPr>
            <a:spLocks xmlns:a="http://schemas.openxmlformats.org/drawingml/2006/main" noGrp="1"/>
          </p:cNvSpPr>
          <p:nvPr/>
        </p:nvSpPr>
        <p:spPr>
          <a:xfrm xmlns:a="http://schemas.openxmlformats.org/drawingml/2006/main" rot="0" flipH="0" flipV="0">
            <a:off x="7590155" y="5501005"/>
            <a:ext cx="4595495" cy="1306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3" name="直接连接符 40">
            <a:extLst xmlns:a="http://schemas.openxmlformats.org/drawingml/2006/main">
              <a:ext uri="{FF2B5EF4-FFF2-40B4-BE49-F238E27FC236}">
                <a16:creationId xmlns:a16="http://schemas.microsoft.com/office/drawing/2014/main" id="{0B363DED-3C5D-4716-9D56-7464EDD762E1}"/>
              </a:ext>
            </a:extLst>
          </p:cNvPr>
          <p:cNvSpPr>
            <a:spLocks xmlns:a="http://schemas.openxmlformats.org/drawingml/2006/main" noGrp="1"/>
          </p:cNvSpPr>
          <p:nvPr/>
        </p:nvSpPr>
        <p:spPr>
          <a:xfrm xmlns:a="http://schemas.openxmlformats.org/drawingml/2006/main" rot="0" flipH="0" flipV="0">
            <a:off x="7590155" y="5567952"/>
            <a:ext cx="4595495" cy="13062"/>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sp>
        <p:nvSpPr>
          <p:cNvPr id="14" name="直接连接符 41">
            <a:extLst xmlns:a="http://schemas.openxmlformats.org/drawingml/2006/main">
              <a:ext uri="{FF2B5EF4-FFF2-40B4-BE49-F238E27FC236}">
                <a16:creationId xmlns:a16="http://schemas.microsoft.com/office/drawing/2014/main" id="{E03F3A17-BE7D-4E09-9851-D3AAF1747272}"/>
              </a:ext>
            </a:extLst>
          </p:cNvPr>
          <p:cNvSpPr>
            <a:spLocks xmlns:a="http://schemas.openxmlformats.org/drawingml/2006/main" noGrp="1"/>
          </p:cNvSpPr>
          <p:nvPr/>
        </p:nvSpPr>
        <p:spPr>
          <a:xfrm xmlns:a="http://schemas.openxmlformats.org/drawingml/2006/main" rot="0" flipH="0" flipV="1">
            <a:off x="7590155" y="5649595"/>
            <a:ext cx="4595495" cy="0"/>
          </a:xfrm>
          <a:prstGeom xmlns:a="http://schemas.openxmlformats.org/drawingml/2006/main" prst="line">
            <a:avLst/>
          </a:prstGeom>
          <a:ln xmlns:a="http://schemas.openxmlformats.org/drawingml/2006/main" w="3175" cmpd="sng">
            <a:solidFill>
              <a:srgbClr val="28A9D6"/>
            </a:solidFill>
            <a:prstDash val="solid"/>
            <a:headEnd type="none" w="med" len="med"/>
            <a:tailEnd type="none" w="med" len="med"/>
          </a:ln>
        </p:spPr>
      </p:sp>
      <p:pic>
        <p:nvPicPr>
          <p:cNvPr id="29" name="图片 5"/>
          <p:cNvPicPr>
            <a:picLocks xmlns:a="http://schemas.openxmlformats.org/drawingml/2006/main" noChangeAspect="1"/>
          </p:cNvPicPr>
          <p:nvPr/>
        </p:nvPicPr>
        <p:blipFill>
          <a:blip xmlns:r="http://schemas.openxmlformats.org/officeDocument/2006/relationships" xmlns:a="http://schemas.openxmlformats.org/drawingml/2006/main" r:embed="R3799ae27c9a14f25"/>
          <a:stretch xmlns:a="http://schemas.openxmlformats.org/drawingml/2006/main">
            <a:fillRect l="0" t="0" r="0" b="0"/>
          </a:stretch>
        </p:blipFill>
        <p:spPr>
          <a:xfrm xmlns:a="http://schemas.openxmlformats.org/drawingml/2006/main">
            <a:off x="4513580" y="5448300"/>
            <a:ext cx="3044190" cy="294640"/>
          </a:xfrm>
          <a:prstGeom xmlns:a="http://schemas.openxmlformats.org/drawingml/2006/main" prst="rect">
            <a:avLst/>
          </a:prstGeom>
        </p:spPr>
      </p:pic>
    </p:spTree>
    <p:extLst>
      <p:ext uri="{BB962C8B-B14F-4D97-AF65-F5344CB8AC3E}">
        <p14:creationId xmlns:p14="http://schemas.microsoft.com/office/powerpoint/2010/main" val="1663911269"/>
      </p:ext>
    </p:extLst>
  </p:cSld>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2026-07-25T08:54:35.6300000Z</dcterms:created>
  <dcterms:modified xsi:type="dcterms:W3CDTF">2026-07-25T08:54:35.6300000Z</dcterms:modified>
</coreProperties>
</file>