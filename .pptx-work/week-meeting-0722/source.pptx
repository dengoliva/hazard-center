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276" r:id="rId3"/>
    <p:sldId id="413" r:id="rId5"/>
    <p:sldId id="424" r:id="rId6"/>
    <p:sldId id="432" r:id="rId7"/>
    <p:sldId id="259" r:id="rId8"/>
    <p:sldId id="261" r:id="rId9"/>
    <p:sldId id="262" r:id="rId10"/>
    <p:sldId id="393" r:id="rId11"/>
    <p:sldId id="394" r:id="rId12"/>
    <p:sldId id="337" r:id="rId13"/>
    <p:sldId id="390" r:id="rId14"/>
    <p:sldId id="360" r:id="rId15"/>
    <p:sldId id="298" r:id="rId16"/>
    <p:sldId id="266" r:id="rId17"/>
    <p:sldId id="437" r:id="rId18"/>
    <p:sldId id="436" r:id="rId19"/>
    <p:sldId id="270" r:id="rId20"/>
    <p:sldId id="400" r:id="rId21"/>
    <p:sldId id="404" r:id="rId22"/>
    <p:sldId id="430" r:id="rId23"/>
    <p:sldId id="434" r:id="rId24"/>
    <p:sldId id="399" r:id="rId25"/>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59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45" clrIdx="0"/>
  <p:cmAuthor id="1" name="吕 孝岩" initials="吕" lastIdx="1" clrIdx="0"/>
  <p:cmAuthor id="2" name="aihua chn" initials="ac" lastIdx="1" clrIdx="1"/>
  <p:cmAuthor id="3" name="吴 宜兴" initials="吴" lastIdx="1" clrIdx="2"/>
  <p:cmAuthor id="4" name="CSCEC2B" initials="C" lastIdx="1" clrIdx="3"/>
  <p:cmAuthor id="5" name="p153127" initials="p" lastIdx="1" clrIdx="3"/>
  <p:cmAuthor id="6" name="SuYouWu" initials="S" lastIdx="1" clrIdx="5"/>
  <p:cmAuthor id="7" name="Wu Yong Hui 武永辉" initials="WYH武" lastIdx="2" clrIdx="7"/>
  <p:cmAuthor id="8" name="Wu Le Hu 吴乐虎" initials="WLH吴" lastIdx="3" clrIdx="8"/>
  <p:cmAuthor id="9" name="Hu Yi Long 胡艺龙" initials="HYL胡" lastIdx="1" clrIdx="9"/>
  <p:cmAuthor id="10" name="张 文峰" initials="张" lastIdx="1" clrIdx="10"/>
  <p:cmAuthor id="11" name="P233640" initials="P" lastIdx="2" clrIdx="10"/>
  <p:cmAuthor id="12" name="刘鑫华" initials="刘" lastIdx="1" clrIdx="11"/>
  <p:cmAuthor id="13" name="Wang Jun 王俊(工程公司-项目管理部)" initials="WJ王" lastIdx="1" clrIdx="12"/>
  <p:cmAuthor id="14" name="P257128" initials="P" lastIdx="8" clrIdx="13"/>
  <p:cmAuthor id="75" name="作者" initials="A" lastIdx="0" clrIdx="24"/>
  <p:cmAuthor id="76" name="lenovo" initials="l" lastIdx="1" clrIdx="25"/>
  <p:cmAuthor id="77" name="86152" initials="8" lastIdx="6" clrIdx="26"/>
  <p:cmAuthor id="16" name="P191128" initials="P" lastIdx="1" clrIdx="15"/>
  <p:cmAuthor id="15" name="p145468" initials="p" lastIdx="1" clrIdx="14"/>
  <p:cmAuthor id="18" name="ONCE" initials="ONCE" lastIdx="5" clrIdx="17"/>
  <p:cmAuthor id="21" name="p631611" initials="p" lastIdx="2" clrIdx="20"/>
  <p:cmAuthor id="20" name="未知用户1" initials="未" lastIdx="2" clrIdx="13"/>
  <p:cmAuthor id="22" name="p104782" initials="p" lastIdx="59" clrIdx="19"/>
  <p:cmAuthor id="23" name="未知用户3" initials="未" lastIdx="8" clrIdx="22"/>
  <p:cmAuthor id="24" name="Han Yu Chun 韩玉春" initials="H" lastIdx="3" clrIdx="21"/>
  <p:cmAuthor id="25" name="张帮钧_qE7fFZbq" initials="张" lastIdx="0" clrIdx="0"/>
  <p:cmAuthor id="26" name="P104774" initials="P" lastIdx="1" clrIdx="24"/>
  <p:cmAuthor id="27" name="10295142" initials="1" lastIdx="1" clrIdx="26"/>
  <p:cmAuthor id="28" name="Hou Yingfeng" initials="H" lastIdx="10" clrIdx="23"/>
  <p:cmAuthor id="30" name="10056791" initials="ZTE" lastIdx="1" clrIdx="29"/>
  <p:cmAuthor id="31" name="Author" initials="A" lastIdx="0" clrIdx="30"/>
  <p:cmAuthor id="32" name="10033224" initials="1" lastIdx="1" clrIdx="31"/>
  <p:cmAuthor id="33" name="610007" initials="6" lastIdx="0" clrIdx="32"/>
  <p:cmAuthor id="36" name="关全全10258021" initials="关全全10258021" lastIdx="1" clrIdx="36"/>
  <p:cmAuthor id="29" name="未知的使用者20" initials="未" lastIdx="1" clrIdx="0"/>
  <p:cmAuthor id="34" name="未知的使用者18" initials="未" lastIdx="1" clrIdx="0"/>
  <p:cmAuthor id="35" name="未知的使用者15" initials="未" lastIdx="1" clrIdx="0"/>
  <p:cmAuthor id="37" name="Deanna Schuler (Bookey Consulting)" initials="D" lastIdx="2" clrIdx="0"/>
  <p:cmAuthor id="38" name="Wenwen" initials="W" lastIdx="1" clrIdx="1"/>
  <p:cmAuthor id="39" name="LiuHui" initials="L" lastIdx="1" clrIdx="0"/>
  <p:cmAuthor id="40" name="P1063cindychen" initials="P" lastIdx="6" clrIdx="0"/>
  <p:cmAuthor id="41" name="AbuSina" initials="A" lastIdx="2" clrIdx="0"/>
  <p:cmAuthor id="43" name="廖麗華" initials="廖" lastIdx="1" clrIdx="0"/>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8" name="未知的使用者7" initials="未" lastIdx="1" clrIdx="0"/>
  <p:cmAuthor id="49" name="未知的使用者8" initials="未" lastIdx="1" clrIdx="0"/>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56" name="未知的使用者22" initials="未" lastIdx="3" clrIdx="1"/>
  <p:cmAuthor id="57" name="未知的使用者23" initials="未" lastIdx="1" clrIdx="1"/>
  <p:cmAuthor id="210492765" name="施普希（菜菜）" initials="施" lastIdx="0" clrIdx="0"/>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8" name="未知的使用者31" initials="未" lastIdx="1" clrIdx="0"/>
  <p:cmAuthor id="79" name="未知的使用者32" initials="未" lastIdx="1" clrIdx="0"/>
  <p:cmAuthor id="80" name="未知的使用者51" initials="未" lastIdx="10" clrIdx="0"/>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Windows 用户" initials="W" lastIdx="1" clrIdx="0"/>
  <p:cmAuthor id="108" name="未知用户56" initials="未" lastIdx="1" clrIdx="0"/>
  <p:cmAuthor id="109" name="未知用户55" initials="未" lastIdx="1" clrIdx="0"/>
  <p:cmAuthor id="110" name="未知用户51" initials="未" lastIdx="1" clrIdx="1"/>
  <p:cmAuthor id="111" name="LeeElva" initials="L" lastIdx="1" clrIdx="0"/>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8" name="未知用户25" initials="未" lastIdx="1" clrIdx="0"/>
  <p:cmAuthor id="119" name="未知用户28" initials="未" lastIdx="5" clrIdx="1"/>
  <p:cmAuthor id="120" name="未知用户27" initials="未" lastIdx="1" clrIdx="1"/>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7" name="未知的使用者125" initials="未" lastIdx="1" clrIdx="0"/>
  <p:cmAuthor id="148" name="未知的使用者118" initials="未" lastIdx="1" clrIdx="0"/>
  <p:cmAuthor id="149" name="未知的使用者126" initials="未" lastIdx="1" clrIdx="0"/>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8535702" name="曾蓓/贝贝" initials="曾" lastIdx="0"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213" name="未知的使用者138" initials="未" lastIdx="10" clrIdx="0"/>
  <p:cmAuthor id="214" name="未知的使用者139" initials="未" lastIdx="1" clrIdx="0"/>
  <p:cmAuthor id="215" name="未知的使用者140" initials="未" lastIdx="1" clrIdx="1"/>
  <p:cmAuthor id="216" name="未知的使用者197" initials="未" lastIdx="8" clrIdx="0"/>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26" initials="未" lastIdx="1" clrIdx="0"/>
  <p:cmAuthor id="273" name="未知用户23" initials="未" lastIdx="1" clrIdx="0"/>
  <p:cmAuthor id="274" name="未知用户29" initials="未" lastIdx="1" clrIdx="0"/>
  <p:cmAuthor id="275" name="未知用户30" initials="未" lastIdx="2" clrIdx="0"/>
  <p:cmAuthor id="276" name="未知用户31" initials="未" lastIdx="1" clrIdx="1"/>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P627837" initials="P" lastIdx="2" clrIdx="284"/>
  <p:cmAuthor id="2000" name="孙逸民_MFruayeE" initials="authorId_596620876" lastIdx="0" clrIdx="0"/>
  <p:cmAuthor id="210492766" name="Sun Jian 孙建(工程公司-惠州项目部)" initials="SJ孙" lastIdx="1" clrIdx="285"/>
  <p:cmAuthor id="286" name="微软用户" initials="微" lastIdx="0" clrIdx="0"/>
  <p:cmAuthor id="288" name="Sun Guo Qiang 孙国强(阳江公司-运行二部)" initials="S" lastIdx="1" clrIdx="0"/>
  <p:cmAuthor id="290" name="程晓真" initials="程" lastIdx="1" clrIdx="289"/>
  <p:cmAuthor id="291" name="王希良_EBR3QVrM" initials="王" lastIdx="0" clrIdx="0"/>
  <p:cmAuthor id="19" name="未知用户2" initials="未知用户2" lastIdx="7" clrIdx="14"/>
  <p:cmAuthor id="210492767" name="P104706" initials="LK廖" lastIdx="1" clrIdx="288"/>
  <p:cmAuthor id="2001" name="P261167" initials="P" lastIdx="1" clrIdx="25"/>
  <p:cmAuthor id="287" name="李英豪" initials="李" lastIdx="1" clrIdx="286"/>
  <p:cmAuthor id="394825878" name="刘友三" initials="刘" lastIdx="1" clrIdx="29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B0F0"/>
    <a:srgbClr val="E7F1FB"/>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7A789F1-B653-4B05-9413-55619C3911C9}"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FFFFFF"/>
          </a:solidFill>
        </a:fill>
      </a:tcStyle>
    </a:wholeTbl>
    <a:band2H>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40000"/>
                  <a:lumOff val="60000"/>
                </a:srgbClr>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firstCol>
    <a:lastRow>
      <a:tcTxStyle b="on">
        <a:fontRef idx="none">
          <a:srgbClr val="00B0F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w="9525" cmpd="sng">
              <a:solidFill>
                <a:srgbClr val="00B0F0">
                  <a:lumMod val="40000"/>
                  <a:lumOff val="60000"/>
                </a:srgbClr>
              </a:solidFill>
              <a:prstDash val="solid"/>
            </a:ln>
          </a:insideV>
        </a:tcBdr>
        <a:fill>
          <a:solidFill>
            <a:srgbClr val="00B0F0"/>
          </a:solidFill>
        </a:fill>
      </a:tcStyle>
    </a:firstRow>
  </a:tblStyle>
  <a:tblStyle styleId="{B82968AF-1C86-418F-AAF9-C721EBBA184F}"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FFFFFF"/>
          </a:solidFill>
        </a:fill>
      </a:tcStyle>
    </a:wholeTbl>
    <a:band2H>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40000"/>
                  <a:lumOff val="60000"/>
                </a:srgbClr>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firstCol>
    <a:lastRow>
      <a:tcTxStyle b="on">
        <a:fontRef idx="none">
          <a:srgbClr val="00B0F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w="9525" cmpd="sng">
              <a:solidFill>
                <a:srgbClr val="00B0F0">
                  <a:lumMod val="40000"/>
                  <a:lumOff val="60000"/>
                </a:srgbClr>
              </a:solidFill>
              <a:prstDash val="solid"/>
            </a:ln>
          </a:insideV>
        </a:tcBdr>
        <a:fill>
          <a:solidFill>
            <a:srgbClr val="00B0F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92"/>
        <p:guide pos="359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185.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sz="quarter"/>
          </p:nvPr>
        </p:nvSpPr>
        <p:spPr>
          <a:xfrm>
            <a:off x="656193" y="4268681"/>
            <a:ext cx="5249545" cy="3492557"/>
          </a:xfrm>
          <a:prstGeom prst="rect">
            <a:avLst/>
          </a:prstGeom>
        </p:spPr>
        <p:txBody>
          <a:bodyPr/>
          <a:lstStyle/>
          <a:p>
            <a:endParaRPr lang="zh-CN" altLang="en-US"/>
          </a:p>
        </p:txBody>
      </p:sp>
      <p:sp>
        <p:nvSpPr>
          <p:cNvPr id="5" name="灯片编号占位符 4"/>
          <p:cNvSpPr>
            <a:spLocks noGrp="1"/>
          </p:cNvSpPr>
          <p:nvPr>
            <p:ph type="sldNum" sz="quarter" idx="5"/>
          </p:nvPr>
        </p:nvSpPr>
        <p:spPr/>
        <p:txBody>
          <a:bodyPr/>
          <a:lstStyle/>
          <a:p>
            <a:pPr>
              <a:defRPr/>
            </a:pPr>
            <a:fld id="{B272A985-B801-4B5E-BA1F-FA76545DB4CB}"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8" y="4715909"/>
            <a:ext cx="5438140" cy="4467701"/>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621F41D1-EB0D-4857-8E93-8C1C831E61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3503" y="303690"/>
            <a:ext cx="10972800" cy="562146"/>
          </a:xfrm>
          <a:prstGeom prst="rect">
            <a:avLst/>
          </a:prstGeom>
          <a:effectLst/>
        </p:spPr>
        <p:txBody>
          <a:bodyPr>
            <a:noAutofit/>
          </a:bodyPr>
          <a:lstStyle>
            <a:lvl1pPr>
              <a:defRPr sz="2400" b="0">
                <a:effectLst/>
                <a:latin typeface="微软雅黑" panose="020B0503020204020204" charset="-122"/>
                <a:ea typeface="微软雅黑" panose="020B0503020204020204" charset="-122"/>
                <a:cs typeface="微软雅黑" panose="020B0503020204020204" charset="-122"/>
              </a:defRPr>
            </a:lvl1pPr>
          </a:lstStyle>
          <a:p>
            <a:r>
              <a:rPr lang="zh-CN" altLang="en-US" dirty="0"/>
              <a:t>单击此处编辑母版标题样式</a:t>
            </a:r>
            <a:endParaRPr lang="zh-CN" altLang="en-US" dirty="0"/>
          </a:p>
        </p:txBody>
      </p:sp>
      <p:sp>
        <p:nvSpPr>
          <p:cNvPr id="6" name="日期占位符 1"/>
          <p:cNvSpPr>
            <a:spLocks noGrp="1"/>
          </p:cNvSpPr>
          <p:nvPr>
            <p:ph type="dt" sz="half" idx="10"/>
          </p:nvPr>
        </p:nvSpPr>
        <p:spPr>
          <a:xfrm>
            <a:off x="8969375" y="6408739"/>
            <a:ext cx="2560639" cy="365125"/>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2"/>
          <p:cNvSpPr>
            <a:spLocks noGrp="1"/>
          </p:cNvSpPr>
          <p:nvPr>
            <p:ph type="ftr" sz="quarter" idx="11"/>
          </p:nvPr>
        </p:nvSpPr>
        <p:spPr>
          <a:xfrm>
            <a:off x="5840413" y="6408739"/>
            <a:ext cx="3133725" cy="365125"/>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3"/>
          <p:cNvSpPr>
            <a:spLocks noGrp="1"/>
          </p:cNvSpPr>
          <p:nvPr>
            <p:ph type="sldNum" sz="quarter" idx="12"/>
          </p:nvPr>
        </p:nvSpPr>
        <p:spPr>
          <a:xfrm>
            <a:off x="11530013" y="6408739"/>
            <a:ext cx="487363" cy="365125"/>
          </a:xfrm>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 name="直接连接符 4"/>
          <p:cNvSpPr/>
          <p:nvPr userDrawn="1"/>
        </p:nvSpPr>
        <p:spPr>
          <a:xfrm flipH="1">
            <a:off x="143503" y="6480174"/>
            <a:ext cx="11907208" cy="1"/>
          </a:xfrm>
          <a:prstGeom prst="line">
            <a:avLst/>
          </a:prstGeom>
          <a:ln w="15875" cap="flat" cmpd="sng">
            <a:gradFill>
              <a:gsLst>
                <a:gs pos="0">
                  <a:schemeClr val="accent1">
                    <a:lumMod val="5000"/>
                    <a:lumOff val="95000"/>
                  </a:schemeClr>
                </a:gs>
                <a:gs pos="74000">
                  <a:schemeClr val="accent1">
                    <a:lumMod val="45000"/>
                    <a:lumOff val="55000"/>
                  </a:schemeClr>
                </a:gs>
                <a:gs pos="83000">
                  <a:srgbClr val="41AAD6">
                    <a:alpha val="79000"/>
                  </a:srgbClr>
                </a:gs>
                <a:gs pos="100000">
                  <a:srgbClr val="41AAD6"/>
                </a:gs>
              </a:gsLst>
              <a:lin ang="5400000" scaled="1"/>
            </a:gradFill>
            <a:prstDash val="solid"/>
            <a:bevel/>
            <a:headEnd type="none" w="med" len="med"/>
            <a:tailEnd type="none" w="med" len="med"/>
          </a:ln>
        </p:spPr>
      </p:sp>
      <p:sp>
        <p:nvSpPr>
          <p:cNvPr id="10" name="Freeform 5"/>
          <p:cNvSpPr>
            <a:spLocks noEditPoints="1"/>
          </p:cNvSpPr>
          <p:nvPr userDrawn="1"/>
        </p:nvSpPr>
        <p:spPr>
          <a:xfrm>
            <a:off x="7458076" y="5657851"/>
            <a:ext cx="4252913" cy="822325"/>
          </a:xfrm>
          <a:custGeom>
            <a:avLst/>
            <a:gdLst>
              <a:gd name="txL" fmla="*/ 0 w 8000"/>
              <a:gd name="txT" fmla="*/ 0 h 1542"/>
              <a:gd name="txR" fmla="*/ 8000 w 8000"/>
              <a:gd name="txB" fmla="*/ 1542 h 1542"/>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a:ln w="9525" cap="flat" cmpd="sng">
            <a:solidFill>
              <a:srgbClr val="41AAD6"/>
            </a:solidFill>
            <a:prstDash val="solid"/>
            <a:bevel/>
            <a:headEnd type="none" w="med" len="med"/>
            <a:tailEnd type="none" w="med" len="med"/>
          </a:ln>
        </p:spPr>
        <p:txBody>
          <a:bodyPr/>
          <a:lstStyle/>
          <a:p>
            <a:endParaRPr lang="zh-CN" altLang="en-US"/>
          </a:p>
        </p:txBody>
      </p:sp>
      <p:sp>
        <p:nvSpPr>
          <p:cNvPr id="12" name="矩形 11"/>
          <p:cNvSpPr/>
          <p:nvPr userDrawn="1"/>
        </p:nvSpPr>
        <p:spPr>
          <a:xfrm>
            <a:off x="0" y="332742"/>
            <a:ext cx="60959" cy="50404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封面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1" Type="http://schemas.openxmlformats.org/officeDocument/2006/relationships/notesSlide" Target="../notesSlides/notesSlide2.xml"/><Relationship Id="rId40" Type="http://schemas.openxmlformats.org/officeDocument/2006/relationships/slideLayout" Target="../slideLayouts/slideLayout6.xml"/><Relationship Id="rId4" Type="http://schemas.openxmlformats.org/officeDocument/2006/relationships/tags" Target="../tags/tag66.xml"/><Relationship Id="rId39" Type="http://schemas.openxmlformats.org/officeDocument/2006/relationships/tags" Target="../tags/tag101.xml"/><Relationship Id="rId38" Type="http://schemas.openxmlformats.org/officeDocument/2006/relationships/tags" Target="../tags/tag100.xml"/><Relationship Id="rId37" Type="http://schemas.openxmlformats.org/officeDocument/2006/relationships/tags" Target="../tags/tag99.xml"/><Relationship Id="rId36" Type="http://schemas.openxmlformats.org/officeDocument/2006/relationships/tags" Target="../tags/tag98.xml"/><Relationship Id="rId35" Type="http://schemas.openxmlformats.org/officeDocument/2006/relationships/tags" Target="../tags/tag97.xml"/><Relationship Id="rId34" Type="http://schemas.openxmlformats.org/officeDocument/2006/relationships/tags" Target="../tags/tag96.xml"/><Relationship Id="rId33" Type="http://schemas.openxmlformats.org/officeDocument/2006/relationships/tags" Target="../tags/tag95.xml"/><Relationship Id="rId32" Type="http://schemas.openxmlformats.org/officeDocument/2006/relationships/tags" Target="../tags/tag94.xml"/><Relationship Id="rId31" Type="http://schemas.openxmlformats.org/officeDocument/2006/relationships/tags" Target="../tags/tag93.xml"/><Relationship Id="rId30" Type="http://schemas.openxmlformats.org/officeDocument/2006/relationships/tags" Target="../tags/tag92.xml"/><Relationship Id="rId3" Type="http://schemas.openxmlformats.org/officeDocument/2006/relationships/tags" Target="../tags/tag65.xml"/><Relationship Id="rId29" Type="http://schemas.openxmlformats.org/officeDocument/2006/relationships/tags" Target="../tags/tag91.xml"/><Relationship Id="rId28" Type="http://schemas.openxmlformats.org/officeDocument/2006/relationships/tags" Target="../tags/tag90.xml"/><Relationship Id="rId27" Type="http://schemas.openxmlformats.org/officeDocument/2006/relationships/tags" Target="../tags/tag89.xml"/><Relationship Id="rId26" Type="http://schemas.openxmlformats.org/officeDocument/2006/relationships/tags" Target="../tags/tag88.xml"/><Relationship Id="rId25" Type="http://schemas.openxmlformats.org/officeDocument/2006/relationships/tags" Target="../tags/tag87.xml"/><Relationship Id="rId24" Type="http://schemas.openxmlformats.org/officeDocument/2006/relationships/tags" Target="../tags/tag86.xml"/><Relationship Id="rId23" Type="http://schemas.openxmlformats.org/officeDocument/2006/relationships/tags" Target="../tags/tag85.xml"/><Relationship Id="rId22" Type="http://schemas.openxmlformats.org/officeDocument/2006/relationships/tags" Target="../tags/tag84.xml"/><Relationship Id="rId21" Type="http://schemas.openxmlformats.org/officeDocument/2006/relationships/tags" Target="../tags/tag83.xml"/><Relationship Id="rId20" Type="http://schemas.openxmlformats.org/officeDocument/2006/relationships/tags" Target="../tags/tag82.xml"/><Relationship Id="rId2" Type="http://schemas.openxmlformats.org/officeDocument/2006/relationships/tags" Target="../tags/tag64.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6.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6.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6.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6.xml"/><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notesSlide" Target="../notesSlides/notesSlide8.xml"/><Relationship Id="rId10" Type="http://schemas.openxmlformats.org/officeDocument/2006/relationships/vmlDrawing" Target="../drawings/vmlDrawing1.vml"/><Relationship Id="rId1" Type="http://schemas.openxmlformats.org/officeDocument/2006/relationships/tags" Target="../tags/tag120.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6.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6.xml"/><Relationship Id="rId5" Type="http://schemas.openxmlformats.org/officeDocument/2006/relationships/themeOverride" Target="../theme/themeOverride1.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6.xml"/><Relationship Id="rId4" Type="http://schemas.openxmlformats.org/officeDocument/2006/relationships/themeOverride" Target="../theme/themeOverride2.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6.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6.xml"/><Relationship Id="rId5" Type="http://schemas.openxmlformats.org/officeDocument/2006/relationships/themeOverride" Target="../theme/themeOverride3.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6.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15.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5" Type="http://schemas.openxmlformats.org/officeDocument/2006/relationships/notesSlide" Target="../notesSlides/notesSlide15.xml"/><Relationship Id="rId14" Type="http://schemas.openxmlformats.org/officeDocument/2006/relationships/slideLayout" Target="../slideLayouts/slideLayout1.xml"/><Relationship Id="rId13" Type="http://schemas.openxmlformats.org/officeDocument/2006/relationships/tags" Target="../tags/tag160.xml"/><Relationship Id="rId12" Type="http://schemas.openxmlformats.org/officeDocument/2006/relationships/tags" Target="../tags/tag159.xml"/><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tags" Target="../tags/tag148.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6.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6.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6.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vmlDrawing" Target="../drawings/vmlDrawing2.vml"/><Relationship Id="rId7" Type="http://schemas.openxmlformats.org/officeDocument/2006/relationships/slideLayout" Target="../slideLayouts/slideLayout6.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a:spLocks noEditPoints="1"/>
          </p:cNvSpPr>
          <p:nvPr/>
        </p:nvSpPr>
        <p:spPr>
          <a:xfrm>
            <a:off x="-20955" y="133350"/>
            <a:ext cx="12211050" cy="2352675"/>
          </a:xfrm>
          <a:custGeom>
            <a:avLst/>
            <a:gdLst>
              <a:gd name="txL" fmla="*/ 0 w 8000"/>
              <a:gd name="txT" fmla="*/ 0 h 1542"/>
              <a:gd name="txR" fmla="*/ 8000 w 8000"/>
              <a:gd name="txB" fmla="*/ 1542 h 1542"/>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a:ln w="9525" cap="flat" cmpd="sng">
            <a:solidFill>
              <a:srgbClr val="D1CFBD"/>
            </a:solidFill>
            <a:prstDash val="solid"/>
            <a:bevel/>
            <a:headEnd type="none" w="med" len="med"/>
            <a:tailEnd type="none" w="med" len="med"/>
          </a:ln>
        </p:spPr>
        <p:txBody>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5" name="矩形 1"/>
          <p:cNvSpPr/>
          <p:nvPr/>
        </p:nvSpPr>
        <p:spPr>
          <a:xfrm>
            <a:off x="0" y="2692400"/>
            <a:ext cx="12192000" cy="1714500"/>
          </a:xfrm>
          <a:prstGeom prst="rect">
            <a:avLst/>
          </a:prstGeom>
          <a:solidFill>
            <a:srgbClr val="0599D9"/>
          </a:solidFill>
          <a:ln w="9525">
            <a:solidFill>
              <a:srgbClr val="0599D9"/>
            </a:solidFill>
          </a:ln>
          <a:effectLst/>
        </p:spPr>
        <p:txBody>
          <a:bodyPr lIns="121920" tIns="60960" rIns="121920" bIns="60960" anchor="ctr" anchorCtr="0"/>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stStyle>
          <a:p>
            <a:pPr marL="0" algn="ctr" eaLnBrk="1" hangingPunct="1">
              <a:buClrTx/>
              <a:buSzTx/>
              <a:buNone/>
              <a:defRPr/>
            </a:pPr>
            <a:r>
              <a:rPr lang="zh-CN" sz="32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安监部部门会议</a:t>
            </a:r>
            <a:endParaRPr lang="zh-CN" sz="32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endParaRPr>
          </a:p>
          <a:p>
            <a:pPr marL="0" algn="ctr" eaLnBrk="1" hangingPunct="1">
              <a:buClrTx/>
              <a:buSzTx/>
              <a:buNone/>
              <a:defRPr/>
            </a:pPr>
            <a:r>
              <a:rPr lang="en-US" altLang="zh-CN"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2026</a:t>
            </a:r>
            <a:r>
              <a:rPr lang="zh-CN" altLang="en-US"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年</a:t>
            </a:r>
            <a:r>
              <a:rPr lang="en-US" altLang="zh-CN"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7</a:t>
            </a:r>
            <a:r>
              <a:rPr lang="zh-CN" altLang="en-US"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月</a:t>
            </a:r>
            <a:r>
              <a:rPr lang="en-US" altLang="zh-CN"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22</a:t>
            </a:r>
            <a:r>
              <a:rPr lang="zh-CN" altLang="en-US"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rPr>
              <a:t>日</a:t>
            </a:r>
            <a:endParaRPr lang="zh-CN" altLang="en-US" sz="2400" b="1" spc="50" dirty="0">
              <a:ln w="11430"/>
              <a:solidFill>
                <a:prstClr val="white"/>
              </a:solidFill>
              <a:effectLst>
                <a:outerShdw blurRad="50800" dist="38100" dir="18900000" algn="bl" rotWithShape="0">
                  <a:prstClr val="black">
                    <a:alpha val="40000"/>
                  </a:prstClr>
                </a:outerShdw>
              </a:effectLst>
              <a:latin typeface="微软雅黑" panose="020B0503020204020204" charset="-122"/>
              <a:ea typeface="微软雅黑" panose="020B0503020204020204" charset="-122"/>
              <a:sym typeface="+mn-ea"/>
            </a:endParaRPr>
          </a:p>
        </p:txBody>
      </p:sp>
      <p:sp>
        <p:nvSpPr>
          <p:cNvPr id="6" name="直接连接符 24"/>
          <p:cNvSpPr/>
          <p:nvPr/>
        </p:nvSpPr>
        <p:spPr>
          <a:xfrm>
            <a:off x="6985" y="5078730"/>
            <a:ext cx="12178665" cy="1270"/>
          </a:xfrm>
          <a:prstGeom prst="line">
            <a:avLst/>
          </a:prstGeom>
          <a:ln w="19050" cap="flat" cmpd="sng">
            <a:solidFill>
              <a:srgbClr val="28A9D6"/>
            </a:solidFill>
            <a:prstDash val="solid"/>
            <a:bevel/>
            <a:headEnd type="none" w="med" len="med"/>
            <a:tailEnd type="none" w="med" len="med"/>
          </a:ln>
        </p:spPr>
      </p:sp>
      <p:grpSp>
        <p:nvGrpSpPr>
          <p:cNvPr id="7" name="组 29"/>
          <p:cNvGrpSpPr/>
          <p:nvPr/>
        </p:nvGrpSpPr>
        <p:grpSpPr>
          <a:xfrm>
            <a:off x="6985" y="5490210"/>
            <a:ext cx="4514850" cy="144145"/>
            <a:chOff x="0" y="5501084"/>
            <a:chExt cx="3059875" cy="144462"/>
          </a:xfrm>
        </p:grpSpPr>
        <p:sp>
          <p:nvSpPr>
            <p:cNvPr id="8" name="直接连接符 27"/>
            <p:cNvSpPr/>
            <p:nvPr/>
          </p:nvSpPr>
          <p:spPr>
            <a:xfrm>
              <a:off x="1" y="5501084"/>
              <a:ext cx="3059874" cy="12700"/>
            </a:xfrm>
            <a:prstGeom prst="line">
              <a:avLst/>
            </a:prstGeom>
            <a:ln w="3175" cap="flat" cmpd="sng">
              <a:solidFill>
                <a:srgbClr val="28A9D6"/>
              </a:solidFill>
              <a:prstDash val="solid"/>
              <a:bevel/>
              <a:headEnd type="none" w="med" len="med"/>
              <a:tailEnd type="none" w="med" len="med"/>
            </a:ln>
          </p:spPr>
        </p:sp>
        <p:sp>
          <p:nvSpPr>
            <p:cNvPr id="9" name="直接连接符 29"/>
            <p:cNvSpPr/>
            <p:nvPr/>
          </p:nvSpPr>
          <p:spPr>
            <a:xfrm>
              <a:off x="0" y="5566171"/>
              <a:ext cx="3059875" cy="12700"/>
            </a:xfrm>
            <a:prstGeom prst="line">
              <a:avLst/>
            </a:prstGeom>
            <a:ln w="3175" cap="flat" cmpd="sng">
              <a:solidFill>
                <a:srgbClr val="28A9D6"/>
              </a:solidFill>
              <a:prstDash val="solid"/>
              <a:bevel/>
              <a:headEnd type="none" w="med" len="med"/>
              <a:tailEnd type="none" w="med" len="med"/>
            </a:ln>
          </p:spPr>
        </p:sp>
        <p:sp>
          <p:nvSpPr>
            <p:cNvPr id="10" name="直接连接符 31"/>
            <p:cNvSpPr/>
            <p:nvPr/>
          </p:nvSpPr>
          <p:spPr>
            <a:xfrm>
              <a:off x="0" y="5632846"/>
              <a:ext cx="3059875" cy="12700"/>
            </a:xfrm>
            <a:prstGeom prst="line">
              <a:avLst/>
            </a:prstGeom>
            <a:ln w="3175" cap="flat" cmpd="sng">
              <a:solidFill>
                <a:srgbClr val="28A9D6"/>
              </a:solidFill>
              <a:prstDash val="solid"/>
              <a:bevel/>
              <a:headEnd type="none" w="med" len="med"/>
              <a:tailEnd type="none" w="med" len="med"/>
            </a:ln>
          </p:spPr>
        </p:sp>
      </p:grpSp>
      <p:grpSp>
        <p:nvGrpSpPr>
          <p:cNvPr id="11" name="组 28"/>
          <p:cNvGrpSpPr/>
          <p:nvPr/>
        </p:nvGrpSpPr>
        <p:grpSpPr>
          <a:xfrm>
            <a:off x="7590155" y="5501005"/>
            <a:ext cx="4595495" cy="148590"/>
            <a:chOff x="6156132" y="5501084"/>
            <a:chExt cx="2987868" cy="144462"/>
          </a:xfrm>
        </p:grpSpPr>
        <p:sp>
          <p:nvSpPr>
            <p:cNvPr id="12" name="直接连接符 39"/>
            <p:cNvSpPr/>
            <p:nvPr/>
          </p:nvSpPr>
          <p:spPr>
            <a:xfrm>
              <a:off x="6156132" y="5501084"/>
              <a:ext cx="2987868" cy="12700"/>
            </a:xfrm>
            <a:prstGeom prst="line">
              <a:avLst/>
            </a:prstGeom>
            <a:ln w="3175" cap="flat" cmpd="sng">
              <a:solidFill>
                <a:srgbClr val="28A9D6"/>
              </a:solidFill>
              <a:prstDash val="solid"/>
              <a:bevel/>
              <a:headEnd type="none" w="med" len="med"/>
              <a:tailEnd type="none" w="med" len="med"/>
            </a:ln>
          </p:spPr>
        </p:sp>
        <p:sp>
          <p:nvSpPr>
            <p:cNvPr id="13" name="直接连接符 40"/>
            <p:cNvSpPr/>
            <p:nvPr/>
          </p:nvSpPr>
          <p:spPr>
            <a:xfrm>
              <a:off x="6156132" y="5566171"/>
              <a:ext cx="2987868" cy="12700"/>
            </a:xfrm>
            <a:prstGeom prst="line">
              <a:avLst/>
            </a:prstGeom>
            <a:ln w="3175" cap="flat" cmpd="sng">
              <a:solidFill>
                <a:srgbClr val="28A9D6"/>
              </a:solidFill>
              <a:prstDash val="solid"/>
              <a:bevel/>
              <a:headEnd type="none" w="med" len="med"/>
              <a:tailEnd type="none" w="med" len="med"/>
            </a:ln>
          </p:spPr>
        </p:sp>
        <p:sp>
          <p:nvSpPr>
            <p:cNvPr id="14" name="直接连接符 41"/>
            <p:cNvSpPr/>
            <p:nvPr/>
          </p:nvSpPr>
          <p:spPr>
            <a:xfrm flipV="1">
              <a:off x="6156132" y="5645546"/>
              <a:ext cx="2987868" cy="0"/>
            </a:xfrm>
            <a:prstGeom prst="line">
              <a:avLst/>
            </a:prstGeom>
            <a:ln w="3175" cap="flat" cmpd="sng">
              <a:solidFill>
                <a:srgbClr val="28A9D6"/>
              </a:solidFill>
              <a:prstDash val="solid"/>
              <a:bevel/>
              <a:headEnd type="none" w="med" len="med"/>
              <a:tailEnd type="none" w="med" len="med"/>
            </a:ln>
          </p:spPr>
        </p:sp>
      </p:grpSp>
      <p:pic>
        <p:nvPicPr>
          <p:cNvPr id="2" name="图片 1" descr="中建电力logo05"/>
          <p:cNvPicPr>
            <a:picLocks noChangeAspect="1"/>
          </p:cNvPicPr>
          <p:nvPr/>
        </p:nvPicPr>
        <p:blipFill>
          <a:blip r:embed="rId1"/>
          <a:stretch>
            <a:fillRect/>
          </a:stretch>
        </p:blipFill>
        <p:spPr>
          <a:xfrm>
            <a:off x="4513580" y="5448300"/>
            <a:ext cx="3044190" cy="29464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lgn="l" fontAlgn="base">
                <a:lnSpc>
                  <a:spcPct val="100000"/>
                </a:lnSpc>
                <a:spcBef>
                  <a:spcPct val="20000"/>
                </a:spcBef>
                <a:buClrTx/>
                <a:buSzTx/>
                <a:buFontTx/>
                <a:defRPr/>
              </a:pPr>
              <a:r>
                <a:rPr lang="zh-CN" sz="2400" b="1" kern="0" dirty="0">
                  <a:solidFill>
                    <a:srgbClr val="0599D9"/>
                  </a:solidFill>
                  <a:latin typeface="微软雅黑" panose="020B0503020204020204" charset="-122"/>
                  <a:ea typeface="微软雅黑" panose="020B0503020204020204" charset="-122"/>
                  <a:sym typeface="+mn-ea"/>
                </a:rPr>
                <a:t>目录</a:t>
              </a:r>
              <a:endParaRPr lang="zh-CN" sz="2400" b="1" kern="0" dirty="0">
                <a:solidFill>
                  <a:srgbClr val="0599D9"/>
                </a:solidFill>
                <a:latin typeface="微软雅黑" panose="020B0503020204020204" charset="-122"/>
                <a:ea typeface="微软雅黑" panose="020B0503020204020204" charset="-122"/>
                <a:sym typeface="+mn-ea"/>
              </a:endParaRPr>
            </a:p>
          </p:txBody>
        </p:sp>
      </p:grpSp>
      <p:sp>
        <p:nvSpPr>
          <p:cNvPr id="2" name="Freeform 11"/>
          <p:cNvSpPr/>
          <p:nvPr>
            <p:custDataLst>
              <p:tags r:id="rId3"/>
            </p:custDataLst>
          </p:nvPr>
        </p:nvSpPr>
        <p:spPr bwMode="auto">
          <a:xfrm>
            <a:off x="3551397" y="1990649"/>
            <a:ext cx="920359" cy="116273"/>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B0F0"/>
          </a:solidFill>
          <a:ln>
            <a:noFill/>
          </a:ln>
        </p:spPr>
        <p:txBody>
          <a:bodyPr/>
          <a:lstStyle/>
          <a:p>
            <a:pPr fontAlgn="base">
              <a:spcBef>
                <a:spcPct val="0"/>
              </a:spcBef>
              <a:spcAft>
                <a:spcPct val="0"/>
              </a:spcAft>
              <a:buFont typeface="Arial" panose="020B0604020202020204" pitchFamily="34" charset="0"/>
              <a:buNone/>
            </a:pPr>
            <a:endParaRPr lang="zh-CN" altLang="en-US">
              <a:solidFill>
                <a:srgbClr val="006794"/>
              </a:solidFill>
              <a:latin typeface="Arial" panose="020B0604020202020204" pitchFamily="34" charset="0"/>
              <a:ea typeface="宋体" panose="02010600030101010101" pitchFamily="2" charset="-122"/>
            </a:endParaRPr>
          </a:p>
        </p:txBody>
      </p:sp>
      <p:sp>
        <p:nvSpPr>
          <p:cNvPr id="4" name="Freeform 10"/>
          <p:cNvSpPr/>
          <p:nvPr>
            <p:custDataLst>
              <p:tags r:id="rId4"/>
            </p:custDataLst>
          </p:nvPr>
        </p:nvSpPr>
        <p:spPr bwMode="auto">
          <a:xfrm>
            <a:off x="3382491" y="2071037"/>
            <a:ext cx="6798869" cy="56073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ln>
        </p:spPr>
        <p:txBody>
          <a:bodyPr/>
          <a:lstStyle/>
          <a:p>
            <a:pPr fontAlgn="base">
              <a:spcBef>
                <a:spcPct val="0"/>
              </a:spcBef>
              <a:spcAft>
                <a:spcPct val="0"/>
              </a:spcAft>
              <a:buFont typeface="Arial" panose="020B0604020202020204" pitchFamily="34" charset="0"/>
              <a:buNone/>
            </a:pPr>
            <a:endParaRPr lang="zh-CN" altLang="en-US" sz="2400" dirty="0">
              <a:solidFill>
                <a:srgbClr val="006794"/>
              </a:solidFill>
              <a:latin typeface="Arial" panose="020B0604020202020204" pitchFamily="34" charset="0"/>
              <a:ea typeface="宋体" panose="02010600030101010101" pitchFamily="2" charset="-122"/>
            </a:endParaRPr>
          </a:p>
        </p:txBody>
      </p:sp>
      <p:sp>
        <p:nvSpPr>
          <p:cNvPr id="5" name="Rectangle 12"/>
          <p:cNvSpPr>
            <a:spLocks noChangeArrowheads="1"/>
          </p:cNvSpPr>
          <p:nvPr>
            <p:custDataLst>
              <p:tags r:id="rId5"/>
            </p:custDataLst>
          </p:nvPr>
        </p:nvSpPr>
        <p:spPr bwMode="auto">
          <a:xfrm>
            <a:off x="3639930" y="1936750"/>
            <a:ext cx="696984" cy="619032"/>
          </a:xfrm>
          <a:prstGeom prst="rect">
            <a:avLst/>
          </a:prstGeom>
          <a:solidFill>
            <a:srgbClr val="00B0F0"/>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6794"/>
              </a:solidFill>
              <a:effectLst/>
              <a:uLnTx/>
              <a:uFillTx/>
              <a:latin typeface="Arial" panose="020B0604020202020204" pitchFamily="34" charset="0"/>
              <a:ea typeface="宋体" panose="02010600030101010101" pitchFamily="2" charset="-122"/>
            </a:endParaRPr>
          </a:p>
        </p:txBody>
      </p:sp>
      <p:sp>
        <p:nvSpPr>
          <p:cNvPr id="11" name="TextBox 105"/>
          <p:cNvSpPr txBox="1">
            <a:spLocks noChangeArrowheads="1"/>
          </p:cNvSpPr>
          <p:nvPr>
            <p:custDataLst>
              <p:tags r:id="rId6"/>
            </p:custDataLst>
          </p:nvPr>
        </p:nvSpPr>
        <p:spPr bwMode="auto">
          <a:xfrm>
            <a:off x="4599492" y="2126900"/>
            <a:ext cx="577599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rPr>
              <a:t>部门任务跟踪</a:t>
            </a:r>
            <a:endParaRPr lang="zh-CN" altLang="en-US" sz="2400" b="1" dirty="0">
              <a:solidFill>
                <a:srgbClr val="3C3C3C"/>
              </a:solidFill>
              <a:latin typeface="微软雅黑" panose="020B0503020204020204" charset="-122"/>
              <a:ea typeface="微软雅黑" panose="020B0503020204020204" charset="-122"/>
              <a:sym typeface="+mn-ea"/>
            </a:endParaRPr>
          </a:p>
        </p:txBody>
      </p:sp>
      <p:sp>
        <p:nvSpPr>
          <p:cNvPr id="14" name="TextBox 106"/>
          <p:cNvSpPr txBox="1">
            <a:spLocks noChangeArrowheads="1"/>
          </p:cNvSpPr>
          <p:nvPr>
            <p:custDataLst>
              <p:tags r:id="rId7"/>
            </p:custDataLst>
          </p:nvPr>
        </p:nvSpPr>
        <p:spPr bwMode="auto">
          <a:xfrm>
            <a:off x="3639830" y="2023074"/>
            <a:ext cx="50308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solidFill>
                  <a:srgbClr val="FFFFFF"/>
                </a:solidFill>
                <a:latin typeface="微软雅黑" panose="020B0503020204020204" charset="-122"/>
                <a:ea typeface="微软雅黑" panose="020B0503020204020204" charset="-122"/>
              </a:rPr>
              <a:t>一</a:t>
            </a:r>
            <a:endParaRPr lang="zh-CN" altLang="en-US" sz="2400" b="1" dirty="0">
              <a:solidFill>
                <a:srgbClr val="FFFFFF"/>
              </a:solidFill>
              <a:latin typeface="微软雅黑" panose="020B0503020204020204" charset="-122"/>
              <a:ea typeface="微软雅黑" panose="020B0503020204020204" charset="-122"/>
            </a:endParaRPr>
          </a:p>
        </p:txBody>
      </p:sp>
      <p:sp>
        <p:nvSpPr>
          <p:cNvPr id="26" name="Freeform 11"/>
          <p:cNvSpPr/>
          <p:nvPr>
            <p:custDataLst>
              <p:tags r:id="rId8"/>
            </p:custDataLst>
          </p:nvPr>
        </p:nvSpPr>
        <p:spPr bwMode="auto">
          <a:xfrm>
            <a:off x="3551397" y="2781961"/>
            <a:ext cx="920359" cy="116273"/>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B0F0"/>
          </a:solidFill>
          <a:ln>
            <a:noFill/>
          </a:ln>
        </p:spPr>
        <p:txBody>
          <a:bodyPr/>
          <a:lstStyle/>
          <a:p>
            <a:pPr fontAlgn="base">
              <a:spcBef>
                <a:spcPct val="0"/>
              </a:spcBef>
              <a:spcAft>
                <a:spcPct val="0"/>
              </a:spcAft>
              <a:buFont typeface="Arial" panose="020B0604020202020204" pitchFamily="34" charset="0"/>
              <a:buNone/>
            </a:pPr>
            <a:endParaRPr lang="zh-CN" altLang="en-US" sz="2400">
              <a:solidFill>
                <a:srgbClr val="006794"/>
              </a:solidFill>
              <a:latin typeface="Arial" panose="020B0604020202020204" pitchFamily="34" charset="0"/>
              <a:ea typeface="宋体" panose="02010600030101010101" pitchFamily="2" charset="-122"/>
            </a:endParaRPr>
          </a:p>
        </p:txBody>
      </p:sp>
      <p:sp>
        <p:nvSpPr>
          <p:cNvPr id="27" name="Freeform 10"/>
          <p:cNvSpPr/>
          <p:nvPr>
            <p:custDataLst>
              <p:tags r:id="rId9"/>
            </p:custDataLst>
          </p:nvPr>
        </p:nvSpPr>
        <p:spPr bwMode="auto">
          <a:xfrm>
            <a:off x="3382491" y="2873486"/>
            <a:ext cx="6904333" cy="564007"/>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ln>
        </p:spPr>
        <p:txBody>
          <a:bodyPr/>
          <a:lstStyle/>
          <a:p>
            <a:pPr fontAlgn="base">
              <a:spcBef>
                <a:spcPct val="0"/>
              </a:spcBef>
              <a:spcAft>
                <a:spcPct val="0"/>
              </a:spcAft>
              <a:buFont typeface="Arial" panose="020B0604020202020204" pitchFamily="34" charset="0"/>
              <a:buNone/>
            </a:pPr>
            <a:endParaRPr lang="zh-CN" altLang="en-US" sz="2400" dirty="0">
              <a:solidFill>
                <a:srgbClr val="006794"/>
              </a:solidFill>
              <a:latin typeface="Arial" panose="020B0604020202020204" pitchFamily="34" charset="0"/>
              <a:ea typeface="宋体" panose="02010600030101010101" pitchFamily="2" charset="-122"/>
            </a:endParaRPr>
          </a:p>
        </p:txBody>
      </p:sp>
      <p:sp>
        <p:nvSpPr>
          <p:cNvPr id="28" name="Rectangle 12"/>
          <p:cNvSpPr>
            <a:spLocks noChangeArrowheads="1"/>
          </p:cNvSpPr>
          <p:nvPr>
            <p:custDataLst>
              <p:tags r:id="rId10"/>
            </p:custDataLst>
          </p:nvPr>
        </p:nvSpPr>
        <p:spPr bwMode="auto">
          <a:xfrm>
            <a:off x="3639930" y="2781778"/>
            <a:ext cx="683883" cy="569247"/>
          </a:xfrm>
          <a:prstGeom prst="rect">
            <a:avLst/>
          </a:prstGeom>
          <a:solidFill>
            <a:srgbClr val="00B0F0"/>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6794"/>
              </a:solidFill>
              <a:effectLst/>
              <a:uLnTx/>
              <a:uFillTx/>
              <a:latin typeface="Arial" panose="020B0604020202020204" pitchFamily="34" charset="0"/>
              <a:ea typeface="宋体" panose="02010600030101010101" pitchFamily="2" charset="-122"/>
            </a:endParaRPr>
          </a:p>
        </p:txBody>
      </p:sp>
      <p:sp>
        <p:nvSpPr>
          <p:cNvPr id="29" name="TextBox 105"/>
          <p:cNvSpPr txBox="1">
            <a:spLocks noChangeArrowheads="1"/>
          </p:cNvSpPr>
          <p:nvPr>
            <p:custDataLst>
              <p:tags r:id="rId11"/>
            </p:custDataLst>
          </p:nvPr>
        </p:nvSpPr>
        <p:spPr bwMode="auto">
          <a:xfrm>
            <a:off x="4583217" y="2916720"/>
            <a:ext cx="5776320" cy="43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lt"/>
              </a:rPr>
              <a:t>上周主要完成工作</a:t>
            </a:r>
            <a:endParaRPr lang="zh-CN" altLang="en-US" sz="2400" b="1" dirty="0">
              <a:solidFill>
                <a:schemeClr val="tx1"/>
              </a:solidFill>
              <a:latin typeface="微软雅黑" panose="020B0503020204020204" charset="-122"/>
              <a:ea typeface="微软雅黑" panose="020B0503020204020204" charset="-122"/>
              <a:sym typeface="+mn-ea"/>
            </a:endParaRPr>
          </a:p>
        </p:txBody>
      </p:sp>
      <p:sp>
        <p:nvSpPr>
          <p:cNvPr id="39" name="TextBox 106"/>
          <p:cNvSpPr txBox="1">
            <a:spLocks noChangeArrowheads="1"/>
          </p:cNvSpPr>
          <p:nvPr>
            <p:custDataLst>
              <p:tags r:id="rId12"/>
            </p:custDataLst>
          </p:nvPr>
        </p:nvSpPr>
        <p:spPr bwMode="auto">
          <a:xfrm>
            <a:off x="3639830" y="2906750"/>
            <a:ext cx="50308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solidFill>
                  <a:srgbClr val="FFFFFF"/>
                </a:solidFill>
                <a:latin typeface="微软雅黑" panose="020B0503020204020204" charset="-122"/>
                <a:ea typeface="微软雅黑" panose="020B0503020204020204" charset="-122"/>
              </a:rPr>
              <a:t>二</a:t>
            </a:r>
            <a:endParaRPr lang="zh-CN" altLang="en-US" sz="2400" b="1" dirty="0">
              <a:solidFill>
                <a:srgbClr val="FFFFFF"/>
              </a:solidFill>
              <a:latin typeface="微软雅黑" panose="020B0503020204020204" charset="-122"/>
              <a:ea typeface="微软雅黑" panose="020B0503020204020204" charset="-122"/>
            </a:endParaRPr>
          </a:p>
        </p:txBody>
      </p:sp>
      <p:sp>
        <p:nvSpPr>
          <p:cNvPr id="45" name="Freeform 11"/>
          <p:cNvSpPr/>
          <p:nvPr>
            <p:custDataLst>
              <p:tags r:id="rId13"/>
            </p:custDataLst>
          </p:nvPr>
        </p:nvSpPr>
        <p:spPr bwMode="auto">
          <a:xfrm>
            <a:off x="3535675" y="3657121"/>
            <a:ext cx="920359" cy="116273"/>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B0F0"/>
          </a:solidFill>
          <a:ln>
            <a:noFill/>
          </a:ln>
        </p:spPr>
        <p:txBody>
          <a:bodyPr/>
          <a:lstStyle/>
          <a:p>
            <a:pPr fontAlgn="base">
              <a:spcBef>
                <a:spcPct val="0"/>
              </a:spcBef>
              <a:spcAft>
                <a:spcPct val="0"/>
              </a:spcAft>
              <a:buFont typeface="Arial" panose="020B0604020202020204" pitchFamily="34" charset="0"/>
              <a:buNone/>
            </a:pPr>
            <a:endParaRPr lang="zh-CN" altLang="en-US" sz="2400">
              <a:solidFill>
                <a:srgbClr val="006794"/>
              </a:solidFill>
              <a:latin typeface="Arial" panose="020B0604020202020204" pitchFamily="34" charset="0"/>
              <a:ea typeface="宋体" panose="02010600030101010101" pitchFamily="2" charset="-122"/>
            </a:endParaRPr>
          </a:p>
        </p:txBody>
      </p:sp>
      <p:sp>
        <p:nvSpPr>
          <p:cNvPr id="56" name="Freeform 10"/>
          <p:cNvSpPr/>
          <p:nvPr>
            <p:custDataLst>
              <p:tags r:id="rId14"/>
            </p:custDataLst>
          </p:nvPr>
        </p:nvSpPr>
        <p:spPr bwMode="auto">
          <a:xfrm>
            <a:off x="3366770" y="3748646"/>
            <a:ext cx="6904333" cy="590864"/>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ln>
        </p:spPr>
        <p:txBody>
          <a:bodyPr/>
          <a:lstStyle/>
          <a:p>
            <a:pPr fontAlgn="base">
              <a:spcBef>
                <a:spcPct val="0"/>
              </a:spcBef>
              <a:spcAft>
                <a:spcPct val="0"/>
              </a:spcAft>
              <a:buFont typeface="Arial" panose="020B0604020202020204" pitchFamily="34" charset="0"/>
              <a:buNone/>
            </a:pPr>
            <a:endParaRPr lang="zh-CN" altLang="en-US" sz="2400" dirty="0">
              <a:solidFill>
                <a:srgbClr val="006794"/>
              </a:solidFill>
              <a:latin typeface="Arial" panose="020B0604020202020204" pitchFamily="34" charset="0"/>
              <a:ea typeface="宋体" panose="02010600030101010101" pitchFamily="2" charset="-122"/>
            </a:endParaRPr>
          </a:p>
        </p:txBody>
      </p:sp>
      <p:sp>
        <p:nvSpPr>
          <p:cNvPr id="57" name="Rectangle 12"/>
          <p:cNvSpPr>
            <a:spLocks noChangeArrowheads="1"/>
          </p:cNvSpPr>
          <p:nvPr>
            <p:custDataLst>
              <p:tags r:id="rId15"/>
            </p:custDataLst>
          </p:nvPr>
        </p:nvSpPr>
        <p:spPr bwMode="auto">
          <a:xfrm>
            <a:off x="3624209" y="3656938"/>
            <a:ext cx="712705" cy="596105"/>
          </a:xfrm>
          <a:prstGeom prst="rect">
            <a:avLst/>
          </a:prstGeom>
          <a:solidFill>
            <a:srgbClr val="00B0F0"/>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6794"/>
              </a:solidFill>
              <a:effectLst/>
              <a:uLnTx/>
              <a:uFillTx/>
              <a:latin typeface="Arial" panose="020B0604020202020204" pitchFamily="34" charset="0"/>
              <a:ea typeface="宋体" panose="02010600030101010101" pitchFamily="2" charset="-122"/>
            </a:endParaRPr>
          </a:p>
        </p:txBody>
      </p:sp>
      <p:sp>
        <p:nvSpPr>
          <p:cNvPr id="58" name="TextBox 105"/>
          <p:cNvSpPr txBox="1">
            <a:spLocks noChangeArrowheads="1"/>
          </p:cNvSpPr>
          <p:nvPr>
            <p:custDataLst>
              <p:tags r:id="rId16"/>
            </p:custDataLst>
          </p:nvPr>
        </p:nvSpPr>
        <p:spPr bwMode="auto">
          <a:xfrm>
            <a:off x="4583116" y="3797958"/>
            <a:ext cx="577599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rPr>
              <a:t>下周重点工作安排</a:t>
            </a:r>
            <a:endParaRPr lang="zh-CN" altLang="en-US" sz="2400" b="1" dirty="0">
              <a:solidFill>
                <a:srgbClr val="3C3C3C"/>
              </a:solidFill>
              <a:latin typeface="微软雅黑" panose="020B0503020204020204" charset="-122"/>
              <a:ea typeface="微软雅黑" panose="020B0503020204020204" charset="-122"/>
            </a:endParaRPr>
          </a:p>
        </p:txBody>
      </p:sp>
      <p:sp>
        <p:nvSpPr>
          <p:cNvPr id="59" name="TextBox 106"/>
          <p:cNvSpPr txBox="1">
            <a:spLocks noChangeArrowheads="1"/>
          </p:cNvSpPr>
          <p:nvPr>
            <p:custDataLst>
              <p:tags r:id="rId17"/>
            </p:custDataLst>
          </p:nvPr>
        </p:nvSpPr>
        <p:spPr bwMode="auto">
          <a:xfrm>
            <a:off x="3624109" y="3743261"/>
            <a:ext cx="50308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solidFill>
                  <a:srgbClr val="FFFFFF"/>
                </a:solidFill>
                <a:latin typeface="微软雅黑" panose="020B0503020204020204" charset="-122"/>
                <a:ea typeface="微软雅黑" panose="020B0503020204020204" charset="-122"/>
              </a:rPr>
              <a:t>三</a:t>
            </a:r>
            <a:endParaRPr lang="zh-CN" altLang="en-US" sz="2400" b="1" dirty="0">
              <a:solidFill>
                <a:srgbClr val="FFFFFF"/>
              </a:solidFill>
              <a:latin typeface="微软雅黑" panose="020B0503020204020204" charset="-122"/>
              <a:ea typeface="微软雅黑" panose="020B0503020204020204" charset="-122"/>
            </a:endParaRPr>
          </a:p>
        </p:txBody>
      </p:sp>
      <p:sp>
        <p:nvSpPr>
          <p:cNvPr id="60" name="Freeform 11"/>
          <p:cNvSpPr/>
          <p:nvPr>
            <p:custDataLst>
              <p:tags r:id="rId18"/>
            </p:custDataLst>
          </p:nvPr>
        </p:nvSpPr>
        <p:spPr bwMode="auto">
          <a:xfrm>
            <a:off x="3551397" y="4532904"/>
            <a:ext cx="920359" cy="116273"/>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B0F0"/>
          </a:solidFill>
          <a:ln>
            <a:noFill/>
          </a:ln>
        </p:spPr>
        <p:txBody>
          <a:bodyPr/>
          <a:lstStyle/>
          <a:p>
            <a:pPr fontAlgn="base">
              <a:spcBef>
                <a:spcPct val="0"/>
              </a:spcBef>
              <a:spcAft>
                <a:spcPct val="0"/>
              </a:spcAft>
              <a:buFont typeface="Arial" panose="020B0604020202020204" pitchFamily="34" charset="0"/>
              <a:buNone/>
            </a:pPr>
            <a:endParaRPr lang="zh-CN" altLang="en-US" sz="2400">
              <a:solidFill>
                <a:srgbClr val="006794"/>
              </a:solidFill>
              <a:latin typeface="Arial" panose="020B0604020202020204" pitchFamily="34" charset="0"/>
              <a:ea typeface="宋体" panose="02010600030101010101" pitchFamily="2" charset="-122"/>
            </a:endParaRPr>
          </a:p>
        </p:txBody>
      </p:sp>
      <p:sp>
        <p:nvSpPr>
          <p:cNvPr id="61" name="Freeform 10"/>
          <p:cNvSpPr/>
          <p:nvPr>
            <p:custDataLst>
              <p:tags r:id="rId19"/>
            </p:custDataLst>
          </p:nvPr>
        </p:nvSpPr>
        <p:spPr bwMode="auto">
          <a:xfrm>
            <a:off x="3382491" y="4624428"/>
            <a:ext cx="6904333" cy="59545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ln>
        </p:spPr>
        <p:txBody>
          <a:bodyPr/>
          <a:lstStyle/>
          <a:p>
            <a:pPr fontAlgn="base">
              <a:spcBef>
                <a:spcPct val="0"/>
              </a:spcBef>
              <a:spcAft>
                <a:spcPct val="0"/>
              </a:spcAft>
              <a:buFont typeface="Arial" panose="020B0604020202020204" pitchFamily="34" charset="0"/>
              <a:buNone/>
            </a:pPr>
            <a:endParaRPr lang="zh-CN" altLang="en-US" sz="2400" dirty="0">
              <a:solidFill>
                <a:srgbClr val="006794"/>
              </a:solidFill>
              <a:latin typeface="Arial" panose="020B0604020202020204" pitchFamily="34" charset="0"/>
              <a:ea typeface="宋体" panose="02010600030101010101" pitchFamily="2" charset="-122"/>
            </a:endParaRPr>
          </a:p>
        </p:txBody>
      </p:sp>
      <p:sp>
        <p:nvSpPr>
          <p:cNvPr id="62" name="Rectangle 12"/>
          <p:cNvSpPr>
            <a:spLocks noChangeArrowheads="1"/>
          </p:cNvSpPr>
          <p:nvPr>
            <p:custDataLst>
              <p:tags r:id="rId20"/>
            </p:custDataLst>
          </p:nvPr>
        </p:nvSpPr>
        <p:spPr bwMode="auto">
          <a:xfrm>
            <a:off x="3639930" y="4532720"/>
            <a:ext cx="696984" cy="594140"/>
          </a:xfrm>
          <a:prstGeom prst="rect">
            <a:avLst/>
          </a:prstGeom>
          <a:solidFill>
            <a:srgbClr val="00B0F0"/>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6794"/>
              </a:solidFill>
              <a:effectLst/>
              <a:uLnTx/>
              <a:uFillTx/>
              <a:latin typeface="Arial" panose="020B0604020202020204" pitchFamily="34" charset="0"/>
              <a:ea typeface="宋体" panose="02010600030101010101" pitchFamily="2" charset="-122"/>
            </a:endParaRPr>
          </a:p>
        </p:txBody>
      </p:sp>
      <p:sp>
        <p:nvSpPr>
          <p:cNvPr id="63" name="TextBox 105"/>
          <p:cNvSpPr txBox="1">
            <a:spLocks noChangeArrowheads="1"/>
          </p:cNvSpPr>
          <p:nvPr>
            <p:custDataLst>
              <p:tags r:id="rId21"/>
            </p:custDataLst>
          </p:nvPr>
        </p:nvSpPr>
        <p:spPr bwMode="auto">
          <a:xfrm>
            <a:off x="4599492" y="4672430"/>
            <a:ext cx="577599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rPr>
              <a:t>现场资料检查情况</a:t>
            </a:r>
            <a:endPar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endParaRPr>
          </a:p>
        </p:txBody>
      </p:sp>
      <p:sp>
        <p:nvSpPr>
          <p:cNvPr id="64" name="TextBox 106"/>
          <p:cNvSpPr txBox="1">
            <a:spLocks noChangeArrowheads="1"/>
          </p:cNvSpPr>
          <p:nvPr>
            <p:custDataLst>
              <p:tags r:id="rId22"/>
            </p:custDataLst>
          </p:nvPr>
        </p:nvSpPr>
        <p:spPr bwMode="auto">
          <a:xfrm>
            <a:off x="3639830" y="4619043"/>
            <a:ext cx="50308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solidFill>
                  <a:srgbClr val="FFFFFF"/>
                </a:solidFill>
                <a:latin typeface="微软雅黑" panose="020B0503020204020204" charset="-122"/>
                <a:ea typeface="微软雅黑" panose="020B0503020204020204" charset="-122"/>
              </a:rPr>
              <a:t>四</a:t>
            </a:r>
            <a:endParaRPr lang="zh-CN" altLang="en-US" sz="2400" b="1" dirty="0">
              <a:solidFill>
                <a:srgbClr val="FFFFFF"/>
              </a:solidFill>
              <a:latin typeface="微软雅黑" panose="020B0503020204020204" charset="-122"/>
              <a:ea typeface="微软雅黑" panose="020B0503020204020204" charset="-122"/>
            </a:endParaRPr>
          </a:p>
        </p:txBody>
      </p:sp>
      <p:sp>
        <p:nvSpPr>
          <p:cNvPr id="16" name="文本框 15"/>
          <p:cNvSpPr txBox="1"/>
          <p:nvPr/>
        </p:nvSpPr>
        <p:spPr>
          <a:xfrm>
            <a:off x="3955415" y="5427980"/>
            <a:ext cx="4064000" cy="368300"/>
          </a:xfrm>
          <a:prstGeom prst="rect">
            <a:avLst/>
          </a:prstGeom>
          <a:noFill/>
        </p:spPr>
        <p:txBody>
          <a:bodyPr wrap="square" rtlCol="0">
            <a:spAutoFit/>
          </a:bodyPr>
          <a:p>
            <a:endParaRPr lang="zh-CN" altLang="en-US"/>
          </a:p>
        </p:txBody>
      </p:sp>
      <p:grpSp>
        <p:nvGrpSpPr>
          <p:cNvPr id="9" name="组合 8"/>
          <p:cNvGrpSpPr/>
          <p:nvPr/>
        </p:nvGrpSpPr>
        <p:grpSpPr>
          <a:xfrm>
            <a:off x="551815" y="2564765"/>
            <a:ext cx="2362200" cy="2156460"/>
            <a:chOff x="1768" y="2573"/>
            <a:chExt cx="3720" cy="3396"/>
          </a:xfrm>
        </p:grpSpPr>
        <p:grpSp>
          <p:nvGrpSpPr>
            <p:cNvPr id="20" name="组合 19"/>
            <p:cNvGrpSpPr/>
            <p:nvPr/>
          </p:nvGrpSpPr>
          <p:grpSpPr>
            <a:xfrm>
              <a:off x="1911" y="2573"/>
              <a:ext cx="3168" cy="3168"/>
              <a:chOff x="304800" y="673100"/>
              <a:chExt cx="4000500" cy="4000500"/>
            </a:xfrm>
            <a:effectLst>
              <a:outerShdw blurRad="444500" dist="254000" dir="8100000" algn="tr" rotWithShape="0">
                <a:prstClr val="black">
                  <a:alpha val="50000"/>
                </a:prstClr>
              </a:outerShdw>
            </a:effectLst>
          </p:grpSpPr>
          <p:sp>
            <p:nvSpPr>
              <p:cNvPr id="21" name="同心圆 20"/>
              <p:cNvSpPr/>
              <p:nvPr>
                <p:custDataLst>
                  <p:tags r:id="rId23"/>
                </p:custDataLst>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椭圆 21"/>
              <p:cNvSpPr/>
              <p:nvPr>
                <p:custDataLst>
                  <p:tags r:id="rId24"/>
                </p:custDataLst>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custDataLst>
                <p:tags r:id="rId25"/>
              </p:custDataLst>
            </p:nvPr>
          </p:nvSpPr>
          <p:spPr>
            <a:xfrm>
              <a:off x="2200" y="5536"/>
              <a:ext cx="433" cy="433"/>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custDataLst>
                <p:tags r:id="rId26"/>
              </p:custDataLst>
            </p:nvPr>
          </p:nvSpPr>
          <p:spPr>
            <a:xfrm>
              <a:off x="2795" y="5731"/>
              <a:ext cx="216" cy="216"/>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custDataLst>
                <p:tags r:id="rId27"/>
              </p:custDataLst>
            </p:nvPr>
          </p:nvSpPr>
          <p:spPr>
            <a:xfrm>
              <a:off x="3069" y="5425"/>
              <a:ext cx="433" cy="433"/>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custDataLst>
                <p:tags r:id="rId28"/>
              </p:custDataLst>
            </p:nvPr>
          </p:nvSpPr>
          <p:spPr>
            <a:xfrm>
              <a:off x="4065" y="5616"/>
              <a:ext cx="216" cy="216"/>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custDataLst>
                <p:tags r:id="rId29"/>
              </p:custDataLst>
            </p:nvPr>
          </p:nvSpPr>
          <p:spPr>
            <a:xfrm>
              <a:off x="1768" y="5239"/>
              <a:ext cx="433" cy="433"/>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30"/>
              </p:custDataLst>
            </p:nvPr>
          </p:nvSpPr>
          <p:spPr>
            <a:xfrm>
              <a:off x="2229" y="5307"/>
              <a:ext cx="216" cy="216"/>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31"/>
              </p:custDataLst>
            </p:nvPr>
          </p:nvSpPr>
          <p:spPr>
            <a:xfrm>
              <a:off x="4649" y="5514"/>
              <a:ext cx="433" cy="433"/>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32"/>
              </p:custDataLst>
            </p:nvPr>
          </p:nvSpPr>
          <p:spPr>
            <a:xfrm>
              <a:off x="5225" y="4945"/>
              <a:ext cx="263" cy="263"/>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33"/>
              </p:custDataLst>
            </p:nvPr>
          </p:nvSpPr>
          <p:spPr>
            <a:xfrm>
              <a:off x="4902" y="5131"/>
              <a:ext cx="216" cy="216"/>
            </a:xfrm>
            <a:prstGeom prst="ellipse">
              <a:avLst/>
            </a:prstGeom>
            <a:solidFill>
              <a:srgbClr val="007CD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20"/>
            <p:cNvSpPr txBox="1"/>
            <p:nvPr>
              <p:custDataLst>
                <p:tags r:id="rId34"/>
              </p:custDataLst>
            </p:nvPr>
          </p:nvSpPr>
          <p:spPr>
            <a:xfrm>
              <a:off x="2221" y="3707"/>
              <a:ext cx="2596" cy="908"/>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ctr">
                <a:lnSpc>
                  <a:spcPct val="100000"/>
                </a:lnSpc>
              </a:pPr>
              <a:r>
                <a:rPr lang="zh-CN" sz="3750" b="1" dirty="0">
                  <a:solidFill>
                    <a:schemeClr val="tx1"/>
                  </a:solidFill>
                </a:rPr>
                <a:t>体系组</a:t>
              </a:r>
              <a:endParaRPr lang="zh-CN" sz="3750" b="1" dirty="0">
                <a:solidFill>
                  <a:schemeClr val="tx1"/>
                </a:solidFill>
              </a:endParaRPr>
            </a:p>
          </p:txBody>
        </p:sp>
      </p:grpSp>
      <p:sp>
        <p:nvSpPr>
          <p:cNvPr id="17" name="Freeform 11"/>
          <p:cNvSpPr/>
          <p:nvPr>
            <p:custDataLst>
              <p:tags r:id="rId35"/>
            </p:custDataLst>
          </p:nvPr>
        </p:nvSpPr>
        <p:spPr bwMode="auto">
          <a:xfrm>
            <a:off x="3554572" y="5345704"/>
            <a:ext cx="920359" cy="116273"/>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B0F0"/>
          </a:solidFill>
          <a:ln>
            <a:noFill/>
          </a:ln>
        </p:spPr>
        <p:txBody>
          <a:bodyPr/>
          <a:lstStyle/>
          <a:p>
            <a:pPr fontAlgn="base">
              <a:spcBef>
                <a:spcPct val="0"/>
              </a:spcBef>
              <a:spcAft>
                <a:spcPct val="0"/>
              </a:spcAft>
              <a:buFont typeface="Arial" panose="020B0604020202020204" pitchFamily="34" charset="0"/>
              <a:buNone/>
            </a:pPr>
            <a:endParaRPr lang="zh-CN" altLang="en-US" sz="2400">
              <a:solidFill>
                <a:srgbClr val="006794"/>
              </a:solidFill>
              <a:latin typeface="Arial" panose="020B0604020202020204" pitchFamily="34" charset="0"/>
              <a:ea typeface="宋体" panose="02010600030101010101" pitchFamily="2" charset="-122"/>
            </a:endParaRPr>
          </a:p>
        </p:txBody>
      </p:sp>
      <p:sp>
        <p:nvSpPr>
          <p:cNvPr id="18" name="Freeform 10"/>
          <p:cNvSpPr/>
          <p:nvPr>
            <p:custDataLst>
              <p:tags r:id="rId36"/>
            </p:custDataLst>
          </p:nvPr>
        </p:nvSpPr>
        <p:spPr bwMode="auto">
          <a:xfrm>
            <a:off x="3385666" y="5437228"/>
            <a:ext cx="6904333" cy="59545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ln>
        </p:spPr>
        <p:txBody>
          <a:bodyPr/>
          <a:lstStyle/>
          <a:p>
            <a:pPr fontAlgn="base">
              <a:spcBef>
                <a:spcPct val="0"/>
              </a:spcBef>
              <a:spcAft>
                <a:spcPct val="0"/>
              </a:spcAft>
              <a:buFont typeface="Arial" panose="020B0604020202020204" pitchFamily="34" charset="0"/>
              <a:buNone/>
            </a:pPr>
            <a:endParaRPr lang="zh-CN" altLang="en-US" sz="2400" dirty="0">
              <a:solidFill>
                <a:srgbClr val="006794"/>
              </a:solidFill>
              <a:latin typeface="Arial" panose="020B0604020202020204" pitchFamily="34" charset="0"/>
              <a:ea typeface="宋体" panose="02010600030101010101" pitchFamily="2" charset="-122"/>
            </a:endParaRPr>
          </a:p>
        </p:txBody>
      </p:sp>
      <p:sp>
        <p:nvSpPr>
          <p:cNvPr id="19" name="Rectangle 12"/>
          <p:cNvSpPr>
            <a:spLocks noChangeArrowheads="1"/>
          </p:cNvSpPr>
          <p:nvPr>
            <p:custDataLst>
              <p:tags r:id="rId37"/>
            </p:custDataLst>
          </p:nvPr>
        </p:nvSpPr>
        <p:spPr bwMode="auto">
          <a:xfrm>
            <a:off x="3643105" y="5345520"/>
            <a:ext cx="696984" cy="594140"/>
          </a:xfrm>
          <a:prstGeom prst="rect">
            <a:avLst/>
          </a:prstGeom>
          <a:solidFill>
            <a:srgbClr val="00B0F0"/>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6794"/>
              </a:solidFill>
              <a:effectLst/>
              <a:uLnTx/>
              <a:uFillTx/>
              <a:latin typeface="Arial" panose="020B0604020202020204" pitchFamily="34" charset="0"/>
              <a:ea typeface="宋体" panose="02010600030101010101" pitchFamily="2" charset="-122"/>
            </a:endParaRPr>
          </a:p>
        </p:txBody>
      </p:sp>
      <p:sp>
        <p:nvSpPr>
          <p:cNvPr id="31" name="TextBox 105"/>
          <p:cNvSpPr txBox="1">
            <a:spLocks noChangeArrowheads="1"/>
          </p:cNvSpPr>
          <p:nvPr>
            <p:custDataLst>
              <p:tags r:id="rId38"/>
            </p:custDataLst>
          </p:nvPr>
        </p:nvSpPr>
        <p:spPr bwMode="auto">
          <a:xfrm>
            <a:off x="4602667" y="5485230"/>
            <a:ext cx="577599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rPr>
              <a:t>其他任务项及宣贯</a:t>
            </a:r>
            <a:endParaRPr lang="zh-CN" altLang="en-US" sz="2400" b="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endParaRPr>
          </a:p>
        </p:txBody>
      </p:sp>
      <p:sp>
        <p:nvSpPr>
          <p:cNvPr id="32" name="TextBox 106"/>
          <p:cNvSpPr txBox="1">
            <a:spLocks noChangeArrowheads="1"/>
          </p:cNvSpPr>
          <p:nvPr>
            <p:custDataLst>
              <p:tags r:id="rId39"/>
            </p:custDataLst>
          </p:nvPr>
        </p:nvSpPr>
        <p:spPr bwMode="auto">
          <a:xfrm>
            <a:off x="3643005" y="5431843"/>
            <a:ext cx="50308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sz="2400" b="1" dirty="0">
                <a:solidFill>
                  <a:srgbClr val="FFFFFF"/>
                </a:solidFill>
                <a:latin typeface="微软雅黑" panose="020B0503020204020204" charset="-122"/>
                <a:ea typeface="微软雅黑" panose="020B0503020204020204" charset="-122"/>
              </a:rPr>
              <a:t>五</a:t>
            </a:r>
            <a:endParaRPr lang="zh-CN" altLang="en-US" sz="2400" b="1" dirty="0">
              <a:solidFill>
                <a:srgbClr val="FFFFFF"/>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10945" y="985952"/>
            <a:ext cx="11233248" cy="768350"/>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a:t>
            </a:r>
            <a:r>
              <a:rPr lang="zh-CN" altLang="en-US" sz="2200" b="1" dirty="0">
                <a:solidFill>
                  <a:srgbClr val="000000"/>
                </a:solidFill>
                <a:latin typeface="微软雅黑" panose="020B0503020204020204" charset="-122"/>
                <a:ea typeface="微软雅黑" panose="020B0503020204020204" charset="-122"/>
                <a:sym typeface="+mn-ea"/>
              </a:rPr>
              <a:t>、</a:t>
            </a:r>
            <a:r>
              <a:rPr lang="en-US" altLang="zh-CN" sz="2200" b="1" dirty="0">
                <a:solidFill>
                  <a:srgbClr val="000000"/>
                </a:solidFill>
                <a:latin typeface="微软雅黑" panose="020B0503020204020204" charset="-122"/>
                <a:ea typeface="微软雅黑" panose="020B0503020204020204" charset="-122"/>
                <a:sym typeface="+mn-ea"/>
              </a:rPr>
              <a:t>2026</a:t>
            </a:r>
            <a:r>
              <a:rPr lang="zh-CN" altLang="en-US" sz="2200" b="1" dirty="0">
                <a:solidFill>
                  <a:srgbClr val="000000"/>
                </a:solidFill>
                <a:latin typeface="微软雅黑" panose="020B0503020204020204" charset="-122"/>
                <a:ea typeface="微软雅黑" panose="020B0503020204020204" charset="-122"/>
                <a:sym typeface="+mn-ea"/>
              </a:rPr>
              <a:t>年度工作计划书任务跟踪单</a:t>
            </a:r>
            <a:endParaRPr lang="zh-CN" altLang="en-US" sz="2200" b="1" dirty="0">
              <a:solidFill>
                <a:srgbClr val="000000"/>
              </a:solidFill>
              <a:latin typeface="微软雅黑" panose="020B0503020204020204" charset="-122"/>
              <a:ea typeface="微软雅黑" panose="020B0503020204020204" charset="-122"/>
              <a:sym typeface="+mn-ea"/>
            </a:endParaRPr>
          </a:p>
          <a:p>
            <a:pPr marL="0" lvl="0" indent="0" algn="just">
              <a:buFont typeface="Wingdings" panose="05000000000000000000" charset="0"/>
              <a:buNone/>
            </a:pP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12" name="表格 11"/>
          <p:cNvGraphicFramePr/>
          <p:nvPr/>
        </p:nvGraphicFramePr>
        <p:xfrm>
          <a:off x="104775" y="1926590"/>
          <a:ext cx="11820525" cy="3432810"/>
        </p:xfrm>
        <a:graphic>
          <a:graphicData uri="http://schemas.openxmlformats.org/drawingml/2006/table">
            <a:tbl>
              <a:tblPr firstRow="1" bandRow="1">
                <a:tableStyleId>{5C22544A-7EE6-4342-B048-85BDC9FD1C3A}</a:tableStyleId>
              </a:tblPr>
              <a:tblGrid>
                <a:gridCol w="356870"/>
                <a:gridCol w="1379855"/>
                <a:gridCol w="5450205"/>
                <a:gridCol w="741045"/>
                <a:gridCol w="1445260"/>
                <a:gridCol w="979249"/>
                <a:gridCol w="1468041"/>
              </a:tblGrid>
              <a:tr h="356235">
                <a:tc gridSpan="7">
                  <a:txBody>
                    <a:bodyPr/>
                    <a:p>
                      <a:pPr indent="0" algn="ctr">
                        <a:lnSpc>
                          <a:spcPct val="120000"/>
                        </a:lnSpc>
                        <a:spcBef>
                          <a:spcPts val="0"/>
                        </a:spcBef>
                        <a:spcAft>
                          <a:spcPts val="0"/>
                        </a:spcAft>
                        <a:buNone/>
                      </a:pPr>
                      <a:r>
                        <a:rPr lang="zh-CN" altLang="en-US" sz="1400" spc="120">
                          <a:solidFill>
                            <a:srgbClr val="FFFFFF"/>
                          </a:solidFill>
                          <a:latin typeface="微软雅黑" panose="020B0503020204020204" charset="-122"/>
                          <a:ea typeface="微软雅黑" panose="020B0503020204020204" charset="-122"/>
                          <a:sym typeface="+mn-ea"/>
                        </a:rPr>
                        <a:t>年度计划书</a:t>
                      </a:r>
                      <a:r>
                        <a:rPr lang="en-US" altLang="zh-CN" sz="1400" spc="120">
                          <a:solidFill>
                            <a:srgbClr val="FFFFFF"/>
                          </a:solidFill>
                          <a:latin typeface="微软雅黑" panose="020B0503020204020204" charset="-122"/>
                          <a:ea typeface="微软雅黑" panose="020B0503020204020204" charset="-122"/>
                          <a:sym typeface="+mn-ea"/>
                        </a:rPr>
                        <a:t>7</a:t>
                      </a:r>
                      <a:r>
                        <a:rPr lang="zh-CN" altLang="en-US" sz="1400" spc="120">
                          <a:solidFill>
                            <a:srgbClr val="FFFFFF"/>
                          </a:solidFill>
                          <a:latin typeface="微软雅黑" panose="020B0503020204020204" charset="-122"/>
                          <a:ea typeface="微软雅黑" panose="020B0503020204020204" charset="-122"/>
                          <a:sym typeface="+mn-ea"/>
                        </a:rPr>
                        <a:t>月</a:t>
                      </a:r>
                      <a:r>
                        <a:rPr lang="zh-CN" altLang="en-US" sz="1400" b="1" spc="120">
                          <a:solidFill>
                            <a:srgbClr val="FFFFFF"/>
                          </a:solidFill>
                          <a:latin typeface="微软雅黑" panose="020B0503020204020204" charset="-122"/>
                          <a:ea typeface="微软雅黑" panose="020B0503020204020204" charset="-122"/>
                        </a:rPr>
                        <a:t>清单</a:t>
                      </a:r>
                      <a:endParaRPr lang="zh-CN" altLang="en-US" sz="1400" b="1"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a:tc>
                <a:tc hMerge="1">
                  <a:tcPr/>
                </a:tc>
                <a:tc hMerge="1">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517525">
                <a:tc>
                  <a:txBody>
                    <a:bodyPr/>
                    <a:p>
                      <a:pPr indent="0" algn="ctr">
                        <a:lnSpc>
                          <a:spcPct val="120000"/>
                        </a:lnSpc>
                        <a:spcBef>
                          <a:spcPts val="0"/>
                        </a:spcBef>
                        <a:spcAft>
                          <a:spcPts val="0"/>
                        </a:spcAft>
                        <a:buNone/>
                      </a:pPr>
                      <a:r>
                        <a:rPr lang="zh-CN" altLang="en-US" sz="1400" b="1" spc="120">
                          <a:solidFill>
                            <a:srgbClr val="404040"/>
                          </a:solidFill>
                          <a:latin typeface="微软雅黑" panose="020B0503020204020204" charset="-122"/>
                          <a:ea typeface="微软雅黑" panose="020B0503020204020204" charset="-122"/>
                        </a:rPr>
                        <a:t>序号</a:t>
                      </a:r>
                      <a:endParaRPr lang="zh-CN" altLang="en-US"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i="0">
                          <a:solidFill>
                            <a:srgbClr val="000000"/>
                          </a:solidFill>
                          <a:latin typeface="微软雅黑" panose="020B0503020204020204" charset="-122"/>
                          <a:ea typeface="微软雅黑" panose="020B0503020204020204" charset="-122"/>
                        </a:rPr>
                        <a:t>任务所属</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a:solidFill>
                            <a:srgbClr val="000000"/>
                          </a:solidFill>
                          <a:latin typeface="微软雅黑" panose="020B0503020204020204" charset="-122"/>
                          <a:ea typeface="微软雅黑" panose="020B0503020204020204" charset="-122"/>
                          <a:sym typeface="+mn-ea"/>
                        </a:rPr>
                        <a:t>任务内容及要求</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i="0">
                          <a:solidFill>
                            <a:srgbClr val="000000"/>
                          </a:solidFill>
                          <a:latin typeface="微软雅黑" panose="020B0503020204020204" charset="-122"/>
                          <a:ea typeface="微软雅黑" panose="020B0503020204020204" charset="-122"/>
                        </a:rPr>
                        <a:t>责任人</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spc="120">
                          <a:solidFill>
                            <a:schemeClr val="tx1"/>
                          </a:solidFill>
                          <a:latin typeface="微软雅黑" panose="020B0503020204020204" charset="-122"/>
                          <a:ea typeface="微软雅黑" panose="020B0503020204020204" charset="-122"/>
                          <a:sym typeface="+mn-ea"/>
                        </a:rPr>
                        <a:t>任务期限</a:t>
                      </a:r>
                      <a:endParaRPr lang="zh-CN" altLang="en-US"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spc="120">
                          <a:solidFill>
                            <a:schemeClr val="tx1"/>
                          </a:solidFill>
                          <a:latin typeface="微软雅黑" panose="020B0503020204020204" charset="-122"/>
                          <a:ea typeface="微软雅黑" panose="020B0503020204020204" charset="-122"/>
                        </a:rPr>
                        <a:t>任务</a:t>
                      </a:r>
                      <a:r>
                        <a:rPr lang="zh-CN" altLang="en-US" sz="1400" b="1" spc="120">
                          <a:solidFill>
                            <a:schemeClr val="tx1"/>
                          </a:solidFill>
                          <a:latin typeface="微软雅黑" panose="020B0503020204020204" charset="-122"/>
                          <a:ea typeface="微软雅黑" panose="020B0503020204020204" charset="-122"/>
                        </a:rPr>
                        <a:t>进展</a:t>
                      </a:r>
                      <a:endParaRPr lang="zh-CN" altLang="en-US"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spc="120">
                          <a:solidFill>
                            <a:schemeClr val="tx1"/>
                          </a:solidFill>
                          <a:latin typeface="微软雅黑" panose="020B0503020204020204" charset="-122"/>
                          <a:ea typeface="微软雅黑" panose="020B0503020204020204" charset="-122"/>
                        </a:rPr>
                        <a:t>任务完成</a:t>
                      </a:r>
                      <a:r>
                        <a:rPr lang="zh-CN" altLang="en-US" sz="1400" b="1" spc="120">
                          <a:solidFill>
                            <a:schemeClr val="tx1"/>
                          </a:solidFill>
                          <a:latin typeface="微软雅黑" panose="020B0503020204020204" charset="-122"/>
                          <a:ea typeface="微软雅黑" panose="020B0503020204020204" charset="-122"/>
                        </a:rPr>
                        <a:t>情况</a:t>
                      </a:r>
                      <a:endParaRPr lang="zh-CN" altLang="en-US"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1</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dirty="0">
                        <a:solidFill>
                          <a:srgbClr val="000000"/>
                        </a:solidFill>
                        <a:latin typeface="微软雅黑" panose="020B0503020204020204" charset="-122"/>
                        <a:ea typeface="微软雅黑" panose="020B0503020204020204" charset="-122"/>
                        <a:sym typeface="+mn-ea"/>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年度监督检查计划——职业健康专项监督</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000000"/>
                          </a:solidFill>
                          <a:latin typeface="微软雅黑" panose="020B0503020204020204" charset="-122"/>
                          <a:ea typeface="微软雅黑" panose="020B0503020204020204" charset="-122"/>
                        </a:rPr>
                        <a:t>韦瑞铭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000000"/>
                          </a:solidFill>
                          <a:latin typeface="微软雅黑" panose="020B0503020204020204" charset="-122"/>
                          <a:ea typeface="微软雅黑" panose="020B0503020204020204" charset="-122"/>
                        </a:rPr>
                        <a:t>2026年4月30日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FF0000"/>
                          </a:solidFill>
                          <a:latin typeface="微软雅黑" panose="020B0503020204020204" charset="-122"/>
                          <a:ea typeface="微软雅黑" panose="020B0503020204020204" charset="-122"/>
                        </a:rPr>
                        <a:t>超期</a:t>
                      </a:r>
                      <a:endParaRPr lang="zh-CN" altLang="en-US" sz="1400" b="1" i="0" dirty="0">
                        <a:solidFill>
                          <a:srgbClr val="FF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2</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dirty="0">
                        <a:solidFill>
                          <a:srgbClr val="000000"/>
                        </a:solidFill>
                        <a:latin typeface="微软雅黑" panose="020B0503020204020204" charset="-122"/>
                        <a:ea typeface="微软雅黑" panose="020B0503020204020204" charset="-122"/>
                        <a:sym typeface="+mn-ea"/>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年度监督检查计划——班组建设专项监督</a:t>
                      </a:r>
                      <a:endParaRPr lang="zh-CN" altLang="en-US" sz="1400" b="1" dirty="0">
                        <a:solidFill>
                          <a:srgbClr val="000000"/>
                        </a:solidFill>
                        <a:latin typeface="微软雅黑" panose="020B0503020204020204" charset="-122"/>
                        <a:ea typeface="微软雅黑" panose="020B0503020204020204" charset="-122"/>
                        <a:sym typeface="+mn-ea"/>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000000"/>
                          </a:solidFill>
                          <a:latin typeface="微软雅黑" panose="020B0503020204020204" charset="-122"/>
                          <a:ea typeface="微软雅黑" panose="020B0503020204020204" charset="-122"/>
                        </a:rPr>
                        <a:t>吕育祥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000000"/>
                          </a:solidFill>
                          <a:latin typeface="微软雅黑" panose="020B0503020204020204" charset="-122"/>
                          <a:ea typeface="微软雅黑" panose="020B0503020204020204" charset="-122"/>
                        </a:rPr>
                        <a:t>2026年6月30日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FF0000"/>
                          </a:solidFill>
                          <a:latin typeface="微软雅黑" panose="020B0503020204020204" charset="-122"/>
                          <a:ea typeface="微软雅黑" panose="020B0503020204020204" charset="-122"/>
                        </a:rPr>
                        <a:t>超期</a:t>
                      </a:r>
                      <a:endParaRPr lang="zh-CN" altLang="en-US" sz="1400" b="1" i="0" dirty="0">
                        <a:solidFill>
                          <a:srgbClr val="FF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3</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dirty="0">
                          <a:solidFill>
                            <a:srgbClr val="000000"/>
                          </a:solidFill>
                          <a:latin typeface="微软雅黑" panose="020B0503020204020204" charset="-122"/>
                          <a:ea typeface="微软雅黑" panose="020B0503020204020204" charset="-122"/>
                          <a:sym typeface="+mn-ea"/>
                        </a:rPr>
                        <a:t>年度工作计划</a:t>
                      </a:r>
                      <a:r>
                        <a:rPr lang="zh-CN" altLang="en-US" sz="1400" b="1" dirty="0">
                          <a:solidFill>
                            <a:srgbClr val="000000"/>
                          </a:solidFill>
                          <a:latin typeface="微软雅黑" panose="020B0503020204020204" charset="-122"/>
                          <a:ea typeface="微软雅黑" panose="020B0503020204020204" charset="-122"/>
                          <a:sym typeface="+mn-ea"/>
                        </a:rPr>
                        <a:t>书</a:t>
                      </a:r>
                      <a:endParaRPr lang="zh-CN" altLang="en-US" sz="1400" b="1" dirty="0">
                        <a:solidFill>
                          <a:srgbClr val="000000"/>
                        </a:solidFill>
                        <a:latin typeface="微软雅黑" panose="020B0503020204020204" charset="-122"/>
                        <a:ea typeface="微软雅黑" panose="020B0503020204020204" charset="-122"/>
                        <a:sym typeface="+mn-ea"/>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年度安全培训——车辆交通专项培训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冯海浪</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2026年7月31日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本周开展</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正常期限中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973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4</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年度监督检查计划——动火作业及消防专项检查（7月）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罗琦</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2026年7月31日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正常期限中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243205">
                <a:tc>
                  <a:txBody>
                    <a:bodyPr/>
                    <a:p>
                      <a:pPr algn="ctr">
                        <a:lnSpc>
                          <a:spcPct val="120000"/>
                        </a:lnSpc>
                        <a:spcBef>
                          <a:spcPts val="0"/>
                        </a:spcBef>
                        <a:spcAft>
                          <a:spcPts val="0"/>
                        </a:spcAft>
                        <a:buClrTx/>
                        <a:buSzTx/>
                        <a:buFontTx/>
                        <a:buNone/>
                      </a:pPr>
                      <a:r>
                        <a:rPr lang="en-US" altLang="zh-CN" sz="1400" b="1">
                          <a:solidFill>
                            <a:srgbClr val="000000"/>
                          </a:solidFill>
                          <a:latin typeface="微软雅黑" panose="020B0503020204020204" charset="-122"/>
                          <a:ea typeface="微软雅黑" panose="020B0503020204020204" charset="-122"/>
                        </a:rPr>
                        <a:t>5</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年度监督检查计划——车辆交通与治安保卫专项检查（7月）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赵鹏飞</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2026年7月31日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正常期限中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p>
                      <a:pPr algn="ctr">
                        <a:lnSpc>
                          <a:spcPct val="120000"/>
                        </a:lnSpc>
                        <a:spcBef>
                          <a:spcPts val="0"/>
                        </a:spcBef>
                        <a:spcAft>
                          <a:spcPts val="0"/>
                        </a:spcAft>
                        <a:buClrTx/>
                        <a:buSzTx/>
                        <a:buFontTx/>
                        <a:buNone/>
                      </a:pPr>
                      <a:r>
                        <a:rPr lang="en-US" altLang="zh-CN" sz="1400" b="1">
                          <a:solidFill>
                            <a:srgbClr val="000000"/>
                          </a:solidFill>
                          <a:latin typeface="微软雅黑" panose="020B0503020204020204" charset="-122"/>
                          <a:ea typeface="微软雅黑" panose="020B0503020204020204" charset="-122"/>
                        </a:rPr>
                        <a:t>6</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年度监督检查计划——环境保护专项监督（7月）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屈环荣</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2026年7月31日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正常期限中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9730">
                <a:tc>
                  <a:txBody>
                    <a:bodyPr/>
                    <a:p>
                      <a:pPr algn="ctr">
                        <a:lnSpc>
                          <a:spcPct val="120000"/>
                        </a:lnSpc>
                        <a:spcBef>
                          <a:spcPts val="0"/>
                        </a:spcBef>
                        <a:spcAft>
                          <a:spcPts val="0"/>
                        </a:spcAft>
                        <a:buClrTx/>
                        <a:buSzTx/>
                        <a:buFontTx/>
                        <a:buNone/>
                      </a:pPr>
                      <a:r>
                        <a:rPr lang="en-US" altLang="zh-CN" sz="1400" b="1">
                          <a:solidFill>
                            <a:srgbClr val="000000"/>
                          </a:solidFill>
                          <a:latin typeface="微软雅黑" panose="020B0503020204020204" charset="-122"/>
                          <a:ea typeface="微软雅黑" panose="020B0503020204020204" charset="-122"/>
                        </a:rPr>
                        <a:t>7</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基坑边坡坍塌事故应急演练实战</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罗荣鑫</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2026年7月31日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dirty="0">
                          <a:solidFill>
                            <a:srgbClr val="000000"/>
                          </a:solidFill>
                          <a:latin typeface="微软雅黑" panose="020B0503020204020204" charset="-122"/>
                          <a:ea typeface="微软雅黑" panose="020B0503020204020204" charset="-122"/>
                          <a:sym typeface="+mn-ea"/>
                        </a:rPr>
                        <a:t>正常期限中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60805" y="1206297"/>
            <a:ext cx="11233248" cy="768350"/>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a:t>
            </a:r>
            <a:r>
              <a:rPr lang="zh-CN" altLang="en-US" sz="2200" b="1" dirty="0">
                <a:solidFill>
                  <a:srgbClr val="000000"/>
                </a:solidFill>
                <a:latin typeface="微软雅黑" panose="020B0503020204020204" charset="-122"/>
                <a:ea typeface="微软雅黑" panose="020B0503020204020204" charset="-122"/>
                <a:sym typeface="+mn-ea"/>
              </a:rPr>
              <a:t>、</a:t>
            </a:r>
            <a:r>
              <a:rPr lang="en-US" altLang="zh-CN" sz="2200" b="1" dirty="0">
                <a:solidFill>
                  <a:srgbClr val="000000"/>
                </a:solidFill>
                <a:latin typeface="微软雅黑" panose="020B0503020204020204" charset="-122"/>
                <a:ea typeface="微软雅黑" panose="020B0503020204020204" charset="-122"/>
                <a:sym typeface="+mn-ea"/>
              </a:rPr>
              <a:t>2026</a:t>
            </a:r>
            <a:r>
              <a:rPr lang="zh-CN" altLang="en-US" sz="2200" b="1" dirty="0">
                <a:solidFill>
                  <a:srgbClr val="000000"/>
                </a:solidFill>
                <a:latin typeface="微软雅黑" panose="020B0503020204020204" charset="-122"/>
                <a:ea typeface="微软雅黑" panose="020B0503020204020204" charset="-122"/>
                <a:sym typeface="+mn-ea"/>
              </a:rPr>
              <a:t>年度工作计划书任务跟踪单（</a:t>
            </a:r>
            <a:r>
              <a:rPr lang="en-US" altLang="zh-CN" sz="2200" b="1" dirty="0">
                <a:solidFill>
                  <a:srgbClr val="000000"/>
                </a:solidFill>
                <a:latin typeface="微软雅黑" panose="020B0503020204020204" charset="-122"/>
                <a:ea typeface="微软雅黑" panose="020B0503020204020204" charset="-122"/>
                <a:sym typeface="+mn-ea"/>
              </a:rPr>
              <a:t>8</a:t>
            </a:r>
            <a:r>
              <a:rPr lang="zh-CN" altLang="en-US" sz="2200" b="1" dirty="0">
                <a:solidFill>
                  <a:srgbClr val="000000"/>
                </a:solidFill>
                <a:latin typeface="微软雅黑" panose="020B0503020204020204" charset="-122"/>
                <a:ea typeface="微软雅黑" panose="020B0503020204020204" charset="-122"/>
                <a:sym typeface="+mn-ea"/>
              </a:rPr>
              <a:t>月）</a:t>
            </a:r>
            <a:endParaRPr lang="zh-CN" altLang="en-US" sz="2200" b="1" dirty="0">
              <a:solidFill>
                <a:srgbClr val="000000"/>
              </a:solidFill>
              <a:latin typeface="微软雅黑" panose="020B0503020204020204" charset="-122"/>
              <a:ea typeface="微软雅黑" panose="020B0503020204020204" charset="-122"/>
              <a:sym typeface="+mn-ea"/>
            </a:endParaRPr>
          </a:p>
          <a:p>
            <a:pPr marL="0" lvl="0" indent="0" algn="just">
              <a:buFont typeface="Wingdings" panose="05000000000000000000" charset="0"/>
              <a:buNone/>
            </a:pP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12" name="表格 11"/>
          <p:cNvGraphicFramePr/>
          <p:nvPr/>
        </p:nvGraphicFramePr>
        <p:xfrm>
          <a:off x="405130" y="1761490"/>
          <a:ext cx="10923270" cy="2785110"/>
        </p:xfrm>
        <a:graphic>
          <a:graphicData uri="http://schemas.openxmlformats.org/drawingml/2006/table">
            <a:tbl>
              <a:tblPr firstRow="1" bandRow="1">
                <a:tableStyleId>{5C22544A-7EE6-4342-B048-85BDC9FD1C3A}</a:tableStyleId>
              </a:tblPr>
              <a:tblGrid>
                <a:gridCol w="490959"/>
                <a:gridCol w="1315749"/>
                <a:gridCol w="5040111"/>
                <a:gridCol w="880213"/>
                <a:gridCol w="1525270"/>
                <a:gridCol w="934720"/>
                <a:gridCol w="735965"/>
              </a:tblGrid>
              <a:tr h="346075">
                <a:tc gridSpan="7">
                  <a:txBody>
                    <a:bodyPr/>
                    <a:p>
                      <a:pPr indent="0" algn="ctr">
                        <a:lnSpc>
                          <a:spcPct val="120000"/>
                        </a:lnSpc>
                        <a:spcBef>
                          <a:spcPts val="0"/>
                        </a:spcBef>
                        <a:spcAft>
                          <a:spcPts val="0"/>
                        </a:spcAft>
                        <a:buNone/>
                      </a:pPr>
                      <a:r>
                        <a:rPr lang="zh-CN" altLang="en-US" sz="1400" spc="120">
                          <a:solidFill>
                            <a:srgbClr val="FFFFFF"/>
                          </a:solidFill>
                          <a:latin typeface="微软雅黑" panose="020B0503020204020204" charset="-122"/>
                          <a:ea typeface="微软雅黑" panose="020B0503020204020204" charset="-122"/>
                          <a:sym typeface="+mn-ea"/>
                        </a:rPr>
                        <a:t>年度计划书</a:t>
                      </a:r>
                      <a:r>
                        <a:rPr lang="en-US" altLang="zh-CN" sz="1400" spc="120">
                          <a:solidFill>
                            <a:srgbClr val="FFFFFF"/>
                          </a:solidFill>
                          <a:latin typeface="微软雅黑" panose="020B0503020204020204" charset="-122"/>
                          <a:ea typeface="微软雅黑" panose="020B0503020204020204" charset="-122"/>
                          <a:sym typeface="+mn-ea"/>
                        </a:rPr>
                        <a:t>6</a:t>
                      </a:r>
                      <a:r>
                        <a:rPr lang="zh-CN" altLang="en-US" sz="1400" spc="120">
                          <a:solidFill>
                            <a:srgbClr val="FFFFFF"/>
                          </a:solidFill>
                          <a:latin typeface="微软雅黑" panose="020B0503020204020204" charset="-122"/>
                          <a:ea typeface="微软雅黑" panose="020B0503020204020204" charset="-122"/>
                          <a:sym typeface="+mn-ea"/>
                        </a:rPr>
                        <a:t>月</a:t>
                      </a:r>
                      <a:r>
                        <a:rPr lang="zh-CN" altLang="en-US" sz="1400" b="1" spc="120">
                          <a:solidFill>
                            <a:srgbClr val="FFFFFF"/>
                          </a:solidFill>
                          <a:latin typeface="微软雅黑" panose="020B0503020204020204" charset="-122"/>
                          <a:ea typeface="微软雅黑" panose="020B0503020204020204" charset="-122"/>
                        </a:rPr>
                        <a:t>清单</a:t>
                      </a:r>
                      <a:endParaRPr lang="zh-CN" altLang="en-US" sz="1400" b="1"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a:tc>
                <a:tc hMerge="1">
                  <a:tcPr/>
                </a:tc>
                <a:tc hMerge="1">
                  <a:tcPr/>
                </a:tc>
                <a:tc hMerge="1">
                  <a:tcPr/>
                </a:tc>
              </a:tr>
              <a:tr h="368935">
                <a:tc>
                  <a:txBody>
                    <a:bodyPr/>
                    <a:p>
                      <a:pPr indent="0" algn="ctr">
                        <a:lnSpc>
                          <a:spcPct val="120000"/>
                        </a:lnSpc>
                        <a:spcBef>
                          <a:spcPts val="0"/>
                        </a:spcBef>
                        <a:spcAft>
                          <a:spcPts val="0"/>
                        </a:spcAft>
                        <a:buNone/>
                      </a:pPr>
                      <a:r>
                        <a:rPr lang="zh-CN" altLang="en-US" sz="1400" b="1" spc="120">
                          <a:solidFill>
                            <a:srgbClr val="404040"/>
                          </a:solidFill>
                          <a:latin typeface="微软雅黑" panose="020B0503020204020204" charset="-122"/>
                          <a:ea typeface="微软雅黑" panose="020B0503020204020204" charset="-122"/>
                        </a:rPr>
                        <a:t>序号</a:t>
                      </a:r>
                      <a:endParaRPr lang="zh-CN" altLang="en-US"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i="0">
                          <a:solidFill>
                            <a:srgbClr val="000000"/>
                          </a:solidFill>
                          <a:latin typeface="微软雅黑" panose="020B0503020204020204" charset="-122"/>
                          <a:ea typeface="微软雅黑" panose="020B0503020204020204" charset="-122"/>
                        </a:rPr>
                        <a:t>任务所属</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a:solidFill>
                            <a:srgbClr val="000000"/>
                          </a:solidFill>
                          <a:latin typeface="微软雅黑" panose="020B0503020204020204" charset="-122"/>
                          <a:ea typeface="微软雅黑" panose="020B0503020204020204" charset="-122"/>
                          <a:sym typeface="+mn-ea"/>
                        </a:rPr>
                        <a:t>任务内容及要求</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i="0">
                          <a:solidFill>
                            <a:srgbClr val="000000"/>
                          </a:solidFill>
                          <a:latin typeface="微软雅黑" panose="020B0503020204020204" charset="-122"/>
                          <a:ea typeface="微软雅黑" panose="020B0503020204020204" charset="-122"/>
                        </a:rPr>
                        <a:t>责任人</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完成期限</a:t>
                      </a: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a:solidFill>
                            <a:srgbClr val="000000"/>
                          </a:solidFill>
                          <a:latin typeface="微软雅黑" panose="020B0503020204020204" charset="-122"/>
                          <a:ea typeface="微软雅黑" panose="020B0503020204020204" charset="-122"/>
                          <a:sym typeface="+mn-ea"/>
                        </a:rPr>
                        <a:t>完成情况</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spc="120">
                          <a:solidFill>
                            <a:schemeClr val="tx1"/>
                          </a:solidFill>
                          <a:latin typeface="微软雅黑" panose="020B0503020204020204" charset="-122"/>
                          <a:ea typeface="微软雅黑" panose="020B0503020204020204" charset="-122"/>
                          <a:sym typeface="+mn-ea"/>
                        </a:rPr>
                        <a:t>任务进展</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30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1</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年度安全培训——治安保卫专项培训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果机吃沙</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2026年8月31日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i="0" dirty="0">
                          <a:solidFill>
                            <a:srgbClr val="000000"/>
                          </a:solidFill>
                          <a:latin typeface="微软雅黑" panose="020B0503020204020204" charset="-122"/>
                          <a:ea typeface="微软雅黑" panose="020B0503020204020204" charset="-122"/>
                        </a:rPr>
                        <a:t>进行中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2</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年度监督检查计划——动火作业及消防专项检查（8月）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罗琦</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2026年8月31日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进行中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3</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年度监督检查计划——施工机械及工器具专项检查（8月）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杨思远</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2026年8月31日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进行中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4</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年度监督检查计划——施工用电专项检查（8月）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罗荣鑫</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2026年8月31日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进行中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2959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5</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年度工作计划书</a:t>
                      </a:r>
                      <a:endParaRPr lang="en-US" altLang="zh-CN" sz="1400" b="1" i="0" spc="120">
                        <a:solidFill>
                          <a:schemeClr val="tx1"/>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年度监督检查计划——孔洞临边专项检查（8月）</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罗荣鑫</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r>
                        <a:rPr lang="zh-CN" altLang="en-US" sz="1400" b="1" i="0" dirty="0">
                          <a:solidFill>
                            <a:srgbClr val="000000"/>
                          </a:solidFill>
                          <a:latin typeface="微软雅黑" panose="020B0503020204020204" charset="-122"/>
                          <a:ea typeface="微软雅黑" panose="020B0503020204020204" charset="-122"/>
                        </a:rPr>
                        <a:t>2026年8月31日</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dirty="0">
                          <a:solidFill>
                            <a:srgbClr val="000000"/>
                          </a:solidFill>
                          <a:latin typeface="微软雅黑" panose="020B0503020204020204" charset="-122"/>
                          <a:ea typeface="微软雅黑" panose="020B0503020204020204" charset="-122"/>
                          <a:sym typeface="+mn-ea"/>
                        </a:rPr>
                        <a:t>进行中</a:t>
                      </a:r>
                      <a:endParaRPr lang="zh-CN" altLang="en-US" sz="1400" b="1" i="0" dirty="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93420" y="1535227"/>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a:t>
            </a:r>
            <a:r>
              <a:rPr lang="zh-CN" altLang="en-US" sz="2200" b="1" dirty="0">
                <a:solidFill>
                  <a:srgbClr val="000000"/>
                </a:solidFill>
                <a:latin typeface="微软雅黑" panose="020B0503020204020204" charset="-122"/>
                <a:ea typeface="微软雅黑" panose="020B0503020204020204" charset="-122"/>
                <a:sym typeface="+mn-ea"/>
              </a:rPr>
              <a:t>、部门周会任务</a:t>
            </a:r>
            <a:r>
              <a:rPr lang="zh-CN" altLang="en-US" sz="2200" b="1" dirty="0">
                <a:solidFill>
                  <a:srgbClr val="000000"/>
                </a:solidFill>
                <a:latin typeface="微软雅黑" panose="020B0503020204020204" charset="-122"/>
                <a:ea typeface="微软雅黑" panose="020B0503020204020204" charset="-122"/>
                <a:sym typeface="+mn-ea"/>
              </a:rPr>
              <a:t>跟踪单</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12" name="表格 11"/>
          <p:cNvGraphicFramePr/>
          <p:nvPr/>
        </p:nvGraphicFramePr>
        <p:xfrm>
          <a:off x="93345" y="1535430"/>
          <a:ext cx="12016105" cy="4726305"/>
        </p:xfrm>
        <a:graphic>
          <a:graphicData uri="http://schemas.openxmlformats.org/drawingml/2006/table">
            <a:tbl>
              <a:tblPr firstRow="1" bandRow="1">
                <a:tableStyleId>{5C22544A-7EE6-4342-B048-85BDC9FD1C3A}</a:tableStyleId>
              </a:tblPr>
              <a:tblGrid>
                <a:gridCol w="551815"/>
                <a:gridCol w="1280795"/>
                <a:gridCol w="5069840"/>
                <a:gridCol w="1203325"/>
                <a:gridCol w="1244600"/>
                <a:gridCol w="1455420"/>
                <a:gridCol w="1210310"/>
              </a:tblGrid>
              <a:tr h="268605">
                <a:tc gridSpan="7">
                  <a:txBody>
                    <a:bodyPr/>
                    <a:p>
                      <a:pPr indent="0" algn="ctr">
                        <a:lnSpc>
                          <a:spcPct val="120000"/>
                        </a:lnSpc>
                        <a:spcBef>
                          <a:spcPts val="0"/>
                        </a:spcBef>
                        <a:spcAft>
                          <a:spcPts val="0"/>
                        </a:spcAft>
                        <a:buNone/>
                      </a:pPr>
                      <a:r>
                        <a:rPr lang="zh-CN" altLang="en-US" sz="1400" b="0" spc="120">
                          <a:solidFill>
                            <a:srgbClr val="FFFFFF"/>
                          </a:solidFill>
                          <a:latin typeface="微软雅黑" panose="020B0503020204020204" charset="-122"/>
                          <a:ea typeface="微软雅黑" panose="020B0503020204020204" charset="-122"/>
                        </a:rPr>
                        <a:t>部门会议任务</a:t>
                      </a:r>
                      <a:r>
                        <a:rPr lang="zh-CN" altLang="en-US" sz="1400" b="0" spc="120">
                          <a:solidFill>
                            <a:srgbClr val="FFFFFF"/>
                          </a:solidFill>
                          <a:latin typeface="微软雅黑" panose="020B0503020204020204" charset="-122"/>
                          <a:ea typeface="微软雅黑" panose="020B0503020204020204" charset="-122"/>
                        </a:rPr>
                        <a:t>跟踪</a:t>
                      </a:r>
                      <a:endParaRPr lang="zh-CN" altLang="en-US" sz="1400" b="0"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252730">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序号</a:t>
                      </a:r>
                      <a:endParaRPr lang="zh-CN" altLang="en-US"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i="0">
                          <a:solidFill>
                            <a:srgbClr val="000000"/>
                          </a:solidFill>
                          <a:latin typeface="微软雅黑" panose="020B0503020204020204" charset="-122"/>
                          <a:ea typeface="微软雅黑" panose="020B0503020204020204" charset="-122"/>
                        </a:rPr>
                        <a:t>任务来源</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i="0">
                          <a:solidFill>
                            <a:srgbClr val="000000"/>
                          </a:solidFill>
                          <a:latin typeface="微软雅黑" panose="020B0503020204020204" charset="-122"/>
                          <a:ea typeface="微软雅黑" panose="020B0503020204020204" charset="-122"/>
                        </a:rPr>
                        <a:t>任务内容及要求</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i="0">
                          <a:solidFill>
                            <a:srgbClr val="000000"/>
                          </a:solidFill>
                          <a:latin typeface="微软雅黑" panose="020B0503020204020204" charset="-122"/>
                          <a:ea typeface="微软雅黑" panose="020B0503020204020204" charset="-122"/>
                        </a:rPr>
                        <a:t>责任人</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sym typeface="+mn-ea"/>
                        </a:rPr>
                        <a:t>任务期限</a:t>
                      </a:r>
                      <a:endParaRPr lang="zh-CN" altLang="en-US" sz="1400" b="1">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任务进展</a:t>
                      </a: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任务完成情况</a:t>
                      </a: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p>
                      <a:pPr algn="ctr" fontAlgn="t">
                        <a:lnSpc>
                          <a:spcPct val="100000"/>
                        </a:lnSpc>
                        <a:spcBef>
                          <a:spcPts val="0"/>
                        </a:spcBef>
                        <a:buClrTx/>
                        <a:buSzTx/>
                        <a:buFontTx/>
                        <a:buNone/>
                      </a:pPr>
                      <a:r>
                        <a:rPr lang="en-US" altLang="zh-CN" sz="1400" b="1">
                          <a:solidFill>
                            <a:srgbClr val="000000"/>
                          </a:solidFill>
                          <a:latin typeface="微软雅黑" panose="020B0503020204020204" charset="-122"/>
                          <a:ea typeface="微软雅黑" panose="020B0503020204020204" charset="-122"/>
                        </a:rPr>
                        <a:t>1</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i="0">
                          <a:solidFill>
                            <a:srgbClr val="000000"/>
                          </a:solidFill>
                          <a:latin typeface="微软雅黑" panose="020B0503020204020204" charset="-122"/>
                          <a:ea typeface="微软雅黑" panose="020B0503020204020204" charset="-122"/>
                        </a:rPr>
                        <a:t>部门</a:t>
                      </a:r>
                      <a:r>
                        <a:rPr lang="zh-CN" altLang="en-US" sz="1400" b="1" i="0">
                          <a:solidFill>
                            <a:srgbClr val="000000"/>
                          </a:solidFill>
                          <a:latin typeface="微软雅黑" panose="020B0503020204020204" charset="-122"/>
                          <a:ea typeface="微软雅黑" panose="020B0503020204020204" charset="-122"/>
                        </a:rPr>
                        <a:t>任务跟踪</a:t>
                      </a:r>
                      <a:endParaRPr lang="zh-CN" altLang="en-US" sz="1400" b="1" i="0">
                        <a:solidFill>
                          <a:srgbClr val="000000"/>
                        </a:solidFill>
                        <a:latin typeface="微软雅黑" panose="020B0503020204020204" charset="-122"/>
                        <a:ea typeface="微软雅黑" panose="020B0503020204020204" charset="-122"/>
                      </a:endParaRP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a:solidFill>
                            <a:srgbClr val="000000"/>
                          </a:solidFill>
                          <a:latin typeface="微软雅黑" panose="020B0503020204020204" charset="-122"/>
                          <a:ea typeface="微软雅黑" panose="020B0503020204020204" charset="-122"/>
                          <a:sym typeface="+mn-ea"/>
                        </a:rPr>
                        <a:t>安全教育示范区加快推进，确定展示位置及实施方案</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果机吃沙</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en-US" altLang="zh-CN" sz="1400" b="1" i="0">
                          <a:solidFill>
                            <a:srgbClr val="000000"/>
                          </a:solidFill>
                          <a:latin typeface="微软雅黑" panose="020B0503020204020204" charset="-122"/>
                          <a:ea typeface="微软雅黑" panose="020B0503020204020204" charset="-122"/>
                        </a:rPr>
                        <a:t>7</a:t>
                      </a:r>
                      <a:r>
                        <a:rPr lang="zh-CN" altLang="en-US" sz="1400" b="1" i="0">
                          <a:solidFill>
                            <a:srgbClr val="000000"/>
                          </a:solidFill>
                          <a:latin typeface="微软雅黑" panose="020B0503020204020204" charset="-122"/>
                          <a:ea typeface="微软雅黑" panose="020B0503020204020204" charset="-122"/>
                        </a:rPr>
                        <a:t>月</a:t>
                      </a:r>
                      <a:r>
                        <a:rPr lang="en-US" altLang="zh-CN" sz="1400" b="1" i="0">
                          <a:solidFill>
                            <a:srgbClr val="000000"/>
                          </a:solidFill>
                          <a:latin typeface="微软雅黑" panose="020B0503020204020204" charset="-122"/>
                          <a:ea typeface="微软雅黑" panose="020B0503020204020204" charset="-122"/>
                        </a:rPr>
                        <a:t>24</a:t>
                      </a:r>
                      <a:r>
                        <a:rPr lang="zh-CN" altLang="en-US" sz="1400" b="1" i="0">
                          <a:solidFill>
                            <a:srgbClr val="000000"/>
                          </a:solidFill>
                          <a:latin typeface="微软雅黑" panose="020B0503020204020204" charset="-122"/>
                          <a:ea typeface="微软雅黑" panose="020B0503020204020204" charset="-122"/>
                        </a:rPr>
                        <a:t>日</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sym typeface="+mn-ea"/>
                        </a:rPr>
                        <a:t>临期</a:t>
                      </a:r>
                      <a:endParaRPr lang="zh-CN" altLang="en-US" sz="1400" b="1">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p>
                      <a:pPr algn="ctr" fontAlgn="t">
                        <a:lnSpc>
                          <a:spcPct val="100000"/>
                        </a:lnSpc>
                        <a:spcBef>
                          <a:spcPts val="0"/>
                        </a:spcBef>
                        <a:buClrTx/>
                        <a:buSzTx/>
                        <a:buFontTx/>
                        <a:buNone/>
                      </a:pPr>
                      <a:r>
                        <a:rPr lang="en-US" altLang="zh-CN" sz="1400" b="1">
                          <a:solidFill>
                            <a:srgbClr val="000000"/>
                          </a:solidFill>
                          <a:latin typeface="微软雅黑" panose="020B0503020204020204" charset="-122"/>
                          <a:ea typeface="微软雅黑" panose="020B0503020204020204" charset="-122"/>
                        </a:rPr>
                        <a:t>2</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a:solidFill>
                            <a:srgbClr val="000000"/>
                          </a:solidFill>
                          <a:latin typeface="微软雅黑" panose="020B0503020204020204" charset="-122"/>
                          <a:ea typeface="微软雅黑" panose="020B0503020204020204" charset="-122"/>
                          <a:sym typeface="+mn-ea"/>
                        </a:rPr>
                        <a:t>部门任务跟踪</a:t>
                      </a:r>
                      <a:endParaRPr lang="zh-CN" altLang="en-US" sz="1400" b="1" i="0">
                        <a:solidFill>
                          <a:srgbClr val="000000"/>
                        </a:solidFill>
                        <a:latin typeface="微软雅黑" panose="020B0503020204020204" charset="-122"/>
                        <a:ea typeface="微软雅黑" panose="020B0503020204020204" charset="-122"/>
                      </a:endParaRP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a:solidFill>
                            <a:srgbClr val="000000"/>
                          </a:solidFill>
                          <a:latin typeface="微软雅黑" panose="020B0503020204020204" charset="-122"/>
                          <a:ea typeface="微软雅黑" panose="020B0503020204020204" charset="-122"/>
                          <a:sym typeface="+mn-ea"/>
                        </a:rPr>
                        <a:t>跟踪</a:t>
                      </a:r>
                      <a:r>
                        <a:rPr lang="zh-CN" altLang="en-US" sz="1400" b="1" i="0">
                          <a:solidFill>
                            <a:srgbClr val="000000"/>
                          </a:solidFill>
                          <a:latin typeface="微软雅黑" panose="020B0503020204020204" charset="-122"/>
                          <a:ea typeface="微软雅黑" panose="020B0503020204020204" charset="-122"/>
                        </a:rPr>
                        <a:t>库房集装箱内货架和门牌的制作</a:t>
                      </a:r>
                      <a:r>
                        <a:rPr lang="zh-CN" altLang="en-US" sz="1400" b="1" i="0">
                          <a:solidFill>
                            <a:srgbClr val="000000"/>
                          </a:solidFill>
                          <a:latin typeface="微软雅黑" panose="020B0503020204020204" charset="-122"/>
                          <a:ea typeface="微软雅黑" panose="020B0503020204020204" charset="-122"/>
                        </a:rPr>
                        <a:t>安装</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果机吃沙</a:t>
                      </a:r>
                      <a:endParaRPr lang="zh-CN" altLang="en-US" sz="1400" b="1" i="0">
                        <a:solidFill>
                          <a:srgbClr val="000000"/>
                        </a:solidFill>
                        <a:latin typeface="微软雅黑" panose="020B0503020204020204" charset="-122"/>
                        <a:ea typeface="微软雅黑" panose="020B0503020204020204" charset="-122"/>
                      </a:endParaRPr>
                    </a:p>
                    <a:p>
                      <a:pPr algn="ctr" fontAlgn="t">
                        <a:buClrTx/>
                        <a:buSzTx/>
                        <a:buFontTx/>
                      </a:pPr>
                      <a:r>
                        <a:rPr lang="zh-CN" altLang="en-US" sz="1400" b="1" i="0">
                          <a:solidFill>
                            <a:srgbClr val="000000"/>
                          </a:solidFill>
                          <a:latin typeface="微软雅黑" panose="020B0503020204020204" charset="-122"/>
                          <a:ea typeface="微软雅黑" panose="020B0503020204020204" charset="-122"/>
                        </a:rPr>
                        <a:t>龚天顺</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en-US" altLang="zh-CN" sz="1400" b="1" i="0">
                          <a:solidFill>
                            <a:srgbClr val="000000"/>
                          </a:solidFill>
                          <a:latin typeface="微软雅黑" panose="020B0503020204020204" charset="-122"/>
                          <a:ea typeface="微软雅黑" panose="020B0503020204020204" charset="-122"/>
                        </a:rPr>
                        <a:t>8</a:t>
                      </a:r>
                      <a:r>
                        <a:rPr lang="zh-CN" altLang="en-US" sz="1400" b="1" i="0">
                          <a:solidFill>
                            <a:srgbClr val="000000"/>
                          </a:solidFill>
                          <a:latin typeface="微软雅黑" panose="020B0503020204020204" charset="-122"/>
                          <a:ea typeface="微软雅黑" panose="020B0503020204020204" charset="-122"/>
                        </a:rPr>
                        <a:t>月</a:t>
                      </a:r>
                      <a:r>
                        <a:rPr lang="en-US" altLang="zh-CN" sz="1400" b="1" i="0">
                          <a:solidFill>
                            <a:srgbClr val="000000"/>
                          </a:solidFill>
                          <a:latin typeface="微软雅黑" panose="020B0503020204020204" charset="-122"/>
                          <a:ea typeface="微软雅黑" panose="020B0503020204020204" charset="-122"/>
                        </a:rPr>
                        <a:t>1</a:t>
                      </a:r>
                      <a:r>
                        <a:rPr lang="zh-CN" altLang="en-US" sz="1400" b="1" i="0">
                          <a:solidFill>
                            <a:srgbClr val="000000"/>
                          </a:solidFill>
                          <a:latin typeface="微软雅黑" panose="020B0503020204020204" charset="-122"/>
                          <a:ea typeface="微软雅黑" panose="020B0503020204020204" charset="-122"/>
                        </a:rPr>
                        <a:t>日</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sym typeface="+mn-ea"/>
                        </a:rPr>
                        <a:t>正常进展</a:t>
                      </a:r>
                      <a:r>
                        <a:rPr lang="zh-CN" altLang="en-US" sz="1400" b="1">
                          <a:solidFill>
                            <a:srgbClr val="000000"/>
                          </a:solidFill>
                          <a:latin typeface="微软雅黑" panose="020B0503020204020204" charset="-122"/>
                          <a:ea typeface="微软雅黑" panose="020B0503020204020204" charset="-122"/>
                          <a:sym typeface="+mn-ea"/>
                        </a:rPr>
                        <a:t>中</a:t>
                      </a:r>
                      <a:endParaRPr lang="zh-CN" altLang="en-US" sz="1400" b="1">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p>
                      <a:pPr algn="ctr" fontAlgn="t">
                        <a:lnSpc>
                          <a:spcPct val="100000"/>
                        </a:lnSpc>
                        <a:spcBef>
                          <a:spcPts val="0"/>
                        </a:spcBef>
                        <a:buClrTx/>
                        <a:buSzTx/>
                        <a:buFontTx/>
                        <a:buNone/>
                      </a:pPr>
                      <a:r>
                        <a:rPr lang="en-US" altLang="zh-CN" sz="1400" b="1">
                          <a:solidFill>
                            <a:srgbClr val="000000"/>
                          </a:solidFill>
                          <a:latin typeface="微软雅黑" panose="020B0503020204020204" charset="-122"/>
                          <a:ea typeface="微软雅黑" panose="020B0503020204020204" charset="-122"/>
                        </a:rPr>
                        <a:t>3</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a:solidFill>
                            <a:srgbClr val="000000"/>
                          </a:solidFill>
                          <a:latin typeface="微软雅黑" panose="020B0503020204020204" charset="-122"/>
                          <a:ea typeface="微软雅黑" panose="020B0503020204020204" charset="-122"/>
                          <a:sym typeface="+mn-ea"/>
                        </a:rPr>
                        <a:t>部门任务跟踪</a:t>
                      </a:r>
                      <a:endParaRPr lang="zh-CN" altLang="en-US" sz="1400" b="1" i="0">
                        <a:solidFill>
                          <a:srgbClr val="000000"/>
                        </a:solidFill>
                        <a:latin typeface="微软雅黑" panose="020B0503020204020204" charset="-122"/>
                        <a:ea typeface="微软雅黑" panose="020B0503020204020204" charset="-122"/>
                      </a:endParaRP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人车分流</a:t>
                      </a:r>
                      <a:r>
                        <a:rPr lang="zh-CN" altLang="en-US" sz="1400" b="1" i="0">
                          <a:solidFill>
                            <a:srgbClr val="000000"/>
                          </a:solidFill>
                          <a:latin typeface="微软雅黑" panose="020B0503020204020204" charset="-122"/>
                          <a:ea typeface="微软雅黑" panose="020B0503020204020204" charset="-122"/>
                        </a:rPr>
                        <a:t>划线和停车位</a:t>
                      </a:r>
                      <a:r>
                        <a:rPr lang="zh-CN" altLang="en-US" sz="1400" b="1" i="0">
                          <a:solidFill>
                            <a:srgbClr val="000000"/>
                          </a:solidFill>
                          <a:latin typeface="微软雅黑" panose="020B0503020204020204" charset="-122"/>
                          <a:ea typeface="微软雅黑" panose="020B0503020204020204" charset="-122"/>
                        </a:rPr>
                        <a:t>划线</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果机吃沙</a:t>
                      </a:r>
                      <a:endParaRPr lang="zh-CN" altLang="en-US" sz="1400" b="1" i="0">
                        <a:solidFill>
                          <a:srgbClr val="000000"/>
                        </a:solidFill>
                        <a:latin typeface="微软雅黑" panose="020B0503020204020204" charset="-122"/>
                        <a:ea typeface="微软雅黑" panose="020B0503020204020204" charset="-122"/>
                      </a:endParaRPr>
                    </a:p>
                    <a:p>
                      <a:pPr algn="ctr" fontAlgn="t">
                        <a:buClrTx/>
                        <a:buSzTx/>
                        <a:buFontTx/>
                      </a:pPr>
                      <a:r>
                        <a:rPr lang="zh-CN" altLang="en-US" sz="1400" b="1" i="0">
                          <a:solidFill>
                            <a:srgbClr val="000000"/>
                          </a:solidFill>
                          <a:latin typeface="微软雅黑" panose="020B0503020204020204" charset="-122"/>
                          <a:ea typeface="微软雅黑" panose="020B0503020204020204" charset="-122"/>
                        </a:rPr>
                        <a:t>龚天顺</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en-US" altLang="zh-CN" sz="1400" b="1" i="0">
                          <a:solidFill>
                            <a:srgbClr val="000000"/>
                          </a:solidFill>
                          <a:latin typeface="微软雅黑" panose="020B0503020204020204" charset="-122"/>
                          <a:ea typeface="微软雅黑" panose="020B0503020204020204" charset="-122"/>
                        </a:rPr>
                        <a:t>7</a:t>
                      </a:r>
                      <a:r>
                        <a:rPr lang="zh-CN" altLang="en-US" sz="1400" b="1" i="0">
                          <a:solidFill>
                            <a:srgbClr val="000000"/>
                          </a:solidFill>
                          <a:latin typeface="微软雅黑" panose="020B0503020204020204" charset="-122"/>
                          <a:ea typeface="微软雅黑" panose="020B0503020204020204" charset="-122"/>
                        </a:rPr>
                        <a:t>月</a:t>
                      </a:r>
                      <a:r>
                        <a:rPr lang="en-US" altLang="zh-CN" sz="1400" b="1" i="0">
                          <a:solidFill>
                            <a:srgbClr val="000000"/>
                          </a:solidFill>
                          <a:latin typeface="微软雅黑" panose="020B0503020204020204" charset="-122"/>
                          <a:ea typeface="微软雅黑" panose="020B0503020204020204" charset="-122"/>
                        </a:rPr>
                        <a:t>24</a:t>
                      </a:r>
                      <a:r>
                        <a:rPr lang="zh-CN" altLang="en-US" sz="1400" b="1" i="0">
                          <a:solidFill>
                            <a:srgbClr val="000000"/>
                          </a:solidFill>
                          <a:latin typeface="微软雅黑" panose="020B0503020204020204" charset="-122"/>
                          <a:ea typeface="微软雅黑" panose="020B0503020204020204" charset="-122"/>
                        </a:rPr>
                        <a:t>日</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sym typeface="+mn-ea"/>
                        </a:rPr>
                        <a:t>临期</a:t>
                      </a:r>
                      <a:endParaRPr lang="zh-CN" altLang="en-US" sz="1400" b="1">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p>
                      <a:pPr algn="ctr" fontAlgn="t">
                        <a:lnSpc>
                          <a:spcPct val="100000"/>
                        </a:lnSpc>
                        <a:spcBef>
                          <a:spcPts val="0"/>
                        </a:spcBef>
                        <a:buClrTx/>
                        <a:buSzTx/>
                        <a:buFontTx/>
                        <a:buNone/>
                      </a:pPr>
                      <a:r>
                        <a:rPr lang="en-US" altLang="zh-CN" sz="1400" b="1">
                          <a:solidFill>
                            <a:srgbClr val="000000"/>
                          </a:solidFill>
                          <a:latin typeface="微软雅黑" panose="020B0503020204020204" charset="-122"/>
                          <a:ea typeface="微软雅黑" panose="020B0503020204020204" charset="-122"/>
                        </a:rPr>
                        <a:t>4</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a:solidFill>
                            <a:srgbClr val="000000"/>
                          </a:solidFill>
                          <a:latin typeface="微软雅黑" panose="020B0503020204020204" charset="-122"/>
                          <a:ea typeface="微软雅黑" panose="020B0503020204020204" charset="-122"/>
                          <a:sym typeface="+mn-ea"/>
                        </a:rPr>
                        <a:t>部门任务跟踪</a:t>
                      </a:r>
                      <a:endParaRPr lang="zh-CN" altLang="en-US" sz="1400" b="1" i="0">
                        <a:solidFill>
                          <a:srgbClr val="000000"/>
                        </a:solidFill>
                        <a:latin typeface="微软雅黑" panose="020B0503020204020204" charset="-122"/>
                        <a:ea typeface="微软雅黑" panose="020B0503020204020204" charset="-122"/>
                      </a:endParaRP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落实网格化钉钉打卡和扫码，汇总</a:t>
                      </a:r>
                      <a:r>
                        <a:rPr lang="zh-CN" altLang="en-US" sz="1400" b="1" i="0">
                          <a:solidFill>
                            <a:srgbClr val="000000"/>
                          </a:solidFill>
                          <a:latin typeface="微软雅黑" panose="020B0503020204020204" charset="-122"/>
                          <a:ea typeface="微软雅黑" panose="020B0503020204020204" charset="-122"/>
                        </a:rPr>
                        <a:t>名单，各区域任务网格化</a:t>
                      </a:r>
                      <a:r>
                        <a:rPr lang="zh-CN" altLang="en-US" sz="1400" b="1" i="0">
                          <a:solidFill>
                            <a:srgbClr val="000000"/>
                          </a:solidFill>
                          <a:latin typeface="微软雅黑" panose="020B0503020204020204" charset="-122"/>
                          <a:ea typeface="微软雅黑" panose="020B0503020204020204" charset="-122"/>
                        </a:rPr>
                        <a:t>推进</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果机吃沙</a:t>
                      </a:r>
                      <a:endParaRPr lang="zh-CN" altLang="en-US" sz="1400" b="1" i="0">
                        <a:solidFill>
                          <a:srgbClr val="000000"/>
                        </a:solidFill>
                        <a:latin typeface="微软雅黑" panose="020B0503020204020204" charset="-122"/>
                        <a:ea typeface="微软雅黑" panose="020B0503020204020204" charset="-122"/>
                      </a:endParaRPr>
                    </a:p>
                    <a:p>
                      <a:pPr algn="ctr" fontAlgn="t">
                        <a:buClrTx/>
                        <a:buSzTx/>
                        <a:buFontTx/>
                      </a:pPr>
                      <a:r>
                        <a:rPr lang="zh-CN" altLang="en-US" sz="1400" b="1" i="0">
                          <a:solidFill>
                            <a:srgbClr val="000000"/>
                          </a:solidFill>
                          <a:latin typeface="微软雅黑" panose="020B0503020204020204" charset="-122"/>
                          <a:ea typeface="微软雅黑" panose="020B0503020204020204" charset="-122"/>
                        </a:rPr>
                        <a:t>龚天顺</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en-US" altLang="zh-CN" sz="1400" b="1" i="0">
                          <a:solidFill>
                            <a:srgbClr val="000000"/>
                          </a:solidFill>
                          <a:latin typeface="微软雅黑" panose="020B0503020204020204" charset="-122"/>
                          <a:ea typeface="微软雅黑" panose="020B0503020204020204" charset="-122"/>
                        </a:rPr>
                        <a:t>7</a:t>
                      </a:r>
                      <a:r>
                        <a:rPr lang="zh-CN" altLang="en-US" sz="1400" b="1" i="0">
                          <a:solidFill>
                            <a:srgbClr val="000000"/>
                          </a:solidFill>
                          <a:latin typeface="微软雅黑" panose="020B0503020204020204" charset="-122"/>
                          <a:ea typeface="微软雅黑" panose="020B0503020204020204" charset="-122"/>
                        </a:rPr>
                        <a:t>月</a:t>
                      </a:r>
                      <a:r>
                        <a:rPr lang="en-US" altLang="zh-CN" sz="1400" b="1" i="0">
                          <a:solidFill>
                            <a:srgbClr val="000000"/>
                          </a:solidFill>
                          <a:latin typeface="微软雅黑" panose="020B0503020204020204" charset="-122"/>
                          <a:ea typeface="微软雅黑" panose="020B0503020204020204" charset="-122"/>
                        </a:rPr>
                        <a:t>19</a:t>
                      </a:r>
                      <a:r>
                        <a:rPr lang="zh-CN" altLang="en-US" sz="1400" b="1" i="0">
                          <a:solidFill>
                            <a:srgbClr val="000000"/>
                          </a:solidFill>
                          <a:latin typeface="微软雅黑" panose="020B0503020204020204" charset="-122"/>
                          <a:ea typeface="微软雅黑" panose="020B0503020204020204" charset="-122"/>
                        </a:rPr>
                        <a:t>日</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已完成</a:t>
                      </a: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sym typeface="+mn-ea"/>
                        </a:rPr>
                        <a:t>已完成</a:t>
                      </a:r>
                      <a:endParaRPr lang="zh-CN" altLang="en-US" sz="1400" b="1">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p>
                      <a:pPr algn="ctr" fontAlgn="t">
                        <a:lnSpc>
                          <a:spcPct val="100000"/>
                        </a:lnSpc>
                        <a:spcBef>
                          <a:spcPts val="0"/>
                        </a:spcBef>
                        <a:buClrTx/>
                        <a:buSzTx/>
                        <a:buFontTx/>
                        <a:buNone/>
                      </a:pPr>
                      <a:r>
                        <a:rPr lang="en-US" altLang="zh-CN" sz="1400" b="1">
                          <a:solidFill>
                            <a:srgbClr val="000000"/>
                          </a:solidFill>
                          <a:latin typeface="微软雅黑" panose="020B0503020204020204" charset="-122"/>
                          <a:ea typeface="微软雅黑" panose="020B0503020204020204" charset="-122"/>
                        </a:rPr>
                        <a:t>5</a:t>
                      </a: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buNone/>
                      </a:pPr>
                      <a:r>
                        <a:rPr lang="zh-CN" altLang="en-US" sz="1400" b="1">
                          <a:solidFill>
                            <a:srgbClr val="000000"/>
                          </a:solidFill>
                          <a:latin typeface="微软雅黑" panose="020B0503020204020204" charset="-122"/>
                          <a:ea typeface="微软雅黑" panose="020B0503020204020204" charset="-122"/>
                          <a:sym typeface="+mn-ea"/>
                        </a:rPr>
                        <a:t>部门任务跟踪</a:t>
                      </a:r>
                      <a:endParaRPr lang="zh-CN" altLang="en-US" sz="1400" b="1" i="0">
                        <a:solidFill>
                          <a:srgbClr val="000000"/>
                        </a:solidFill>
                        <a:latin typeface="微软雅黑" panose="020B0503020204020204" charset="-122"/>
                        <a:ea typeface="微软雅黑" panose="020B0503020204020204" charset="-122"/>
                      </a:endParaRP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按防爆要求加装防爆灯和防爆风扇</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zh-CN" altLang="en-US" sz="1400" b="1" i="0">
                          <a:solidFill>
                            <a:srgbClr val="000000"/>
                          </a:solidFill>
                          <a:latin typeface="微软雅黑" panose="020B0503020204020204" charset="-122"/>
                          <a:ea typeface="微软雅黑" panose="020B0503020204020204" charset="-122"/>
                        </a:rPr>
                        <a:t>果机吃沙</a:t>
                      </a:r>
                      <a:endParaRPr lang="zh-CN" altLang="en-US" sz="1400" b="1" i="0">
                        <a:solidFill>
                          <a:srgbClr val="000000"/>
                        </a:solidFill>
                        <a:latin typeface="微软雅黑" panose="020B0503020204020204" charset="-122"/>
                        <a:ea typeface="微软雅黑" panose="020B0503020204020204" charset="-122"/>
                      </a:endParaRPr>
                    </a:p>
                    <a:p>
                      <a:pPr algn="ctr" fontAlgn="t">
                        <a:buClrTx/>
                        <a:buSzTx/>
                        <a:buFontTx/>
                      </a:pPr>
                      <a:r>
                        <a:rPr lang="zh-CN" altLang="en-US" sz="1400" b="1" i="0">
                          <a:solidFill>
                            <a:srgbClr val="000000"/>
                          </a:solidFill>
                          <a:latin typeface="微软雅黑" panose="020B0503020204020204" charset="-122"/>
                          <a:ea typeface="微软雅黑" panose="020B0503020204020204" charset="-122"/>
                        </a:rPr>
                        <a:t>龚天顺</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buClrTx/>
                        <a:buSzTx/>
                        <a:buFontTx/>
                      </a:pPr>
                      <a:r>
                        <a:rPr lang="en-US" altLang="zh-CN" sz="1400" b="1" i="0">
                          <a:solidFill>
                            <a:srgbClr val="000000"/>
                          </a:solidFill>
                          <a:latin typeface="微软雅黑" panose="020B0503020204020204" charset="-122"/>
                          <a:ea typeface="微软雅黑" panose="020B0503020204020204" charset="-122"/>
                        </a:rPr>
                        <a:t>8</a:t>
                      </a:r>
                      <a:r>
                        <a:rPr lang="zh-CN" altLang="en-US" sz="1400" b="1" i="0">
                          <a:solidFill>
                            <a:srgbClr val="000000"/>
                          </a:solidFill>
                          <a:latin typeface="微软雅黑" panose="020B0503020204020204" charset="-122"/>
                          <a:ea typeface="微软雅黑" panose="020B0503020204020204" charset="-122"/>
                        </a:rPr>
                        <a:t>月</a:t>
                      </a:r>
                      <a:r>
                        <a:rPr lang="en-US" altLang="zh-CN" sz="1400" b="1" i="0">
                          <a:solidFill>
                            <a:srgbClr val="000000"/>
                          </a:solidFill>
                          <a:latin typeface="微软雅黑" panose="020B0503020204020204" charset="-122"/>
                          <a:ea typeface="微软雅黑" panose="020B0503020204020204" charset="-122"/>
                        </a:rPr>
                        <a:t>8</a:t>
                      </a:r>
                      <a:r>
                        <a:rPr lang="zh-CN" altLang="en-US" sz="1400" b="1" i="0">
                          <a:solidFill>
                            <a:srgbClr val="000000"/>
                          </a:solidFill>
                          <a:latin typeface="微软雅黑" panose="020B0503020204020204" charset="-122"/>
                          <a:ea typeface="微软雅黑" panose="020B0503020204020204" charset="-122"/>
                        </a:rPr>
                        <a:t>日</a:t>
                      </a:r>
                      <a:endParaRPr lang="zh-CN" altLang="en-US" sz="14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endParaRPr lang="zh-CN" altLang="en-US" sz="1400" b="1">
                        <a:solidFill>
                          <a:srgbClr val="00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t">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sym typeface="+mn-ea"/>
                        </a:rPr>
                        <a:t>正常进展</a:t>
                      </a:r>
                      <a:r>
                        <a:rPr lang="zh-CN" altLang="en-US" sz="1400" b="1">
                          <a:solidFill>
                            <a:srgbClr val="000000"/>
                          </a:solidFill>
                          <a:latin typeface="微软雅黑" panose="020B0503020204020204" charset="-122"/>
                          <a:ea typeface="微软雅黑" panose="020B0503020204020204" charset="-122"/>
                          <a:sym typeface="+mn-ea"/>
                        </a:rPr>
                        <a:t>中</a:t>
                      </a:r>
                      <a:endParaRPr lang="zh-CN" altLang="en-US" sz="1400" b="1">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8280"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95400" y="1095807"/>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2</a:t>
            </a:r>
            <a:r>
              <a:rPr lang="zh-CN" altLang="en-US" sz="2200" b="1" dirty="0">
                <a:solidFill>
                  <a:srgbClr val="000000"/>
                </a:solidFill>
                <a:latin typeface="微软雅黑" panose="020B0503020204020204" charset="-122"/>
                <a:ea typeface="微软雅黑" panose="020B0503020204020204" charset="-122"/>
                <a:sym typeface="+mn-ea"/>
              </a:rPr>
              <a:t>、各区域材料提交情况（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4" name="表格 3"/>
          <p:cNvGraphicFramePr/>
          <p:nvPr>
            <p:custDataLst>
              <p:tags r:id="rId4"/>
            </p:custDataLst>
          </p:nvPr>
        </p:nvGraphicFramePr>
        <p:xfrm>
          <a:off x="702945" y="1525905"/>
          <a:ext cx="10460990" cy="4163060"/>
        </p:xfrm>
        <a:graphic>
          <a:graphicData uri="http://schemas.openxmlformats.org/drawingml/2006/table">
            <a:tbl>
              <a:tblPr firstRow="1" bandRow="1">
                <a:tableStyleId>{5940675A-B579-460E-94D1-54222C63F5DA}</a:tableStyleId>
              </a:tblPr>
              <a:tblGrid>
                <a:gridCol w="1370965"/>
                <a:gridCol w="2583180"/>
                <a:gridCol w="1445260"/>
                <a:gridCol w="1653540"/>
                <a:gridCol w="1696720"/>
                <a:gridCol w="1711325"/>
              </a:tblGrid>
              <a:tr h="697230">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sym typeface="+mn-ea"/>
                        </a:rPr>
                        <a:t>序号</a:t>
                      </a:r>
                      <a:endParaRPr lang="zh-CN" altLang="en-US" sz="2000" b="1" spc="120">
                        <a:solidFill>
                          <a:srgbClr val="FFFFFF"/>
                        </a:solidFill>
                        <a:latin typeface="微软雅黑" panose="020B0503020204020204" charset="-122"/>
                        <a:ea typeface="微软雅黑" panose="020B0503020204020204" charset="-122"/>
                        <a:sym typeface="+mn-ea"/>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内容</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sz="2000" b="1" spc="120">
                          <a:solidFill>
                            <a:srgbClr val="FFFFFF"/>
                          </a:solidFill>
                          <a:latin typeface="微软雅黑" panose="020B0503020204020204" charset="-122"/>
                          <a:ea typeface="微软雅黑" panose="020B0503020204020204" charset="-122"/>
                        </a:rPr>
                        <a:t>现场</a:t>
                      </a:r>
                      <a:endParaRPr lang="zh-CN"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临建区</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大件</a:t>
                      </a:r>
                      <a:r>
                        <a:rPr lang="zh-CN" altLang="en-US" sz="2000" b="1" spc="120">
                          <a:solidFill>
                            <a:srgbClr val="FFFFFF"/>
                          </a:solidFill>
                          <a:latin typeface="微软雅黑" panose="020B0503020204020204" charset="-122"/>
                          <a:ea typeface="微软雅黑" panose="020B0503020204020204" charset="-122"/>
                        </a:rPr>
                        <a:t>库</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合计</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r>
              <a:tr h="639445">
                <a:tc>
                  <a:txBody>
                    <a:bodyPr/>
                    <a:p>
                      <a:pPr indent="0" algn="ctr">
                        <a:lnSpc>
                          <a:spcPct val="120000"/>
                        </a:lnSpc>
                        <a:spcBef>
                          <a:spcPts val="0"/>
                        </a:spcBef>
                        <a:spcAft>
                          <a:spcPts val="0"/>
                        </a:spcAft>
                        <a:buNone/>
                      </a:pPr>
                      <a:r>
                        <a:rPr lang="en-US" altLang="zh-CN" sz="1800" b="1" spc="120" dirty="0">
                          <a:solidFill>
                            <a:schemeClr val="tx1"/>
                          </a:solidFill>
                          <a:latin typeface="微软雅黑" panose="020B0503020204020204" charset="-122"/>
                          <a:ea typeface="微软雅黑" panose="020B0503020204020204" charset="-122"/>
                        </a:rPr>
                        <a:t>1</a:t>
                      </a:r>
                      <a:endParaRPr lang="en-US" altLang="zh-CN"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indent="0" algn="ctr">
                        <a:lnSpc>
                          <a:spcPct val="120000"/>
                        </a:lnSpc>
                        <a:spcBef>
                          <a:spcPts val="0"/>
                        </a:spcBef>
                        <a:spcAft>
                          <a:spcPts val="0"/>
                        </a:spcAft>
                        <a:buNone/>
                      </a:pPr>
                      <a:r>
                        <a:rPr lang="zh-CN" altLang="en-US" sz="1800" b="1" spc="120" dirty="0">
                          <a:solidFill>
                            <a:schemeClr val="tx1"/>
                          </a:solidFill>
                          <a:latin typeface="微软雅黑" panose="020B0503020204020204" charset="-122"/>
                          <a:ea typeface="微软雅黑" panose="020B0503020204020204" charset="-122"/>
                        </a:rPr>
                        <a:t>行为</a:t>
                      </a:r>
                      <a:r>
                        <a:rPr lang="zh-CN" altLang="en-US" sz="1800" b="1" spc="120" dirty="0">
                          <a:solidFill>
                            <a:schemeClr val="tx1"/>
                          </a:solidFill>
                          <a:latin typeface="微软雅黑" panose="020B0503020204020204" charset="-122"/>
                          <a:ea typeface="微软雅黑" panose="020B0503020204020204" charset="-122"/>
                        </a:rPr>
                        <a:t>纠偏培训</a:t>
                      </a:r>
                      <a:endParaRPr lang="zh-CN" altLang="en-US"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algn="ctr">
                        <a:buNone/>
                      </a:pPr>
                      <a:r>
                        <a:rPr lang="en-US" altLang="zh-CN" sz="1600" b="1">
                          <a:solidFill>
                            <a:schemeClr val="tx1"/>
                          </a:solidFill>
                          <a:latin typeface="微软雅黑" panose="020B0503020204020204" charset="-122"/>
                          <a:ea typeface="微软雅黑" panose="020B0503020204020204" charset="-122"/>
                        </a:rPr>
                        <a:t>13</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600" b="1">
                          <a:solidFill>
                            <a:schemeClr val="tx1"/>
                          </a:solidFill>
                          <a:latin typeface="微软雅黑" panose="020B0503020204020204" charset="-122"/>
                          <a:ea typeface="微软雅黑" panose="020B0503020204020204" charset="-122"/>
                        </a:rPr>
                        <a:t>0</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rgbClr val="FF0000"/>
                        </a:solidFill>
                        <a:latin typeface="微软雅黑" panose="020B0503020204020204" charset="-122"/>
                        <a:ea typeface="微软雅黑" panose="020B0503020204020204" charset="-122"/>
                      </a:endParaRPr>
                    </a:p>
                  </a:txBody>
                  <a:tcPr anchor="ctr" anchorCtr="0"/>
                </a:tc>
              </a:tr>
              <a:tr h="594995">
                <a:tc>
                  <a:txBody>
                    <a:bodyPr/>
                    <a:p>
                      <a:pPr indent="0" algn="ctr">
                        <a:lnSpc>
                          <a:spcPct val="120000"/>
                        </a:lnSpc>
                        <a:spcBef>
                          <a:spcPts val="0"/>
                        </a:spcBef>
                        <a:spcAft>
                          <a:spcPts val="0"/>
                        </a:spcAft>
                        <a:buNone/>
                      </a:pPr>
                      <a:r>
                        <a:rPr lang="en-US" altLang="zh-CN" sz="1800" b="1" spc="120" dirty="0">
                          <a:solidFill>
                            <a:schemeClr val="tx1"/>
                          </a:solidFill>
                          <a:latin typeface="微软雅黑" panose="020B0503020204020204" charset="-122"/>
                          <a:ea typeface="微软雅黑" panose="020B0503020204020204" charset="-122"/>
                        </a:rPr>
                        <a:t>2</a:t>
                      </a:r>
                      <a:endParaRPr lang="en-US" altLang="zh-CN"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indent="0" algn="ctr">
                        <a:lnSpc>
                          <a:spcPct val="120000"/>
                        </a:lnSpc>
                        <a:spcBef>
                          <a:spcPts val="0"/>
                        </a:spcBef>
                        <a:spcAft>
                          <a:spcPts val="0"/>
                        </a:spcAft>
                        <a:buNone/>
                      </a:pPr>
                      <a:r>
                        <a:rPr lang="zh-CN" altLang="en-US" sz="1800" b="1" spc="120" dirty="0">
                          <a:solidFill>
                            <a:schemeClr val="tx1"/>
                          </a:solidFill>
                          <a:latin typeface="微软雅黑" panose="020B0503020204020204" charset="-122"/>
                          <a:ea typeface="微软雅黑" panose="020B0503020204020204" charset="-122"/>
                        </a:rPr>
                        <a:t>早班会检查表</a:t>
                      </a:r>
                      <a:endParaRPr lang="zh-CN" altLang="en-US"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algn="ctr">
                        <a:buNone/>
                      </a:pPr>
                      <a:r>
                        <a:rPr lang="en-US" altLang="zh-CN" sz="1600" b="1">
                          <a:latin typeface="微软雅黑" panose="020B0503020204020204" charset="-122"/>
                          <a:ea typeface="微软雅黑" panose="020B0503020204020204" charset="-122"/>
                        </a:rPr>
                        <a:t>7</a:t>
                      </a:r>
                      <a:endParaRPr lang="en-US" altLang="zh-CN" sz="1600" b="1">
                        <a:latin typeface="微软雅黑" panose="020B0503020204020204" charset="-122"/>
                        <a:ea typeface="微软雅黑" panose="020B0503020204020204" charset="-122"/>
                      </a:endParaRPr>
                    </a:p>
                  </a:txBody>
                  <a:tcPr anchor="ctr" anchorCtr="0"/>
                </a:tc>
                <a:tc>
                  <a:txBody>
                    <a:bodyPr/>
                    <a:p>
                      <a:pPr algn="ctr">
                        <a:buNone/>
                      </a:pPr>
                      <a:endParaRPr lang="en-US" altLang="zh-CN" sz="1600" b="1">
                        <a:latin typeface="微软雅黑" panose="020B0503020204020204" charset="-122"/>
                        <a:ea typeface="微软雅黑" panose="020B0503020204020204" charset="-122"/>
                      </a:endParaRPr>
                    </a:p>
                  </a:txBody>
                  <a:tcPr anchor="ctr" anchorCtr="0"/>
                </a:tc>
                <a:tc>
                  <a:txBody>
                    <a:bodyPr/>
                    <a:p>
                      <a:pPr algn="ctr">
                        <a:buNone/>
                      </a:pPr>
                      <a:r>
                        <a:rPr lang="en-US" altLang="zh-CN" sz="1600" b="1">
                          <a:latin typeface="微软雅黑" panose="020B0503020204020204" charset="-122"/>
                          <a:ea typeface="微软雅黑" panose="020B0503020204020204" charset="-122"/>
                        </a:rPr>
                        <a:t>4</a:t>
                      </a:r>
                      <a:endParaRPr lang="en-US" altLang="zh-CN" sz="1600" b="1">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rgbClr val="FF0000"/>
                        </a:solidFill>
                        <a:latin typeface="微软雅黑" panose="020B0503020204020204" charset="-122"/>
                        <a:ea typeface="微软雅黑" panose="020B0503020204020204" charset="-122"/>
                      </a:endParaRPr>
                    </a:p>
                  </a:txBody>
                  <a:tcPr anchor="ctr" anchorCtr="0"/>
                </a:tc>
              </a:tr>
              <a:tr h="579120">
                <a:tc>
                  <a:txBody>
                    <a:bodyPr/>
                    <a:p>
                      <a:pPr indent="0" algn="ctr">
                        <a:lnSpc>
                          <a:spcPct val="120000"/>
                        </a:lnSpc>
                        <a:spcBef>
                          <a:spcPts val="0"/>
                        </a:spcBef>
                        <a:spcAft>
                          <a:spcPts val="0"/>
                        </a:spcAft>
                        <a:buNone/>
                      </a:pPr>
                      <a:r>
                        <a:rPr lang="en-US" altLang="zh-CN" sz="1800" b="1" spc="120" dirty="0">
                          <a:solidFill>
                            <a:schemeClr val="tx1"/>
                          </a:solidFill>
                          <a:latin typeface="微软雅黑" panose="020B0503020204020204" charset="-122"/>
                          <a:ea typeface="微软雅黑" panose="020B0503020204020204" charset="-122"/>
                        </a:rPr>
                        <a:t>3</a:t>
                      </a:r>
                      <a:endParaRPr lang="en-US" altLang="zh-CN"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indent="0" algn="ctr">
                        <a:lnSpc>
                          <a:spcPct val="120000"/>
                        </a:lnSpc>
                        <a:spcBef>
                          <a:spcPts val="0"/>
                        </a:spcBef>
                        <a:spcAft>
                          <a:spcPts val="0"/>
                        </a:spcAft>
                        <a:buNone/>
                      </a:pPr>
                      <a:r>
                        <a:rPr lang="zh-CN" altLang="en-US" sz="1800" b="1" spc="120" dirty="0">
                          <a:solidFill>
                            <a:schemeClr val="tx1"/>
                          </a:solidFill>
                          <a:latin typeface="微软雅黑" panose="020B0503020204020204" charset="-122"/>
                          <a:ea typeface="微软雅黑" panose="020B0503020204020204" charset="-122"/>
                        </a:rPr>
                        <a:t>施工方案检查</a:t>
                      </a:r>
                      <a:endParaRPr lang="zh-CN" altLang="en-US"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algn="ctr">
                        <a:buNone/>
                      </a:pPr>
                      <a:r>
                        <a:rPr lang="en-US" altLang="zh-CN" sz="1600" b="1">
                          <a:solidFill>
                            <a:schemeClr val="tx1"/>
                          </a:solidFill>
                          <a:latin typeface="微软雅黑" panose="020B0503020204020204" charset="-122"/>
                          <a:ea typeface="微软雅黑" panose="020B0503020204020204" charset="-122"/>
                        </a:rPr>
                        <a:t>2</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600" b="1">
                          <a:solidFill>
                            <a:schemeClr val="tx1"/>
                          </a:solidFill>
                          <a:latin typeface="微软雅黑" panose="020B0503020204020204" charset="-122"/>
                          <a:ea typeface="微软雅黑" panose="020B0503020204020204" charset="-122"/>
                        </a:rPr>
                        <a:t>0</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rgbClr val="FF0000"/>
                        </a:solidFill>
                        <a:latin typeface="微软雅黑" panose="020B0503020204020204" charset="-122"/>
                        <a:ea typeface="微软雅黑" panose="020B0503020204020204" charset="-122"/>
                      </a:endParaRPr>
                    </a:p>
                  </a:txBody>
                  <a:tcPr anchor="ctr" anchorCtr="0"/>
                </a:tc>
              </a:tr>
              <a:tr h="673735">
                <a:tc>
                  <a:txBody>
                    <a:bodyPr/>
                    <a:p>
                      <a:pPr indent="0" algn="ctr">
                        <a:lnSpc>
                          <a:spcPct val="120000"/>
                        </a:lnSpc>
                        <a:spcBef>
                          <a:spcPts val="0"/>
                        </a:spcBef>
                        <a:spcAft>
                          <a:spcPts val="0"/>
                        </a:spcAft>
                        <a:buNone/>
                      </a:pPr>
                      <a:r>
                        <a:rPr lang="en-US" altLang="zh-CN" sz="1800" b="1" spc="120" dirty="0">
                          <a:solidFill>
                            <a:schemeClr val="tx1"/>
                          </a:solidFill>
                          <a:latin typeface="微软雅黑" panose="020B0503020204020204" charset="-122"/>
                          <a:ea typeface="微软雅黑" panose="020B0503020204020204" charset="-122"/>
                        </a:rPr>
                        <a:t>4</a:t>
                      </a:r>
                      <a:endParaRPr lang="en-US" altLang="zh-CN"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indent="0" algn="ctr">
                        <a:lnSpc>
                          <a:spcPct val="120000"/>
                        </a:lnSpc>
                        <a:spcBef>
                          <a:spcPts val="0"/>
                        </a:spcBef>
                        <a:spcAft>
                          <a:spcPts val="0"/>
                        </a:spcAft>
                        <a:buNone/>
                      </a:pPr>
                      <a:r>
                        <a:rPr lang="zh-CN" altLang="en-US" sz="1800" b="1" spc="120" dirty="0">
                          <a:solidFill>
                            <a:schemeClr val="tx1"/>
                          </a:solidFill>
                          <a:latin typeface="微软雅黑" panose="020B0503020204020204" charset="-122"/>
                          <a:ea typeface="微软雅黑" panose="020B0503020204020204" charset="-122"/>
                        </a:rPr>
                        <a:t>边坡检查表</a:t>
                      </a:r>
                      <a:endParaRPr lang="zh-CN" altLang="en-US"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algn="ctr">
                        <a:buNone/>
                      </a:pPr>
                      <a:r>
                        <a:rPr lang="en-US" altLang="zh-CN" sz="1600" b="1">
                          <a:solidFill>
                            <a:schemeClr val="tx1"/>
                          </a:solidFill>
                          <a:latin typeface="微软雅黑" panose="020B0503020204020204" charset="-122"/>
                          <a:ea typeface="微软雅黑" panose="020B0503020204020204" charset="-122"/>
                        </a:rPr>
                        <a:t>7</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600" b="1">
                          <a:latin typeface="微软雅黑" panose="020B0503020204020204" charset="-122"/>
                          <a:ea typeface="微软雅黑" panose="020B0503020204020204" charset="-122"/>
                        </a:rPr>
                        <a:t>/</a:t>
                      </a:r>
                      <a:endParaRPr lang="en-US" altLang="zh-CN" sz="1600" b="1">
                        <a:latin typeface="微软雅黑" panose="020B0503020204020204" charset="-122"/>
                        <a:ea typeface="微软雅黑" panose="020B0503020204020204" charset="-122"/>
                      </a:endParaRPr>
                    </a:p>
                  </a:txBody>
                  <a:tcPr anchor="ctr" anchorCtr="0"/>
                </a:tc>
                <a:tc>
                  <a:txBody>
                    <a:bodyPr/>
                    <a:p>
                      <a:pPr algn="ctr">
                        <a:buNone/>
                      </a:pPr>
                      <a:r>
                        <a:rPr lang="en-US" altLang="zh-CN" sz="1600" b="1">
                          <a:solidFill>
                            <a:schemeClr val="tx1"/>
                          </a:solidFill>
                          <a:latin typeface="微软雅黑" panose="020B0503020204020204" charset="-122"/>
                          <a:ea typeface="微软雅黑" panose="020B0503020204020204" charset="-122"/>
                        </a:rPr>
                        <a:t>/</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rgbClr val="FF0000"/>
                        </a:solidFill>
                        <a:latin typeface="微软雅黑" panose="020B0503020204020204" charset="-122"/>
                        <a:ea typeface="微软雅黑" panose="020B0503020204020204" charset="-122"/>
                      </a:endParaRPr>
                    </a:p>
                  </a:txBody>
                  <a:tcPr anchor="ctr" anchorCtr="0"/>
                </a:tc>
              </a:tr>
              <a:tr h="978535">
                <a:tc>
                  <a:txBody>
                    <a:bodyPr/>
                    <a:p>
                      <a:pPr indent="0" algn="ctr">
                        <a:lnSpc>
                          <a:spcPct val="120000"/>
                        </a:lnSpc>
                        <a:spcBef>
                          <a:spcPts val="0"/>
                        </a:spcBef>
                        <a:spcAft>
                          <a:spcPts val="0"/>
                        </a:spcAft>
                        <a:buNone/>
                      </a:pPr>
                      <a:r>
                        <a:rPr lang="en-US" altLang="zh-CN" sz="1800" b="1" spc="120" dirty="0">
                          <a:solidFill>
                            <a:schemeClr val="tx1"/>
                          </a:solidFill>
                          <a:latin typeface="微软雅黑" panose="020B0503020204020204" charset="-122"/>
                          <a:ea typeface="微软雅黑" panose="020B0503020204020204" charset="-122"/>
                        </a:rPr>
                        <a:t>5</a:t>
                      </a:r>
                      <a:endParaRPr lang="en-US" altLang="zh-CN"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indent="0" algn="ctr">
                        <a:lnSpc>
                          <a:spcPct val="120000"/>
                        </a:lnSpc>
                        <a:spcBef>
                          <a:spcPts val="0"/>
                        </a:spcBef>
                        <a:spcAft>
                          <a:spcPts val="0"/>
                        </a:spcAft>
                        <a:buNone/>
                      </a:pPr>
                      <a:r>
                        <a:rPr lang="zh-CN" altLang="en-US" sz="1800" b="1" spc="120" dirty="0">
                          <a:solidFill>
                            <a:schemeClr val="tx1"/>
                          </a:solidFill>
                          <a:latin typeface="微软雅黑" panose="020B0503020204020204" charset="-122"/>
                          <a:ea typeface="微软雅黑" panose="020B0503020204020204" charset="-122"/>
                        </a:rPr>
                        <a:t>安全生产领导小组带班检查签到单</a:t>
                      </a:r>
                      <a:endParaRPr lang="zh-CN" altLang="en-US" sz="1800" b="1" spc="120" dirty="0">
                        <a:solidFill>
                          <a:schemeClr val="tx1"/>
                        </a:solidFill>
                        <a:latin typeface="微软雅黑" panose="020B0503020204020204" charset="-122"/>
                        <a:ea typeface="微软雅黑" panose="020B0503020204020204" charset="-122"/>
                      </a:endParaRPr>
                    </a:p>
                  </a:txBody>
                  <a:tcPr marL="177800" marR="177800" marT="6350" marB="6350" anchor="ctr"/>
                </a:tc>
                <a:tc>
                  <a:txBody>
                    <a:bodyPr/>
                    <a:p>
                      <a:pPr algn="ctr">
                        <a:buNone/>
                      </a:pPr>
                      <a:r>
                        <a:rPr lang="zh-CN" altLang="en-US" sz="1600" b="1">
                          <a:solidFill>
                            <a:schemeClr val="tx1"/>
                          </a:solidFill>
                          <a:latin typeface="微软雅黑" panose="020B0503020204020204" charset="-122"/>
                          <a:ea typeface="微软雅黑" panose="020B0503020204020204" charset="-122"/>
                        </a:rPr>
                        <a:t>已提交</a:t>
                      </a:r>
                      <a:endParaRPr lang="zh-CN" altLang="en-US"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zh-CN" altLang="en-US" sz="1600" b="1">
                          <a:latin typeface="微软雅黑" panose="020B0503020204020204" charset="-122"/>
                          <a:ea typeface="微软雅黑" panose="020B0503020204020204" charset="-122"/>
                          <a:sym typeface="+mn-ea"/>
                        </a:rPr>
                        <a:t>已提交</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r>
                        <a:rPr lang="en-US" altLang="zh-CN" sz="1600" b="1">
                          <a:solidFill>
                            <a:schemeClr val="tx1"/>
                          </a:solidFill>
                          <a:latin typeface="微软雅黑" panose="020B0503020204020204" charset="-122"/>
                          <a:ea typeface="微软雅黑" panose="020B0503020204020204" charset="-122"/>
                        </a:rPr>
                        <a:t>/</a:t>
                      </a:r>
                      <a:endParaRPr lang="en-US" altLang="zh-CN" sz="1600" b="1">
                        <a:solidFill>
                          <a:schemeClr val="tx1"/>
                        </a:solidFill>
                        <a:latin typeface="微软雅黑" panose="020B0503020204020204" charset="-122"/>
                        <a:ea typeface="微软雅黑" panose="020B0503020204020204" charset="-122"/>
                      </a:endParaRPr>
                    </a:p>
                  </a:txBody>
                  <a:tcPr anchor="ctr" anchorCtr="0"/>
                </a:tc>
                <a:tc>
                  <a:txBody>
                    <a:bodyPr/>
                    <a:p>
                      <a:pPr algn="ctr">
                        <a:buNone/>
                      </a:pPr>
                      <a:endParaRPr lang="en-US" altLang="zh-CN" sz="1600" b="1">
                        <a:solidFill>
                          <a:schemeClr val="tx1"/>
                        </a:solidFill>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95400" y="1124382"/>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3</a:t>
            </a:r>
            <a:r>
              <a:rPr lang="zh-CN" altLang="en-US" sz="2200" b="1" dirty="0">
                <a:solidFill>
                  <a:srgbClr val="000000"/>
                </a:solidFill>
                <a:latin typeface="微软雅黑" panose="020B0503020204020204" charset="-122"/>
                <a:ea typeface="微软雅黑" panose="020B0503020204020204" charset="-122"/>
                <a:sym typeface="+mn-ea"/>
              </a:rPr>
              <a:t>、</a:t>
            </a:r>
            <a:r>
              <a:rPr lang="zh-CN" sz="2200" b="1" dirty="0">
                <a:solidFill>
                  <a:srgbClr val="000000"/>
                </a:solidFill>
                <a:latin typeface="微软雅黑" panose="020B0503020204020204" charset="-122"/>
                <a:ea typeface="微软雅黑" panose="020B0503020204020204" charset="-122"/>
                <a:sym typeface="+mn-ea"/>
              </a:rPr>
              <a:t>本周</a:t>
            </a:r>
            <a:r>
              <a:rPr lang="zh-CN" altLang="en-US" sz="2200" b="1" dirty="0">
                <a:solidFill>
                  <a:srgbClr val="000000"/>
                </a:solidFill>
                <a:latin typeface="微软雅黑" panose="020B0503020204020204" charset="-122"/>
                <a:ea typeface="微软雅黑" panose="020B0503020204020204" charset="-122"/>
                <a:sym typeface="+mn-ea"/>
              </a:rPr>
              <a:t>内外部行为偏差统计（</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14" name="表格 13"/>
          <p:cNvGraphicFramePr/>
          <p:nvPr>
            <p:custDataLst>
              <p:tags r:id="rId4"/>
            </p:custDataLst>
          </p:nvPr>
        </p:nvGraphicFramePr>
        <p:xfrm>
          <a:off x="5945505" y="2132965"/>
          <a:ext cx="5107305" cy="3829050"/>
        </p:xfrm>
        <a:graphic>
          <a:graphicData uri="http://schemas.openxmlformats.org/drawingml/2006/table">
            <a:tbl>
              <a:tblPr firstRow="1" bandRow="1">
                <a:tableStyleId>{5C22544A-7EE6-4342-B048-85BDC9FD1C3A}</a:tableStyleId>
              </a:tblPr>
              <a:tblGrid>
                <a:gridCol w="542925"/>
                <a:gridCol w="2397760"/>
                <a:gridCol w="1250315"/>
                <a:gridCol w="916305"/>
              </a:tblGrid>
              <a:tr h="428625">
                <a:tc gridSpan="4">
                  <a:txBody>
                    <a:bodyPr/>
                    <a:p>
                      <a:pPr indent="0" algn="ctr">
                        <a:lnSpc>
                          <a:spcPct val="120000"/>
                        </a:lnSpc>
                        <a:spcBef>
                          <a:spcPts val="0"/>
                        </a:spcBef>
                        <a:spcAft>
                          <a:spcPts val="0"/>
                        </a:spcAft>
                        <a:buNone/>
                      </a:pPr>
                      <a:r>
                        <a:rPr lang="zh-CN" altLang="en-US" sz="1800" b="1" spc="120">
                          <a:solidFill>
                            <a:srgbClr val="404040"/>
                          </a:solidFill>
                          <a:latin typeface="微软雅黑" panose="020B0503020204020204" charset="-122"/>
                          <a:ea typeface="微软雅黑" panose="020B0503020204020204" charset="-122"/>
                        </a:rPr>
                        <a:t>内部录入行为偏</a:t>
                      </a:r>
                      <a:r>
                        <a:rPr lang="zh-CN" altLang="en-US" sz="1800" b="1" spc="120">
                          <a:solidFill>
                            <a:srgbClr val="404040"/>
                          </a:solidFill>
                          <a:latin typeface="微软雅黑" panose="020B0503020204020204" charset="-122"/>
                          <a:ea typeface="微软雅黑" panose="020B0503020204020204" charset="-122"/>
                        </a:rPr>
                        <a:t>差统计</a:t>
                      </a:r>
                      <a:endParaRPr lang="zh-CN" altLang="en-US" sz="18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hMerge="1">
                  <a:tcPr>
                    <a:lnT w="12700">
                      <a:solidFill>
                        <a:schemeClr val="tx1"/>
                      </a:solidFill>
                      <a:prstDash val="solid"/>
                    </a:lnT>
                    <a:lnB w="12700">
                      <a:solidFill>
                        <a:schemeClr val="tx1"/>
                      </a:solidFill>
                      <a:prstDash val="solid"/>
                    </a:lnB>
                  </a:tcPr>
                </a:tc>
                <a:tc hMerge="1">
                  <a:tcPr>
                    <a:lnT w="12700">
                      <a:solidFill>
                        <a:schemeClr val="tx1"/>
                      </a:solidFill>
                      <a:prstDash val="solid"/>
                    </a:lnT>
                    <a:lnB w="12700">
                      <a:solidFill>
                        <a:schemeClr val="tx1"/>
                      </a:solidFill>
                      <a:prstDash val="solid"/>
                    </a:lnB>
                  </a:tcPr>
                </a:tc>
                <a:tc hMerge="1">
                  <a:tcPr>
                    <a:lnR w="12700">
                      <a:solidFill>
                        <a:schemeClr val="tx1"/>
                      </a:solidFill>
                      <a:prstDash val="solid"/>
                    </a:lnR>
                    <a:lnT w="12700">
                      <a:solidFill>
                        <a:schemeClr val="tx1"/>
                      </a:solidFill>
                      <a:prstDash val="solid"/>
                    </a:lnT>
                    <a:lnB w="12700">
                      <a:solidFill>
                        <a:schemeClr val="tx1"/>
                      </a:solidFill>
                      <a:prstDash val="solid"/>
                    </a:lnB>
                    <a:solidFill>
                      <a:schemeClr val="accent1"/>
                    </a:solidFill>
                  </a:tcPr>
                </a:tc>
              </a:tr>
              <a:tr h="574675">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charset="-122"/>
                          <a:ea typeface="微软雅黑" panose="020B0503020204020204" charset="-122"/>
                        </a:rPr>
                        <a:t>序号</a:t>
                      </a:r>
                      <a:endParaRPr lang="zh-CN" altLang="en-US" sz="1400" b="1"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charset="-122"/>
                          <a:ea typeface="微软雅黑" panose="020B0503020204020204" charset="-122"/>
                        </a:rPr>
                        <a:t>行为</a:t>
                      </a:r>
                      <a:r>
                        <a:rPr lang="zh-CN" altLang="en-US" sz="1400" b="1" spc="120">
                          <a:solidFill>
                            <a:srgbClr val="FFFFFF"/>
                          </a:solidFill>
                          <a:latin typeface="微软雅黑" panose="020B0503020204020204" charset="-122"/>
                          <a:ea typeface="微软雅黑" panose="020B0503020204020204" charset="-122"/>
                        </a:rPr>
                        <a:t>偏差类型</a:t>
                      </a:r>
                      <a:endParaRPr lang="zh-CN" altLang="en-US" sz="1400" b="1"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p>
                      <a:pPr indent="0" algn="ctr">
                        <a:lnSpc>
                          <a:spcPct val="120000"/>
                        </a:lnSpc>
                        <a:spcBef>
                          <a:spcPts val="0"/>
                        </a:spcBef>
                        <a:spcAft>
                          <a:spcPts val="0"/>
                        </a:spcAft>
                        <a:buNone/>
                      </a:pPr>
                      <a:r>
                        <a:rPr lang="zh-CN" altLang="en-US" sz="1400" b="1" spc="120" dirty="0">
                          <a:solidFill>
                            <a:srgbClr val="FFFFFF"/>
                          </a:solidFill>
                          <a:latin typeface="微软雅黑" panose="020B0503020204020204" charset="-122"/>
                          <a:ea typeface="微软雅黑" panose="020B0503020204020204" charset="-122"/>
                        </a:rPr>
                        <a:t>违章人数</a:t>
                      </a:r>
                      <a:endParaRPr lang="zh-CN" altLang="en-US" sz="1400" b="1" spc="120" dirty="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p>
                      <a:pPr indent="0" algn="ctr">
                        <a:lnSpc>
                          <a:spcPct val="120000"/>
                        </a:lnSpc>
                        <a:spcBef>
                          <a:spcPts val="0"/>
                        </a:spcBef>
                        <a:spcAft>
                          <a:spcPts val="0"/>
                        </a:spcAft>
                        <a:buNone/>
                      </a:pPr>
                      <a:r>
                        <a:rPr lang="zh-CN" altLang="en-US" sz="1400" b="1" spc="120" dirty="0">
                          <a:solidFill>
                            <a:srgbClr val="FFFFFF"/>
                          </a:solidFill>
                          <a:latin typeface="微软雅黑" panose="020B0503020204020204" charset="-122"/>
                          <a:ea typeface="微软雅黑" panose="020B0503020204020204" charset="-122"/>
                          <a:cs typeface="微软雅黑" panose="020B0503020204020204" charset="-122"/>
                        </a:rPr>
                        <a:t>备注</a:t>
                      </a:r>
                      <a:endParaRPr lang="en-US" altLang="zh-CN" sz="1400" b="1" spc="120" dirty="0">
                        <a:solidFill>
                          <a:srgbClr val="FFFFFF"/>
                        </a:solidFill>
                        <a:latin typeface="微软雅黑" panose="020B0503020204020204" charset="-122"/>
                        <a:ea typeface="微软雅黑" panose="020B0503020204020204" charset="-122"/>
                        <a:cs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574675">
                <a:tc>
                  <a:txBody>
                    <a:bodyPr/>
                    <a:p>
                      <a:pPr indent="0" algn="ctr">
                        <a:lnSpc>
                          <a:spcPct val="120000"/>
                        </a:lnSpc>
                        <a:spcBef>
                          <a:spcPts val="0"/>
                        </a:spcBef>
                        <a:spcAft>
                          <a:spcPts val="0"/>
                        </a:spcAft>
                        <a:buNone/>
                      </a:pPr>
                      <a:r>
                        <a:rPr lang="en-US" altLang="zh-CN" sz="1400" b="1" spc="120">
                          <a:solidFill>
                            <a:schemeClr val="tx1"/>
                          </a:solidFill>
                          <a:latin typeface="微软雅黑" panose="020B0503020204020204" charset="-122"/>
                          <a:ea typeface="微软雅黑" panose="020B0503020204020204" charset="-122"/>
                        </a:rPr>
                        <a:t>1</a:t>
                      </a:r>
                      <a:endParaRPr lang="en-US" altLang="zh-CN" sz="1400" b="1" spc="120">
                        <a:solidFill>
                          <a:schemeClr val="tx1"/>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通用违章行为</a:t>
                      </a:r>
                      <a:endParaRPr lang="zh-CN" altLang="en-US"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en-US" altLang="zh-CN" sz="1400" b="1" spc="120">
                          <a:solidFill>
                            <a:schemeClr val="tx1"/>
                          </a:solidFill>
                          <a:latin typeface="微软雅黑" panose="020B0503020204020204" charset="-122"/>
                          <a:ea typeface="微软雅黑" panose="020B0503020204020204" charset="-122"/>
                        </a:rPr>
                        <a:t>9</a:t>
                      </a:r>
                      <a:endParaRPr lang="en-US" altLang="zh-CN"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lnSpc>
                          <a:spcPct val="100000"/>
                        </a:lnSpc>
                        <a:spcBef>
                          <a:spcPts val="0"/>
                        </a:spcBef>
                        <a:buClrTx/>
                        <a:buSzTx/>
                        <a:buFontTx/>
                        <a:buNone/>
                      </a:pP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74675">
                <a:tc>
                  <a:txBody>
                    <a:bodyPr/>
                    <a:p>
                      <a:pPr indent="0" algn="ctr">
                        <a:lnSpc>
                          <a:spcPct val="120000"/>
                        </a:lnSpc>
                        <a:spcBef>
                          <a:spcPts val="0"/>
                        </a:spcBef>
                        <a:spcAft>
                          <a:spcPts val="0"/>
                        </a:spcAft>
                        <a:buNone/>
                      </a:pPr>
                      <a:r>
                        <a:rPr lang="en-US" altLang="zh-CN" sz="1400" b="1" spc="120">
                          <a:solidFill>
                            <a:schemeClr val="tx1"/>
                          </a:solidFill>
                          <a:latin typeface="微软雅黑" panose="020B0503020204020204" charset="-122"/>
                          <a:ea typeface="微软雅黑" panose="020B0503020204020204" charset="-122"/>
                        </a:rPr>
                        <a:t>2</a:t>
                      </a:r>
                      <a:endParaRPr lang="en-US" altLang="zh-CN" sz="1400" b="1" spc="120">
                        <a:solidFill>
                          <a:schemeClr val="tx1"/>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lnSpc>
                          <a:spcPct val="100000"/>
                        </a:lnSpc>
                        <a:spcBef>
                          <a:spcPts val="0"/>
                        </a:spcBef>
                        <a:buClrTx/>
                        <a:buSzTx/>
                        <a:buFontTx/>
                        <a:buNone/>
                      </a:pPr>
                      <a:r>
                        <a:rPr lang="zh-CN" altLang="en-US" sz="1400" b="1">
                          <a:solidFill>
                            <a:srgbClr val="000000"/>
                          </a:solidFill>
                          <a:latin typeface="微软雅黑" panose="020B0503020204020204" charset="-122"/>
                          <a:ea typeface="微软雅黑" panose="020B0503020204020204" charset="-122"/>
                        </a:rPr>
                        <a:t>其他</a:t>
                      </a:r>
                      <a:endParaRPr lang="zh-CN" altLang="en-US"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en-US" altLang="zh-CN" sz="1400" b="1" spc="120">
                          <a:solidFill>
                            <a:schemeClr val="tx1"/>
                          </a:solidFill>
                          <a:latin typeface="微软雅黑" panose="020B0503020204020204" charset="-122"/>
                          <a:ea typeface="微软雅黑" panose="020B0503020204020204" charset="-122"/>
                        </a:rPr>
                        <a:t>10</a:t>
                      </a:r>
                      <a:endParaRPr lang="en-US" altLang="zh-CN"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lnSpc>
                          <a:spcPct val="100000"/>
                        </a:lnSpc>
                        <a:spcBef>
                          <a:spcPts val="0"/>
                        </a:spcBef>
                        <a:buClrTx/>
                        <a:buSzTx/>
                        <a:buFontTx/>
                        <a:buNone/>
                      </a:pPr>
                      <a:endParaRPr lang="en-US" altLang="zh-CN" sz="1400" b="1">
                        <a:solidFill>
                          <a:srgbClr val="00000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27050">
                <a:tc>
                  <a:txBody>
                    <a:bodyPr/>
                    <a:p>
                      <a:pPr indent="0" algn="ctr">
                        <a:lnSpc>
                          <a:spcPct val="120000"/>
                        </a:lnSpc>
                        <a:spcBef>
                          <a:spcPts val="0"/>
                        </a:spcBef>
                        <a:spcAft>
                          <a:spcPts val="0"/>
                        </a:spcAft>
                        <a:buNone/>
                      </a:pP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spc="120">
                          <a:solidFill>
                            <a:srgbClr val="404040"/>
                          </a:solidFill>
                          <a:latin typeface="微软雅黑" panose="020B0503020204020204" charset="-122"/>
                          <a:ea typeface="微软雅黑" panose="020B0503020204020204" charset="-122"/>
                        </a:rPr>
                        <a:t>合计</a:t>
                      </a:r>
                      <a:endParaRPr lang="zh-CN" altLang="en-US" sz="1400" b="1" spc="120">
                        <a:solidFill>
                          <a:srgbClr val="40404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en-US" altLang="zh-CN" sz="1400" b="1" spc="120">
                          <a:solidFill>
                            <a:srgbClr val="FF0000"/>
                          </a:solidFill>
                          <a:latin typeface="微软雅黑" panose="020B0503020204020204" charset="-122"/>
                          <a:ea typeface="微软雅黑" panose="020B0503020204020204" charset="-122"/>
                        </a:rPr>
                        <a:t>19</a:t>
                      </a:r>
                      <a:endParaRPr lang="en-US" altLang="zh-CN" sz="1400" b="1" spc="120">
                        <a:solidFill>
                          <a:srgbClr val="FF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pP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8" name="文本框 7"/>
          <p:cNvSpPr txBox="1"/>
          <p:nvPr/>
        </p:nvSpPr>
        <p:spPr>
          <a:xfrm>
            <a:off x="695325" y="1554480"/>
            <a:ext cx="10569575" cy="506730"/>
          </a:xfrm>
          <a:prstGeom prst="rect">
            <a:avLst/>
          </a:prstGeom>
          <a:noFill/>
        </p:spPr>
        <p:txBody>
          <a:bodyPr wrap="square" rtlCol="0">
            <a:spAutoFit/>
          </a:bodyPr>
          <a:p>
            <a:pPr>
              <a:lnSpc>
                <a:spcPct val="150000"/>
              </a:lnSpc>
            </a:pPr>
            <a:r>
              <a:rPr lang="zh-CN">
                <a:solidFill>
                  <a:srgbClr val="000000"/>
                </a:solidFill>
                <a:latin typeface="微软雅黑" panose="020B0503020204020204" charset="-122"/>
                <a:ea typeface="微软雅黑" panose="020B0503020204020204" charset="-122"/>
                <a:cs typeface="微软雅黑" panose="020B0503020204020204" charset="-122"/>
                <a:sym typeface="+mn-ea"/>
              </a:rPr>
              <a:t>本周</a:t>
            </a:r>
            <a:r>
              <a:rPr lang="zh-CN" altLang="en-US">
                <a:solidFill>
                  <a:srgbClr val="000000"/>
                </a:solidFill>
                <a:latin typeface="微软雅黑" panose="020B0503020204020204" charset="-122"/>
                <a:ea typeface="微软雅黑" panose="020B0503020204020204" charset="-122"/>
                <a:cs typeface="微软雅黑" panose="020B0503020204020204" charset="-122"/>
                <a:sym typeface="+mn-ea"/>
              </a:rPr>
              <a:t>内部行为偏差共</a:t>
            </a:r>
            <a:r>
              <a:rPr lang="zh-CN" altLang="en-US">
                <a:solidFill>
                  <a:schemeClr val="tx1"/>
                </a:solidFill>
                <a:latin typeface="微软雅黑" panose="020B0503020204020204" charset="-122"/>
                <a:ea typeface="微软雅黑" panose="020B0503020204020204" charset="-122"/>
                <a:cs typeface="微软雅黑" panose="020B0503020204020204" charset="-122"/>
                <a:sym typeface="+mn-ea"/>
              </a:rPr>
              <a:t>计</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mn-ea"/>
              </a:rPr>
              <a:t>19</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mn-ea"/>
              </a:rPr>
              <a:t>人</a:t>
            </a:r>
            <a:r>
              <a:rPr lang="zh-CN" altLang="en-US">
                <a:solidFill>
                  <a:srgbClr val="000000"/>
                </a:solidFill>
                <a:latin typeface="微软雅黑" panose="020B0503020204020204" charset="-122"/>
                <a:ea typeface="微软雅黑" panose="020B0503020204020204" charset="-122"/>
                <a:cs typeface="微软雅黑" panose="020B0503020204020204" charset="-122"/>
                <a:sym typeface="+mn-ea"/>
              </a:rPr>
              <a:t>次，已培训</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mn-ea"/>
              </a:rPr>
              <a:t>15</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mn-ea"/>
              </a:rPr>
              <a:t>人</a:t>
            </a:r>
            <a:r>
              <a:rPr lang="zh-CN" altLang="en-US">
                <a:solidFill>
                  <a:srgbClr val="000000"/>
                </a:solidFill>
                <a:latin typeface="微软雅黑" panose="020B0503020204020204" charset="-122"/>
                <a:ea typeface="微软雅黑" panose="020B0503020204020204" charset="-122"/>
                <a:cs typeface="微软雅黑" panose="020B0503020204020204" charset="-122"/>
                <a:sym typeface="+mn-ea"/>
              </a:rPr>
              <a:t>还有</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mn-ea"/>
              </a:rPr>
              <a:t>4人</a:t>
            </a:r>
            <a:r>
              <a:rPr lang="zh-CN" altLang="en-US">
                <a:solidFill>
                  <a:srgbClr val="000000"/>
                </a:solidFill>
                <a:latin typeface="微软雅黑" panose="020B0503020204020204" charset="-122"/>
                <a:ea typeface="微软雅黑" panose="020B0503020204020204" charset="-122"/>
                <a:cs typeface="微软雅黑" panose="020B0503020204020204" charset="-122"/>
                <a:sym typeface="+mn-ea"/>
              </a:rPr>
              <a:t>未培训，工程公司录入行为偏差共计</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mn-ea"/>
              </a:rPr>
              <a:t>19</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mn-ea"/>
              </a:rPr>
              <a:t>人。</a:t>
            </a:r>
            <a:endParaRPr lang="zh-CN" altLang="en-US"/>
          </a:p>
        </p:txBody>
      </p:sp>
      <p:graphicFrame>
        <p:nvGraphicFramePr>
          <p:cNvPr id="2" name="表格 1"/>
          <p:cNvGraphicFramePr/>
          <p:nvPr>
            <p:custDataLst>
              <p:tags r:id="rId5"/>
            </p:custDataLst>
          </p:nvPr>
        </p:nvGraphicFramePr>
        <p:xfrm>
          <a:off x="407035" y="2132965"/>
          <a:ext cx="4850130" cy="2105025"/>
        </p:xfrm>
        <a:graphic>
          <a:graphicData uri="http://schemas.openxmlformats.org/drawingml/2006/table">
            <a:tbl>
              <a:tblPr firstRow="1" bandRow="1">
                <a:tableStyleId>{5C22544A-7EE6-4342-B048-85BDC9FD1C3A}</a:tableStyleId>
              </a:tblPr>
              <a:tblGrid>
                <a:gridCol w="550545"/>
                <a:gridCol w="2209800"/>
                <a:gridCol w="1235710"/>
                <a:gridCol w="854075"/>
              </a:tblGrid>
              <a:tr h="419100">
                <a:tc gridSpan="4">
                  <a:txBody>
                    <a:bodyPr/>
                    <a:p>
                      <a:pPr indent="0" algn="ctr">
                        <a:lnSpc>
                          <a:spcPct val="120000"/>
                        </a:lnSpc>
                        <a:spcBef>
                          <a:spcPts val="0"/>
                        </a:spcBef>
                        <a:spcAft>
                          <a:spcPts val="0"/>
                        </a:spcAft>
                        <a:buNone/>
                      </a:pPr>
                      <a:r>
                        <a:rPr lang="zh-CN" altLang="en-US" sz="1800" b="1" spc="120">
                          <a:solidFill>
                            <a:srgbClr val="404040"/>
                          </a:solidFill>
                          <a:latin typeface="微软雅黑" panose="020B0503020204020204" charset="-122"/>
                          <a:ea typeface="微软雅黑" panose="020B0503020204020204" charset="-122"/>
                        </a:rPr>
                        <a:t>工程公司行为</a:t>
                      </a:r>
                      <a:r>
                        <a:rPr lang="zh-CN" altLang="en-US" sz="1800" b="1" spc="120">
                          <a:solidFill>
                            <a:srgbClr val="404040"/>
                          </a:solidFill>
                          <a:latin typeface="微软雅黑" panose="020B0503020204020204" charset="-122"/>
                          <a:ea typeface="微软雅黑" panose="020B0503020204020204" charset="-122"/>
                        </a:rPr>
                        <a:t>偏差统计</a:t>
                      </a:r>
                      <a:endParaRPr lang="zh-CN" altLang="en-US" sz="18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hMerge="1">
                  <a:tcPr>
                    <a:lnT w="12700">
                      <a:solidFill>
                        <a:schemeClr val="tx1"/>
                      </a:solidFill>
                      <a:prstDash val="solid"/>
                    </a:lnT>
                    <a:lnB w="12700">
                      <a:solidFill>
                        <a:schemeClr val="tx1"/>
                      </a:solidFill>
                      <a:prstDash val="solid"/>
                    </a:lnB>
                  </a:tcPr>
                </a:tc>
                <a:tc hMerge="1">
                  <a:tcPr>
                    <a:lnT w="12700">
                      <a:solidFill>
                        <a:schemeClr val="tx1"/>
                      </a:solidFill>
                      <a:prstDash val="solid"/>
                    </a:lnT>
                    <a:lnB w="12700">
                      <a:solidFill>
                        <a:schemeClr val="tx1"/>
                      </a:solidFill>
                      <a:prstDash val="solid"/>
                    </a:lnB>
                  </a:tcPr>
                </a:tc>
                <a:tc hMerge="1">
                  <a:tcPr>
                    <a:lnR w="12700">
                      <a:solidFill>
                        <a:schemeClr val="tx1"/>
                      </a:solidFill>
                      <a:prstDash val="solid"/>
                    </a:lnR>
                    <a:lnT w="12700">
                      <a:solidFill>
                        <a:schemeClr val="tx1"/>
                      </a:solidFill>
                      <a:prstDash val="solid"/>
                    </a:lnT>
                    <a:lnB w="12700">
                      <a:solidFill>
                        <a:schemeClr val="tx1"/>
                      </a:solidFill>
                      <a:prstDash val="solid"/>
                    </a:lnB>
                    <a:solidFill>
                      <a:schemeClr val="accent1"/>
                    </a:solidFill>
                  </a:tcPr>
                </a:tc>
              </a:tr>
              <a:tr h="558800">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charset="-122"/>
                          <a:ea typeface="微软雅黑" panose="020B0503020204020204" charset="-122"/>
                        </a:rPr>
                        <a:t>序号</a:t>
                      </a:r>
                      <a:endParaRPr lang="zh-CN" altLang="en-US" sz="1400" b="1"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charset="-122"/>
                          <a:ea typeface="微软雅黑" panose="020B0503020204020204" charset="-122"/>
                          <a:sym typeface="+mn-ea"/>
                        </a:rPr>
                        <a:t>行为偏差</a:t>
                      </a:r>
                      <a:r>
                        <a:rPr lang="zh-CN" altLang="en-US" sz="1400" b="1" spc="120">
                          <a:solidFill>
                            <a:srgbClr val="FFFFFF"/>
                          </a:solidFill>
                          <a:latin typeface="微软雅黑" panose="020B0503020204020204" charset="-122"/>
                          <a:ea typeface="微软雅黑" panose="020B0503020204020204" charset="-122"/>
                        </a:rPr>
                        <a:t>类型</a:t>
                      </a:r>
                      <a:endParaRPr lang="zh-CN" altLang="en-US" sz="1400" b="1" spc="12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p>
                      <a:pPr indent="0" algn="ctr">
                        <a:lnSpc>
                          <a:spcPct val="120000"/>
                        </a:lnSpc>
                        <a:spcBef>
                          <a:spcPts val="0"/>
                        </a:spcBef>
                        <a:spcAft>
                          <a:spcPts val="0"/>
                        </a:spcAft>
                        <a:buNone/>
                      </a:pPr>
                      <a:r>
                        <a:rPr lang="zh-CN" altLang="en-US" sz="1400" b="1" spc="120" dirty="0">
                          <a:solidFill>
                            <a:srgbClr val="FFFFFF"/>
                          </a:solidFill>
                          <a:latin typeface="微软雅黑" panose="020B0503020204020204" charset="-122"/>
                          <a:ea typeface="微软雅黑" panose="020B0503020204020204" charset="-122"/>
                        </a:rPr>
                        <a:t>违章人数</a:t>
                      </a:r>
                      <a:endParaRPr lang="zh-CN" altLang="en-US" sz="1400" b="1" spc="120" dirty="0">
                        <a:solidFill>
                          <a:srgbClr val="FFFFFF"/>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p>
                      <a:pPr indent="0" algn="ctr">
                        <a:lnSpc>
                          <a:spcPct val="120000"/>
                        </a:lnSpc>
                        <a:spcBef>
                          <a:spcPts val="0"/>
                        </a:spcBef>
                        <a:spcAft>
                          <a:spcPts val="0"/>
                        </a:spcAft>
                        <a:buNone/>
                      </a:pPr>
                      <a:r>
                        <a:rPr lang="zh-CN" altLang="en-US" sz="1400" b="1" spc="120" dirty="0">
                          <a:solidFill>
                            <a:srgbClr val="FFFFFF"/>
                          </a:solidFill>
                          <a:latin typeface="微软雅黑" panose="020B0503020204020204" charset="-122"/>
                          <a:ea typeface="微软雅黑" panose="020B0503020204020204" charset="-122"/>
                          <a:cs typeface="微软雅黑" panose="020B0503020204020204" charset="-122"/>
                        </a:rPr>
                        <a:t>备注</a:t>
                      </a:r>
                      <a:endParaRPr lang="en-US" altLang="zh-CN" sz="1400" b="1" spc="120" dirty="0">
                        <a:solidFill>
                          <a:srgbClr val="FFFFFF"/>
                        </a:solidFill>
                        <a:latin typeface="微软雅黑" panose="020B0503020204020204" charset="-122"/>
                        <a:ea typeface="微软雅黑" panose="020B0503020204020204" charset="-122"/>
                        <a:cs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377825">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1</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r>
                        <a:rPr lang="zh-CN" altLang="en-US" sz="1400" b="1" i="0">
                          <a:solidFill>
                            <a:srgbClr val="000000"/>
                          </a:solidFill>
                          <a:latin typeface="微软雅黑" panose="020B0503020204020204" charset="-122"/>
                          <a:ea typeface="微软雅黑" panose="020B0503020204020204" charset="-122"/>
                        </a:rPr>
                        <a:t>作业行为</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en-US" altLang="zh-CN" sz="1400" b="1" spc="120">
                          <a:solidFill>
                            <a:schemeClr val="tx1"/>
                          </a:solidFill>
                          <a:latin typeface="微软雅黑" panose="020B0503020204020204" charset="-122"/>
                          <a:ea typeface="微软雅黑" panose="020B0503020204020204" charset="-122"/>
                        </a:rPr>
                        <a:t>10</a:t>
                      </a:r>
                      <a:endParaRPr lang="en-US" altLang="zh-CN"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4650">
                <a:tc>
                  <a:txBody>
                    <a:bodyPr/>
                    <a:p>
                      <a:pPr indent="0" algn="ctr">
                        <a:lnSpc>
                          <a:spcPct val="120000"/>
                        </a:lnSpc>
                        <a:spcBef>
                          <a:spcPts val="0"/>
                        </a:spcBef>
                        <a:spcAft>
                          <a:spcPts val="0"/>
                        </a:spcAft>
                        <a:buNone/>
                      </a:pPr>
                      <a:r>
                        <a:rPr lang="en-US" altLang="zh-CN" sz="1400" b="1" spc="120">
                          <a:solidFill>
                            <a:srgbClr val="404040"/>
                          </a:solidFill>
                          <a:latin typeface="微软雅黑" panose="020B0503020204020204" charset="-122"/>
                          <a:ea typeface="微软雅黑" panose="020B0503020204020204" charset="-122"/>
                        </a:rPr>
                        <a:t>2</a:t>
                      </a: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fontAlgn="ctr">
                        <a:buNone/>
                      </a:pPr>
                      <a:r>
                        <a:rPr lang="zh-CN" altLang="en-US" sz="1400" b="1" i="0">
                          <a:solidFill>
                            <a:srgbClr val="000000"/>
                          </a:solidFill>
                          <a:latin typeface="微软雅黑" panose="020B0503020204020204" charset="-122"/>
                          <a:ea typeface="微软雅黑" panose="020B0503020204020204" charset="-122"/>
                        </a:rPr>
                        <a:t>管理</a:t>
                      </a:r>
                      <a:r>
                        <a:rPr lang="zh-CN" altLang="en-US" sz="1400" b="1" i="0">
                          <a:solidFill>
                            <a:srgbClr val="000000"/>
                          </a:solidFill>
                          <a:latin typeface="微软雅黑" panose="020B0503020204020204" charset="-122"/>
                          <a:ea typeface="微软雅黑" panose="020B0503020204020204" charset="-122"/>
                        </a:rPr>
                        <a:t>行为</a:t>
                      </a:r>
                      <a:endParaRPr lang="zh-CN" altLang="en-US" sz="1400" b="1" i="0">
                        <a:solidFill>
                          <a:srgbClr val="000000"/>
                        </a:solidFill>
                        <a:latin typeface="微软雅黑" panose="020B0503020204020204" charset="-122"/>
                        <a:ea typeface="微软雅黑" panose="020B050302020402020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en-US" altLang="zh-CN" sz="1400" b="1" spc="120">
                          <a:solidFill>
                            <a:schemeClr val="tx1"/>
                          </a:solidFill>
                          <a:latin typeface="微软雅黑" panose="020B0503020204020204" charset="-122"/>
                          <a:ea typeface="微软雅黑" panose="020B0503020204020204" charset="-122"/>
                        </a:rPr>
                        <a:t>9</a:t>
                      </a:r>
                      <a:endParaRPr lang="en-US" altLang="zh-CN" sz="1400" b="1" spc="120">
                        <a:solidFill>
                          <a:schemeClr val="tx1"/>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4650">
                <a:tc>
                  <a:txBody>
                    <a:bodyPr/>
                    <a:p>
                      <a:pPr indent="0" algn="ctr">
                        <a:lnSpc>
                          <a:spcPct val="120000"/>
                        </a:lnSpc>
                        <a:spcBef>
                          <a:spcPts val="0"/>
                        </a:spcBef>
                        <a:spcAft>
                          <a:spcPts val="0"/>
                        </a:spcAft>
                        <a:buNone/>
                      </a:pP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zh-CN" altLang="en-US" sz="1400" b="1" spc="120">
                          <a:solidFill>
                            <a:srgbClr val="404040"/>
                          </a:solidFill>
                          <a:latin typeface="微软雅黑" panose="020B0503020204020204" charset="-122"/>
                          <a:ea typeface="微软雅黑" panose="020B0503020204020204" charset="-122"/>
                        </a:rPr>
                        <a:t>合计</a:t>
                      </a:r>
                      <a:endParaRPr lang="zh-CN" altLang="en-US" sz="1400" b="1" spc="120">
                        <a:solidFill>
                          <a:srgbClr val="40404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r>
                        <a:rPr lang="en-US" altLang="zh-CN" sz="1400" b="1" spc="120">
                          <a:solidFill>
                            <a:srgbClr val="FF0000"/>
                          </a:solidFill>
                          <a:latin typeface="微软雅黑" panose="020B0503020204020204" charset="-122"/>
                          <a:ea typeface="微软雅黑" panose="020B0503020204020204" charset="-122"/>
                        </a:rPr>
                        <a:t>19</a:t>
                      </a:r>
                      <a:endParaRPr lang="en-US" altLang="zh-CN" sz="1400" b="1" spc="120">
                        <a:solidFill>
                          <a:srgbClr val="FF0000"/>
                        </a:solidFill>
                        <a:latin typeface="微软雅黑" panose="020B0503020204020204" charset="-122"/>
                        <a:ea typeface="微软雅黑" panose="020B0503020204020204" charset="-122"/>
                      </a:endParaRPr>
                    </a:p>
                  </a:txBody>
                  <a:tcPr marL="12700" marR="12700" marT="1270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p>
                      <a:pPr algn="ctr">
                        <a:lnSpc>
                          <a:spcPct val="120000"/>
                        </a:lnSpc>
                        <a:spcBef>
                          <a:spcPts val="0"/>
                        </a:spcBef>
                        <a:spcAft>
                          <a:spcPts val="0"/>
                        </a:spcAft>
                        <a:buClrTx/>
                        <a:buSzTx/>
                        <a:buFontTx/>
                        <a:buNone/>
                      </a:pPr>
                      <a:endParaRPr lang="en-US" altLang="zh-CN" sz="1400" b="1" spc="120">
                        <a:solidFill>
                          <a:srgbClr val="404040"/>
                        </a:solidFill>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35941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06755" y="1019175"/>
            <a:ext cx="9189720"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4</a:t>
            </a:r>
            <a:r>
              <a:rPr lang="zh-CN" altLang="en-US" sz="2200" b="1" dirty="0">
                <a:solidFill>
                  <a:srgbClr val="000000"/>
                </a:solidFill>
                <a:latin typeface="微软雅黑" panose="020B0503020204020204" charset="-122"/>
                <a:ea typeface="微软雅黑" panose="020B0503020204020204" charset="-122"/>
                <a:sym typeface="+mn-ea"/>
              </a:rPr>
              <a:t>、隐患记录提交情况（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endParaRPr lang="en-US" altLang="zh-CN" sz="2200" b="1" dirty="0">
              <a:solidFill>
                <a:srgbClr val="000000"/>
              </a:solidFill>
              <a:latin typeface="微软雅黑" panose="020B0503020204020204" charset="-122"/>
              <a:ea typeface="微软雅黑" panose="020B0503020204020204" charset="-122"/>
              <a:sym typeface="+mn-ea"/>
            </a:endParaRPr>
          </a:p>
        </p:txBody>
      </p:sp>
      <p:graphicFrame>
        <p:nvGraphicFramePr>
          <p:cNvPr id="10" name="表格 9"/>
          <p:cNvGraphicFramePr/>
          <p:nvPr>
            <p:custDataLst>
              <p:tags r:id="rId4"/>
            </p:custDataLst>
          </p:nvPr>
        </p:nvGraphicFramePr>
        <p:xfrm>
          <a:off x="758825" y="1430655"/>
          <a:ext cx="5622290" cy="4982210"/>
        </p:xfrm>
        <a:graphic>
          <a:graphicData uri="http://schemas.openxmlformats.org/drawingml/2006/table">
            <a:tbl>
              <a:tblPr/>
              <a:tblGrid>
                <a:gridCol w="836295"/>
                <a:gridCol w="517525"/>
                <a:gridCol w="685165"/>
                <a:gridCol w="554990"/>
                <a:gridCol w="1574800"/>
                <a:gridCol w="391160"/>
                <a:gridCol w="1062355"/>
              </a:tblGrid>
              <a:tr h="412750">
                <a:tc rowSpan="21">
                  <a:txBody>
                    <a:bodyPr/>
                    <a:p>
                      <a:pPr algn="ctr" fontAlgn="ct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隐患录入情况（每人每天</a:t>
                      </a:r>
                      <a:r>
                        <a:rPr lang="en-US" altLang="zh-CN" sz="1200" b="1" i="0">
                          <a:solidFill>
                            <a:srgbClr val="FFFFFF"/>
                          </a:solidFill>
                          <a:latin typeface="微软雅黑" panose="020B0503020204020204" charset="-122"/>
                          <a:ea typeface="微软雅黑" panose="020B0503020204020204" charset="-122"/>
                          <a:cs typeface="微软雅黑" panose="020B0503020204020204" charset="-122"/>
                        </a:rPr>
                        <a:t>10</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条）</a:t>
                      </a:r>
                      <a:endParaRPr lang="zh-CN" altLang="en-US" sz="1200" b="1" i="0">
                        <a:solidFill>
                          <a:srgbClr val="FFFFFF"/>
                        </a:solidFill>
                        <a:latin typeface="微软雅黑" panose="020B0503020204020204" charset="-122"/>
                        <a:ea typeface="微软雅黑" panose="020B0503020204020204" charset="-122"/>
                        <a:cs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区域</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人员</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隐患录入数量</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平均每人</a:t>
                      </a:r>
                      <a:r>
                        <a:rPr lang="en-US" altLang="zh-CN" sz="1200" b="1"/>
                        <a:t>/</a:t>
                      </a:r>
                      <a:r>
                        <a:rPr lang="zh-CN" altLang="en-US" sz="1200" b="1"/>
                        <a:t>每天录入</a:t>
                      </a:r>
                      <a:endParaRPr lang="zh-CN" altLang="en-US" sz="1200" b="1"/>
                    </a:p>
                    <a:p>
                      <a:pPr algn="ctr" fontAlgn="ctr"/>
                      <a:r>
                        <a:rPr lang="zh-CN" altLang="en-US" sz="1200" b="1"/>
                        <a:t>隐患数量</a:t>
                      </a:r>
                      <a:r>
                        <a:rPr lang="zh-CN" altLang="en-US" sz="1200" b="1">
                          <a:solidFill>
                            <a:srgbClr val="000000"/>
                          </a:solidFill>
                          <a:latin typeface="微软雅黑" panose="020B0503020204020204" charset="-122"/>
                          <a:ea typeface="微软雅黑" panose="020B0503020204020204" charset="-122"/>
                          <a:cs typeface="微软雅黑" panose="020B0503020204020204" charset="-122"/>
                          <a:sym typeface="+mn-ea"/>
                        </a:rPr>
                        <a:t>（条</a:t>
                      </a:r>
                      <a:r>
                        <a:rPr lang="en-US" altLang="zh-CN" sz="1200" b="1">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rgbClr val="000000"/>
                          </a:solidFill>
                          <a:latin typeface="微软雅黑" panose="020B0503020204020204" charset="-122"/>
                          <a:ea typeface="微软雅黑" panose="020B0503020204020204" charset="-122"/>
                          <a:cs typeface="微软雅黑" panose="020B0503020204020204" charset="-122"/>
                          <a:sym typeface="+mn-ea"/>
                        </a:rPr>
                        <a:t>日）</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sym typeface="+mn-ea"/>
                        </a:rPr>
                        <a:t>是否达标</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buNone/>
                      </a:pPr>
                      <a:r>
                        <a:rPr lang="zh-CN" altLang="en-US" sz="1200" b="1"/>
                        <a:t>隐患录入</a:t>
                      </a:r>
                      <a:endParaRPr lang="zh-CN" altLang="en-US" sz="1200" b="1"/>
                    </a:p>
                    <a:p>
                      <a:pPr algn="ctr" fontAlgn="ctr">
                        <a:buNone/>
                      </a:pPr>
                      <a:r>
                        <a:rPr lang="zh-CN" altLang="en-US" sz="1200" b="1"/>
                        <a:t>优秀</a:t>
                      </a:r>
                      <a:r>
                        <a:rPr lang="zh-CN" altLang="en-US" sz="1200" b="1"/>
                        <a:t>人员</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r>
              <a:tr h="20764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2">
                  <a:txBody>
                    <a:bodyPr/>
                    <a:p>
                      <a:pPr algn="ctr" fontAlgn="ctr"/>
                      <a:r>
                        <a:rPr lang="zh-CN" altLang="en-US" sz="1200" b="1" i="0">
                          <a:solidFill>
                            <a:srgbClr val="000000"/>
                          </a:solidFill>
                          <a:latin typeface="微软雅黑" panose="020B0503020204020204" charset="-122"/>
                          <a:ea typeface="微软雅黑" panose="020B0503020204020204" charset="-122"/>
                        </a:rPr>
                        <a:t>大件库</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罗琦</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9</a:t>
                      </a:r>
                      <a:endParaRPr lang="en-US" altLang="zh-CN"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rowSpan="2">
                  <a:txBody>
                    <a:bodyPr/>
                    <a:p>
                      <a:pPr algn="ctr" fontAlgn="ctr">
                        <a:lnSpc>
                          <a:spcPct val="110000"/>
                        </a:lnSpc>
                      </a:pPr>
                      <a:r>
                        <a:rPr lang="en-US" altLang="zh-CN" sz="1000" b="1" i="0">
                          <a:solidFill>
                            <a:srgbClr val="000000"/>
                          </a:solidFill>
                          <a:latin typeface="微软雅黑" panose="020B0503020204020204" charset="-122"/>
                          <a:ea typeface="微软雅黑" panose="020B0503020204020204" charset="-122"/>
                          <a:cs typeface="微软雅黑" panose="020B0503020204020204" charset="-122"/>
                        </a:rPr>
                        <a:t>9/7/2=0.64</a:t>
                      </a:r>
                      <a:endParaRPr lang="en-US" altLang="zh-CN" sz="1000" b="1" i="0">
                        <a:solidFill>
                          <a:srgbClr val="000000"/>
                        </a:solidFill>
                        <a:latin typeface="微软雅黑" panose="020B0503020204020204" charset="-122"/>
                        <a:ea typeface="微软雅黑" panose="020B0503020204020204" charset="-122"/>
                        <a:cs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07645">
                <a:tc vMerge="1">
                  <a:tcPr/>
                </a:tc>
                <a:tc vMerge="1">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农君</a:t>
                      </a:r>
                      <a:r>
                        <a:rPr lang="zh-CN" altLang="en-US" sz="1200" b="1" i="0">
                          <a:solidFill>
                            <a:srgbClr val="000000"/>
                          </a:solidFill>
                          <a:latin typeface="微软雅黑" panose="020B0503020204020204" charset="-122"/>
                          <a:ea typeface="微软雅黑" panose="020B0503020204020204" charset="-122"/>
                        </a:rPr>
                        <a:t>鑫</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buNone/>
                      </a:pPr>
                      <a:r>
                        <a:rPr lang="en-US" altLang="zh-CN" sz="1200" b="1" i="0">
                          <a:solidFill>
                            <a:srgbClr val="000000"/>
                          </a:solidFill>
                          <a:latin typeface="微软雅黑" panose="020B0503020204020204" charset="-122"/>
                          <a:ea typeface="微软雅黑" panose="020B0503020204020204" charset="-122"/>
                        </a:rPr>
                        <a:t>0</a:t>
                      </a:r>
                      <a:endParaRPr lang="en-US" altLang="zh-CN"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4130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rowSpan="18">
                  <a:txBody>
                    <a:bodyPr/>
                    <a:p>
                      <a:pPr algn="ctr" fontAlgn="ctr"/>
                      <a:r>
                        <a:rPr lang="zh-CN" altLang="en-US" sz="1200" b="1" i="0">
                          <a:solidFill>
                            <a:srgbClr val="000000"/>
                          </a:solidFill>
                          <a:latin typeface="微软雅黑" panose="020B0503020204020204" charset="-122"/>
                          <a:ea typeface="微软雅黑" panose="020B0503020204020204" charset="-122"/>
                        </a:rPr>
                        <a:t>现场</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果机吃沙</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14</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rowSpan="18">
                  <a:txBody>
                    <a:bodyPr/>
                    <a:p>
                      <a:pPr algn="ctr" fontAlgn="ctr">
                        <a:lnSpc>
                          <a:spcPct val="110000"/>
                        </a:lnSpc>
                      </a:pPr>
                      <a:r>
                        <a:rPr lang="en-US" altLang="zh-CN" sz="1000" b="1" i="0">
                          <a:solidFill>
                            <a:srgbClr val="000000"/>
                          </a:solidFill>
                          <a:latin typeface="微软雅黑" panose="020B0503020204020204" charset="-122"/>
                          <a:ea typeface="微软雅黑" panose="020B0503020204020204" charset="-122"/>
                          <a:cs typeface="微软雅黑" panose="020B0503020204020204" charset="-122"/>
                          <a:sym typeface="+mn-ea"/>
                        </a:rPr>
                        <a:t>691/17/7=5.8</a:t>
                      </a:r>
                      <a:endParaRPr lang="zh-CN" altLang="en-US" sz="1000" b="1" i="0">
                        <a:solidFill>
                          <a:srgbClr val="000000"/>
                        </a:solidFill>
                        <a:latin typeface="微软雅黑" panose="020B0503020204020204" charset="-122"/>
                        <a:ea typeface="微软雅黑" panose="020B0503020204020204" charset="-122"/>
                        <a:cs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2733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000000"/>
                          </a:solidFill>
                          <a:latin typeface="微软雅黑" panose="020B0503020204020204" charset="-122"/>
                          <a:ea typeface="微软雅黑" panose="020B0503020204020204" charset="-122"/>
                        </a:rPr>
                        <a:t>刘友三</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7</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971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000000"/>
                          </a:solidFill>
                          <a:latin typeface="微软雅黑" panose="020B0503020204020204" charset="-122"/>
                          <a:ea typeface="微软雅黑" panose="020B0503020204020204" charset="-122"/>
                        </a:rPr>
                        <a:t>谢博鑫</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17</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19939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000000"/>
                          </a:solidFill>
                          <a:latin typeface="微软雅黑" panose="020B0503020204020204" charset="-122"/>
                          <a:ea typeface="微软雅黑" panose="020B0503020204020204" charset="-122"/>
                        </a:rPr>
                        <a:t>陈柱旭</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12</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FF0000"/>
                          </a:solidFill>
                          <a:latin typeface="微软雅黑" panose="020B0503020204020204" charset="-122"/>
                          <a:ea typeface="微软雅黑" panose="020B0503020204020204" charset="-122"/>
                          <a:sym typeface="+mn-ea"/>
                        </a:rPr>
                        <a:t>否</a:t>
                      </a:r>
                      <a:endParaRPr lang="zh-CN" altLang="en-US" sz="1200" b="1" i="0">
                        <a:solidFill>
                          <a:srgbClr val="FF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0764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a:solidFill>
                            <a:srgbClr val="000000"/>
                          </a:solidFill>
                          <a:latin typeface="微软雅黑" panose="020B0503020204020204" charset="-122"/>
                          <a:ea typeface="微软雅黑" panose="020B0503020204020204" charset="-122"/>
                          <a:sym typeface="+mn-ea"/>
                        </a:rPr>
                        <a:t>张晨雨</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30</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buClrTx/>
                        <a:buSzTx/>
                        <a:buFontTx/>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5527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000000"/>
                          </a:solidFill>
                          <a:latin typeface="微软雅黑" panose="020B0503020204020204" charset="-122"/>
                          <a:ea typeface="微软雅黑" panose="020B0503020204020204" charset="-122"/>
                        </a:rPr>
                        <a:t>桂杨</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35</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907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刘</a:t>
                      </a:r>
                      <a:r>
                        <a:rPr lang="zh-CN" altLang="en-US" sz="1200" b="1" i="0">
                          <a:solidFill>
                            <a:srgbClr val="000000"/>
                          </a:solidFill>
                          <a:latin typeface="微软雅黑" panose="020B0503020204020204" charset="-122"/>
                          <a:ea typeface="微软雅黑" panose="020B0503020204020204" charset="-122"/>
                        </a:rPr>
                        <a:t>勇</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65</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algn="ctr" fontAlgn="ctr"/>
                      <a:r>
                        <a:rPr lang="zh-CN" altLang="en-US" sz="1200" b="1">
                          <a:solidFill>
                            <a:srgbClr val="FF0000"/>
                          </a:solidFill>
                          <a:sym typeface="+mn-ea"/>
                        </a:rPr>
                        <a:t>否</a:t>
                      </a:r>
                      <a:r>
                        <a:rPr lang="en-US" altLang="zh-CN" sz="1200" b="1">
                          <a:solidFill>
                            <a:srgbClr val="FF0000"/>
                          </a:solidFill>
                          <a:sym typeface="+mn-ea"/>
                        </a:rPr>
                        <a:t> </a:t>
                      </a:r>
                      <a:endParaRPr lang="en-US" altLang="zh-CN" sz="1200" b="1">
                        <a:solidFill>
                          <a:srgbClr val="FF0000"/>
                        </a:solidFill>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844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甘伟</a:t>
                      </a:r>
                      <a:r>
                        <a:rPr lang="zh-CN" altLang="en-US" sz="1200" b="1" i="0">
                          <a:solidFill>
                            <a:srgbClr val="000000"/>
                          </a:solidFill>
                          <a:latin typeface="微软雅黑" panose="020B0503020204020204" charset="-122"/>
                          <a:ea typeface="微软雅黑" panose="020B0503020204020204" charset="-122"/>
                        </a:rPr>
                        <a:t>平</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56</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a:solidFill>
                            <a:srgbClr val="FF0000"/>
                          </a:solidFill>
                          <a:sym typeface="+mn-ea"/>
                        </a:rPr>
                        <a:t>否</a:t>
                      </a:r>
                      <a:endParaRPr lang="zh-CN" altLang="en-US" sz="1200" b="1" i="0">
                        <a:solidFill>
                          <a:srgbClr val="FF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9075">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杨兆龙</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70</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chemeClr val="tx1"/>
                          </a:solidFill>
                          <a:latin typeface="微软雅黑" panose="020B0503020204020204" charset="-122"/>
                          <a:ea typeface="微软雅黑" panose="020B0503020204020204" charset="-122"/>
                        </a:rPr>
                        <a:t>是</a:t>
                      </a:r>
                      <a:endParaRPr lang="zh-CN" altLang="en-US" sz="1200" b="1" i="0">
                        <a:solidFill>
                          <a:schemeClr val="tx1"/>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r>
                        <a:rPr lang="en-US" altLang="zh-CN" sz="1200" b="1">
                          <a:solidFill>
                            <a:srgbClr val="000000"/>
                          </a:solidFill>
                          <a:latin typeface="微软雅黑" panose="020B0503020204020204" charset="-122"/>
                          <a:ea typeface="微软雅黑" panose="020B0503020204020204" charset="-122"/>
                          <a:sym typeface="+mn-ea"/>
                        </a:rPr>
                        <a:t>√</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844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罗荣鑫</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52</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3876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李青雨</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36</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717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赵鹏飞</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20</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sym typeface="+mn-ea"/>
                        </a:rPr>
                        <a:t>否</a:t>
                      </a:r>
                      <a:endParaRPr lang="zh-CN" altLang="en-US" sz="1200" b="1" i="0">
                        <a:solidFill>
                          <a:srgbClr val="FF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844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杨思远</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14</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sym typeface="+mn-ea"/>
                        </a:rPr>
                        <a:t>否</a:t>
                      </a:r>
                      <a:endParaRPr lang="zh-CN" altLang="en-US" sz="1200" b="1" i="0">
                        <a:solidFill>
                          <a:srgbClr val="FF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en-US" altLang="zh-CN" sz="1400" b="1" i="0">
                        <a:solidFill>
                          <a:srgbClr val="00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1844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冯海浪</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buNone/>
                      </a:pPr>
                      <a:r>
                        <a:rPr lang="en-US" altLang="zh-CN" sz="1200" b="1" i="0">
                          <a:solidFill>
                            <a:srgbClr val="000000"/>
                          </a:solidFill>
                          <a:latin typeface="微软雅黑" panose="020B0503020204020204" charset="-122"/>
                          <a:ea typeface="微软雅黑" panose="020B0503020204020204" charset="-122"/>
                        </a:rPr>
                        <a:t>61</a:t>
                      </a:r>
                      <a:endParaRPr lang="en-US" altLang="zh-CN"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08280">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罗园杰</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74</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chemeClr val="tx1"/>
                          </a:solidFill>
                          <a:latin typeface="微软雅黑" panose="020B0503020204020204" charset="-122"/>
                          <a:ea typeface="微软雅黑" panose="020B0503020204020204" charset="-122"/>
                        </a:rPr>
                        <a:t>是</a:t>
                      </a:r>
                      <a:endParaRPr lang="zh-CN" altLang="en-US" sz="1200" b="1" i="0">
                        <a:solidFill>
                          <a:schemeClr val="tx1"/>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r>
                        <a:rPr lang="en-US" altLang="zh-CN" sz="1400" b="1" i="0">
                          <a:solidFill>
                            <a:srgbClr val="000000"/>
                          </a:solidFill>
                          <a:latin typeface="微软雅黑" panose="020B0503020204020204" charset="-122"/>
                          <a:ea typeface="微软雅黑" panose="020B0503020204020204" charset="-122"/>
                          <a:sym typeface="+mn-ea"/>
                        </a:rPr>
                        <a:t>√</a:t>
                      </a:r>
                      <a:endParaRPr lang="en-US" altLang="zh-CN" sz="1400" b="1" i="0">
                        <a:solidFill>
                          <a:srgbClr val="00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22885">
                <a:tc vMerge="1">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a:solidFill>
                            <a:srgbClr val="000000"/>
                          </a:solidFill>
                          <a:latin typeface="微软雅黑" panose="020B0503020204020204" charset="-122"/>
                          <a:ea typeface="微软雅黑" panose="020B0503020204020204" charset="-122"/>
                          <a:sym typeface="+mn-ea"/>
                        </a:rPr>
                        <a:t>宁以源</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59</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a:solidFill>
                            <a:srgbClr val="FF0000"/>
                          </a:solidFill>
                          <a:latin typeface="微软雅黑" panose="020B0503020204020204" charset="-122"/>
                          <a:ea typeface="微软雅黑" panose="020B0503020204020204" charset="-122"/>
                          <a:sym typeface="+mn-ea"/>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97180">
                <a:tc vMerge="1">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00B0F0"/>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陈绍贵</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63</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97180">
                <a:tc vMerge="1">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00B0F0"/>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000000"/>
                          </a:solidFill>
                          <a:latin typeface="微软雅黑" panose="020B0503020204020204" charset="-122"/>
                          <a:ea typeface="微软雅黑" panose="020B0503020204020204" charset="-122"/>
                        </a:rPr>
                        <a:t>韦延</a:t>
                      </a:r>
                      <a:r>
                        <a:rPr lang="zh-CN" altLang="en-US" sz="1200" b="1" i="0">
                          <a:solidFill>
                            <a:srgbClr val="000000"/>
                          </a:solidFill>
                          <a:latin typeface="微软雅黑" panose="020B0503020204020204" charset="-122"/>
                          <a:ea typeface="微软雅黑" panose="020B0503020204020204" charset="-122"/>
                        </a:rPr>
                        <a:t>达</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ClrTx/>
                        <a:buSzTx/>
                        <a:buFontTx/>
                        <a:buNone/>
                      </a:pPr>
                      <a:r>
                        <a:rPr lang="en-US" altLang="zh-CN" sz="1200" b="1" i="0">
                          <a:solidFill>
                            <a:srgbClr val="000000"/>
                          </a:solidFill>
                          <a:latin typeface="微软雅黑" panose="020B0503020204020204" charset="-122"/>
                          <a:ea typeface="微软雅黑" panose="020B0503020204020204" charset="-122"/>
                        </a:rPr>
                        <a:t>6</a:t>
                      </a:r>
                      <a:endParaRPr lang="en-US" altLang="zh-CN" sz="1200" b="1" i="0">
                        <a:solidFill>
                          <a:srgbClr val="000000"/>
                        </a:solidFill>
                        <a:latin typeface="微软雅黑" panose="020B0503020204020204" charset="-122"/>
                        <a:ea typeface="微软雅黑" panose="020B0503020204020204" charset="-122"/>
                      </a:endParaRPr>
                    </a:p>
                  </a:txBody>
                  <a:tcPr marL="9842" marR="9842" marT="9842"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solidFill>
                      <a:srgbClr val="FFFFFF"/>
                    </a:solidFill>
                  </a:tcPr>
                </a:tc>
                <a:tc>
                  <a:txBody>
                    <a:bodyPr/>
                    <a:p>
                      <a:pPr algn="ctr" fontAlgn="ctr">
                        <a:buNone/>
                      </a:pPr>
                      <a:r>
                        <a:rPr lang="zh-CN" altLang="en-US" sz="1200" b="1" i="0">
                          <a:solidFill>
                            <a:srgbClr val="FF0000"/>
                          </a:solidFill>
                          <a:latin typeface="微软雅黑" panose="020B0503020204020204" charset="-122"/>
                          <a:ea typeface="微软雅黑" panose="020B0503020204020204" charset="-122"/>
                        </a:rPr>
                        <a:t>否</a:t>
                      </a:r>
                      <a:endParaRPr lang="zh-CN" altLang="en-US"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buNone/>
                      </a:pP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bl>
          </a:graphicData>
        </a:graphic>
      </p:graphicFrame>
      <p:graphicFrame>
        <p:nvGraphicFramePr>
          <p:cNvPr id="5" name="对象 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5" imgW="114300" imgH="215900" progId="Equation.KSEE3">
                  <p:embed/>
                </p:oleObj>
              </mc:Choice>
              <mc:Fallback>
                <p:oleObj name="" r:id="rId5" imgW="114300" imgH="215900" progId="Equation.KSEE3">
                  <p:embed/>
                  <p:pic>
                    <p:nvPicPr>
                      <p:cNvPr id="0" name="图片 1024"/>
                      <p:cNvPicPr/>
                      <p:nvPr/>
                    </p:nvPicPr>
                    <p:blipFill>
                      <a:blip r:embed="rId6"/>
                      <a:stretch>
                        <a:fillRect/>
                      </a:stretch>
                    </p:blipFill>
                    <p:spPr>
                      <a:xfrm>
                        <a:off x="6038850" y="3321050"/>
                        <a:ext cx="114300" cy="215900"/>
                      </a:xfrm>
                      <a:prstGeom prst="rect">
                        <a:avLst/>
                      </a:prstGeom>
                    </p:spPr>
                  </p:pic>
                </p:oleObj>
              </mc:Fallback>
            </mc:AlternateContent>
          </a:graphicData>
        </a:graphic>
      </p:graphicFrame>
      <p:graphicFrame>
        <p:nvGraphicFramePr>
          <p:cNvPr id="6" name="表格 5"/>
          <p:cNvGraphicFramePr/>
          <p:nvPr>
            <p:custDataLst>
              <p:tags r:id="rId7"/>
            </p:custDataLst>
          </p:nvPr>
        </p:nvGraphicFramePr>
        <p:xfrm>
          <a:off x="6381115" y="1430655"/>
          <a:ext cx="4839970" cy="4725035"/>
        </p:xfrm>
        <a:graphic>
          <a:graphicData uri="http://schemas.openxmlformats.org/drawingml/2006/table">
            <a:tbl>
              <a:tblPr/>
              <a:tblGrid>
                <a:gridCol w="480060"/>
                <a:gridCol w="586105"/>
                <a:gridCol w="595630"/>
                <a:gridCol w="1712595"/>
                <a:gridCol w="434340"/>
                <a:gridCol w="1031240"/>
              </a:tblGrid>
              <a:tr h="417195">
                <a:tc>
                  <a:txBody>
                    <a:bodyPr/>
                    <a:p>
                      <a:pPr algn="ctr" fontAlgn="ctr"/>
                      <a:r>
                        <a:rPr lang="zh-CN" altLang="en-US" sz="1200" b="1"/>
                        <a:t>区域</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人员</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隐患录入数量</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t>平均每人</a:t>
                      </a:r>
                      <a:r>
                        <a:rPr lang="en-US" altLang="zh-CN" sz="1200" b="1"/>
                        <a:t>/</a:t>
                      </a:r>
                      <a:r>
                        <a:rPr lang="zh-CN" altLang="en-US" sz="1200" b="1"/>
                        <a:t>每天录入</a:t>
                      </a:r>
                      <a:endParaRPr lang="zh-CN" altLang="en-US" sz="1200" b="1"/>
                    </a:p>
                    <a:p>
                      <a:pPr algn="ctr" fontAlgn="ctr"/>
                      <a:r>
                        <a:rPr lang="zh-CN" altLang="en-US" sz="1200" b="1"/>
                        <a:t>隐患数量</a:t>
                      </a:r>
                      <a:r>
                        <a:rPr lang="zh-CN" altLang="en-US" sz="1200" b="1">
                          <a:solidFill>
                            <a:srgbClr val="000000"/>
                          </a:solidFill>
                          <a:latin typeface="微软雅黑" panose="020B0503020204020204" charset="-122"/>
                          <a:ea typeface="微软雅黑" panose="020B0503020204020204" charset="-122"/>
                          <a:cs typeface="微软雅黑" panose="020B0503020204020204" charset="-122"/>
                          <a:sym typeface="+mn-ea"/>
                        </a:rPr>
                        <a:t>（条</a:t>
                      </a:r>
                      <a:r>
                        <a:rPr lang="en-US" altLang="zh-CN" sz="1200" b="1">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rgbClr val="000000"/>
                          </a:solidFill>
                          <a:latin typeface="微软雅黑" panose="020B0503020204020204" charset="-122"/>
                          <a:ea typeface="微软雅黑" panose="020B0503020204020204" charset="-122"/>
                          <a:cs typeface="微软雅黑" panose="020B0503020204020204" charset="-122"/>
                          <a:sym typeface="+mn-ea"/>
                        </a:rPr>
                        <a:t>日）</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r>
                        <a:rPr lang="zh-CN" altLang="en-US" sz="1200" b="1">
                          <a:sym typeface="+mn-ea"/>
                        </a:rPr>
                        <a:t>是否达标</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c>
                  <a:txBody>
                    <a:bodyPr/>
                    <a:p>
                      <a:pPr algn="ctr" fontAlgn="ctr">
                        <a:buNone/>
                      </a:pPr>
                      <a:r>
                        <a:rPr lang="zh-CN" altLang="en-US" sz="1200" b="1"/>
                        <a:t>隐患录入</a:t>
                      </a:r>
                      <a:endParaRPr lang="zh-CN" altLang="en-US" sz="1200" b="1"/>
                    </a:p>
                    <a:p>
                      <a:pPr algn="ctr" fontAlgn="ctr">
                        <a:buNone/>
                      </a:pPr>
                      <a:r>
                        <a:rPr lang="zh-CN" altLang="en-US" sz="1200" b="1"/>
                        <a:t>优秀</a:t>
                      </a:r>
                      <a:r>
                        <a:rPr lang="zh-CN" altLang="en-US" sz="1200" b="1"/>
                        <a:t>人员</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00B0F0"/>
                    </a:solidFill>
                  </a:tcPr>
                </a:tc>
              </a:tr>
              <a:tr h="520065">
                <a:tc rowSpan="7">
                  <a:txBody>
                    <a:bodyPr/>
                    <a:p>
                      <a:pPr algn="ctr" fontAlgn="ctr">
                        <a:buNone/>
                      </a:pPr>
                      <a:r>
                        <a:rPr lang="zh-CN" altLang="en-US" sz="1200" b="1"/>
                        <a:t>临建区</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t>龚天顺</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5</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rowSpan="7">
                  <a:txBody>
                    <a:bodyPr/>
                    <a:p>
                      <a:pPr algn="ctr" fontAlgn="ctr">
                        <a:buNone/>
                      </a:pPr>
                      <a:r>
                        <a:rPr lang="en-US" altLang="zh-CN" sz="1200" b="1"/>
                        <a:t>319/7/7=6.5</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FF0000"/>
                          </a:solidFill>
                        </a:rPr>
                        <a:t>否</a:t>
                      </a:r>
                      <a:r>
                        <a:rPr lang="en-US" altLang="zh-CN" sz="1200" b="1">
                          <a:solidFill>
                            <a:srgbClr val="FF0000"/>
                          </a:solidFill>
                        </a:rPr>
                        <a:t> </a:t>
                      </a:r>
                      <a:endParaRPr lang="en-US" altLang="zh-CN" sz="1200" b="1">
                        <a:solidFill>
                          <a:srgbClr val="FF0000"/>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20065">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t>魏成志</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62</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FF0000"/>
                          </a:solidFill>
                        </a:rPr>
                        <a:t>否</a:t>
                      </a:r>
                      <a:endParaRPr lang="zh-CN" altLang="en-US" sz="1200" b="1">
                        <a:solidFill>
                          <a:srgbClr val="FF0000"/>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endParaRPr lang="zh-CN" altLang="en-US" sz="1200" b="1"/>
                    </a:p>
                    <a:p>
                      <a:pPr algn="ctr" fontAlgn="ctr">
                        <a:buNone/>
                      </a:pP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18795">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t>李煊民</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34</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FF0000"/>
                          </a:solidFill>
                        </a:rPr>
                        <a:t>否</a:t>
                      </a:r>
                      <a:r>
                        <a:rPr lang="en-US" altLang="zh-CN" sz="1200" b="1">
                          <a:solidFill>
                            <a:srgbClr val="FF0000"/>
                          </a:solidFill>
                        </a:rPr>
                        <a:t> </a:t>
                      </a:r>
                      <a:endParaRPr lang="en-US" altLang="zh-CN" sz="1200" b="1">
                        <a:solidFill>
                          <a:srgbClr val="FF0000"/>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19430">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000000"/>
                          </a:solidFill>
                          <a:latin typeface="微软雅黑" panose="020B0503020204020204" charset="-122"/>
                          <a:ea typeface="微软雅黑" panose="020B0503020204020204" charset="-122"/>
                          <a:sym typeface="+mn-ea"/>
                        </a:rPr>
                        <a:t>蓝竫熙</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70</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FF0000"/>
                          </a:solidFill>
                        </a:rPr>
                        <a:t>否</a:t>
                      </a:r>
                      <a:endParaRPr lang="zh-CN" altLang="en-US" sz="1200" b="1">
                        <a:solidFill>
                          <a:srgbClr val="FF0000"/>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endParaRPr lang="en-US" altLang="zh-CN"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520700">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t>吴玮彬</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44</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chemeClr val="tx1"/>
                          </a:solidFill>
                        </a:rPr>
                        <a:t>是</a:t>
                      </a:r>
                      <a:endParaRPr lang="zh-CN" altLang="en-US" sz="1200" b="1">
                        <a:solidFill>
                          <a:schemeClr val="tx1"/>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en-US" altLang="zh-CN" sz="1200" b="1"/>
                        <a:t>√</a:t>
                      </a:r>
                      <a:endParaRPr lang="en-US" altLang="zh-CN"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751205">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t>谭小飞</a:t>
                      </a: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36</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FF0000"/>
                          </a:solidFill>
                        </a:rPr>
                        <a:t>否</a:t>
                      </a:r>
                      <a:endParaRPr lang="zh-CN" altLang="en-US" sz="1200" b="1">
                        <a:solidFill>
                          <a:srgbClr val="FF0000"/>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957580">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200" b="1" i="0">
                          <a:solidFill>
                            <a:srgbClr val="000000"/>
                          </a:solidFill>
                          <a:latin typeface="微软雅黑" panose="020B0503020204020204" charset="-122"/>
                          <a:ea typeface="微软雅黑" panose="020B0503020204020204" charset="-122"/>
                        </a:rPr>
                        <a:t>刘勇</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en-US" altLang="zh-CN" sz="1200" b="1" i="0">
                          <a:solidFill>
                            <a:srgbClr val="000000"/>
                          </a:solidFill>
                          <a:latin typeface="微软雅黑" panose="020B0503020204020204" charset="-122"/>
                          <a:ea typeface="微软雅黑" panose="020B0503020204020204" charset="-122"/>
                        </a:rPr>
                        <a:t>68</a:t>
                      </a:r>
                      <a:endParaRPr lang="en-US" altLang="zh-CN"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r>
                        <a:rPr lang="zh-CN" altLang="en-US" sz="1200" b="1">
                          <a:solidFill>
                            <a:srgbClr val="FF0000"/>
                          </a:solidFill>
                        </a:rPr>
                        <a:t>否</a:t>
                      </a:r>
                      <a:endParaRPr lang="zh-CN" altLang="en-US" sz="1200" b="1">
                        <a:solidFill>
                          <a:srgbClr val="FF0000"/>
                        </a:solidFill>
                      </a:endParaRPr>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None/>
                      </a:pPr>
                      <a:endParaRPr lang="zh-CN" altLang="en-US" sz="1200" b="1"/>
                    </a:p>
                  </a:txBody>
                  <a:tcPr marL="7937" marR="7937" marT="793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graphicFrame>
        <p:nvGraphicFramePr>
          <p:cNvPr id="9" name="表格 8"/>
          <p:cNvGraphicFramePr/>
          <p:nvPr>
            <p:custDataLst>
              <p:tags r:id="rId8"/>
            </p:custDataLst>
          </p:nvPr>
        </p:nvGraphicFramePr>
        <p:xfrm>
          <a:off x="812165" y="6441440"/>
          <a:ext cx="10538460" cy="187960"/>
        </p:xfrm>
        <a:graphic>
          <a:graphicData uri="http://schemas.openxmlformats.org/drawingml/2006/table">
            <a:tbl>
              <a:tblPr/>
              <a:tblGrid>
                <a:gridCol w="2282825"/>
                <a:gridCol w="3561715"/>
                <a:gridCol w="1970405"/>
                <a:gridCol w="2723515"/>
              </a:tblGrid>
              <a:tr h="0">
                <a:tc>
                  <a:txBody>
                    <a:bodyPr/>
                    <a:p>
                      <a:pPr algn="ctr" fontAlgn="t"/>
                      <a:r>
                        <a:rPr lang="zh-CN" altLang="en-US" sz="1200" b="1" i="0">
                          <a:solidFill>
                            <a:srgbClr val="000000"/>
                          </a:solidFill>
                          <a:latin typeface="微软雅黑" panose="020B0503020204020204" charset="-122"/>
                          <a:ea typeface="微软雅黑" panose="020B0503020204020204" charset="-122"/>
                        </a:rPr>
                        <a:t>部门合计人数</a:t>
                      </a:r>
                      <a:endParaRPr lang="zh-CN" altLang="en-US" sz="1200" b="1" i="0">
                        <a:solidFill>
                          <a:srgbClr val="00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r>
                        <a:rPr lang="en-US" altLang="zh-CN" sz="1200" b="1" i="0">
                          <a:solidFill>
                            <a:srgbClr val="FF0000"/>
                          </a:solidFill>
                          <a:latin typeface="微软雅黑" panose="020B0503020204020204" charset="-122"/>
                          <a:ea typeface="微软雅黑" panose="020B0503020204020204" charset="-122"/>
                        </a:rPr>
                        <a:t>24</a:t>
                      </a:r>
                      <a:endParaRPr lang="en-US" altLang="zh-CN"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ctr"/>
                      <a:r>
                        <a:rPr lang="zh-CN" altLang="en-US" sz="1200" b="1">
                          <a:solidFill>
                            <a:srgbClr val="000000"/>
                          </a:solidFill>
                          <a:latin typeface="微软雅黑" panose="020B0503020204020204" charset="-122"/>
                          <a:ea typeface="微软雅黑" panose="020B0503020204020204" charset="-122"/>
                          <a:sym typeface="+mn-ea"/>
                        </a:rPr>
                        <a:t>部门合计隐患数量</a:t>
                      </a:r>
                      <a:endParaRPr lang="en-US" altLang="zh-CN" sz="1200" b="1" i="0">
                        <a:solidFill>
                          <a:srgbClr val="000000"/>
                        </a:solidFill>
                        <a:latin typeface="微软雅黑" panose="020B0503020204020204" charset="-122"/>
                        <a:ea typeface="微软雅黑" panose="020B0503020204020204" charset="-122"/>
                        <a:sym typeface="+mn-ea"/>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gn="ctr" fontAlgn="b"/>
                      <a:r>
                        <a:rPr lang="en-US" altLang="zh-CN" sz="1200" b="1" i="0">
                          <a:solidFill>
                            <a:srgbClr val="FF0000"/>
                          </a:solidFill>
                          <a:latin typeface="微软雅黑" panose="020B0503020204020204" charset="-122"/>
                          <a:ea typeface="微软雅黑" panose="020B0503020204020204" charset="-122"/>
                        </a:rPr>
                        <a:t>1010</a:t>
                      </a:r>
                      <a:endParaRPr lang="en-US" altLang="zh-CN" sz="1200" b="1" i="0">
                        <a:solidFill>
                          <a:srgbClr val="FF0000"/>
                        </a:solidFill>
                        <a:latin typeface="微软雅黑" panose="020B0503020204020204" charset="-122"/>
                        <a:ea typeface="微软雅黑" panose="020B0503020204020204" charset="-122"/>
                      </a:endParaRPr>
                    </a:p>
                  </a:txBody>
                  <a:tcPr marL="5080" marR="5080" marT="508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359410"/>
            <a:ext cx="10822940"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06755" y="1019175"/>
            <a:ext cx="7447915"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5</a:t>
            </a:r>
            <a:r>
              <a:rPr lang="zh-CN" altLang="en-US" sz="2200" b="1" dirty="0">
                <a:solidFill>
                  <a:srgbClr val="000000"/>
                </a:solidFill>
                <a:latin typeface="微软雅黑" panose="020B0503020204020204" charset="-122"/>
                <a:ea typeface="微软雅黑" panose="020B0503020204020204" charset="-122"/>
                <a:sym typeface="+mn-ea"/>
              </a:rPr>
              <a:t>、作业先决条件提交情况（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6" name="表格 5"/>
          <p:cNvGraphicFramePr/>
          <p:nvPr/>
        </p:nvGraphicFramePr>
        <p:xfrm>
          <a:off x="665480" y="1570990"/>
          <a:ext cx="10986135" cy="2607310"/>
        </p:xfrm>
        <a:graphic>
          <a:graphicData uri="http://schemas.openxmlformats.org/drawingml/2006/table">
            <a:tbl>
              <a:tblPr firstRow="1" bandRow="1">
                <a:tableStyleId>{5940675A-B579-460E-94D1-54222C63F5DA}</a:tableStyleId>
              </a:tblPr>
              <a:tblGrid>
                <a:gridCol w="495935"/>
                <a:gridCol w="3632200"/>
                <a:gridCol w="2398395"/>
                <a:gridCol w="1127760"/>
                <a:gridCol w="3331845"/>
              </a:tblGrid>
              <a:tr h="932815">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sym typeface="+mn-ea"/>
                        </a:rPr>
                        <a:t>序号</a:t>
                      </a:r>
                      <a:endParaRPr lang="zh-CN" altLang="en-US" sz="2000" b="1" spc="120">
                        <a:solidFill>
                          <a:srgbClr val="FFFFFF"/>
                        </a:solidFill>
                        <a:latin typeface="微软雅黑" panose="020B0503020204020204" charset="-122"/>
                        <a:ea typeface="微软雅黑" panose="020B0503020204020204" charset="-122"/>
                        <a:sym typeface="+mn-ea"/>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sym typeface="+mn-ea"/>
                        </a:rPr>
                        <a:t>提交内容</a:t>
                      </a:r>
                      <a:endParaRPr lang="zh-CN" altLang="en-US" sz="2000" b="1" spc="120">
                        <a:solidFill>
                          <a:srgbClr val="FFFFFF"/>
                        </a:solidFill>
                        <a:latin typeface="微软雅黑" panose="020B0503020204020204" charset="-122"/>
                        <a:ea typeface="微软雅黑" panose="020B0503020204020204" charset="-122"/>
                        <a:sym typeface="+mn-ea"/>
                      </a:endParaRPr>
                    </a:p>
                  </a:txBody>
                  <a:tcPr marL="177800" marR="177800" marT="6350" marB="6350" anchor="ctr">
                    <a:solidFill>
                      <a:srgbClr val="00B0F0"/>
                    </a:solidFill>
                  </a:tcPr>
                </a:tc>
                <a:tc>
                  <a:txBody>
                    <a:bodyPr/>
                    <a:p>
                      <a:pPr algn="ctr" fontAlgn="b">
                        <a:buNone/>
                      </a:pPr>
                      <a:r>
                        <a:rPr lang="zh-CN" altLang="en-US" sz="2000" b="1" spc="120">
                          <a:solidFill>
                            <a:schemeClr val="bg1"/>
                          </a:solidFill>
                          <a:latin typeface="微软雅黑" panose="020B0503020204020204" charset="-122"/>
                          <a:ea typeface="微软雅黑" panose="020B0503020204020204" charset="-122"/>
                        </a:rPr>
                        <a:t>班组</a:t>
                      </a:r>
                      <a:endParaRPr lang="zh-CN" altLang="en-US" sz="2000" b="1" spc="120">
                        <a:solidFill>
                          <a:schemeClr val="bg1"/>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检查</a:t>
                      </a:r>
                      <a:r>
                        <a:rPr lang="zh-CN" altLang="en-US" sz="2000" b="1" spc="120">
                          <a:solidFill>
                            <a:srgbClr val="FFFFFF"/>
                          </a:solidFill>
                          <a:latin typeface="微软雅黑" panose="020B0503020204020204" charset="-122"/>
                          <a:ea typeface="微软雅黑" panose="020B0503020204020204" charset="-122"/>
                        </a:rPr>
                        <a:t>人</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问题描述</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r>
              <a:tr h="833755">
                <a:tc>
                  <a:txBody>
                    <a:bodyPr/>
                    <a:p>
                      <a:pPr indent="0" algn="ctr">
                        <a:lnSpc>
                          <a:spcPct val="120000"/>
                        </a:lnSpc>
                        <a:spcBef>
                          <a:spcPts val="0"/>
                        </a:spcBef>
                        <a:spcAft>
                          <a:spcPts val="0"/>
                        </a:spcAft>
                        <a:buNone/>
                      </a:pPr>
                      <a:r>
                        <a:rPr lang="en-US" altLang="zh-CN" sz="2000" b="0" spc="120">
                          <a:solidFill>
                            <a:schemeClr val="tx1"/>
                          </a:solidFill>
                          <a:latin typeface="微软雅黑" panose="020B0503020204020204" charset="-122"/>
                          <a:ea typeface="微软雅黑" panose="020B0503020204020204" charset="-122"/>
                          <a:sym typeface="+mn-ea"/>
                        </a:rPr>
                        <a:t>1</a:t>
                      </a:r>
                      <a:endParaRPr lang="en-US" altLang="zh-CN" sz="2000" b="0" spc="120">
                        <a:solidFill>
                          <a:schemeClr val="tx1"/>
                        </a:solidFill>
                        <a:latin typeface="微软雅黑" panose="020B0503020204020204" charset="-122"/>
                        <a:ea typeface="微软雅黑" panose="020B0503020204020204" charset="-122"/>
                        <a:sym typeface="+mn-ea"/>
                      </a:endParaRPr>
                    </a:p>
                  </a:txBody>
                  <a:tcPr marL="177800" marR="177800" marT="6350" marB="6350" anchor="ctr">
                    <a:noFill/>
                  </a:tcPr>
                </a:tc>
                <a:tc>
                  <a:txBody>
                    <a:bodyPr/>
                    <a:p>
                      <a:pPr algn="ctr" fontAlgn="b">
                        <a:lnSpc>
                          <a:spcPct val="100000"/>
                        </a:lnSpc>
                        <a:spcBef>
                          <a:spcPts val="0"/>
                        </a:spcBef>
                        <a:buClrTx/>
                        <a:buSzTx/>
                        <a:buFontTx/>
                        <a:buNone/>
                      </a:pPr>
                      <a:r>
                        <a:rPr lang="zh-CN" altLang="en-US" sz="1800" b="0" spc="120">
                          <a:latin typeface="微软雅黑" panose="020B0503020204020204" charset="-122"/>
                          <a:ea typeface="微软雅黑" panose="020B0503020204020204" charset="-122"/>
                          <a:sym typeface="+mn-ea"/>
                        </a:rPr>
                        <a:t>钢筋工作业点安全控制</a:t>
                      </a:r>
                      <a:endParaRPr lang="zh-CN" altLang="en-US" sz="1800" b="0" spc="120">
                        <a:latin typeface="微软雅黑" panose="020B0503020204020204" charset="-122"/>
                        <a:ea typeface="微软雅黑" panose="020B0503020204020204" charset="-122"/>
                        <a:sym typeface="+mn-ea"/>
                      </a:endParaRPr>
                    </a:p>
                  </a:txBody>
                  <a:tcPr marL="177800" marR="177800" marT="6350" marB="6350" anchor="ctr">
                    <a:noFill/>
                  </a:tcPr>
                </a:tc>
                <a:tc>
                  <a:txBody>
                    <a:bodyPr/>
                    <a:p>
                      <a:pPr algn="ctr" fontAlgn="b">
                        <a:buNone/>
                      </a:pPr>
                      <a:r>
                        <a:rPr lang="zh-CN" altLang="en-US" sz="1800" b="0" spc="120">
                          <a:latin typeface="微软雅黑" panose="020B0503020204020204" charset="-122"/>
                          <a:ea typeface="微软雅黑" panose="020B0503020204020204" charset="-122"/>
                        </a:rPr>
                        <a:t>邱亮钢筋班</a:t>
                      </a:r>
                      <a:endParaRPr lang="zh-CN" altLang="en-US" sz="1800" b="0" spc="120">
                        <a:latin typeface="微软雅黑" panose="020B0503020204020204" charset="-122"/>
                        <a:ea typeface="微软雅黑" panose="020B0503020204020204" charset="-122"/>
                      </a:endParaRPr>
                    </a:p>
                  </a:txBody>
                  <a:tcPr marL="177800" marR="177800" marT="6350" marB="6350" anchor="ctr">
                    <a:noFill/>
                  </a:tcPr>
                </a:tc>
                <a:tc>
                  <a:txBody>
                    <a:bodyPr/>
                    <a:p>
                      <a:pPr indent="0" algn="ctr">
                        <a:lnSpc>
                          <a:spcPct val="120000"/>
                        </a:lnSpc>
                        <a:spcBef>
                          <a:spcPts val="0"/>
                        </a:spcBef>
                        <a:spcAft>
                          <a:spcPts val="0"/>
                        </a:spcAft>
                        <a:buNone/>
                      </a:pPr>
                      <a:r>
                        <a:rPr lang="zh-CN" altLang="en-US" sz="1800" b="0" spc="120">
                          <a:latin typeface="微软雅黑" panose="020B0503020204020204" charset="-122"/>
                          <a:ea typeface="微软雅黑" panose="020B0503020204020204" charset="-122"/>
                        </a:rPr>
                        <a:t>罗荣鑫</a:t>
                      </a:r>
                      <a:endParaRPr lang="zh-CN" altLang="en-US" sz="1800" b="0" spc="120">
                        <a:latin typeface="微软雅黑" panose="020B0503020204020204" charset="-122"/>
                        <a:ea typeface="微软雅黑" panose="020B0503020204020204" charset="-122"/>
                      </a:endParaRPr>
                    </a:p>
                  </a:txBody>
                  <a:tcPr marL="177800" marR="177800" marT="6350" marB="6350" anchor="ctr">
                    <a:noFill/>
                  </a:tcPr>
                </a:tc>
                <a:tc>
                  <a:txBody>
                    <a:bodyPr/>
                    <a:p>
                      <a:pPr indent="0" algn="ctr">
                        <a:lnSpc>
                          <a:spcPct val="120000"/>
                        </a:lnSpc>
                        <a:spcBef>
                          <a:spcPts val="0"/>
                        </a:spcBef>
                        <a:spcAft>
                          <a:spcPts val="0"/>
                        </a:spcAft>
                        <a:buNone/>
                      </a:pPr>
                      <a:r>
                        <a:rPr lang="zh-CN" altLang="en-US" sz="1800" b="0" spc="120">
                          <a:latin typeface="微软雅黑" panose="020B0503020204020204" charset="-122"/>
                          <a:ea typeface="微软雅黑" panose="020B0503020204020204" charset="-122"/>
                        </a:rPr>
                        <a:t>钢筋防倾覆与操作相连</a:t>
                      </a:r>
                      <a:endParaRPr lang="zh-CN" altLang="en-US" sz="1800" b="0" spc="120">
                        <a:latin typeface="微软雅黑" panose="020B0503020204020204" charset="-122"/>
                        <a:ea typeface="微软雅黑" panose="020B0503020204020204" charset="-122"/>
                      </a:endParaRPr>
                    </a:p>
                  </a:txBody>
                  <a:tcPr marL="177800" marR="177800" marT="6350" marB="6350" anchor="ctr">
                    <a:noFill/>
                  </a:tcPr>
                </a:tc>
              </a:tr>
              <a:tr h="840740">
                <a:tc>
                  <a:txBody>
                    <a:bodyPr/>
                    <a:p>
                      <a:pPr indent="0" algn="ctr">
                        <a:lnSpc>
                          <a:spcPct val="120000"/>
                        </a:lnSpc>
                        <a:spcBef>
                          <a:spcPts val="0"/>
                        </a:spcBef>
                        <a:spcAft>
                          <a:spcPts val="0"/>
                        </a:spcAft>
                        <a:buNone/>
                      </a:pPr>
                      <a:r>
                        <a:rPr lang="en-US" altLang="zh-CN" sz="2000" b="0" spc="120">
                          <a:solidFill>
                            <a:schemeClr val="tx1"/>
                          </a:solidFill>
                          <a:latin typeface="微软雅黑" panose="020B0503020204020204" charset="-122"/>
                          <a:ea typeface="微软雅黑" panose="020B0503020204020204" charset="-122"/>
                          <a:sym typeface="+mn-ea"/>
                        </a:rPr>
                        <a:t>2</a:t>
                      </a:r>
                      <a:endParaRPr lang="en-US" altLang="zh-CN" sz="2000" b="0" spc="120">
                        <a:solidFill>
                          <a:schemeClr val="tx1"/>
                        </a:solidFill>
                        <a:latin typeface="微软雅黑" panose="020B0503020204020204" charset="-122"/>
                        <a:ea typeface="微软雅黑" panose="020B0503020204020204" charset="-122"/>
                        <a:sym typeface="+mn-ea"/>
                      </a:endParaRPr>
                    </a:p>
                  </a:txBody>
                  <a:tcPr marL="177800" marR="177800" marT="6350" marB="6350" anchor="ctr">
                    <a:noFill/>
                  </a:tcPr>
                </a:tc>
                <a:tc>
                  <a:txBody>
                    <a:bodyPr/>
                    <a:p>
                      <a:pPr algn="ctr" fontAlgn="b">
                        <a:lnSpc>
                          <a:spcPct val="100000"/>
                        </a:lnSpc>
                        <a:spcBef>
                          <a:spcPts val="0"/>
                        </a:spcBef>
                        <a:buClrTx/>
                        <a:buSzTx/>
                        <a:buFontTx/>
                        <a:buNone/>
                      </a:pPr>
                      <a:r>
                        <a:rPr lang="zh-CN" altLang="en-US" sz="1800" b="0" spc="120">
                          <a:latin typeface="微软雅黑" panose="020B0503020204020204" charset="-122"/>
                          <a:ea typeface="微软雅黑" panose="020B0503020204020204" charset="-122"/>
                          <a:sym typeface="+mn-ea"/>
                        </a:rPr>
                        <a:t>木工工作业关键点安全控制</a:t>
                      </a:r>
                      <a:endParaRPr lang="zh-CN" altLang="en-US" sz="1800" b="0" spc="120">
                        <a:latin typeface="微软雅黑" panose="020B0503020204020204" charset="-122"/>
                        <a:ea typeface="微软雅黑" panose="020B0503020204020204" charset="-122"/>
                        <a:sym typeface="+mn-ea"/>
                      </a:endParaRPr>
                    </a:p>
                  </a:txBody>
                  <a:tcPr marL="177800" marR="177800" marT="6350" marB="6350" anchor="ctr">
                    <a:noFill/>
                  </a:tcPr>
                </a:tc>
                <a:tc>
                  <a:txBody>
                    <a:bodyPr/>
                    <a:p>
                      <a:pPr algn="ctr" fontAlgn="b">
                        <a:buNone/>
                      </a:pPr>
                      <a:r>
                        <a:rPr lang="zh-CN" altLang="en-US" sz="1800" b="0" spc="120">
                          <a:latin typeface="微软雅黑" panose="020B0503020204020204" charset="-122"/>
                          <a:ea typeface="微软雅黑" panose="020B0503020204020204" charset="-122"/>
                        </a:rPr>
                        <a:t>邓远华木工班</a:t>
                      </a:r>
                      <a:endParaRPr lang="zh-CN" altLang="en-US" sz="1800" b="0" spc="120">
                        <a:latin typeface="微软雅黑" panose="020B0503020204020204" charset="-122"/>
                        <a:ea typeface="微软雅黑" panose="020B0503020204020204" charset="-122"/>
                      </a:endParaRPr>
                    </a:p>
                  </a:txBody>
                  <a:tcPr marL="177800" marR="177800" marT="6350" marB="6350" anchor="ctr">
                    <a:noFill/>
                  </a:tcPr>
                </a:tc>
                <a:tc>
                  <a:txBody>
                    <a:bodyPr/>
                    <a:p>
                      <a:pPr indent="0" algn="ctr">
                        <a:lnSpc>
                          <a:spcPct val="120000"/>
                        </a:lnSpc>
                        <a:spcBef>
                          <a:spcPts val="0"/>
                        </a:spcBef>
                        <a:spcAft>
                          <a:spcPts val="0"/>
                        </a:spcAft>
                        <a:buNone/>
                      </a:pPr>
                      <a:r>
                        <a:rPr lang="zh-CN" altLang="en-US" sz="1800" spc="120">
                          <a:latin typeface="微软雅黑" panose="020B0503020204020204" charset="-122"/>
                          <a:ea typeface="微软雅黑" panose="020B0503020204020204" charset="-122"/>
                          <a:sym typeface="+mn-ea"/>
                        </a:rPr>
                        <a:t>罗荣鑫</a:t>
                      </a:r>
                      <a:endParaRPr lang="zh-CN" altLang="en-US" sz="1800" b="0" spc="120">
                        <a:latin typeface="微软雅黑" panose="020B0503020204020204" charset="-122"/>
                        <a:ea typeface="微软雅黑" panose="020B0503020204020204" charset="-122"/>
                        <a:sym typeface="+mn-ea"/>
                      </a:endParaRPr>
                    </a:p>
                  </a:txBody>
                  <a:tcPr marL="177800" marR="177800" marT="6350" marB="6350" anchor="ctr">
                    <a:noFill/>
                  </a:tcPr>
                </a:tc>
                <a:tc>
                  <a:txBody>
                    <a:bodyPr/>
                    <a:p>
                      <a:pPr indent="0" algn="ctr">
                        <a:lnSpc>
                          <a:spcPct val="120000"/>
                        </a:lnSpc>
                        <a:spcBef>
                          <a:spcPts val="0"/>
                        </a:spcBef>
                        <a:spcAft>
                          <a:spcPts val="0"/>
                        </a:spcAft>
                        <a:buNone/>
                      </a:pPr>
                      <a:r>
                        <a:rPr lang="zh-CN" altLang="en-US" sz="1800" b="0" spc="120">
                          <a:latin typeface="微软雅黑" panose="020B0503020204020204" charset="-122"/>
                          <a:ea typeface="微软雅黑" panose="020B0503020204020204" charset="-122"/>
                        </a:rPr>
                        <a:t>无</a:t>
                      </a:r>
                      <a:endParaRPr lang="zh-CN" altLang="en-US" sz="1800" b="0" spc="120">
                        <a:latin typeface="微软雅黑" panose="020B0503020204020204" charset="-122"/>
                        <a:ea typeface="微软雅黑" panose="020B0503020204020204" charset="-122"/>
                      </a:endParaRPr>
                    </a:p>
                  </a:txBody>
                  <a:tcPr marL="177800" marR="177800" marT="6350" marB="6350" anchor="c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06755" y="1113790"/>
            <a:ext cx="10448290"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6</a:t>
            </a:r>
            <a:r>
              <a:rPr lang="zh-CN" altLang="en-US" sz="2200" b="1" dirty="0">
                <a:solidFill>
                  <a:srgbClr val="000000"/>
                </a:solidFill>
                <a:latin typeface="微软雅黑" panose="020B0503020204020204" charset="-122"/>
                <a:ea typeface="微软雅黑" panose="020B0503020204020204" charset="-122"/>
                <a:sym typeface="+mn-ea"/>
              </a:rPr>
              <a:t>、本周部门隐患记录情况较差的隐患（</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4" name="表格 3"/>
          <p:cNvGraphicFramePr/>
          <p:nvPr>
            <p:custDataLst>
              <p:tags r:id="rId4"/>
            </p:custDataLst>
          </p:nvPr>
        </p:nvGraphicFramePr>
        <p:xfrm>
          <a:off x="932180" y="1543685"/>
          <a:ext cx="10234295" cy="1061720"/>
        </p:xfrm>
        <a:graphic>
          <a:graphicData uri="http://schemas.openxmlformats.org/drawingml/2006/table">
            <a:tbl>
              <a:tblPr firstRow="1" bandRow="1">
                <a:tableStyleId>{5940675A-B579-460E-94D1-54222C63F5DA}</a:tableStyleId>
              </a:tblPr>
              <a:tblGrid>
                <a:gridCol w="1300818"/>
                <a:gridCol w="2704849"/>
                <a:gridCol w="2704849"/>
                <a:gridCol w="3523615"/>
              </a:tblGrid>
              <a:tr h="0">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sym typeface="+mn-ea"/>
                        </a:rPr>
                        <a:t>序号</a:t>
                      </a:r>
                      <a:endParaRPr lang="zh-CN" altLang="en-US" sz="2000" b="1" spc="120">
                        <a:solidFill>
                          <a:srgbClr val="FFFFFF"/>
                        </a:solidFill>
                        <a:latin typeface="微软雅黑" panose="020B0503020204020204" charset="-122"/>
                        <a:ea typeface="微软雅黑" panose="020B0503020204020204" charset="-122"/>
                        <a:sym typeface="+mn-ea"/>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隐患</a:t>
                      </a:r>
                      <a:r>
                        <a:rPr lang="zh-CN" altLang="en-US" sz="2000" b="1" spc="120">
                          <a:solidFill>
                            <a:srgbClr val="FFFFFF"/>
                          </a:solidFill>
                          <a:latin typeface="微软雅黑" panose="020B0503020204020204" charset="-122"/>
                          <a:ea typeface="微软雅黑" panose="020B0503020204020204" charset="-122"/>
                        </a:rPr>
                        <a:t>录入内容</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chemeClr val="bg1"/>
                          </a:solidFill>
                          <a:latin typeface="微软雅黑" panose="020B0503020204020204" charset="-122"/>
                          <a:ea typeface="微软雅黑" panose="020B0503020204020204" charset="-122"/>
                        </a:rPr>
                        <a:t>隐患录入</a:t>
                      </a:r>
                      <a:r>
                        <a:rPr lang="zh-CN" altLang="en-US" sz="2000" b="1" spc="120">
                          <a:solidFill>
                            <a:schemeClr val="bg1"/>
                          </a:solidFill>
                          <a:latin typeface="微软雅黑" panose="020B0503020204020204" charset="-122"/>
                          <a:ea typeface="微软雅黑" panose="020B0503020204020204" charset="-122"/>
                        </a:rPr>
                        <a:t>问题</a:t>
                      </a:r>
                      <a:endParaRPr lang="zh-CN" altLang="en-US" sz="2000" b="1" spc="120">
                        <a:solidFill>
                          <a:schemeClr val="bg1"/>
                        </a:solidFill>
                        <a:latin typeface="微软雅黑" panose="020B0503020204020204" charset="-122"/>
                        <a:ea typeface="微软雅黑" panose="020B0503020204020204" charset="-122"/>
                      </a:endParaRPr>
                    </a:p>
                  </a:txBody>
                  <a:tcPr marL="177800" marR="177800" marT="6350" marB="6350" anchor="ctr">
                    <a:solidFill>
                      <a:srgbClr val="00B0F0"/>
                    </a:solidFill>
                  </a:tcPr>
                </a:tc>
                <a:tc>
                  <a:txBody>
                    <a:bodyPr/>
                    <a:p>
                      <a:pPr indent="0" algn="ctr">
                        <a:lnSpc>
                          <a:spcPct val="120000"/>
                        </a:lnSpc>
                        <a:spcBef>
                          <a:spcPts val="0"/>
                        </a:spcBef>
                        <a:spcAft>
                          <a:spcPts val="0"/>
                        </a:spcAft>
                        <a:buNone/>
                      </a:pPr>
                      <a:r>
                        <a:rPr lang="zh-CN" altLang="en-US" sz="2000" b="1" spc="120">
                          <a:solidFill>
                            <a:srgbClr val="FFFFFF"/>
                          </a:solidFill>
                          <a:latin typeface="微软雅黑" panose="020B0503020204020204" charset="-122"/>
                          <a:ea typeface="微软雅黑" panose="020B0503020204020204" charset="-122"/>
                        </a:rPr>
                        <a:t>检查</a:t>
                      </a:r>
                      <a:r>
                        <a:rPr lang="zh-CN" altLang="en-US" sz="2000" b="1" spc="120">
                          <a:solidFill>
                            <a:srgbClr val="FFFFFF"/>
                          </a:solidFill>
                          <a:latin typeface="微软雅黑" panose="020B0503020204020204" charset="-122"/>
                          <a:ea typeface="微软雅黑" panose="020B0503020204020204" charset="-122"/>
                        </a:rPr>
                        <a:t>人</a:t>
                      </a:r>
                      <a:endParaRPr lang="zh-CN" altLang="en-US" sz="2000" b="1" spc="120">
                        <a:solidFill>
                          <a:srgbClr val="FFFFFF"/>
                        </a:solidFill>
                        <a:latin typeface="微软雅黑" panose="020B0503020204020204" charset="-122"/>
                        <a:ea typeface="微软雅黑" panose="020B0503020204020204" charset="-122"/>
                      </a:endParaRPr>
                    </a:p>
                  </a:txBody>
                  <a:tcPr marL="177800" marR="177800" marT="6350" marB="6350" anchor="ctr">
                    <a:solidFill>
                      <a:srgbClr val="00B0F0"/>
                    </a:solidFill>
                  </a:tcPr>
                </a:tc>
              </a:tr>
              <a:tr h="341630">
                <a:tc>
                  <a:txBody>
                    <a:bodyPr/>
                    <a:p>
                      <a:pPr algn="ctr" fontAlgn="b">
                        <a:lnSpc>
                          <a:spcPct val="100000"/>
                        </a:lnSpc>
                        <a:spcBef>
                          <a:spcPts val="0"/>
                        </a:spcBef>
                        <a:buClrTx/>
                        <a:buSzTx/>
                        <a:buFontTx/>
                        <a:buNone/>
                      </a:pPr>
                      <a:r>
                        <a:rPr lang="en-US" altLang="zh-CN" sz="1600" b="1">
                          <a:solidFill>
                            <a:srgbClr val="000000"/>
                          </a:solidFill>
                          <a:latin typeface="微软雅黑" panose="020B0503020204020204" charset="-122"/>
                          <a:ea typeface="微软雅黑" panose="020B0503020204020204" charset="-122"/>
                        </a:rPr>
                        <a:t>/</a:t>
                      </a:r>
                      <a:endParaRPr lang="en-US" altLang="zh-CN" sz="1600" b="1">
                        <a:solidFill>
                          <a:srgbClr val="000000"/>
                        </a:solidFill>
                        <a:latin typeface="微软雅黑" panose="020B0503020204020204" charset="-122"/>
                        <a:ea typeface="微软雅黑" panose="020B0503020204020204" charset="-122"/>
                      </a:endParaRPr>
                    </a:p>
                  </a:txBody>
                  <a:tcPr marL="177800" marR="177800" marT="6350" marB="6350" anchor="ctr"/>
                </a:tc>
                <a:tc>
                  <a:txBody>
                    <a:bodyPr/>
                    <a:p>
                      <a:pPr algn="ctr" fontAlgn="b">
                        <a:buClrTx/>
                        <a:buSzTx/>
                        <a:buFontTx/>
                      </a:pPr>
                      <a:r>
                        <a:rPr lang="zh-CN" altLang="en-US" sz="1600" b="1" i="0">
                          <a:solidFill>
                            <a:srgbClr val="000000"/>
                          </a:solidFill>
                          <a:latin typeface="微软雅黑" panose="020B0503020204020204" charset="-122"/>
                          <a:ea typeface="微软雅黑" panose="020B0503020204020204" charset="-122"/>
                        </a:rPr>
                        <a:t>5#龙门吊</a:t>
                      </a:r>
                      <a:endParaRPr lang="zh-CN" altLang="en-US" sz="1600" b="1" i="0">
                        <a:solidFill>
                          <a:srgbClr val="000000"/>
                        </a:solidFill>
                        <a:latin typeface="微软雅黑" panose="020B0503020204020204" charset="-122"/>
                        <a:ea typeface="微软雅黑" panose="020B0503020204020204" charset="-122"/>
                      </a:endParaRPr>
                    </a:p>
                  </a:txBody>
                  <a:tcPr marL="6667" marR="6667" marT="6667" marB="0" anchor="b" anchorCtr="0"/>
                </a:tc>
                <a:tc>
                  <a:txBody>
                    <a:bodyPr/>
                    <a:p>
                      <a:pPr algn="ctr" fontAlgn="b">
                        <a:buClrTx/>
                        <a:buSzTx/>
                        <a:buFontTx/>
                        <a:buNone/>
                      </a:pPr>
                      <a:r>
                        <a:rPr lang="zh-CN" altLang="en-US" sz="1600" b="1" i="0">
                          <a:solidFill>
                            <a:srgbClr val="000000"/>
                          </a:solidFill>
                          <a:latin typeface="微软雅黑" panose="020B0503020204020204" charset="-122"/>
                          <a:ea typeface="微软雅黑" panose="020B0503020204020204" charset="-122"/>
                          <a:sym typeface="+mn-ea"/>
                        </a:rPr>
                        <a:t>描述</a:t>
                      </a:r>
                      <a:r>
                        <a:rPr lang="zh-CN" altLang="en-US" sz="1600" b="1" i="0">
                          <a:solidFill>
                            <a:srgbClr val="000000"/>
                          </a:solidFill>
                          <a:latin typeface="微软雅黑" panose="020B0503020204020204" charset="-122"/>
                          <a:ea typeface="微软雅黑" panose="020B0503020204020204" charset="-122"/>
                          <a:sym typeface="+mn-ea"/>
                        </a:rPr>
                        <a:t>不完整</a:t>
                      </a:r>
                      <a:endParaRPr lang="zh-CN" altLang="en-US" sz="1600" b="1" i="0">
                        <a:solidFill>
                          <a:srgbClr val="000000"/>
                        </a:solidFill>
                        <a:latin typeface="微软雅黑" panose="020B0503020204020204" charset="-122"/>
                        <a:ea typeface="微软雅黑" panose="020B0503020204020204" charset="-122"/>
                        <a:sym typeface="+mn-ea"/>
                      </a:endParaRPr>
                    </a:p>
                  </a:txBody>
                  <a:tcPr marL="5080" marR="5080" marT="5080" marB="0" anchor="b" anchorCtr="0"/>
                </a:tc>
                <a:tc>
                  <a:txBody>
                    <a:bodyPr/>
                    <a:p>
                      <a:pPr algn="ctr" fontAlgn="b">
                        <a:buClrTx/>
                        <a:buSzTx/>
                        <a:buFontTx/>
                        <a:buNone/>
                      </a:pPr>
                      <a:r>
                        <a:rPr lang="zh-CN" altLang="en-US" sz="1600" b="1" i="0">
                          <a:solidFill>
                            <a:srgbClr val="000000"/>
                          </a:solidFill>
                          <a:latin typeface="微软雅黑" panose="020B0503020204020204" charset="-122"/>
                          <a:ea typeface="微软雅黑" panose="020B0503020204020204" charset="-122"/>
                        </a:rPr>
                        <a:t>谭小飞</a:t>
                      </a:r>
                      <a:endParaRPr lang="zh-CN" altLang="en-US" sz="1600" b="1" i="0">
                        <a:solidFill>
                          <a:srgbClr val="000000"/>
                        </a:solidFill>
                        <a:latin typeface="微软雅黑" panose="020B0503020204020204" charset="-122"/>
                        <a:ea typeface="微软雅黑" panose="020B0503020204020204" charset="-122"/>
                      </a:endParaRPr>
                    </a:p>
                  </a:txBody>
                  <a:tcPr marL="5080" marR="5080" marT="5080" marB="0" anchor="b" anchorCtr="0"/>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06755" y="1113790"/>
            <a:ext cx="10448290"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a:t>
            </a:r>
            <a:r>
              <a:rPr lang="zh-CN" sz="2200" b="1" dirty="0">
                <a:solidFill>
                  <a:srgbClr val="000000"/>
                </a:solidFill>
                <a:latin typeface="微软雅黑" panose="020B0503020204020204" charset="-122"/>
                <a:ea typeface="微软雅黑" panose="020B0503020204020204" charset="-122"/>
                <a:sym typeface="+mn-ea"/>
              </a:rPr>
              <a:t>本周刹车预警机制接收情况</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5" name="表格 4"/>
          <p:cNvGraphicFramePr/>
          <p:nvPr/>
        </p:nvGraphicFramePr>
        <p:xfrm>
          <a:off x="629285" y="1749425"/>
          <a:ext cx="10525760" cy="4404995"/>
        </p:xfrm>
        <a:graphic>
          <a:graphicData uri="http://schemas.openxmlformats.org/drawingml/2006/table">
            <a:tbl>
              <a:tblPr/>
              <a:tblGrid>
                <a:gridCol w="1635125"/>
                <a:gridCol w="725170"/>
                <a:gridCol w="724535"/>
                <a:gridCol w="725170"/>
                <a:gridCol w="725170"/>
                <a:gridCol w="630555"/>
                <a:gridCol w="737235"/>
                <a:gridCol w="773430"/>
                <a:gridCol w="768350"/>
                <a:gridCol w="723265"/>
                <a:gridCol w="707390"/>
                <a:gridCol w="868045"/>
                <a:gridCol w="782320"/>
              </a:tblGrid>
              <a:tr h="367665">
                <a:tc>
                  <a:txBody>
                    <a:bodyPr/>
                    <a:p>
                      <a:pPr algn="ctr" fontAlgn="ctr"/>
                      <a:r>
                        <a:rPr lang="zh-CN" altLang="en-US" sz="2000" b="1" i="0" spc="120">
                          <a:solidFill>
                            <a:srgbClr val="FFFFFF"/>
                          </a:solidFill>
                          <a:latin typeface="微软雅黑" panose="020B0503020204020204" charset="-122"/>
                          <a:ea typeface="微软雅黑" panose="020B0503020204020204" charset="-122"/>
                        </a:rPr>
                        <a:t>统计单位</a:t>
                      </a:r>
                      <a:endParaRPr lang="zh-CN" altLang="en-US" sz="20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gridSpan="6">
                  <a:txBody>
                    <a:bodyPr/>
                    <a:p>
                      <a:pPr algn="ctr" fontAlgn="ctr"/>
                      <a:r>
                        <a:rPr lang="zh-CN" altLang="en-US" sz="2000" b="1" i="0" spc="120">
                          <a:solidFill>
                            <a:srgbClr val="FFFFFF"/>
                          </a:solidFill>
                          <a:latin typeface="微软雅黑" panose="020B0503020204020204" charset="-122"/>
                          <a:ea typeface="微软雅黑" panose="020B0503020204020204" charset="-122"/>
                        </a:rPr>
                        <a:t>监理</a:t>
                      </a:r>
                      <a:endParaRPr lang="zh-CN" altLang="en-US" sz="20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6">
                  <a:txBody>
                    <a:bodyPr/>
                    <a:p>
                      <a:pPr algn="ctr" fontAlgn="ctr"/>
                      <a:r>
                        <a:rPr lang="zh-CN" altLang="en-US" sz="2000" b="1" i="0" spc="120">
                          <a:solidFill>
                            <a:srgbClr val="FFFFFF"/>
                          </a:solidFill>
                          <a:latin typeface="微软雅黑" panose="020B0503020204020204" charset="-122"/>
                          <a:ea typeface="微软雅黑" panose="020B0503020204020204" charset="-122"/>
                        </a:rPr>
                        <a:t>工程公司</a:t>
                      </a:r>
                      <a:endParaRPr lang="zh-CN" altLang="en-US" sz="20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367665">
                <a:tc>
                  <a:txBody>
                    <a:bodyPr/>
                    <a:p>
                      <a:pPr algn="ctr" fontAlgn="ctr">
                        <a:buClrTx/>
                        <a:buSzTx/>
                        <a:buFontTx/>
                      </a:pPr>
                      <a:r>
                        <a:rPr lang="zh-CN" altLang="en-US" sz="1800" b="1" spc="120">
                          <a:solidFill>
                            <a:srgbClr val="FFFFFF"/>
                          </a:solidFill>
                          <a:latin typeface="微软雅黑" panose="020B0503020204020204" charset="-122"/>
                          <a:ea typeface="微软雅黑" panose="020B0503020204020204" charset="-122"/>
                          <a:sym typeface="+mn-ea"/>
                        </a:rPr>
                        <a:t>接收区域</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gridSpan="2">
                  <a:txBody>
                    <a:bodyPr/>
                    <a:p>
                      <a:pPr algn="ctr" fontAlgn="ctr"/>
                      <a:r>
                        <a:rPr lang="zh-CN" sz="1000" b="1" i="0">
                          <a:solidFill>
                            <a:srgbClr val="000000"/>
                          </a:solidFill>
                          <a:latin typeface="宋体" panose="02010600030101010101" pitchFamily="2" charset="-122"/>
                          <a:ea typeface="宋体" panose="02010600030101010101" pitchFamily="2" charset="-122"/>
                        </a:rPr>
                        <a:t>现场区域</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sz="1000" b="1" i="0">
                          <a:solidFill>
                            <a:srgbClr val="000000"/>
                          </a:solidFill>
                          <a:latin typeface="宋体" panose="02010600030101010101" pitchFamily="2" charset="-122"/>
                          <a:ea typeface="宋体" panose="02010600030101010101" pitchFamily="2" charset="-122"/>
                        </a:rPr>
                        <a:t>临建区</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sz="1000" b="1" i="0">
                          <a:solidFill>
                            <a:srgbClr val="000000"/>
                          </a:solidFill>
                          <a:latin typeface="宋体" panose="02010600030101010101" pitchFamily="2" charset="-122"/>
                          <a:ea typeface="宋体" panose="02010600030101010101" pitchFamily="2" charset="-122"/>
                        </a:rPr>
                        <a:t>大件库</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sz="1000" b="1">
                          <a:solidFill>
                            <a:srgbClr val="000000"/>
                          </a:solidFill>
                          <a:latin typeface="宋体" panose="02010600030101010101" pitchFamily="2" charset="-122"/>
                          <a:ea typeface="宋体" panose="02010600030101010101" pitchFamily="2" charset="-122"/>
                          <a:sym typeface="+mn-ea"/>
                        </a:rPr>
                        <a:t>现场区域</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sz="1000" b="1">
                          <a:solidFill>
                            <a:srgbClr val="000000"/>
                          </a:solidFill>
                          <a:latin typeface="宋体" panose="02010600030101010101" pitchFamily="2" charset="-122"/>
                          <a:ea typeface="宋体" panose="02010600030101010101" pitchFamily="2" charset="-122"/>
                          <a:sym typeface="+mn-ea"/>
                        </a:rPr>
                        <a:t>临建区</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sz="1000" b="1">
                          <a:solidFill>
                            <a:srgbClr val="000000"/>
                          </a:solidFill>
                          <a:latin typeface="宋体" panose="02010600030101010101" pitchFamily="2" charset="-122"/>
                          <a:ea typeface="宋体" panose="02010600030101010101" pitchFamily="2" charset="-122"/>
                          <a:sym typeface="+mn-ea"/>
                        </a:rPr>
                        <a:t>大件库</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buNone/>
                      </a:pPr>
                      <a:r>
                        <a:rPr lang="zh-CN" altLang="en-US" sz="1800" b="1" spc="120">
                          <a:solidFill>
                            <a:srgbClr val="FFFFFF"/>
                          </a:solidFill>
                          <a:latin typeface="微软雅黑" panose="020B0503020204020204" charset="-122"/>
                          <a:ea typeface="微软雅黑" panose="020B0503020204020204" charset="-122"/>
                          <a:sym typeface="+mn-ea"/>
                        </a:rPr>
                        <a:t>统计周期</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本周</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本月</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本周</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本月</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本周</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本月</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本周</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本月</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本周</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本月</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本周</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sz="1000" b="1" i="0">
                          <a:solidFill>
                            <a:srgbClr val="000000"/>
                          </a:solidFill>
                          <a:latin typeface="宋体" panose="02010600030101010101" pitchFamily="2" charset="-122"/>
                          <a:ea typeface="宋体" panose="02010600030101010101" pitchFamily="2" charset="-122"/>
                        </a:rPr>
                        <a:t>本月</a:t>
                      </a:r>
                      <a:endParaRPr lang="zh-CN"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整改单</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3</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3</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3</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通报</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chemeClr val="tx1"/>
                          </a:solidFill>
                          <a:latin typeface="宋体" panose="02010600030101010101" pitchFamily="2" charset="-122"/>
                          <a:ea typeface="宋体" panose="02010600030101010101" pitchFamily="2" charset="-122"/>
                        </a:rPr>
                        <a:t>0</a:t>
                      </a:r>
                      <a:endParaRPr lang="en-US" sz="1000" b="1" i="0">
                        <a:solidFill>
                          <a:schemeClr val="tx1"/>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1</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3</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2</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3</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0680">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挂牌督办</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1</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违章培训</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5</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13</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9</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25</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停工令</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1</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1</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管理约谈</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红牌</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黄牌</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7665">
                <a:tc>
                  <a:txBody>
                    <a:bodyPr/>
                    <a:p>
                      <a:pPr algn="ctr" fontAlgn="ctr">
                        <a:buClrTx/>
                        <a:buSzTx/>
                        <a:buFontTx/>
                      </a:pPr>
                      <a:r>
                        <a:rPr lang="zh-CN" altLang="en-US" sz="1800" b="1" i="0" spc="120">
                          <a:solidFill>
                            <a:srgbClr val="FFFFFF"/>
                          </a:solidFill>
                          <a:latin typeface="微软雅黑" panose="020B0503020204020204" charset="-122"/>
                          <a:ea typeface="微软雅黑" panose="020B0503020204020204" charset="-122"/>
                        </a:rPr>
                        <a:t>激励</a:t>
                      </a:r>
                      <a:endParaRPr lang="zh-CN" altLang="en-US" sz="1800" b="1" i="0" spc="120">
                        <a:solidFill>
                          <a:srgbClr val="FFFFFF"/>
                        </a:solidFill>
                        <a:latin typeface="微软雅黑" panose="020B0503020204020204" charset="-122"/>
                        <a:ea typeface="微软雅黑" panose="020B0503020204020204"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000" b="1" i="0">
                          <a:solidFill>
                            <a:srgbClr val="000000"/>
                          </a:solidFill>
                          <a:latin typeface="宋体" panose="02010600030101010101" pitchFamily="2" charset="-122"/>
                          <a:ea typeface="宋体" panose="02010600030101010101" pitchFamily="2" charset="-122"/>
                        </a:rPr>
                        <a:t>0</a:t>
                      </a:r>
                      <a:endParaRPr lang="en-US" sz="10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438225" y="1124382"/>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8</a:t>
            </a:r>
            <a:r>
              <a:rPr lang="zh-CN" altLang="en-US" sz="2200" b="1" dirty="0">
                <a:solidFill>
                  <a:srgbClr val="000000"/>
                </a:solidFill>
                <a:latin typeface="微软雅黑" panose="020B0503020204020204" charset="-122"/>
                <a:ea typeface="微软雅黑" panose="020B0503020204020204" charset="-122"/>
                <a:sym typeface="+mn-ea"/>
              </a:rPr>
              <a:t>、整改单关闭情况（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en-US" altLang="zh-CN" sz="2200" b="1" dirty="0">
              <a:solidFill>
                <a:srgbClr val="000000"/>
              </a:solidFill>
              <a:latin typeface="微软雅黑" panose="020B0503020204020204" charset="-122"/>
              <a:ea typeface="微软雅黑" panose="020B0503020204020204" charset="-122"/>
              <a:sym typeface="+mn-ea"/>
            </a:endParaRPr>
          </a:p>
        </p:txBody>
      </p:sp>
      <p:graphicFrame>
        <p:nvGraphicFramePr>
          <p:cNvPr id="4" name="表格 3"/>
          <p:cNvGraphicFramePr/>
          <p:nvPr>
            <p:custDataLst>
              <p:tags r:id="rId4"/>
            </p:custDataLst>
          </p:nvPr>
        </p:nvGraphicFramePr>
        <p:xfrm>
          <a:off x="314325" y="2042795"/>
          <a:ext cx="11583670" cy="2811145"/>
        </p:xfrm>
        <a:graphic>
          <a:graphicData uri="http://schemas.openxmlformats.org/drawingml/2006/table">
            <a:tbl>
              <a:tblPr firstRow="1" bandRow="1">
                <a:tableStyleId>{5940675A-B579-460E-94D1-54222C63F5DA}</a:tableStyleId>
              </a:tblPr>
              <a:tblGrid>
                <a:gridCol w="561975"/>
                <a:gridCol w="3472815"/>
                <a:gridCol w="1298575"/>
                <a:gridCol w="1022350"/>
                <a:gridCol w="1294130"/>
                <a:gridCol w="1240790"/>
                <a:gridCol w="1497965"/>
                <a:gridCol w="1195070"/>
              </a:tblGrid>
              <a:tr h="430530">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序号</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整改单</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责任部门</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责任人</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下发日期</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到期</a:t>
                      </a:r>
                      <a:r>
                        <a:rPr lang="en-US" sz="1600" b="1">
                          <a:solidFill>
                            <a:schemeClr val="bg1"/>
                          </a:solidFill>
                          <a:latin typeface="微软雅黑" panose="020B0503020204020204" charset="-122"/>
                          <a:ea typeface="微软雅黑" panose="020B0503020204020204" charset="-122"/>
                          <a:cs typeface="宋体" panose="02010600030101010101" pitchFamily="2" charset="-122"/>
                        </a:rPr>
                        <a:t>日期</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是否</a:t>
                      </a: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按时关闭</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跟踪责任人</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r>
              <a:tr h="560070">
                <a:tc>
                  <a:txBody>
                    <a:bodyPr/>
                    <a:p>
                      <a:pPr algn="ctr">
                        <a:buClrTx/>
                        <a:buSzTx/>
                        <a:buFontTx/>
                        <a:buNone/>
                      </a:pPr>
                      <a:r>
                        <a:rPr lang="zh-CN" altLang="en-US" b="1">
                          <a:latin typeface="微软雅黑" panose="020B0503020204020204" charset="-122"/>
                          <a:ea typeface="微软雅黑" panose="020B0503020204020204" charset="-122"/>
                        </a:rPr>
                        <a:t>1</a:t>
                      </a:r>
                      <a:endParaRPr lang="zh-CN" altLang="en-US" b="1">
                        <a:latin typeface="微软雅黑" panose="020B0503020204020204" charset="-122"/>
                        <a:ea typeface="微软雅黑" panose="020B0503020204020204" charset="-122"/>
                      </a:endParaRPr>
                    </a:p>
                  </a:txBody>
                  <a:tcPr anchor="ctr" anchorCtr="0"/>
                </a:tc>
                <a:tc>
                  <a:txBody>
                    <a:bodyPr/>
                    <a:p>
                      <a:pPr algn="ctr">
                        <a:buClrTx/>
                        <a:buSzTx/>
                        <a:buFontTx/>
                      </a:pPr>
                      <a:r>
                        <a:rPr lang="zh-CN" altLang="en-US" sz="1800" b="1" i="0">
                          <a:latin typeface="微软雅黑" panose="020B0503020204020204" charset="-122"/>
                          <a:ea typeface="微软雅黑" panose="020B0503020204020204" charset="-122"/>
                        </a:rPr>
                        <a:t>关于对BOP队在BDL11段钢筋墙体防倾覆与作业脚手架违规连接的整改通知单</a:t>
                      </a:r>
                      <a:endParaRPr lang="zh-CN" altLang="en-US" sz="1800" b="1" i="0">
                        <a:latin typeface="微软雅黑" panose="020B0503020204020204" charset="-122"/>
                        <a:ea typeface="微软雅黑" panose="020B0503020204020204" charset="-122"/>
                      </a:endParaRPr>
                    </a:p>
                  </a:txBody>
                  <a:tcPr marL="6667" marR="6667" marT="6667" marB="0" anchor="ctr" anchorCtr="0"/>
                </a:tc>
                <a:tc>
                  <a:txBody>
                    <a:bodyPr/>
                    <a:p>
                      <a:pPr algn="ctr">
                        <a:buClrTx/>
                        <a:buSzTx/>
                        <a:buFontTx/>
                      </a:pPr>
                      <a:r>
                        <a:rPr lang="zh-CN" altLang="en-US" sz="1800" b="1" i="0">
                          <a:latin typeface="微软雅黑" panose="020B0503020204020204" charset="-122"/>
                          <a:ea typeface="微软雅黑" panose="020B0503020204020204" charset="-122"/>
                        </a:rPr>
                        <a:t>BOP队</a:t>
                      </a:r>
                      <a:endParaRPr lang="zh-CN" altLang="en-US" sz="1800" b="1" i="0">
                        <a:latin typeface="微软雅黑" panose="020B0503020204020204" charset="-122"/>
                        <a:ea typeface="微软雅黑" panose="020B0503020204020204" charset="-122"/>
                      </a:endParaRPr>
                    </a:p>
                  </a:txBody>
                  <a:tcPr marL="6667" marR="6667" marT="6667" marB="0" anchor="ctr" anchorCtr="0"/>
                </a:tc>
                <a:tc>
                  <a:txBody>
                    <a:bodyPr/>
                    <a:p>
                      <a:pPr algn="ctr">
                        <a:buClrTx/>
                        <a:buSzTx/>
                        <a:buFontTx/>
                      </a:pPr>
                      <a:r>
                        <a:rPr lang="zh-CN" altLang="en-US" sz="1800" b="1" i="0">
                          <a:latin typeface="微软雅黑" panose="020B0503020204020204" charset="-122"/>
                          <a:ea typeface="微软雅黑" panose="020B0503020204020204" charset="-122"/>
                        </a:rPr>
                        <a:t>段龙飞</a:t>
                      </a:r>
                      <a:endParaRPr lang="zh-CN" altLang="en-US" sz="1800" b="1" i="0">
                        <a:latin typeface="微软雅黑" panose="020B0503020204020204" charset="-122"/>
                        <a:ea typeface="微软雅黑" panose="020B0503020204020204" charset="-122"/>
                      </a:endParaRPr>
                    </a:p>
                  </a:txBody>
                  <a:tcPr marL="6667" marR="6667" marT="6667" marB="0" anchor="ctr" anchorCtr="0"/>
                </a:tc>
                <a:tc>
                  <a:txBody>
                    <a:bodyPr/>
                    <a:p>
                      <a:pPr algn="ctr">
                        <a:buClrTx/>
                        <a:buSzTx/>
                        <a:buFontTx/>
                      </a:pPr>
                      <a:r>
                        <a:rPr lang="zh-CN" altLang="en-US" sz="1800" b="1" i="0">
                          <a:latin typeface="微软雅黑" panose="020B0503020204020204" charset="-122"/>
                          <a:ea typeface="微软雅黑" panose="020B0503020204020204" charset="-122"/>
                        </a:rPr>
                        <a:t>2026/7/19</a:t>
                      </a:r>
                      <a:endParaRPr lang="zh-CN" altLang="en-US" sz="1800" b="1" i="0">
                        <a:latin typeface="微软雅黑" panose="020B0503020204020204" charset="-122"/>
                        <a:ea typeface="微软雅黑" panose="020B0503020204020204" charset="-122"/>
                      </a:endParaRPr>
                    </a:p>
                  </a:txBody>
                  <a:tcPr marL="6667" marR="6667" marT="6667" marB="0" anchor="ctr" anchorCtr="0"/>
                </a:tc>
                <a:tc>
                  <a:txBody>
                    <a:bodyPr/>
                    <a:p>
                      <a:pPr algn="ctr">
                        <a:buClrTx/>
                        <a:buSzTx/>
                        <a:buFontTx/>
                      </a:pPr>
                      <a:r>
                        <a:rPr lang="zh-CN" altLang="en-US" sz="1800" b="1" i="0">
                          <a:latin typeface="微软雅黑" panose="020B0503020204020204" charset="-122"/>
                          <a:ea typeface="微软雅黑" panose="020B0503020204020204" charset="-122"/>
                        </a:rPr>
                        <a:t>2026/7/25</a:t>
                      </a:r>
                      <a:endParaRPr lang="zh-CN" altLang="en-US" sz="1800" b="1" i="0">
                        <a:latin typeface="微软雅黑" panose="020B0503020204020204" charset="-122"/>
                        <a:ea typeface="微软雅黑" panose="020B0503020204020204" charset="-122"/>
                      </a:endParaRPr>
                    </a:p>
                  </a:txBody>
                  <a:tcPr marL="6667" marR="6667" marT="6667" marB="0" anchor="ctr" anchorCtr="0"/>
                </a:tc>
                <a:tc>
                  <a:txBody>
                    <a:bodyPr/>
                    <a:p>
                      <a:pPr algn="ctr">
                        <a:buClrTx/>
                        <a:buSzTx/>
                        <a:buFontTx/>
                        <a:buNone/>
                      </a:pPr>
                      <a:r>
                        <a:rPr lang="zh-CN" altLang="en-US" sz="1800" b="1" i="0">
                          <a:latin typeface="微软雅黑" panose="020B0503020204020204" charset="-122"/>
                          <a:ea typeface="微软雅黑" panose="020B0503020204020204" charset="-122"/>
                          <a:sym typeface="+mn-ea"/>
                        </a:rPr>
                        <a:t>未到期</a:t>
                      </a:r>
                      <a:endParaRPr lang="zh-CN" altLang="en-US" sz="1800" b="1" i="0">
                        <a:latin typeface="微软雅黑" panose="020B0503020204020204" charset="-122"/>
                        <a:ea typeface="微软雅黑" panose="020B0503020204020204" charset="-122"/>
                        <a:sym typeface="+mn-ea"/>
                      </a:endParaRPr>
                    </a:p>
                  </a:txBody>
                  <a:tcPr marL="5080" marR="5080" marT="5080" marB="0" anchor="ctr" anchorCtr="0"/>
                </a:tc>
                <a:tc>
                  <a:txBody>
                    <a:bodyPr/>
                    <a:p>
                      <a:pPr algn="ctr">
                        <a:buClrTx/>
                        <a:buSzTx/>
                        <a:buFontTx/>
                      </a:pPr>
                      <a:r>
                        <a:rPr lang="zh-CN" altLang="en-US" sz="1800" b="1" i="0">
                          <a:latin typeface="微软雅黑" panose="020B0503020204020204" charset="-122"/>
                          <a:ea typeface="微软雅黑" panose="020B0503020204020204" charset="-122"/>
                        </a:rPr>
                        <a:t>刘友三</a:t>
                      </a:r>
                      <a:endParaRPr lang="zh-CN" altLang="en-US" sz="1800" b="1" i="0">
                        <a:latin typeface="微软雅黑" panose="020B0503020204020204" charset="-122"/>
                        <a:ea typeface="微软雅黑" panose="020B0503020204020204" charset="-122"/>
                      </a:endParaRPr>
                    </a:p>
                  </a:txBody>
                  <a:tcPr marL="6667" marR="6667" marT="6667" marB="0" anchor="ctr" anchorCtr="0"/>
                </a:tc>
              </a:tr>
            </a:tbl>
          </a:graphicData>
        </a:graphic>
      </p:graphicFrame>
      <p:sp>
        <p:nvSpPr>
          <p:cNvPr id="2" name="文本框 1"/>
          <p:cNvSpPr txBox="1"/>
          <p:nvPr/>
        </p:nvSpPr>
        <p:spPr>
          <a:xfrm>
            <a:off x="1005205" y="1582420"/>
            <a:ext cx="11006455" cy="460375"/>
          </a:xfrm>
          <a:prstGeom prst="rect">
            <a:avLst/>
          </a:prstGeom>
          <a:noFill/>
        </p:spPr>
        <p:txBody>
          <a:bodyPr wrap="square" rtlCol="0">
            <a:spAutoFit/>
          </a:bodyPr>
          <a:p>
            <a:r>
              <a:rPr lang="zh-CN" altLang="en-US" b="1" dirty="0">
                <a:solidFill>
                  <a:srgbClr val="000000"/>
                </a:solidFill>
                <a:latin typeface="微软雅黑" panose="020B0503020204020204" charset="-122"/>
                <a:ea typeface="微软雅黑" panose="020B0503020204020204" charset="-122"/>
                <a:sym typeface="+mn-ea"/>
              </a:rPr>
              <a:t>本报告周期内，安监部发出及延期整改通知单</a:t>
            </a:r>
            <a:r>
              <a:rPr lang="en-US" altLang="zh-CN" sz="2400" b="1" dirty="0">
                <a:solidFill>
                  <a:srgbClr val="FF0000"/>
                </a:solidFill>
                <a:latin typeface="微软雅黑" panose="020B0503020204020204" charset="-122"/>
                <a:ea typeface="微软雅黑" panose="020B0503020204020204" charset="-122"/>
                <a:sym typeface="+mn-ea"/>
              </a:rPr>
              <a:t>1</a:t>
            </a:r>
            <a:r>
              <a:rPr lang="zh-CN" altLang="en-US" sz="2400" b="1" dirty="0">
                <a:solidFill>
                  <a:srgbClr val="FF0000"/>
                </a:solidFill>
                <a:latin typeface="微软雅黑" panose="020B0503020204020204" charset="-122"/>
                <a:ea typeface="微软雅黑" panose="020B0503020204020204" charset="-122"/>
                <a:sym typeface="+mn-ea"/>
              </a:rPr>
              <a:t>份</a:t>
            </a:r>
            <a:r>
              <a:rPr lang="zh-CN" altLang="en-US" b="1" dirty="0">
                <a:solidFill>
                  <a:schemeClr val="tx1"/>
                </a:solidFill>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整改通知单</a:t>
            </a:r>
            <a:r>
              <a:rPr lang="zh-CN" altLang="en-US" b="1" dirty="0">
                <a:solidFill>
                  <a:srgbClr val="000000"/>
                </a:solidFill>
                <a:latin typeface="微软雅黑" panose="020B0503020204020204" charset="-122"/>
                <a:ea typeface="微软雅黑" panose="020B0503020204020204" charset="-122"/>
                <a:sym typeface="+mn-ea"/>
              </a:rPr>
              <a:t>关闭</a:t>
            </a:r>
            <a:r>
              <a:rPr lang="en-US" altLang="zh-CN" sz="2400" b="1" dirty="0">
                <a:solidFill>
                  <a:srgbClr val="FF0000"/>
                </a:solidFill>
                <a:latin typeface="微软雅黑" panose="020B0503020204020204" charset="-122"/>
                <a:ea typeface="微软雅黑" panose="020B0503020204020204" charset="-122"/>
                <a:sym typeface="+mn-ea"/>
              </a:rPr>
              <a:t>0</a:t>
            </a:r>
            <a:r>
              <a:rPr lang="zh-CN" altLang="en-US" sz="2400" b="1" dirty="0">
                <a:solidFill>
                  <a:srgbClr val="FF0000"/>
                </a:solidFill>
                <a:latin typeface="微软雅黑" panose="020B0503020204020204" charset="-122"/>
                <a:ea typeface="微软雅黑" panose="020B0503020204020204" charset="-122"/>
                <a:sym typeface="+mn-ea"/>
              </a:rPr>
              <a:t>份</a:t>
            </a:r>
            <a:r>
              <a:rPr lang="zh-CN" altLang="en-US" b="1" dirty="0">
                <a:solidFill>
                  <a:schemeClr val="tx1"/>
                </a:solidFill>
                <a:latin typeface="微软雅黑" panose="020B0503020204020204" charset="-122"/>
                <a:ea typeface="微软雅黑" panose="020B0503020204020204" charset="-122"/>
                <a:sym typeface="+mn-ea"/>
              </a:rPr>
              <a:t>、还剩</a:t>
            </a:r>
            <a:r>
              <a:rPr lang="en-US" altLang="zh-CN" sz="2400" b="1" dirty="0">
                <a:solidFill>
                  <a:srgbClr val="FF0000"/>
                </a:solidFill>
                <a:latin typeface="微软雅黑" panose="020B0503020204020204" charset="-122"/>
                <a:ea typeface="微软雅黑" panose="020B0503020204020204" charset="-122"/>
                <a:sym typeface="+mn-ea"/>
              </a:rPr>
              <a:t>1</a:t>
            </a:r>
            <a:r>
              <a:rPr lang="zh-CN" altLang="en-US" sz="2400" b="1" dirty="0">
                <a:solidFill>
                  <a:srgbClr val="FF0000"/>
                </a:solidFill>
                <a:latin typeface="微软雅黑" panose="020B0503020204020204" charset="-122"/>
                <a:ea typeface="微软雅黑" panose="020B0503020204020204" charset="-122"/>
                <a:sym typeface="+mn-ea"/>
              </a:rPr>
              <a:t>份</a:t>
            </a:r>
            <a:r>
              <a:rPr lang="zh-CN" altLang="en-US" b="1" dirty="0">
                <a:solidFill>
                  <a:schemeClr val="tx1"/>
                </a:solidFill>
                <a:latin typeface="微软雅黑" panose="020B0503020204020204" charset="-122"/>
                <a:ea typeface="微软雅黑" panose="020B0503020204020204" charset="-122"/>
                <a:sym typeface="+mn-ea"/>
              </a:rPr>
              <a:t>整改通知单</a:t>
            </a:r>
            <a:r>
              <a:rPr lang="zh-CN" altLang="en-US" b="1" dirty="0">
                <a:solidFill>
                  <a:schemeClr val="tx1"/>
                </a:solidFill>
                <a:latin typeface="微软雅黑" panose="020B0503020204020204" charset="-122"/>
                <a:ea typeface="微软雅黑" panose="020B0503020204020204" charset="-122"/>
                <a:sym typeface="+mn-ea"/>
              </a:rPr>
              <a:t>未关闭。</a:t>
            </a:r>
            <a:endParaRPr lang="zh-CN" altLang="en-US" b="1"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p:nvGrpSpPr>
        <p:grpSpPr>
          <a:xfrm>
            <a:off x="208280" y="446405"/>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480135" y="965632"/>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9</a:t>
            </a:r>
            <a:r>
              <a:rPr lang="zh-CN" altLang="en-US" sz="2200" b="1" dirty="0">
                <a:solidFill>
                  <a:srgbClr val="000000"/>
                </a:solidFill>
                <a:latin typeface="微软雅黑" panose="020B0503020204020204" charset="-122"/>
                <a:ea typeface="微软雅黑" panose="020B0503020204020204" charset="-122"/>
                <a:sym typeface="+mn-ea"/>
              </a:rPr>
              <a:t>、通报关闭情况（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en-US" altLang="zh-CN" sz="2200" b="1" dirty="0">
              <a:solidFill>
                <a:srgbClr val="000000"/>
              </a:solidFill>
              <a:latin typeface="微软雅黑" panose="020B0503020204020204" charset="-122"/>
              <a:ea typeface="微软雅黑" panose="020B0503020204020204" charset="-122"/>
              <a:sym typeface="+mn-ea"/>
            </a:endParaRPr>
          </a:p>
        </p:txBody>
      </p:sp>
      <p:graphicFrame>
        <p:nvGraphicFramePr>
          <p:cNvPr id="4" name="表格 3"/>
          <p:cNvGraphicFramePr/>
          <p:nvPr>
            <p:custDataLst>
              <p:tags r:id="rId4"/>
            </p:custDataLst>
          </p:nvPr>
        </p:nvGraphicFramePr>
        <p:xfrm>
          <a:off x="198120" y="1740535"/>
          <a:ext cx="11920855" cy="4288790"/>
        </p:xfrm>
        <a:graphic>
          <a:graphicData uri="http://schemas.openxmlformats.org/drawingml/2006/table">
            <a:tbl>
              <a:tblPr firstRow="1" bandRow="1">
                <a:tableStyleId>{5940675A-B579-460E-94D1-54222C63F5DA}</a:tableStyleId>
              </a:tblPr>
              <a:tblGrid>
                <a:gridCol w="558800"/>
                <a:gridCol w="3507105"/>
                <a:gridCol w="1670685"/>
                <a:gridCol w="1002665"/>
                <a:gridCol w="1335405"/>
                <a:gridCol w="1281430"/>
                <a:gridCol w="1355090"/>
                <a:gridCol w="1209675"/>
              </a:tblGrid>
              <a:tr h="487680">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序号</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通报</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责任部门</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责任人</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下发日期</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到期</a:t>
                      </a:r>
                      <a:r>
                        <a:rPr lang="en-US" sz="1600" b="1">
                          <a:solidFill>
                            <a:schemeClr val="bg1"/>
                          </a:solidFill>
                          <a:latin typeface="微软雅黑" panose="020B0503020204020204" charset="-122"/>
                          <a:ea typeface="微软雅黑" panose="020B0503020204020204" charset="-122"/>
                          <a:cs typeface="宋体" panose="02010600030101010101" pitchFamily="2" charset="-122"/>
                        </a:rPr>
                        <a:t>日期</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是否</a:t>
                      </a: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按时关闭</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跟踪责任人</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r>
              <a:tr h="632460">
                <a:tc>
                  <a:txBody>
                    <a:bodyPr/>
                    <a:p>
                      <a:pPr algn="ctr" fontAlgn="ctr">
                        <a:buClrTx/>
                        <a:buSzTx/>
                        <a:buFontTx/>
                        <a:buNone/>
                      </a:pPr>
                      <a:r>
                        <a:rPr lang="en-US" altLang="zh-CN" b="0">
                          <a:latin typeface="微软雅黑" panose="020B0503020204020204" charset="-122"/>
                          <a:ea typeface="微软雅黑" panose="020B0503020204020204" charset="-122"/>
                        </a:rPr>
                        <a:t>1</a:t>
                      </a:r>
                      <a:endParaRPr lang="en-US" altLang="zh-CN" b="0">
                        <a:latin typeface="微软雅黑" panose="020B0503020204020204" charset="-122"/>
                        <a:ea typeface="微软雅黑" panose="020B0503020204020204" charset="-122"/>
                      </a:endParaRPr>
                    </a:p>
                  </a:txBody>
                  <a:tcPr anchor="ctr" anchorCtr="0"/>
                </a:tc>
                <a:tc>
                  <a:txBody>
                    <a:bodyPr/>
                    <a:p>
                      <a:pPr algn="ctr" fontAlgn="ctr">
                        <a:buClrTx/>
                        <a:buSzTx/>
                        <a:buFontTx/>
                      </a:pPr>
                      <a:r>
                        <a:rPr lang="zh-CN" altLang="en-US" sz="1800" b="0" i="0">
                          <a:latin typeface="微软雅黑" panose="020B0503020204020204" charset="-122"/>
                          <a:ea typeface="微软雅黑" panose="020B0503020204020204" charset="-122"/>
                        </a:rPr>
                        <a:t>关于对综合车间在临建二区灭火器检查不到位的处理通报</a:t>
                      </a:r>
                      <a:endParaRPr lang="zh-CN" altLang="en-US" sz="1800" b="0" i="0">
                        <a:latin typeface="微软雅黑" panose="020B0503020204020204" charset="-122"/>
                        <a:ea typeface="微软雅黑" panose="020B0503020204020204" charset="-122"/>
                      </a:endParaRPr>
                    </a:p>
                  </a:txBody>
                  <a:tcPr marL="6667" marR="6667" marT="6667" marB="0" anchor="ctr" anchorCtr="0"/>
                </a:tc>
                <a:tc>
                  <a:txBody>
                    <a:bodyPr/>
                    <a:p>
                      <a:pPr algn="ctr" fontAlgn="ctr">
                        <a:buClrTx/>
                        <a:buSzTx/>
                        <a:buFontTx/>
                      </a:pPr>
                      <a:r>
                        <a:rPr lang="zh-CN" altLang="en-US" sz="1800" b="0" i="0">
                          <a:latin typeface="微软雅黑" panose="020B0503020204020204" charset="-122"/>
                          <a:ea typeface="微软雅黑" panose="020B0503020204020204" charset="-122"/>
                        </a:rPr>
                        <a:t>综合车间</a:t>
                      </a:r>
                      <a:endParaRPr lang="zh-CN" altLang="en-US" sz="1800" b="0" i="0">
                        <a:latin typeface="微软雅黑" panose="020B0503020204020204" charset="-122"/>
                        <a:ea typeface="微软雅黑" panose="020B0503020204020204" charset="-122"/>
                      </a:endParaRPr>
                    </a:p>
                  </a:txBody>
                  <a:tcPr marL="6667" marR="6667" marT="6667" marB="0" anchor="ctr" anchorCtr="0"/>
                </a:tc>
                <a:tc>
                  <a:txBody>
                    <a:bodyPr/>
                    <a:p>
                      <a:pPr algn="ctr" fontAlgn="ctr">
                        <a:buClrTx/>
                        <a:buSzTx/>
                        <a:buFontTx/>
                      </a:pPr>
                      <a:r>
                        <a:rPr lang="zh-CN" altLang="en-US" sz="1800" b="0" i="0">
                          <a:latin typeface="微软雅黑" panose="020B0503020204020204" charset="-122"/>
                          <a:ea typeface="微软雅黑" panose="020B0503020204020204" charset="-122"/>
                        </a:rPr>
                        <a:t>韦伴锋</a:t>
                      </a:r>
                      <a:endParaRPr lang="zh-CN" altLang="en-US" sz="1800" b="0" i="0">
                        <a:latin typeface="微软雅黑" panose="020B0503020204020204" charset="-122"/>
                        <a:ea typeface="微软雅黑" panose="020B0503020204020204" charset="-122"/>
                      </a:endParaRPr>
                    </a:p>
                  </a:txBody>
                  <a:tcPr marL="9842" marR="9842" marT="9842" marB="0" anchor="ctr" anchorCtr="0"/>
                </a:tc>
                <a:tc>
                  <a:txBody>
                    <a:bodyPr/>
                    <a:p>
                      <a:pPr algn="ctr" fontAlgn="ctr">
                        <a:buClrTx/>
                        <a:buSzTx/>
                        <a:buFontTx/>
                      </a:pPr>
                      <a:r>
                        <a:rPr lang="en-US" altLang="zh-CN" sz="1800" b="0" i="0">
                          <a:latin typeface="微软雅黑" panose="020B0503020204020204" charset="-122"/>
                          <a:ea typeface="微软雅黑" panose="020B0503020204020204" charset="-122"/>
                        </a:rPr>
                        <a:t>2026/7/16</a:t>
                      </a:r>
                      <a:endParaRPr lang="en-US" altLang="zh-CN" sz="1800" b="0" i="0">
                        <a:latin typeface="微软雅黑" panose="020B0503020204020204" charset="-122"/>
                        <a:ea typeface="微软雅黑" panose="020B0503020204020204" charset="-122"/>
                      </a:endParaRPr>
                    </a:p>
                  </a:txBody>
                  <a:tcPr marL="6667" marR="6667" marT="6667" marB="0" anchor="ctr" anchorCtr="0"/>
                </a:tc>
                <a:tc>
                  <a:txBody>
                    <a:bodyPr/>
                    <a:p>
                      <a:pPr algn="ctr" fontAlgn="ctr">
                        <a:buClrTx/>
                        <a:buSzTx/>
                        <a:buFontTx/>
                      </a:pPr>
                      <a:r>
                        <a:rPr lang="en-US" altLang="zh-CN" sz="1800" b="0" i="0">
                          <a:latin typeface="微软雅黑" panose="020B0503020204020204" charset="-122"/>
                          <a:ea typeface="微软雅黑" panose="020B0503020204020204" charset="-122"/>
                        </a:rPr>
                        <a:t>2026/7/22</a:t>
                      </a:r>
                      <a:endParaRPr lang="en-US" altLang="zh-CN" sz="1800" b="0" i="0">
                        <a:latin typeface="微软雅黑" panose="020B0503020204020204" charset="-122"/>
                        <a:ea typeface="微软雅黑" panose="020B0503020204020204" charset="-122"/>
                      </a:endParaRPr>
                    </a:p>
                  </a:txBody>
                  <a:tcPr marL="6667" marR="6667" marT="6667" marB="0" anchor="ctr" anchorCtr="0"/>
                </a:tc>
                <a:tc>
                  <a:txBody>
                    <a:bodyPr/>
                    <a:p>
                      <a:pPr algn="ctr" fontAlgn="ctr">
                        <a:buClrTx/>
                        <a:buSzTx/>
                        <a:buFontTx/>
                        <a:buNone/>
                      </a:pPr>
                      <a:r>
                        <a:rPr lang="zh-CN" altLang="en-US" sz="1800" b="0">
                          <a:latin typeface="微软雅黑" panose="020B0503020204020204" charset="-122"/>
                          <a:ea typeface="微软雅黑" panose="020B0503020204020204" charset="-122"/>
                          <a:sym typeface="+mn-ea"/>
                        </a:rPr>
                        <a:t>否</a:t>
                      </a:r>
                      <a:endParaRPr lang="zh-CN" altLang="en-US" sz="1800" b="0">
                        <a:latin typeface="微软雅黑" panose="020B0503020204020204" charset="-122"/>
                        <a:ea typeface="微软雅黑" panose="020B0503020204020204" charset="-122"/>
                        <a:sym typeface="+mn-ea"/>
                      </a:endParaRPr>
                    </a:p>
                  </a:txBody>
                  <a:tcPr anchor="ctr" anchorCtr="0"/>
                </a:tc>
                <a:tc>
                  <a:txBody>
                    <a:bodyPr/>
                    <a:p>
                      <a:pPr algn="ctr" fontAlgn="ctr">
                        <a:buClrTx/>
                        <a:buSzTx/>
                        <a:buFontTx/>
                      </a:pPr>
                      <a:r>
                        <a:rPr lang="zh-CN" altLang="en-US" sz="1800" b="0" i="0">
                          <a:latin typeface="微软雅黑" panose="020B0503020204020204" charset="-122"/>
                          <a:ea typeface="微软雅黑" panose="020B0503020204020204" charset="-122"/>
                        </a:rPr>
                        <a:t>龚天顺</a:t>
                      </a:r>
                      <a:endParaRPr lang="zh-CN" altLang="en-US" sz="1800" b="0" i="0">
                        <a:latin typeface="微软雅黑" panose="020B0503020204020204" charset="-122"/>
                        <a:ea typeface="微软雅黑" panose="020B0503020204020204" charset="-122"/>
                      </a:endParaRPr>
                    </a:p>
                  </a:txBody>
                  <a:tcPr marL="6667" marR="6667" marT="6667" marB="0" anchor="ctr" anchorCtr="0"/>
                </a:tc>
              </a:tr>
            </a:tbl>
          </a:graphicData>
        </a:graphic>
      </p:graphicFrame>
      <p:sp>
        <p:nvSpPr>
          <p:cNvPr id="2" name="文本框 1"/>
          <p:cNvSpPr txBox="1"/>
          <p:nvPr/>
        </p:nvSpPr>
        <p:spPr>
          <a:xfrm>
            <a:off x="1005205" y="1395730"/>
            <a:ext cx="11006455" cy="368300"/>
          </a:xfrm>
          <a:prstGeom prst="rect">
            <a:avLst/>
          </a:prstGeom>
          <a:noFill/>
        </p:spPr>
        <p:txBody>
          <a:bodyPr wrap="square" rtlCol="0">
            <a:spAutoFit/>
          </a:bodyPr>
          <a:p>
            <a:r>
              <a:rPr lang="zh-CN" altLang="en-US" b="1" dirty="0">
                <a:solidFill>
                  <a:srgbClr val="000000"/>
                </a:solidFill>
                <a:latin typeface="微软雅黑" panose="020B0503020204020204" charset="-122"/>
                <a:ea typeface="微软雅黑" panose="020B0503020204020204" charset="-122"/>
                <a:sym typeface="+mn-ea"/>
              </a:rPr>
              <a:t>本报告周期内，安监部发出通报</a:t>
            </a:r>
            <a:r>
              <a:rPr lang="en-US" altLang="zh-CN" b="1" dirty="0">
                <a:solidFill>
                  <a:srgbClr val="FF0000"/>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份</a:t>
            </a:r>
            <a:r>
              <a:rPr lang="zh-CN" altLang="en-US" b="1" dirty="0">
                <a:solidFill>
                  <a:schemeClr val="tx1"/>
                </a:solidFill>
                <a:latin typeface="微软雅黑" panose="020B0503020204020204" charset="-122"/>
                <a:ea typeface="微软雅黑" panose="020B0503020204020204" charset="-122"/>
                <a:sym typeface="+mn-ea"/>
              </a:rPr>
              <a:t>、通报</a:t>
            </a:r>
            <a:r>
              <a:rPr lang="zh-CN" altLang="en-US" b="1" dirty="0">
                <a:latin typeface="微软雅黑" panose="020B0503020204020204" charset="-122"/>
                <a:ea typeface="微软雅黑" panose="020B0503020204020204" charset="-122"/>
                <a:sym typeface="+mn-ea"/>
              </a:rPr>
              <a:t>单</a:t>
            </a:r>
            <a:r>
              <a:rPr lang="zh-CN" altLang="en-US" b="1" dirty="0">
                <a:solidFill>
                  <a:srgbClr val="000000"/>
                </a:solidFill>
                <a:latin typeface="微软雅黑" panose="020B0503020204020204" charset="-122"/>
                <a:ea typeface="微软雅黑" panose="020B0503020204020204" charset="-122"/>
                <a:sym typeface="+mn-ea"/>
              </a:rPr>
              <a:t>关闭</a:t>
            </a:r>
            <a:r>
              <a:rPr lang="en-US" altLang="zh-CN" b="1" dirty="0">
                <a:solidFill>
                  <a:srgbClr val="FF0000"/>
                </a:solidFill>
                <a:latin typeface="微软雅黑" panose="020B0503020204020204" charset="-122"/>
                <a:ea typeface="微软雅黑" panose="020B0503020204020204" charset="-122"/>
                <a:sym typeface="+mn-ea"/>
              </a:rPr>
              <a:t>0</a:t>
            </a:r>
            <a:r>
              <a:rPr lang="zh-CN" altLang="en-US" b="1" dirty="0">
                <a:solidFill>
                  <a:schemeClr val="tx1"/>
                </a:solidFill>
                <a:latin typeface="微软雅黑" panose="020B0503020204020204" charset="-122"/>
                <a:ea typeface="微软雅黑" panose="020B0503020204020204" charset="-122"/>
                <a:sym typeface="+mn-ea"/>
              </a:rPr>
              <a:t>份，</a:t>
            </a:r>
            <a:r>
              <a:rPr lang="zh-CN" altLang="en-US" b="1" dirty="0">
                <a:latin typeface="微软雅黑" panose="020B0503020204020204" charset="-122"/>
                <a:ea typeface="微软雅黑" panose="020B0503020204020204" charset="-122"/>
                <a:sym typeface="+mn-ea"/>
              </a:rPr>
              <a:t>还剩</a:t>
            </a:r>
            <a:r>
              <a:rPr lang="en-US" altLang="zh-CN" b="1" dirty="0">
                <a:solidFill>
                  <a:srgbClr val="FF0000"/>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份</a:t>
            </a:r>
            <a:r>
              <a:rPr lang="zh-CN" altLang="en-US" b="1">
                <a:solidFill>
                  <a:schemeClr val="tx1"/>
                </a:solidFill>
                <a:latin typeface="微软雅黑" panose="020B0503020204020204" charset="-122"/>
                <a:ea typeface="微软雅黑" panose="020B0503020204020204" charset="-122"/>
                <a:cs typeface="宋体" panose="02010600030101010101" pitchFamily="2" charset="-122"/>
                <a:sym typeface="+mn-ea"/>
              </a:rPr>
              <a:t>通报</a:t>
            </a:r>
            <a:r>
              <a:rPr lang="zh-CN" altLang="en-US" b="1" dirty="0">
                <a:latin typeface="微软雅黑" panose="020B0503020204020204" charset="-122"/>
                <a:ea typeface="微软雅黑" panose="020B0503020204020204" charset="-122"/>
                <a:sym typeface="+mn-ea"/>
              </a:rPr>
              <a:t>未关闭</a:t>
            </a:r>
            <a:r>
              <a:rPr lang="zh-CN" altLang="en-US" b="1"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88595" y="535305"/>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一、</a:t>
              </a:r>
              <a:r>
                <a:rPr lang="zh-CN" sz="2400" b="1" spc="300" dirty="0">
                  <a:solidFill>
                    <a:srgbClr val="0599D9">
                      <a:alpha val="100000"/>
                    </a:srgbClr>
                  </a:solidFill>
                  <a:ea typeface="微软雅黑" panose="020B0503020204020204" charset="-122"/>
                </a:rPr>
                <a:t>部门任务跟踪</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95400" y="1124382"/>
            <a:ext cx="11233248" cy="110680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10</a:t>
            </a:r>
            <a:r>
              <a:rPr lang="zh-CN" altLang="en-US" sz="2200" b="1" dirty="0">
                <a:solidFill>
                  <a:srgbClr val="000000"/>
                </a:solidFill>
                <a:latin typeface="微软雅黑" panose="020B0503020204020204" charset="-122"/>
                <a:ea typeface="微软雅黑" panose="020B0503020204020204" charset="-122"/>
                <a:sym typeface="+mn-ea"/>
              </a:rPr>
              <a:t>、停工令关闭情况（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a:p>
            <a:pPr marL="0" lvl="0" indent="0" algn="just">
              <a:buFont typeface="Wingdings" panose="05000000000000000000" charset="0"/>
              <a:buNone/>
            </a:pPr>
            <a:endParaRPr lang="en-US" altLang="zh-CN" sz="2200" b="1" dirty="0">
              <a:solidFill>
                <a:srgbClr val="000000"/>
              </a:solidFill>
              <a:latin typeface="微软雅黑" panose="020B0503020204020204" charset="-122"/>
              <a:ea typeface="微软雅黑" panose="020B0503020204020204" charset="-122"/>
              <a:sym typeface="+mn-ea"/>
            </a:endParaRPr>
          </a:p>
          <a:p>
            <a:pPr marL="0" lvl="0" indent="0" algn="just">
              <a:buFont typeface="Wingdings" panose="05000000000000000000" charset="0"/>
              <a:buNone/>
            </a:pP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4" name="表格 3"/>
          <p:cNvGraphicFramePr/>
          <p:nvPr>
            <p:custDataLst>
              <p:tags r:id="rId4"/>
            </p:custDataLst>
          </p:nvPr>
        </p:nvGraphicFramePr>
        <p:xfrm>
          <a:off x="225425" y="1945640"/>
          <a:ext cx="11205210" cy="1849120"/>
        </p:xfrm>
        <a:graphic>
          <a:graphicData uri="http://schemas.openxmlformats.org/drawingml/2006/table">
            <a:tbl>
              <a:tblPr firstRow="1" bandRow="1">
                <a:tableStyleId>{5940675A-B579-460E-94D1-54222C63F5DA}</a:tableStyleId>
              </a:tblPr>
              <a:tblGrid>
                <a:gridCol w="845820"/>
                <a:gridCol w="4012565"/>
                <a:gridCol w="1188085"/>
                <a:gridCol w="1064260"/>
                <a:gridCol w="1557655"/>
                <a:gridCol w="1424305"/>
                <a:gridCol w="1112520"/>
              </a:tblGrid>
              <a:tr h="591820">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序号</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停工令</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责任部门</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责任人</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en-US" sz="1600" b="1">
                          <a:solidFill>
                            <a:schemeClr val="bg1"/>
                          </a:solidFill>
                          <a:latin typeface="微软雅黑" panose="020B0503020204020204" charset="-122"/>
                          <a:ea typeface="微软雅黑" panose="020B0503020204020204" charset="-122"/>
                          <a:cs typeface="宋体" panose="02010600030101010101" pitchFamily="2" charset="-122"/>
                        </a:rPr>
                        <a:t>下发日期</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复工</a:t>
                      </a:r>
                      <a:r>
                        <a:rPr lang="en-US" sz="1600" b="1">
                          <a:solidFill>
                            <a:schemeClr val="bg1"/>
                          </a:solidFill>
                          <a:latin typeface="微软雅黑" panose="020B0503020204020204" charset="-122"/>
                          <a:ea typeface="微软雅黑" panose="020B0503020204020204" charset="-122"/>
                          <a:cs typeface="宋体" panose="02010600030101010101" pitchFamily="2" charset="-122"/>
                        </a:rPr>
                        <a:t>日期</a:t>
                      </a:r>
                      <a:endParaRPr lang="en-US"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c>
                  <a:txBody>
                    <a:bodyPr/>
                    <a:p>
                      <a:pPr indent="0" algn="ctr">
                        <a:buNone/>
                      </a:pPr>
                      <a:r>
                        <a:rPr lang="zh-CN" altLang="en-US" sz="1600" b="1">
                          <a:solidFill>
                            <a:schemeClr val="bg1"/>
                          </a:solidFill>
                          <a:latin typeface="微软雅黑" panose="020B0503020204020204" charset="-122"/>
                          <a:ea typeface="微软雅黑" panose="020B0503020204020204" charset="-122"/>
                          <a:cs typeface="宋体" panose="02010600030101010101" pitchFamily="2" charset="-122"/>
                        </a:rPr>
                        <a:t>跟踪责任人</a:t>
                      </a:r>
                      <a:endParaRPr lang="zh-CN" altLang="en-US" sz="1600" b="1">
                        <a:solidFill>
                          <a:schemeClr val="bg1"/>
                        </a:solidFill>
                        <a:latin typeface="微软雅黑" panose="020B0503020204020204" charset="-122"/>
                        <a:ea typeface="微软雅黑" panose="020B0503020204020204" charset="-122"/>
                        <a:cs typeface="宋体" panose="02010600030101010101" pitchFamily="2" charset="-122"/>
                      </a:endParaRPr>
                    </a:p>
                  </a:txBody>
                  <a:tcPr marL="68580" marR="68580" marT="0" marB="0" vert="horz" anchor="ctr">
                    <a:solidFill>
                      <a:srgbClr val="00B0F0"/>
                    </a:solidFill>
                  </a:tcPr>
                </a:tc>
              </a:tr>
              <a:tr h="628650">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fontAlgn="ctr"/>
                      <a:r>
                        <a:rPr lang="zh-CN" altLang="en-US" sz="1800" b="1" i="0">
                          <a:latin typeface="微软雅黑" panose="020B0503020204020204" charset="-122"/>
                          <a:ea typeface="微软雅黑" panose="020B0503020204020204" charset="-122"/>
                        </a:rPr>
                        <a:t>无</a:t>
                      </a:r>
                      <a:endParaRPr lang="zh-CN" altLang="en-US" sz="1800" b="1" i="0">
                        <a:latin typeface="微软雅黑" panose="020B0503020204020204" charset="-122"/>
                        <a:ea typeface="微软雅黑" panose="020B0503020204020204" charset="-122"/>
                      </a:endParaRPr>
                    </a:p>
                  </a:txBody>
                  <a:tcPr marL="5080" marR="5080" marT="5080" marB="0" anchor="ctr" anchorCtr="0"/>
                </a:tc>
                <a:tc>
                  <a:txBody>
                    <a:bodyPr/>
                    <a:p>
                      <a:pPr algn="ctr">
                        <a:buClrTx/>
                        <a:buSzTx/>
                        <a:buFontTx/>
                        <a:buNone/>
                      </a:pPr>
                      <a:endParaRPr lang="zh-CN" altLang="en-US" sz="1800" b="1" i="0">
                        <a:latin typeface="微软雅黑" panose="020B0503020204020204" charset="-122"/>
                        <a:ea typeface="微软雅黑" panose="020B0503020204020204" charset="-122"/>
                      </a:endParaRPr>
                    </a:p>
                  </a:txBody>
                  <a:tcPr marL="5080" marR="5080" marT="5080" marB="0" anchor="ctr" anchorCtr="0"/>
                </a:tc>
                <a:tc>
                  <a:txBody>
                    <a:bodyPr/>
                    <a:p>
                      <a:pPr algn="ctr">
                        <a:buClrTx/>
                        <a:buSzTx/>
                        <a:buFontTx/>
                        <a:buNone/>
                      </a:pPr>
                      <a:endParaRPr lang="zh-CN" altLang="en-US" sz="1800" b="1">
                        <a:latin typeface="微软雅黑" panose="020B0503020204020204" charset="-122"/>
                        <a:ea typeface="微软雅黑" panose="020B0503020204020204" charset="-122"/>
                      </a:endParaRPr>
                    </a:p>
                  </a:txBody>
                  <a:tcPr anchor="ctr" anchorCtr="0"/>
                </a:tc>
                <a:tc>
                  <a:txBody>
                    <a:bodyPr/>
                    <a:p>
                      <a:pPr algn="ctr" fontAlgn="ctr"/>
                      <a:endParaRPr lang="zh-CN" altLang="en-US" sz="1800" b="1" i="0">
                        <a:latin typeface="微软雅黑" panose="020B0503020204020204" charset="-122"/>
                        <a:ea typeface="微软雅黑" panose="020B0503020204020204" charset="-122"/>
                      </a:endParaRPr>
                    </a:p>
                  </a:txBody>
                  <a:tcPr marL="5080" marR="5080" marT="5080" marB="0" anchor="ctr" anchorCtr="0"/>
                </a:tc>
                <a:tc>
                  <a:txBody>
                    <a:bodyPr/>
                    <a:p>
                      <a:pPr algn="ctr" fontAlgn="ctr"/>
                      <a:endParaRPr lang="zh-CN" altLang="en-US" sz="1800" b="1">
                        <a:latin typeface="微软雅黑" panose="020B0503020204020204" charset="-122"/>
                        <a:ea typeface="微软雅黑" panose="020B0503020204020204" charset="-122"/>
                      </a:endParaRPr>
                    </a:p>
                  </a:txBody>
                  <a:tcPr anchor="ctr" anchorCtr="0"/>
                </a:tc>
                <a:tc>
                  <a:txBody>
                    <a:bodyPr/>
                    <a:p>
                      <a:pPr algn="ctr">
                        <a:buNone/>
                      </a:pPr>
                      <a:endParaRPr lang="zh-CN" altLang="en-US" sz="1800" b="1">
                        <a:latin typeface="微软雅黑" panose="020B0503020204020204" charset="-122"/>
                        <a:ea typeface="微软雅黑" panose="020B0503020204020204" charset="-122"/>
                      </a:endParaRPr>
                    </a:p>
                  </a:txBody>
                  <a:tcPr anchor="ctr" anchorCtr="0"/>
                </a:tc>
              </a:tr>
            </a:tbl>
          </a:graphicData>
        </a:graphic>
      </p:graphicFrame>
      <p:sp>
        <p:nvSpPr>
          <p:cNvPr id="9" name="文本框 8"/>
          <p:cNvSpPr txBox="1"/>
          <p:nvPr/>
        </p:nvSpPr>
        <p:spPr>
          <a:xfrm>
            <a:off x="399415" y="1485265"/>
            <a:ext cx="10994390" cy="460375"/>
          </a:xfrm>
          <a:prstGeom prst="rect">
            <a:avLst/>
          </a:prstGeom>
          <a:noFill/>
        </p:spPr>
        <p:txBody>
          <a:bodyPr wrap="square" rtlCol="0" anchor="t">
            <a:spAutoFit/>
          </a:bodyPr>
          <a:p>
            <a:r>
              <a:rPr lang="zh-CN" altLang="en-US" b="1" dirty="0">
                <a:solidFill>
                  <a:srgbClr val="000000"/>
                </a:solidFill>
                <a:latin typeface="微软雅黑" panose="020B0503020204020204" charset="-122"/>
                <a:ea typeface="微软雅黑" panose="020B0503020204020204" charset="-122"/>
                <a:sym typeface="+mn-ea"/>
              </a:rPr>
              <a:t>本报告周期内，安监部发出停工令</a:t>
            </a:r>
            <a:r>
              <a:rPr lang="en-US" altLang="zh-CN" sz="2400" b="1" dirty="0">
                <a:solidFill>
                  <a:srgbClr val="FF0000"/>
                </a:solidFill>
                <a:latin typeface="微软雅黑" panose="020B0503020204020204" charset="-122"/>
                <a:ea typeface="微软雅黑" panose="020B0503020204020204" charset="-122"/>
                <a:sym typeface="+mn-ea"/>
              </a:rPr>
              <a:t>0</a:t>
            </a:r>
            <a:r>
              <a:rPr lang="zh-CN" altLang="en-US" sz="2400" b="1" dirty="0">
                <a:solidFill>
                  <a:srgbClr val="FF0000"/>
                </a:solidFill>
                <a:latin typeface="微软雅黑" panose="020B0503020204020204" charset="-122"/>
                <a:ea typeface="微软雅黑" panose="020B0503020204020204" charset="-122"/>
                <a:sym typeface="+mn-ea"/>
              </a:rPr>
              <a:t>份</a:t>
            </a:r>
            <a:r>
              <a:rPr lang="zh-CN" altLang="en-US" b="1" dirty="0">
                <a:latin typeface="微软雅黑" panose="020B0503020204020204" charset="-122"/>
                <a:ea typeface="微软雅黑" panose="020B0503020204020204" charset="-122"/>
                <a:sym typeface="+mn-ea"/>
              </a:rPr>
              <a:t>、停工令</a:t>
            </a:r>
            <a:r>
              <a:rPr lang="zh-CN" altLang="en-US" b="1" dirty="0">
                <a:solidFill>
                  <a:srgbClr val="000000"/>
                </a:solidFill>
                <a:latin typeface="微软雅黑" panose="020B0503020204020204" charset="-122"/>
                <a:ea typeface="微软雅黑" panose="020B0503020204020204" charset="-122"/>
                <a:sym typeface="+mn-ea"/>
              </a:rPr>
              <a:t>关闭</a:t>
            </a:r>
            <a:r>
              <a:rPr lang="en-US" altLang="zh-CN" sz="2400" b="1" dirty="0">
                <a:solidFill>
                  <a:srgbClr val="FF0000"/>
                </a:solidFill>
                <a:latin typeface="微软雅黑" panose="020B0503020204020204" charset="-122"/>
                <a:ea typeface="微软雅黑" panose="020B0503020204020204" charset="-122"/>
                <a:sym typeface="+mn-ea"/>
              </a:rPr>
              <a:t>0</a:t>
            </a:r>
            <a:r>
              <a:rPr lang="zh-CN" altLang="en-US" sz="2400" b="1" dirty="0">
                <a:solidFill>
                  <a:srgbClr val="FF0000"/>
                </a:solidFill>
                <a:latin typeface="微软雅黑" panose="020B0503020204020204" charset="-122"/>
                <a:ea typeface="微软雅黑" panose="020B0503020204020204" charset="-122"/>
                <a:sym typeface="+mn-ea"/>
              </a:rPr>
              <a:t>份</a:t>
            </a:r>
            <a:r>
              <a:rPr lang="zh-CN" altLang="en-US" b="1" dirty="0">
                <a:latin typeface="微软雅黑" panose="020B0503020204020204" charset="-122"/>
                <a:ea typeface="微软雅黑" panose="020B0503020204020204" charset="-122"/>
                <a:sym typeface="+mn-ea"/>
              </a:rPr>
              <a:t>、还剩</a:t>
            </a:r>
            <a:r>
              <a:rPr lang="en-US" altLang="zh-CN" sz="2400" b="1" dirty="0">
                <a:solidFill>
                  <a:srgbClr val="FF0000"/>
                </a:solidFill>
                <a:latin typeface="微软雅黑" panose="020B0503020204020204" charset="-122"/>
                <a:ea typeface="微软雅黑" panose="020B0503020204020204" charset="-122"/>
                <a:sym typeface="+mn-ea"/>
              </a:rPr>
              <a:t>0</a:t>
            </a:r>
            <a:r>
              <a:rPr lang="zh-CN" altLang="en-US" sz="2400" b="1" dirty="0">
                <a:solidFill>
                  <a:srgbClr val="FF0000"/>
                </a:solidFill>
                <a:latin typeface="微软雅黑" panose="020B0503020204020204" charset="-122"/>
                <a:ea typeface="微软雅黑" panose="020B0503020204020204" charset="-122"/>
                <a:sym typeface="+mn-ea"/>
              </a:rPr>
              <a:t>份</a:t>
            </a:r>
            <a:r>
              <a:rPr lang="zh-CN" altLang="en-US" sz="1800" b="1" dirty="0">
                <a:latin typeface="微软雅黑" panose="020B0503020204020204" charset="-122"/>
                <a:ea typeface="微软雅黑" panose="020B0503020204020204" charset="-122"/>
                <a:sym typeface="+mn-ea"/>
              </a:rPr>
              <a:t>停工令</a:t>
            </a:r>
            <a:r>
              <a:rPr lang="zh-CN" altLang="en-US" b="1" dirty="0">
                <a:latin typeface="微软雅黑" panose="020B0503020204020204" charset="-122"/>
                <a:ea typeface="微软雅黑" panose="020B0503020204020204" charset="-122"/>
                <a:sym typeface="+mn-ea"/>
              </a:rPr>
              <a:t>未关闭。</a:t>
            </a:r>
            <a:endParaRPr lang="zh-CN" altLang="en-US" b="1" dirty="0">
              <a:latin typeface="微软雅黑" panose="020B0503020204020204" charset="-122"/>
              <a:ea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文本框 1"/>
          <p:cNvSpPr txBox="1"/>
          <p:nvPr>
            <p:custDataLst>
              <p:tags r:id="rId1"/>
            </p:custDataLst>
          </p:nvPr>
        </p:nvSpPr>
        <p:spPr>
          <a:xfrm>
            <a:off x="187325" y="781050"/>
            <a:ext cx="5486400" cy="478155"/>
          </a:xfrm>
          <a:prstGeom prst="rect">
            <a:avLst/>
          </a:prstGeom>
          <a:noFill/>
        </p:spPr>
        <p:txBody>
          <a:bodyPr wrap="square" rtlCol="0">
            <a:noAutofit/>
          </a:bodyPr>
          <a:lstStyle/>
          <a:p>
            <a:pPr algn="just"/>
            <a:r>
              <a:rPr lang="en-US" altLang="zh-CN" sz="2000" b="1" dirty="0">
                <a:solidFill>
                  <a:srgbClr val="000000"/>
                </a:solidFill>
                <a:latin typeface="微软雅黑" panose="020B0503020204020204" charset="-122"/>
                <a:ea typeface="微软雅黑" panose="020B0503020204020204" charset="-122"/>
                <a:sym typeface="+mn-ea"/>
              </a:rPr>
              <a:t>1</a:t>
            </a:r>
            <a:r>
              <a:rPr lang="zh-CN" altLang="en-US" sz="2000" b="1" dirty="0">
                <a:solidFill>
                  <a:srgbClr val="000000"/>
                </a:solidFill>
                <a:latin typeface="微软雅黑" panose="020B0503020204020204" charset="-122"/>
                <a:ea typeface="微软雅黑" panose="020B0503020204020204" charset="-122"/>
                <a:sym typeface="+mn-ea"/>
              </a:rPr>
              <a:t>、证件办理情况（</a:t>
            </a:r>
            <a:r>
              <a:rPr lang="en-US" altLang="zh-CN" sz="2000" b="1" dirty="0">
                <a:solidFill>
                  <a:srgbClr val="000000"/>
                </a:solidFill>
                <a:latin typeface="微软雅黑" panose="020B0503020204020204" charset="-122"/>
                <a:ea typeface="微软雅黑" panose="020B0503020204020204" charset="-122"/>
                <a:sym typeface="+mn-ea"/>
              </a:rPr>
              <a:t>7</a:t>
            </a:r>
            <a:r>
              <a:rPr lang="zh-CN" altLang="en-US" sz="2000" b="1" dirty="0">
                <a:solidFill>
                  <a:srgbClr val="000000"/>
                </a:solidFill>
                <a:latin typeface="微软雅黑" panose="020B0503020204020204" charset="-122"/>
                <a:ea typeface="微软雅黑" panose="020B0503020204020204" charset="-122"/>
                <a:sym typeface="+mn-ea"/>
              </a:rPr>
              <a:t>月</a:t>
            </a:r>
            <a:r>
              <a:rPr lang="en-US" altLang="zh-CN" sz="2000" b="1" dirty="0">
                <a:solidFill>
                  <a:srgbClr val="000000"/>
                </a:solidFill>
                <a:latin typeface="微软雅黑" panose="020B0503020204020204" charset="-122"/>
                <a:ea typeface="微软雅黑" panose="020B0503020204020204" charset="-122"/>
                <a:sym typeface="+mn-ea"/>
              </a:rPr>
              <a:t>16</a:t>
            </a:r>
            <a:r>
              <a:rPr lang="zh-CN" altLang="en-US" sz="2000" b="1" dirty="0">
                <a:solidFill>
                  <a:srgbClr val="000000"/>
                </a:solidFill>
                <a:latin typeface="微软雅黑" panose="020B0503020204020204" charset="-122"/>
                <a:ea typeface="微软雅黑" panose="020B0503020204020204" charset="-122"/>
                <a:sym typeface="+mn-ea"/>
              </a:rPr>
              <a:t>日</a:t>
            </a:r>
            <a:r>
              <a:rPr lang="en-US" altLang="zh-CN" sz="2000" b="1" dirty="0">
                <a:solidFill>
                  <a:srgbClr val="000000"/>
                </a:solidFill>
                <a:latin typeface="微软雅黑" panose="020B0503020204020204" charset="-122"/>
                <a:ea typeface="微软雅黑" panose="020B0503020204020204" charset="-122"/>
                <a:sym typeface="+mn-ea"/>
              </a:rPr>
              <a:t>--7</a:t>
            </a:r>
            <a:r>
              <a:rPr lang="zh-CN" altLang="en-US" sz="2000" b="1" dirty="0">
                <a:solidFill>
                  <a:srgbClr val="000000"/>
                </a:solidFill>
                <a:latin typeface="微软雅黑" panose="020B0503020204020204" charset="-122"/>
                <a:ea typeface="微软雅黑" panose="020B0503020204020204" charset="-122"/>
                <a:sym typeface="+mn-ea"/>
              </a:rPr>
              <a:t>月</a:t>
            </a:r>
            <a:r>
              <a:rPr lang="en-US" altLang="zh-CN" sz="2000" b="1" dirty="0">
                <a:solidFill>
                  <a:srgbClr val="000000"/>
                </a:solidFill>
                <a:latin typeface="微软雅黑" panose="020B0503020204020204" charset="-122"/>
                <a:ea typeface="微软雅黑" panose="020B0503020204020204" charset="-122"/>
                <a:sym typeface="+mn-ea"/>
              </a:rPr>
              <a:t>21</a:t>
            </a:r>
            <a:r>
              <a:rPr lang="zh-CN" altLang="en-US" sz="2000" b="1" dirty="0">
                <a:solidFill>
                  <a:srgbClr val="000000"/>
                </a:solidFill>
                <a:latin typeface="微软雅黑" panose="020B0503020204020204" charset="-122"/>
                <a:ea typeface="微软雅黑" panose="020B0503020204020204" charset="-122"/>
                <a:sym typeface="+mn-ea"/>
              </a:rPr>
              <a:t>日）</a:t>
            </a:r>
            <a:r>
              <a:rPr lang="en-US" altLang="zh-CN" sz="2000" b="1" dirty="0">
                <a:solidFill>
                  <a:schemeClr val="bg1"/>
                </a:solidFill>
                <a:latin typeface="微软雅黑" panose="020B0503020204020204" charset="-122"/>
                <a:ea typeface="微软雅黑" panose="020B0503020204020204" charset="-122"/>
                <a:sym typeface="+mn-ea"/>
              </a:rPr>
              <a:t>1</a:t>
            </a:r>
            <a:endParaRPr lang="zh-CN" altLang="en-US" sz="2000" b="1" dirty="0">
              <a:solidFill>
                <a:schemeClr val="bg1"/>
              </a:solidFill>
              <a:latin typeface="微软雅黑" panose="020B0503020204020204" charset="-122"/>
              <a:ea typeface="微软雅黑" panose="020B0503020204020204" charset="-122"/>
              <a:sym typeface="+mn-ea"/>
            </a:endParaRPr>
          </a:p>
        </p:txBody>
      </p:sp>
      <p:sp>
        <p:nvSpPr>
          <p:cNvPr id="16" name="PA-文本框 15"/>
          <p:cNvSpPr txBox="1"/>
          <p:nvPr>
            <p:custDataLst>
              <p:tags r:id="rId2"/>
            </p:custDataLst>
          </p:nvPr>
        </p:nvSpPr>
        <p:spPr>
          <a:xfrm>
            <a:off x="119080" y="4512141"/>
            <a:ext cx="821992" cy="398780"/>
          </a:xfrm>
          <a:prstGeom prst="rect">
            <a:avLst/>
          </a:prstGeom>
          <a:noFill/>
        </p:spPr>
        <p:txBody>
          <a:bodyPr wrap="square" rtlCol="0">
            <a:spAutoFit/>
          </a:bodyPr>
          <a:lstStyle/>
          <a:p>
            <a:pPr algn="ctr"/>
            <a:r>
              <a:rPr lang="en-US" altLang="zh-CN" sz="2000" dirty="0">
                <a:solidFill>
                  <a:schemeClr val="bg1"/>
                </a:solidFill>
                <a:latin typeface="+mj-ea"/>
                <a:ea typeface="+mj-ea"/>
              </a:rPr>
              <a:t>1</a:t>
            </a:r>
            <a:endParaRPr lang="en-US" altLang="zh-CN" sz="2000" dirty="0">
              <a:solidFill>
                <a:schemeClr val="bg1"/>
              </a:solidFill>
              <a:latin typeface="+mj-ea"/>
              <a:ea typeface="+mj-ea"/>
            </a:endParaRPr>
          </a:p>
        </p:txBody>
      </p:sp>
      <p:graphicFrame>
        <p:nvGraphicFramePr>
          <p:cNvPr id="3" name="表格 2"/>
          <p:cNvGraphicFramePr/>
          <p:nvPr>
            <p:custDataLst>
              <p:tags r:id="rId3"/>
            </p:custDataLst>
          </p:nvPr>
        </p:nvGraphicFramePr>
        <p:xfrm>
          <a:off x="979805" y="1417320"/>
          <a:ext cx="4013200" cy="3629660"/>
        </p:xfrm>
        <a:graphic>
          <a:graphicData uri="http://schemas.openxmlformats.org/drawingml/2006/table">
            <a:tbl>
              <a:tblPr firstRow="1">
                <a:tableStyleId>{F7A789F1-B653-4B05-9413-55619C3911C9}</a:tableStyleId>
              </a:tblPr>
              <a:tblGrid>
                <a:gridCol w="613410"/>
                <a:gridCol w="1546860"/>
                <a:gridCol w="909955"/>
                <a:gridCol w="942975"/>
              </a:tblGrid>
              <a:tr h="1021080">
                <a:tc>
                  <a:txBody>
                    <a:bodyPr/>
                    <a:lstStyle/>
                    <a:p>
                      <a:pPr algn="ctr" fontAlgn="ctr"/>
                      <a:r>
                        <a:rPr lang="zh-CN" altLang="en-US" sz="1600" u="none" strike="noStrike" dirty="0">
                          <a:effectLst/>
                        </a:rPr>
                        <a:t>序号</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证件类型</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办理证件数量</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证件回收数量</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035">
                <a:tc>
                  <a:txBody>
                    <a:bodyPr/>
                    <a:lstStyle/>
                    <a:p>
                      <a:pPr algn="ctr" fontAlgn="ctr"/>
                      <a:r>
                        <a:rPr lang="en-US" altLang="zh-CN" sz="1600" b="1" kern="1200" dirty="0"/>
                        <a:t>1</a:t>
                      </a:r>
                      <a:endParaRPr lang="en-US" altLang="zh-CN"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b="1" kern="1200" dirty="0"/>
                        <a:t>人员长期通行证</a:t>
                      </a:r>
                      <a:endParaRPr lang="zh-CN" altLang="en-US"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47</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32</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035">
                <a:tc>
                  <a:txBody>
                    <a:bodyPr/>
                    <a:lstStyle/>
                    <a:p>
                      <a:pPr algn="ctr" fontAlgn="ctr"/>
                      <a:r>
                        <a:rPr lang="en-US" altLang="zh-CN" sz="1600" b="1" kern="1200" dirty="0"/>
                        <a:t>2</a:t>
                      </a:r>
                      <a:endParaRPr lang="en-US" altLang="zh-CN"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r>
                        <a:rPr lang="zh-CN" altLang="en-US" sz="1600" b="1" dirty="0"/>
                        <a:t>人员临时通行证</a:t>
                      </a:r>
                      <a:endParaRPr lang="zh-CN" altLang="en-US" sz="1600" b="1"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1</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1</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6400">
                <a:tc>
                  <a:txBody>
                    <a:bodyPr/>
                    <a:lstStyle/>
                    <a:p>
                      <a:pPr algn="ctr" fontAlgn="ctr"/>
                      <a:r>
                        <a:rPr lang="en-US" altLang="zh-CN" sz="1600" b="1" u="none" strike="noStrike" dirty="0">
                          <a:effectLst/>
                        </a:rPr>
                        <a:t>3</a:t>
                      </a:r>
                      <a:endParaRPr lang="en-US" altLang="zh-CN" sz="1600" b="1"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b="1" kern="1200" dirty="0"/>
                        <a:t>车辆长期通行证</a:t>
                      </a:r>
                      <a:endParaRPr lang="zh-CN" altLang="en-US"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1</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sz="1600" b="1" i="0" u="none" strike="noStrike" kern="1200" dirty="0">
                          <a:solidFill>
                            <a:srgbClr val="404040"/>
                          </a:solidFill>
                          <a:effectLst/>
                          <a:latin typeface="+mn-ea"/>
                          <a:cs typeface="+mn-cs"/>
                        </a:rPr>
                        <a:t>0</a:t>
                      </a:r>
                      <a:endParaRPr lang="en-US"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670">
                <a:tc>
                  <a:txBody>
                    <a:bodyPr/>
                    <a:lstStyle/>
                    <a:p>
                      <a:pPr marL="0" algn="ctr" defTabSz="914400" rtl="0" eaLnBrk="1" fontAlgn="ctr" latinLnBrk="0" hangingPunct="1"/>
                      <a:r>
                        <a:rPr lang="en-US" altLang="zh-CN" sz="1600" b="1" u="none" strike="noStrike" kern="1200" dirty="0">
                          <a:effectLst/>
                        </a:rPr>
                        <a:t>4</a:t>
                      </a:r>
                      <a:endParaRPr lang="en-US" altLang="zh-CN" sz="1600" b="1" u="none" strike="noStrike" kern="1200"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sz="1600" b="1" dirty="0"/>
                        <a:t>临时</a:t>
                      </a:r>
                      <a:r>
                        <a:rPr lang="zh-CN" altLang="en-US" sz="1600" b="1" dirty="0"/>
                        <a:t>车辆通行证</a:t>
                      </a:r>
                      <a:endParaRPr lang="zh-CN" altLang="en-US"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21</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1</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5755">
                <a:tc>
                  <a:txBody>
                    <a:bodyPr/>
                    <a:lstStyle/>
                    <a:p>
                      <a:pPr marL="0" algn="ctr" defTabSz="914400" rtl="0" eaLnBrk="1" fontAlgn="ctr" latinLnBrk="0" hangingPunct="1"/>
                      <a:r>
                        <a:rPr lang="en-US" altLang="zh-CN" sz="1600" b="1" u="none" strike="noStrike" kern="1200" dirty="0">
                          <a:effectLst/>
                        </a:rPr>
                        <a:t>5</a:t>
                      </a:r>
                      <a:endParaRPr lang="en-US" altLang="zh-CN" sz="1600" b="1" u="none" strike="noStrike" kern="1200"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b="1" dirty="0"/>
                        <a:t>访客通行证</a:t>
                      </a:r>
                      <a:endParaRPr lang="zh-CN" altLang="en-US"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35</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5</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8930">
                <a:tc>
                  <a:txBody>
                    <a:bodyPr/>
                    <a:lstStyle/>
                    <a:p>
                      <a:pPr marL="0" algn="ctr" defTabSz="914400" rtl="0" eaLnBrk="1" fontAlgn="ctr" latinLnBrk="0" hangingPunct="1"/>
                      <a:r>
                        <a:rPr lang="en-US" altLang="zh-CN" sz="1600" b="1" u="none" strike="noStrike" kern="1200" dirty="0">
                          <a:effectLst/>
                        </a:rPr>
                        <a:t>6</a:t>
                      </a:r>
                      <a:endParaRPr lang="en-US" altLang="zh-CN" sz="1600" b="1" u="none" strike="noStrike" kern="1200"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b="1" kern="1200" dirty="0"/>
                        <a:t>一期证件</a:t>
                      </a:r>
                      <a:endParaRPr lang="zh-CN" altLang="en-US"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sz="1600" b="1" i="0" u="none" strike="noStrike" kern="1200" dirty="0">
                          <a:solidFill>
                            <a:srgbClr val="404040"/>
                          </a:solidFill>
                          <a:effectLst/>
                          <a:latin typeface="+mn-ea"/>
                          <a:cs typeface="+mn-cs"/>
                        </a:rPr>
                        <a:t>0</a:t>
                      </a:r>
                      <a:endParaRPr lang="en-US"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404040"/>
                          </a:solidFill>
                          <a:effectLst/>
                          <a:latin typeface="+mn-ea"/>
                          <a:cs typeface="+mn-cs"/>
                        </a:rPr>
                        <a:t>0</a:t>
                      </a:r>
                      <a:endParaRPr lang="en-US" altLang="zh-CN" sz="1600" b="1" i="0" u="none" strike="noStrike" kern="1200" dirty="0">
                        <a:solidFill>
                          <a:srgbClr val="40404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5755">
                <a:tc>
                  <a:txBody>
                    <a:bodyPr/>
                    <a:lstStyle/>
                    <a:p>
                      <a:pPr marL="0" algn="ctr" defTabSz="914400" rtl="0" eaLnBrk="1" fontAlgn="ctr" latinLnBrk="0" hangingPunct="1"/>
                      <a:r>
                        <a:rPr lang="en-US" altLang="zh-CN" sz="1600" b="1" u="none" strike="noStrike" kern="1200" dirty="0">
                          <a:effectLst/>
                        </a:rPr>
                        <a:t>7</a:t>
                      </a:r>
                      <a:endParaRPr lang="en-US" altLang="zh-CN" sz="1600" b="1" u="none" strike="noStrike" kern="1200"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b="1" kern="1200" dirty="0"/>
                        <a:t>合计</a:t>
                      </a:r>
                      <a:endParaRPr lang="zh-CN" altLang="en-US"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ClrTx/>
                        <a:buSzTx/>
                        <a:buFontTx/>
                      </a:pPr>
                      <a:r>
                        <a:rPr lang="en-US" altLang="zh-CN" sz="1600" b="1" i="0" dirty="0">
                          <a:solidFill>
                            <a:srgbClr val="FF0000"/>
                          </a:solidFill>
                          <a:effectLst/>
                          <a:latin typeface="+mn-ea"/>
                        </a:rPr>
                        <a:t>105</a:t>
                      </a:r>
                      <a:endParaRPr lang="en-US" altLang="zh-CN" sz="1600" b="1" i="0" dirty="0">
                        <a:solidFill>
                          <a:srgbClr val="FF0000"/>
                        </a:solidFill>
                        <a:effectLst/>
                        <a:latin typeface="+mn-ea"/>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ClrTx/>
                        <a:buSzTx/>
                        <a:buFontTx/>
                      </a:pPr>
                      <a:r>
                        <a:rPr lang="en-US" altLang="zh-CN" sz="1600" b="1" i="0" dirty="0">
                          <a:solidFill>
                            <a:srgbClr val="FF0000"/>
                          </a:solidFill>
                          <a:effectLst/>
                          <a:latin typeface="+mn-ea"/>
                        </a:rPr>
                        <a:t>39</a:t>
                      </a:r>
                      <a:endParaRPr lang="en-US" altLang="zh-CN" sz="1600" b="1" i="0" dirty="0">
                        <a:solidFill>
                          <a:srgbClr val="FF0000"/>
                        </a:solidFill>
                        <a:effectLst/>
                        <a:latin typeface="+mn-ea"/>
                      </a:endParaRP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pSp>
        <p:nvGrpSpPr>
          <p:cNvPr id="11" name="组合 10"/>
          <p:cNvGrpSpPr/>
          <p:nvPr>
            <p:custDataLst>
              <p:tags r:id="rId4"/>
            </p:custDataLst>
          </p:nvPr>
        </p:nvGrpSpPr>
        <p:grpSpPr>
          <a:xfrm>
            <a:off x="319828" y="1522607"/>
            <a:ext cx="585893" cy="2726178"/>
            <a:chOff x="164" y="1699"/>
            <a:chExt cx="692" cy="2213"/>
          </a:xfrm>
        </p:grpSpPr>
        <p:sp>
          <p:nvSpPr>
            <p:cNvPr id="4" name="圆角矩形 3"/>
            <p:cNvSpPr/>
            <p:nvPr>
              <p:custDataLst>
                <p:tags r:id="rId5"/>
              </p:custDataLst>
            </p:nvPr>
          </p:nvSpPr>
          <p:spPr>
            <a:xfrm>
              <a:off x="164" y="1699"/>
              <a:ext cx="692" cy="2213"/>
            </a:xfrm>
            <a:prstGeom prst="roundRect">
              <a:avLst/>
            </a:prstGeom>
            <a:solidFill>
              <a:schemeClr val="bg1">
                <a:lumMod val="8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35"/>
                <a:t>整改</a:t>
              </a:r>
              <a:endParaRPr lang="zh-CN" altLang="en-US" sz="135"/>
            </a:p>
          </p:txBody>
        </p:sp>
        <p:sp>
          <p:nvSpPr>
            <p:cNvPr id="9" name="文本框 8"/>
            <p:cNvSpPr txBox="1"/>
            <p:nvPr>
              <p:custDataLst>
                <p:tags r:id="rId6"/>
              </p:custDataLst>
            </p:nvPr>
          </p:nvSpPr>
          <p:spPr>
            <a:xfrm>
              <a:off x="247" y="1830"/>
              <a:ext cx="608" cy="1873"/>
            </a:xfrm>
            <a:prstGeom prst="rect">
              <a:avLst/>
            </a:prstGeom>
            <a:noFill/>
          </p:spPr>
          <p:txBody>
            <a:bodyPr wrap="square" rtlCol="0">
              <a:spAutoFit/>
            </a:bodyPr>
            <a:lstStyle/>
            <a:p>
              <a:r>
                <a:rPr lang="zh-CN" altLang="en-US" sz="2400"/>
                <a:t>证件办理回收</a:t>
              </a:r>
              <a:endParaRPr lang="zh-CN" altLang="en-US" sz="2400"/>
            </a:p>
          </p:txBody>
        </p:sp>
      </p:grpSp>
      <p:graphicFrame>
        <p:nvGraphicFramePr>
          <p:cNvPr id="31" name="表格 30"/>
          <p:cNvGraphicFramePr/>
          <p:nvPr>
            <p:custDataLst>
              <p:tags r:id="rId7"/>
            </p:custDataLst>
          </p:nvPr>
        </p:nvGraphicFramePr>
        <p:xfrm>
          <a:off x="6026150" y="713105"/>
          <a:ext cx="5596890" cy="6105525"/>
        </p:xfrm>
        <a:graphic>
          <a:graphicData uri="http://schemas.openxmlformats.org/drawingml/2006/table">
            <a:tbl>
              <a:tblPr firstRow="1">
                <a:tableStyleId>{B82968AF-1C86-418F-AAF9-C721EBBA184F}</a:tableStyleId>
              </a:tblPr>
              <a:tblGrid>
                <a:gridCol w="1074420"/>
                <a:gridCol w="736600"/>
                <a:gridCol w="1203960"/>
                <a:gridCol w="774065"/>
                <a:gridCol w="1101090"/>
                <a:gridCol w="706755"/>
              </a:tblGrid>
              <a:tr h="801370">
                <a:tc>
                  <a:txBody>
                    <a:bodyPr/>
                    <a:lstStyle/>
                    <a:p>
                      <a:pPr indent="0" algn="ctr" fontAlgn="ctr">
                        <a:lnSpc>
                          <a:spcPct val="120000"/>
                        </a:lnSpc>
                        <a:spcBef>
                          <a:spcPts val="0"/>
                        </a:spcBef>
                        <a:spcAft>
                          <a:spcPts val="0"/>
                        </a:spcAft>
                      </a:pPr>
                      <a:r>
                        <a:rPr lang="zh-CN" altLang="en-US" sz="1600" spc="120" dirty="0"/>
                        <a:t>证件类型</a:t>
                      </a:r>
                      <a:endParaRPr lang="zh-CN" altLang="en-US" sz="1600"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fontAlgn="ctr">
                        <a:lnSpc>
                          <a:spcPct val="120000"/>
                        </a:lnSpc>
                        <a:spcBef>
                          <a:spcPts val="0"/>
                        </a:spcBef>
                        <a:spcAft>
                          <a:spcPts val="0"/>
                        </a:spcAft>
                      </a:pPr>
                      <a:r>
                        <a:rPr lang="zh-CN" altLang="en-US" sz="1600" spc="120"/>
                        <a:t>办理证件数量</a:t>
                      </a:r>
                      <a:endParaRPr lang="zh-CN" altLang="en-US" sz="1600" spc="12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fontAlgn="ctr">
                        <a:lnSpc>
                          <a:spcPct val="120000"/>
                        </a:lnSpc>
                        <a:spcBef>
                          <a:spcPts val="0"/>
                        </a:spcBef>
                        <a:spcAft>
                          <a:spcPts val="0"/>
                        </a:spcAft>
                        <a:buNone/>
                      </a:pPr>
                      <a:r>
                        <a:rPr lang="zh-CN" altLang="en-US" sz="1600" spc="120"/>
                        <a:t>证件类型</a:t>
                      </a:r>
                      <a:endParaRPr lang="zh-CN" altLang="en-US" sz="1600" spc="12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fontAlgn="ctr">
                        <a:lnSpc>
                          <a:spcPct val="120000"/>
                        </a:lnSpc>
                        <a:spcBef>
                          <a:spcPts val="0"/>
                        </a:spcBef>
                        <a:spcAft>
                          <a:spcPts val="0"/>
                        </a:spcAft>
                        <a:buNone/>
                      </a:pPr>
                      <a:r>
                        <a:rPr lang="zh-CN" altLang="en-US" sz="1600" spc="120"/>
                        <a:t>办理证件数量</a:t>
                      </a:r>
                      <a:endParaRPr lang="zh-CN" altLang="en-US" sz="1600" spc="12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fontAlgn="ctr">
                        <a:lnSpc>
                          <a:spcPct val="120000"/>
                        </a:lnSpc>
                        <a:spcBef>
                          <a:spcPts val="0"/>
                        </a:spcBef>
                        <a:spcAft>
                          <a:spcPts val="0"/>
                        </a:spcAft>
                        <a:buNone/>
                      </a:pPr>
                      <a:r>
                        <a:rPr lang="zh-CN" altLang="en-US" sz="1600" spc="120"/>
                        <a:t>证件类型</a:t>
                      </a:r>
                      <a:endParaRPr lang="zh-CN" altLang="en-US" sz="1600" spc="12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fontAlgn="ctr">
                        <a:lnSpc>
                          <a:spcPct val="120000"/>
                        </a:lnSpc>
                        <a:spcBef>
                          <a:spcPts val="0"/>
                        </a:spcBef>
                        <a:spcAft>
                          <a:spcPts val="0"/>
                        </a:spcAft>
                        <a:buNone/>
                      </a:pPr>
                      <a:r>
                        <a:rPr lang="zh-CN" altLang="en-US" sz="1600" spc="120"/>
                        <a:t>办理证件数量</a:t>
                      </a:r>
                      <a:endParaRPr lang="zh-CN" altLang="en-US" sz="1600" spc="12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35000">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安全监督人员</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pPr>
                      <a:endParaRPr lang="en-US" altLang="zh-CN" sz="1600" b="1" spc="120" dirty="0">
                        <a:solidFill>
                          <a:schemeClr val="tx1"/>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zh-CN" altLang="en-US" sz="1600" b="1" spc="120" dirty="0"/>
                        <a:t>设备安装工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lang="zh-CN" altLang="en-US" sz="1600" b="1" spc="120" dirty="0"/>
                        <a:t>油漆工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3540">
                <a:tc>
                  <a:txBody>
                    <a:bodyPr/>
                    <a:lstStyle/>
                    <a:p>
                      <a:pPr indent="0" algn="ctr" defTabSz="914400" rtl="0" eaLnBrk="1" latinLnBrk="0" hangingPunct="1">
                        <a:lnSpc>
                          <a:spcPct val="120000"/>
                        </a:lnSpc>
                        <a:spcBef>
                          <a:spcPts val="0"/>
                        </a:spcBef>
                        <a:spcAft>
                          <a:spcPts val="0"/>
                        </a:spcAft>
                        <a:buNone/>
                      </a:pPr>
                      <a:r>
                        <a:rPr lang="en-US" altLang="zh-CN" sz="1600" b="1" spc="120" dirty="0"/>
                        <a:t>QA</a:t>
                      </a:r>
                      <a:endParaRPr lang="en-US" altLang="zh-CN"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C0000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lang="zh-CN" altLang="en-US" sz="1600" b="1" spc="120" dirty="0"/>
                        <a:t>机械操作工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en-US" altLang="zh-CN" sz="1600" b="1" spc="120" dirty="0">
                          <a:solidFill>
                            <a:srgbClr val="404040"/>
                          </a:solidFill>
                          <a:latin typeface="微软雅黑" panose="020B0503020204020204" charset="-122"/>
                          <a:ea typeface="微软雅黑" panose="020B0503020204020204" charset="-122"/>
                        </a:rPr>
                        <a:t>2</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lang="zh-CN" altLang="en-US" sz="1600" b="1" spc="120" dirty="0"/>
                        <a:t>钢筋工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lang="en-US" altLang="zh-CN" sz="1600" b="1" spc="120" dirty="0">
                          <a:solidFill>
                            <a:srgbClr val="404040"/>
                          </a:solidFill>
                          <a:latin typeface="微软雅黑" panose="020B0503020204020204" charset="-122"/>
                          <a:ea typeface="微软雅黑" panose="020B0503020204020204" charset="-122"/>
                        </a:rPr>
                        <a:t>1</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53695">
                <a:tc>
                  <a:txBody>
                    <a:bodyPr/>
                    <a:lstStyle/>
                    <a:p>
                      <a:pPr indent="0" algn="ctr">
                        <a:lnSpc>
                          <a:spcPct val="120000"/>
                        </a:lnSpc>
                        <a:spcBef>
                          <a:spcPts val="0"/>
                        </a:spcBef>
                        <a:spcAft>
                          <a:spcPts val="0"/>
                        </a:spcAft>
                      </a:pPr>
                      <a:r>
                        <a:rPr lang="en-US" altLang="zh-CN" sz="1600" b="1" spc="120" dirty="0"/>
                        <a:t>QC</a:t>
                      </a:r>
                      <a:endParaRPr lang="en-US" altLang="zh-CN"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smtClean="0"/>
                        <a:t>机修工</a:t>
                      </a:r>
                      <a:endParaRPr lang="zh-CN" altLang="en-US" sz="1600" b="1" spc="120" dirty="0" smtClean="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zh-CN" altLang="en-US" sz="1600" b="1" spc="120" dirty="0" smtClean="0"/>
                        <a:t>木工</a:t>
                      </a:r>
                      <a:endParaRPr lang="zh-CN" altLang="en-US" sz="1600" b="1" spc="120" dirty="0" smtClean="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78460">
                <a:tc>
                  <a:txBody>
                    <a:bodyPr/>
                    <a:lstStyle/>
                    <a:p>
                      <a:pPr indent="0" algn="ctr" defTabSz="914400" rtl="0" eaLnBrk="1" latinLnBrk="0" hangingPunct="1">
                        <a:lnSpc>
                          <a:spcPct val="120000"/>
                        </a:lnSpc>
                        <a:spcBef>
                          <a:spcPts val="0"/>
                        </a:spcBef>
                        <a:spcAft>
                          <a:spcPts val="0"/>
                        </a:spcAft>
                        <a:buNone/>
                      </a:pPr>
                      <a:r>
                        <a:rPr lang="zh-CN" altLang="en-US" sz="1600" b="1" spc="120" dirty="0"/>
                        <a:t>工程师</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其他起重工</a:t>
                      </a:r>
                      <a:endParaRPr lang="zh-CN" altLang="en-US" sz="1600" b="1" spc="120" dirty="0" smtClean="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pPr>
                      <a:r>
                        <a:rPr lang="en-US" altLang="zh-CN" sz="1600" b="1" spc="120" dirty="0">
                          <a:solidFill>
                            <a:srgbClr val="404040"/>
                          </a:solidFill>
                          <a:latin typeface="微软雅黑" panose="020B0503020204020204" charset="-122"/>
                          <a:ea typeface="微软雅黑" panose="020B0503020204020204" charset="-122"/>
                        </a:rPr>
                        <a:t>2</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架子工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4645">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工长</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zh-CN" altLang="en-US" sz="1600" b="1" spc="120" dirty="0"/>
                        <a:t>钳工</a:t>
                      </a:r>
                      <a:r>
                        <a:rPr lang="en-US" altLang="zh-CN" sz="1600" b="1" spc="120" dirty="0"/>
                        <a:t>/</a:t>
                      </a:r>
                      <a:r>
                        <a:rPr lang="zh-CN" altLang="en-US" sz="1600" b="1" spc="120" dirty="0"/>
                        <a:t>铆工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en-US" altLang="zh-CN" sz="1600" b="1" spc="120" dirty="0">
                          <a:solidFill>
                            <a:srgbClr val="404040"/>
                          </a:solidFill>
                          <a:latin typeface="微软雅黑" panose="020B0503020204020204" charset="-122"/>
                          <a:ea typeface="微软雅黑" panose="020B0503020204020204" charset="-122"/>
                        </a:rPr>
                        <a:t>5</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预应力工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5915">
                <a:tc>
                  <a:txBody>
                    <a:bodyPr/>
                    <a:lstStyle/>
                    <a:p>
                      <a:pPr indent="0" algn="ctr">
                        <a:lnSpc>
                          <a:spcPct val="120000"/>
                        </a:lnSpc>
                        <a:spcBef>
                          <a:spcPts val="0"/>
                        </a:spcBef>
                        <a:spcAft>
                          <a:spcPts val="0"/>
                        </a:spcAft>
                        <a:buNone/>
                      </a:pPr>
                      <a:r>
                        <a:rPr lang="zh-CN" altLang="en-US" sz="1600" b="1" spc="120" dirty="0"/>
                        <a:t>队长</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zh-CN" altLang="en-US" sz="1600" b="1" spc="120" dirty="0"/>
                        <a:t>焊工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en-US" altLang="zh-CN" sz="1600" b="1" spc="120" dirty="0">
                          <a:solidFill>
                            <a:srgbClr val="404040"/>
                          </a:solidFill>
                          <a:latin typeface="微软雅黑" panose="020B0503020204020204" charset="-122"/>
                          <a:ea typeface="微软雅黑" panose="020B0503020204020204" charset="-122"/>
                        </a:rPr>
                        <a:t>1</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zh-CN" altLang="en-US" sz="1600" b="1" spc="120" dirty="0"/>
                        <a:t>其他普工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endParaRPr lang="zh-CN" altLang="en-US"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4010">
                <a:tc>
                  <a:txBody>
                    <a:bodyPr/>
                    <a:lstStyle/>
                    <a:p>
                      <a:pPr indent="0" algn="ctr">
                        <a:lnSpc>
                          <a:spcPct val="120000"/>
                        </a:lnSpc>
                        <a:spcBef>
                          <a:spcPts val="0"/>
                        </a:spcBef>
                        <a:spcAft>
                          <a:spcPts val="0"/>
                        </a:spcAft>
                        <a:buNone/>
                      </a:pPr>
                      <a:r>
                        <a:rPr lang="zh-CN" altLang="en-US" sz="1600" b="1" spc="120" dirty="0"/>
                        <a:t>综合管理</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lang="en-US" altLang="zh-CN" sz="1600" b="1" spc="120" dirty="0">
                          <a:solidFill>
                            <a:srgbClr val="404040"/>
                          </a:solidFill>
                          <a:latin typeface="微软雅黑" panose="020B0503020204020204" charset="-122"/>
                          <a:ea typeface="微软雅黑" panose="020B0503020204020204" charset="-122"/>
                        </a:rPr>
                        <a:t>1</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r>
                        <a:rPr lang="zh-CN" altLang="en-US" sz="1600" b="1" spc="120" dirty="0"/>
                        <a:t>管工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后勤人员</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42900">
                <a:tc>
                  <a:txBody>
                    <a:bodyPr/>
                    <a:lstStyle/>
                    <a:p>
                      <a:pPr indent="0" algn="ctr" defTabSz="914400" rtl="0" eaLnBrk="1" latinLnBrk="0" hangingPunct="1">
                        <a:lnSpc>
                          <a:spcPct val="120000"/>
                        </a:lnSpc>
                        <a:spcBef>
                          <a:spcPts val="0"/>
                        </a:spcBef>
                        <a:spcAft>
                          <a:spcPts val="0"/>
                        </a:spcAft>
                        <a:buNone/>
                      </a:pPr>
                      <a:r>
                        <a:rPr lang="zh-CN" altLang="en-US" sz="1600" b="1" spc="120" dirty="0"/>
                        <a:t>技术员</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电工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辅助工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pPr>
                      <a:r>
                        <a:rPr lang="en-US" altLang="zh-CN" sz="1600" b="1" spc="120" dirty="0">
                          <a:solidFill>
                            <a:srgbClr val="404040"/>
                          </a:solidFill>
                          <a:latin typeface="微软雅黑" panose="020B0503020204020204" charset="-122"/>
                          <a:ea typeface="微软雅黑" panose="020B0503020204020204" charset="-122"/>
                        </a:rPr>
                        <a:t>1</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63220">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车辆司机</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en-US" altLang="zh-CN" sz="1600" b="1" spc="120" dirty="0">
                          <a:solidFill>
                            <a:srgbClr val="404040"/>
                          </a:solidFill>
                          <a:latin typeface="微软雅黑" panose="020B0503020204020204" charset="-122"/>
                          <a:ea typeface="微软雅黑" panose="020B0503020204020204" charset="-122"/>
                        </a:rPr>
                        <a:t>2</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混凝土工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保卫人员</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rtl="0" eaLnBrk="1" latinLnBrk="0" hangingPunct="1">
                        <a:lnSpc>
                          <a:spcPct val="120000"/>
                        </a:lnSpc>
                        <a:spcBef>
                          <a:spcPts val="0"/>
                        </a:spcBef>
                        <a:spcAft>
                          <a:spcPts val="0"/>
                        </a:spcAft>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64515">
                <a:tc>
                  <a:txBody>
                    <a:bodyPr/>
                    <a:p>
                      <a:pPr indent="0" algn="ctr" defTabSz="914400" rtl="0" eaLnBrk="1" latinLnBrk="0" hangingPunct="1">
                        <a:lnSpc>
                          <a:spcPct val="120000"/>
                        </a:lnSpc>
                        <a:spcBef>
                          <a:spcPts val="0"/>
                        </a:spcBef>
                        <a:spcAft>
                          <a:spcPts val="0"/>
                        </a:spcAft>
                        <a:buNone/>
                      </a:pPr>
                      <a:r>
                        <a:rPr lang="zh-CN" altLang="en-US" sz="1600" b="1" spc="120" dirty="0"/>
                        <a:t>塔式起重机司机</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测量防线工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en-US" altLang="zh-CN" sz="1600" b="1" spc="120" dirty="0">
                          <a:solidFill>
                            <a:srgbClr val="404040"/>
                          </a:solidFill>
                          <a:latin typeface="微软雅黑" panose="020B0503020204020204" charset="-122"/>
                          <a:ea typeface="微软雅黑" panose="020B0503020204020204" charset="-122"/>
                        </a:rPr>
                        <a:t>2</a:t>
                      </a: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solidFill>
                            <a:srgbClr val="404040"/>
                          </a:solidFill>
                          <a:latin typeface="微软雅黑" panose="020B0503020204020204" charset="-122"/>
                          <a:ea typeface="微软雅黑" panose="020B0503020204020204" charset="-122"/>
                          <a:sym typeface="+mn-ea"/>
                        </a:rPr>
                        <a:t>射线检验员（</a:t>
                      </a:r>
                      <a:r>
                        <a:rPr lang="en-US" altLang="zh-CN" sz="1600" b="1" spc="120" dirty="0">
                          <a:solidFill>
                            <a:srgbClr val="404040"/>
                          </a:solidFill>
                          <a:latin typeface="微软雅黑" panose="020B0503020204020204" charset="-122"/>
                          <a:ea typeface="微软雅黑" panose="020B0503020204020204" charset="-122"/>
                          <a:sym typeface="+mn-ea"/>
                        </a:rPr>
                        <a:t>RT)</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8640">
                <a:tc>
                  <a:txBody>
                    <a:bodyPr/>
                    <a:p>
                      <a:pPr indent="0" algn="ctr" defTabSz="914400" rtl="0" eaLnBrk="1" latinLnBrk="0" hangingPunct="1">
                        <a:lnSpc>
                          <a:spcPct val="120000"/>
                        </a:lnSpc>
                        <a:spcBef>
                          <a:spcPts val="0"/>
                        </a:spcBef>
                        <a:spcAft>
                          <a:spcPts val="0"/>
                        </a:spcAft>
                        <a:buNone/>
                      </a:pPr>
                      <a:r>
                        <a:rPr lang="zh-CN" altLang="en-US" sz="1600" b="1" spc="120" dirty="0"/>
                        <a:t>清扫工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装修工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防水工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8640">
                <a:tc>
                  <a:txBody>
                    <a:bodyPr/>
                    <a:p>
                      <a:pPr indent="0" algn="ctr" defTabSz="914400" rtl="0" eaLnBrk="1" latinLnBrk="0" hangingPunct="1">
                        <a:lnSpc>
                          <a:spcPct val="120000"/>
                        </a:lnSpc>
                        <a:spcBef>
                          <a:spcPts val="0"/>
                        </a:spcBef>
                        <a:spcAft>
                          <a:spcPts val="0"/>
                        </a:spcAft>
                        <a:buNone/>
                      </a:pPr>
                      <a:r>
                        <a:rPr lang="zh-CN" altLang="en-US" sz="1600" b="1" spc="120" dirty="0"/>
                        <a:t>库管工</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经理部</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marR="0" indent="0" algn="ctr" defTabSz="914400" rtl="0" eaLnBrk="1" fontAlgn="auto" latinLnBrk="0" hangingPunct="1">
                        <a:lnSpc>
                          <a:spcPct val="120000"/>
                        </a:lnSpc>
                        <a:spcBef>
                          <a:spcPts val="0"/>
                        </a:spcBef>
                        <a:spcAft>
                          <a:spcPts val="0"/>
                        </a:spcAft>
                        <a:buClrTx/>
                        <a:buSzTx/>
                        <a:buFontTx/>
                        <a:buNone/>
                        <a:defRPr/>
                      </a:pPr>
                      <a:r>
                        <a:rPr lang="zh-CN" altLang="en-US" sz="1600" b="1" spc="120" dirty="0"/>
                        <a:t>理化试验员</a:t>
                      </a:r>
                      <a:endParaRPr lang="zh-CN" altLang="en-US" sz="1600" b="1" spc="120" dirty="0"/>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defTabSz="914400" rtl="0" eaLnBrk="1" latinLnBrk="0" hangingPunct="1">
                        <a:lnSpc>
                          <a:spcPct val="120000"/>
                        </a:lnSpc>
                        <a:spcBef>
                          <a:spcPts val="0"/>
                        </a:spcBef>
                        <a:spcAft>
                          <a:spcPts val="0"/>
                        </a:spcAft>
                        <a:buNone/>
                      </a:pPr>
                      <a:endParaRPr lang="en-US" altLang="zh-CN" sz="1600" b="1" spc="120" dirty="0">
                        <a:solidFill>
                          <a:srgbClr val="404040"/>
                        </a:solidFill>
                        <a:latin typeface="微软雅黑" panose="020B0503020204020204" charset="-122"/>
                        <a:ea typeface="微软雅黑" panose="020B0503020204020204" charset="-122"/>
                      </a:endParaR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pSp>
        <p:nvGrpSpPr>
          <p:cNvPr id="36" name="组合 35"/>
          <p:cNvGrpSpPr/>
          <p:nvPr>
            <p:custDataLst>
              <p:tags r:id="rId8"/>
            </p:custDataLst>
          </p:nvPr>
        </p:nvGrpSpPr>
        <p:grpSpPr>
          <a:xfrm>
            <a:off x="5274945" y="1417320"/>
            <a:ext cx="627380" cy="2830830"/>
            <a:chOff x="172" y="1912"/>
            <a:chExt cx="741" cy="2258"/>
          </a:xfrm>
        </p:grpSpPr>
        <p:sp>
          <p:nvSpPr>
            <p:cNvPr id="38" name="圆角矩形 37"/>
            <p:cNvSpPr/>
            <p:nvPr>
              <p:custDataLst>
                <p:tags r:id="rId9"/>
              </p:custDataLst>
            </p:nvPr>
          </p:nvSpPr>
          <p:spPr>
            <a:xfrm>
              <a:off x="172" y="1912"/>
              <a:ext cx="741" cy="2258"/>
            </a:xfrm>
            <a:prstGeom prst="roundRect">
              <a:avLst/>
            </a:prstGeom>
            <a:solidFill>
              <a:schemeClr val="bg1">
                <a:lumMod val="8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65"/>
            </a:p>
          </p:txBody>
        </p:sp>
        <p:sp>
          <p:nvSpPr>
            <p:cNvPr id="39" name="文本框 38"/>
            <p:cNvSpPr txBox="1"/>
            <p:nvPr>
              <p:custDataLst>
                <p:tags r:id="rId10"/>
              </p:custDataLst>
            </p:nvPr>
          </p:nvSpPr>
          <p:spPr>
            <a:xfrm>
              <a:off x="233" y="2058"/>
              <a:ext cx="608" cy="1634"/>
            </a:xfrm>
            <a:prstGeom prst="rect">
              <a:avLst/>
            </a:prstGeom>
            <a:noFill/>
          </p:spPr>
          <p:txBody>
            <a:bodyPr wrap="square" rtlCol="0">
              <a:noAutofit/>
            </a:bodyPr>
            <a:lstStyle/>
            <a:p>
              <a:r>
                <a:rPr lang="zh-CN" altLang="en-US" sz="2400"/>
                <a:t>各工种证件办理</a:t>
              </a:r>
              <a:endParaRPr lang="zh-CN" altLang="en-US" sz="2400"/>
            </a:p>
          </p:txBody>
        </p:sp>
      </p:grpSp>
      <p:sp>
        <p:nvSpPr>
          <p:cNvPr id="6" name="文本框 5"/>
          <p:cNvSpPr txBox="1"/>
          <p:nvPr/>
        </p:nvSpPr>
        <p:spPr>
          <a:xfrm>
            <a:off x="5493385" y="344805"/>
            <a:ext cx="4064000" cy="368300"/>
          </a:xfrm>
          <a:prstGeom prst="rect">
            <a:avLst/>
          </a:prstGeom>
          <a:noFill/>
        </p:spPr>
        <p:txBody>
          <a:bodyPr wrap="square" rtlCol="0">
            <a:spAutoFit/>
          </a:bodyPr>
          <a:p>
            <a:endParaRPr lang="zh-CN" altLang="en-US"/>
          </a:p>
        </p:txBody>
      </p:sp>
      <p:grpSp>
        <p:nvGrpSpPr>
          <p:cNvPr id="14" name="组合 13"/>
          <p:cNvGrpSpPr/>
          <p:nvPr/>
        </p:nvGrpSpPr>
        <p:grpSpPr>
          <a:xfrm>
            <a:off x="140970" y="50800"/>
            <a:ext cx="11560810" cy="504825"/>
            <a:chOff x="1044" y="660"/>
            <a:chExt cx="17319" cy="795"/>
          </a:xfrm>
        </p:grpSpPr>
        <p:sp>
          <p:nvSpPr>
            <p:cNvPr id="17" name="任意多边形 8"/>
            <p:cNvSpPr/>
            <p:nvPr>
              <p:custDataLst>
                <p:tags r:id="rId11"/>
              </p:custDataLst>
            </p:nvPr>
          </p:nvSpPr>
          <p:spPr>
            <a:xfrm>
              <a:off x="1044" y="77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8" name="任意多边形 7"/>
            <p:cNvSpPr/>
            <p:nvPr>
              <p:custDataLst>
                <p:tags r:id="rId12"/>
              </p:custDataLst>
            </p:nvPr>
          </p:nvSpPr>
          <p:spPr>
            <a:xfrm flipV="1">
              <a:off x="1804" y="1370"/>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9" name="文本框 18"/>
            <p:cNvSpPr txBox="1"/>
            <p:nvPr/>
          </p:nvSpPr>
          <p:spPr>
            <a:xfrm>
              <a:off x="1804" y="660"/>
              <a:ext cx="16559" cy="725"/>
            </a:xfrm>
            <a:prstGeom prst="rect">
              <a:avLst/>
            </a:prstGeom>
            <a:noFill/>
          </p:spPr>
          <p:txBody>
            <a:bodyPr wrap="square" rtlCol="0">
              <a:spAutoFit/>
            </a:bodyPr>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三、</a:t>
              </a:r>
              <a:r>
                <a:rPr lang="zh-CN" sz="2400" b="1" spc="300" dirty="0">
                  <a:solidFill>
                    <a:srgbClr val="0599D9">
                      <a:alpha val="100000"/>
                    </a:srgbClr>
                  </a:solidFill>
                  <a:ea typeface="微软雅黑" panose="020B0503020204020204" charset="-122"/>
                </a:rPr>
                <a:t>上周主要工作</a:t>
              </a:r>
              <a:endParaRPr lang="zh-CN" sz="2400" b="1" spc="300" dirty="0">
                <a:solidFill>
                  <a:srgbClr val="0599D9">
                    <a:alpha val="100000"/>
                  </a:srgbClr>
                </a:solidFill>
                <a:ea typeface="微软雅黑" panose="020B0503020204020204" charset="-122"/>
              </a:endParaRPr>
            </a:p>
          </p:txBody>
        </p:sp>
      </p:grpSp>
      <p:graphicFrame>
        <p:nvGraphicFramePr>
          <p:cNvPr id="8" name="表格 7"/>
          <p:cNvGraphicFramePr/>
          <p:nvPr>
            <p:custDataLst>
              <p:tags r:id="rId13"/>
            </p:custDataLst>
          </p:nvPr>
        </p:nvGraphicFramePr>
        <p:xfrm>
          <a:off x="999490" y="5130165"/>
          <a:ext cx="3943350" cy="664210"/>
        </p:xfrm>
        <a:graphic>
          <a:graphicData uri="http://schemas.openxmlformats.org/drawingml/2006/table">
            <a:tbl>
              <a:tblPr firstRow="1">
                <a:tableStyleId>{F7A789F1-B653-4B05-9413-55619C3911C9}</a:tableStyleId>
              </a:tblPr>
              <a:tblGrid>
                <a:gridCol w="886460"/>
                <a:gridCol w="1369060"/>
                <a:gridCol w="1687830"/>
              </a:tblGrid>
              <a:tr h="410845">
                <a:tc>
                  <a:txBody>
                    <a:bodyPr/>
                    <a:lstStyle/>
                    <a:p>
                      <a:pPr algn="ctr" fontAlgn="ctr"/>
                      <a:r>
                        <a:rPr lang="zh-CN" altLang="en-US" sz="1600" u="none" strike="noStrike" dirty="0">
                          <a:effectLst/>
                        </a:rPr>
                        <a:t>序号</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新入场</a:t>
                      </a:r>
                      <a:r>
                        <a:rPr lang="zh-CN" altLang="en-US" sz="1600" u="none" strike="noStrike" dirty="0">
                          <a:effectLst/>
                        </a:rPr>
                        <a:t>人数</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帽贴制作</a:t>
                      </a:r>
                      <a:r>
                        <a:rPr lang="zh-CN" altLang="en-US" sz="1600" u="none" strike="noStrike" dirty="0">
                          <a:effectLst/>
                        </a:rPr>
                        <a:t>数量</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3205">
                <a:tc>
                  <a:txBody>
                    <a:bodyPr/>
                    <a:lstStyle/>
                    <a:p>
                      <a:pPr algn="ctr" fontAlgn="ctr"/>
                      <a:r>
                        <a:rPr lang="en-US" altLang="zh-CN" sz="1600" b="1" kern="1200" dirty="0"/>
                        <a:t>1</a:t>
                      </a:r>
                      <a:endParaRPr lang="en-US" altLang="zh-CN"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dirty="0">
                          <a:solidFill>
                            <a:srgbClr val="FF0000"/>
                          </a:solidFill>
                          <a:effectLst/>
                          <a:latin typeface="+mn-ea"/>
                          <a:sym typeface="+mn-ea"/>
                        </a:rPr>
                        <a:t>17</a:t>
                      </a:r>
                      <a:endParaRPr lang="en-US" altLang="zh-CN" sz="1600" b="1" i="0" u="none" strike="noStrike" kern="1200" dirty="0">
                        <a:solidFill>
                          <a:srgbClr val="FF0000"/>
                        </a:solidFill>
                        <a:effectLst/>
                        <a:latin typeface="+mn-ea"/>
                        <a:cs typeface="+mn-cs"/>
                        <a:sym typeface="+mn-ea"/>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FF0000"/>
                          </a:solidFill>
                          <a:effectLst/>
                          <a:latin typeface="+mn-ea"/>
                          <a:cs typeface="+mn-cs"/>
                        </a:rPr>
                        <a:t>62</a:t>
                      </a:r>
                      <a:endParaRPr lang="en-US" altLang="zh-CN" sz="1600" b="1" i="0" u="none" strike="noStrike" kern="1200" dirty="0">
                        <a:solidFill>
                          <a:srgbClr val="FF000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7" name="表格 6"/>
          <p:cNvGraphicFramePr/>
          <p:nvPr/>
        </p:nvGraphicFramePr>
        <p:xfrm>
          <a:off x="999490" y="5942965"/>
          <a:ext cx="3943350" cy="706120"/>
        </p:xfrm>
        <a:graphic>
          <a:graphicData uri="http://schemas.openxmlformats.org/drawingml/2006/table">
            <a:tbl>
              <a:tblPr firstRow="1">
                <a:tableStyleId>{F7A789F1-B653-4B05-9413-55619C3911C9}</a:tableStyleId>
              </a:tblPr>
              <a:tblGrid>
                <a:gridCol w="886460"/>
                <a:gridCol w="1369060"/>
                <a:gridCol w="1687830"/>
              </a:tblGrid>
              <a:tr h="381635">
                <a:tc>
                  <a:txBody>
                    <a:bodyPr/>
                    <a:lstStyle/>
                    <a:p>
                      <a:pPr algn="ctr" fontAlgn="ctr"/>
                      <a:r>
                        <a:rPr lang="zh-CN" altLang="en-US" sz="1600" u="none" strike="noStrike" dirty="0">
                          <a:effectLst/>
                        </a:rPr>
                        <a:t>序号</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办证台账</a:t>
                      </a:r>
                      <a:r>
                        <a:rPr lang="zh-CN" altLang="en-US" sz="1600" u="none" strike="noStrike" dirty="0">
                          <a:effectLst/>
                        </a:rPr>
                        <a:t>人数</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fontAlgn="ctr"/>
                      <a:r>
                        <a:rPr lang="zh-CN" altLang="en-US" sz="1600" u="none" strike="noStrike" dirty="0">
                          <a:effectLst/>
                        </a:rPr>
                        <a:t>工程部</a:t>
                      </a:r>
                      <a:r>
                        <a:rPr lang="zh-CN" altLang="en-US" sz="1600" u="none" strike="noStrike" dirty="0">
                          <a:effectLst/>
                        </a:rPr>
                        <a:t>人数</a:t>
                      </a:r>
                      <a:endParaRPr lang="zh-CN" altLang="en-US" sz="1600" u="none" strike="noStrike" dirty="0">
                        <a:effectLst/>
                      </a:endParaRP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4485">
                <a:tc>
                  <a:txBody>
                    <a:bodyPr/>
                    <a:lstStyle/>
                    <a:p>
                      <a:pPr algn="ctr" fontAlgn="ctr"/>
                      <a:r>
                        <a:rPr lang="en-US" altLang="zh-CN" sz="1600" b="1" kern="1200" dirty="0"/>
                        <a:t>1</a:t>
                      </a:r>
                      <a:endParaRPr lang="en-US" altLang="zh-CN" sz="1600" b="1" kern="1200" dirty="0"/>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FF0000"/>
                          </a:solidFill>
                          <a:effectLst/>
                          <a:latin typeface="+mn-ea"/>
                          <a:cs typeface="+mn-cs"/>
                        </a:rPr>
                        <a:t>1608</a:t>
                      </a:r>
                      <a:endParaRPr lang="en-US" altLang="zh-CN" sz="1600" b="1" i="0" u="none" strike="noStrike" kern="1200" dirty="0">
                        <a:solidFill>
                          <a:srgbClr val="FF000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rtl="0" eaLnBrk="1" latinLnBrk="0" hangingPunct="1"/>
                      <a:r>
                        <a:rPr lang="en-US" altLang="zh-CN" sz="1600" b="1" i="0" u="none" strike="noStrike" kern="1200" dirty="0">
                          <a:solidFill>
                            <a:srgbClr val="FF0000"/>
                          </a:solidFill>
                          <a:effectLst/>
                          <a:latin typeface="+mn-ea"/>
                          <a:cs typeface="+mn-cs"/>
                        </a:rPr>
                        <a:t>1568</a:t>
                      </a:r>
                      <a:endParaRPr lang="en-US" altLang="zh-CN" sz="1600" b="1" i="0" u="none" strike="noStrike" kern="1200" dirty="0">
                        <a:solidFill>
                          <a:srgbClr val="FF0000"/>
                        </a:solidFill>
                        <a:effectLst/>
                        <a:latin typeface="+mn-ea"/>
                        <a:cs typeface="+mn-cs"/>
                      </a:endParaRP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二、</a:t>
              </a:r>
              <a:r>
                <a:rPr lang="zh-CN" sz="2400" b="1" spc="300" dirty="0">
                  <a:solidFill>
                    <a:srgbClr val="0599D9">
                      <a:alpha val="100000"/>
                    </a:srgbClr>
                  </a:solidFill>
                  <a:ea typeface="微软雅黑" panose="020B0503020204020204" charset="-122"/>
                </a:rPr>
                <a:t>上</a:t>
              </a:r>
              <a:r>
                <a:rPr lang="zh-CN" sz="2400" b="1" spc="300" dirty="0">
                  <a:solidFill>
                    <a:srgbClr val="0599D9">
                      <a:alpha val="100000"/>
                    </a:srgbClr>
                  </a:solidFill>
                  <a:ea typeface="微软雅黑" panose="020B0503020204020204" charset="-122"/>
                </a:rPr>
                <a:t>周主要工作</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95400" y="1124382"/>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11</a:t>
            </a:r>
            <a:r>
              <a:rPr lang="zh-CN" altLang="en-US" sz="2200" b="1" dirty="0">
                <a:solidFill>
                  <a:srgbClr val="000000"/>
                </a:solidFill>
                <a:latin typeface="微软雅黑" panose="020B0503020204020204" charset="-122"/>
                <a:ea typeface="微软雅黑" panose="020B0503020204020204" charset="-122"/>
                <a:sym typeface="+mn-ea"/>
              </a:rPr>
              <a:t>、培训情况（</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4"/>
            </p:custDataLst>
          </p:nvPr>
        </p:nvGraphicFramePr>
        <p:xfrm>
          <a:off x="712470" y="1678940"/>
          <a:ext cx="10387965" cy="4662170"/>
        </p:xfrm>
        <a:graphic>
          <a:graphicData uri="http://schemas.openxmlformats.org/drawingml/2006/table">
            <a:tbl>
              <a:tblPr firstRow="1" bandRow="1">
                <a:tableStyleId>{5940675A-B579-460E-94D1-54222C63F5DA}</a:tableStyleId>
              </a:tblPr>
              <a:tblGrid>
                <a:gridCol w="833120"/>
                <a:gridCol w="4704080"/>
                <a:gridCol w="2425065"/>
                <a:gridCol w="2425700"/>
              </a:tblGrid>
              <a:tr h="533400">
                <a:tc>
                  <a:txBody>
                    <a:bodyPr/>
                    <a:p>
                      <a:pPr algn="ctr">
                        <a:lnSpc>
                          <a:spcPct val="120000"/>
                        </a:lnSpc>
                        <a:spcBef>
                          <a:spcPts val="0"/>
                        </a:spcBef>
                        <a:spcAft>
                          <a:spcPts val="0"/>
                        </a:spcAft>
                        <a:buNone/>
                      </a:pPr>
                      <a:r>
                        <a:rPr lang="zh-CN" altLang="en-US" sz="1800" b="1" spc="120" dirty="0">
                          <a:solidFill>
                            <a:srgbClr val="FFFFFF"/>
                          </a:solidFill>
                          <a:latin typeface="微软雅黑" panose="020B0503020204020204" charset="-122"/>
                          <a:ea typeface="微软雅黑" panose="020B0503020204020204" charset="-122"/>
                        </a:rPr>
                        <a:t>序号</a:t>
                      </a:r>
                      <a:endParaRPr lang="zh-CN" altLang="en-US" sz="1800" b="1" spc="120" dirty="0">
                        <a:solidFill>
                          <a:srgbClr val="FFFFFF"/>
                        </a:solidFill>
                        <a:latin typeface="微软雅黑" panose="020B0503020204020204" charset="-122"/>
                        <a:ea typeface="微软雅黑" panose="020B0503020204020204" charset="-122"/>
                      </a:endParaRPr>
                    </a:p>
                  </a:txBody>
                  <a:tcPr marL="25400" marR="25400" marT="6350" marB="6350" anchor="ctr">
                    <a:solidFill>
                      <a:srgbClr val="00B0F0"/>
                    </a:solidFill>
                  </a:tcPr>
                </a:tc>
                <a:tc>
                  <a:txBody>
                    <a:bodyPr/>
                    <a:p>
                      <a:pPr indent="0" algn="ctr">
                        <a:lnSpc>
                          <a:spcPct val="120000"/>
                        </a:lnSpc>
                        <a:spcBef>
                          <a:spcPts val="0"/>
                        </a:spcBef>
                        <a:spcAft>
                          <a:spcPts val="0"/>
                        </a:spcAft>
                        <a:buNone/>
                      </a:pPr>
                      <a:r>
                        <a:rPr lang="zh-CN" altLang="en-US" sz="1800" b="1" spc="120" dirty="0">
                          <a:solidFill>
                            <a:srgbClr val="FFFFFF"/>
                          </a:solidFill>
                          <a:latin typeface="微软雅黑" panose="020B0503020204020204" charset="-122"/>
                          <a:ea typeface="微软雅黑" panose="020B0503020204020204" charset="-122"/>
                        </a:rPr>
                        <a:t>培训内容</a:t>
                      </a:r>
                      <a:endParaRPr lang="zh-CN" altLang="en-US" sz="1800" b="1" spc="120" dirty="0">
                        <a:solidFill>
                          <a:srgbClr val="FFFFFF"/>
                        </a:solidFill>
                        <a:latin typeface="微软雅黑" panose="020B0503020204020204" charset="-122"/>
                        <a:ea typeface="微软雅黑" panose="020B0503020204020204" charset="-122"/>
                      </a:endParaRPr>
                    </a:p>
                  </a:txBody>
                  <a:tcPr marL="161925" marR="161925" marT="100012" marB="100012" anchor="ctr">
                    <a:solidFill>
                      <a:srgbClr val="00B0F0"/>
                    </a:solidFill>
                  </a:tcPr>
                </a:tc>
                <a:tc>
                  <a:txBody>
                    <a:bodyPr/>
                    <a:p>
                      <a:pPr indent="0" algn="ctr">
                        <a:lnSpc>
                          <a:spcPct val="120000"/>
                        </a:lnSpc>
                        <a:spcBef>
                          <a:spcPts val="0"/>
                        </a:spcBef>
                        <a:spcAft>
                          <a:spcPts val="0"/>
                        </a:spcAft>
                        <a:buNone/>
                      </a:pPr>
                      <a:r>
                        <a:rPr lang="zh-CN" altLang="en-US" sz="1800" b="1" spc="120">
                          <a:solidFill>
                            <a:srgbClr val="FFFFFF"/>
                          </a:solidFill>
                          <a:latin typeface="微软雅黑" panose="020B0503020204020204" charset="-122"/>
                          <a:ea typeface="微软雅黑" panose="020B0503020204020204" charset="-122"/>
                        </a:rPr>
                        <a:t>培训场次</a:t>
                      </a:r>
                      <a:endParaRPr lang="zh-CN" altLang="en-US" sz="1800" b="1" spc="120">
                        <a:solidFill>
                          <a:srgbClr val="FFFFFF"/>
                        </a:solidFill>
                        <a:latin typeface="微软雅黑" panose="020B0503020204020204" charset="-122"/>
                        <a:ea typeface="微软雅黑" panose="020B0503020204020204" charset="-122"/>
                      </a:endParaRPr>
                    </a:p>
                  </a:txBody>
                  <a:tcPr marL="161925" marR="161925" marT="100012" marB="100012" anchor="ctr">
                    <a:solidFill>
                      <a:srgbClr val="00B0F0"/>
                    </a:solidFill>
                  </a:tcPr>
                </a:tc>
                <a:tc>
                  <a:txBody>
                    <a:bodyPr/>
                    <a:p>
                      <a:pPr indent="0" algn="ctr">
                        <a:lnSpc>
                          <a:spcPct val="120000"/>
                        </a:lnSpc>
                        <a:spcBef>
                          <a:spcPts val="0"/>
                        </a:spcBef>
                        <a:spcAft>
                          <a:spcPts val="0"/>
                        </a:spcAft>
                        <a:buNone/>
                      </a:pPr>
                      <a:r>
                        <a:rPr lang="zh-CN" altLang="en-US" sz="1800" b="1" spc="120">
                          <a:solidFill>
                            <a:srgbClr val="FFFFFF"/>
                          </a:solidFill>
                          <a:latin typeface="微软雅黑" panose="020B0503020204020204" charset="-122"/>
                          <a:ea typeface="微软雅黑" panose="020B0503020204020204" charset="-122"/>
                        </a:rPr>
                        <a:t>培训人次</a:t>
                      </a:r>
                      <a:endParaRPr lang="zh-CN" altLang="en-US" sz="1800" b="1" spc="120">
                        <a:solidFill>
                          <a:srgbClr val="FFFFFF"/>
                        </a:solidFill>
                        <a:latin typeface="微软雅黑" panose="020B0503020204020204" charset="-122"/>
                        <a:ea typeface="微软雅黑" panose="020B0503020204020204" charset="-122"/>
                      </a:endParaRPr>
                    </a:p>
                  </a:txBody>
                  <a:tcPr marL="161925" marR="161925" marT="100012" marB="100012" anchor="ctr">
                    <a:solidFill>
                      <a:srgbClr val="00B0F0"/>
                    </a:solidFill>
                  </a:tcPr>
                </a:tc>
              </a:tr>
              <a:tr h="462915">
                <a:tc>
                  <a:txBody>
                    <a:bodyPr/>
                    <a:p>
                      <a:pPr algn="ctr">
                        <a:buNone/>
                      </a:pPr>
                      <a:r>
                        <a:rPr lang="en-US" altLang="zh-CN" sz="1800" b="1">
                          <a:solidFill>
                            <a:schemeClr val="tx1"/>
                          </a:solidFill>
                          <a:latin typeface="微软雅黑" panose="020B0503020204020204" charset="-122"/>
                          <a:ea typeface="微软雅黑" panose="020B0503020204020204" charset="-122"/>
                        </a:rPr>
                        <a:t>1</a:t>
                      </a:r>
                      <a:endParaRPr lang="en-US" altLang="zh-CN" sz="1800" b="1">
                        <a:solidFill>
                          <a:schemeClr val="tx1"/>
                        </a:solidFill>
                        <a:latin typeface="微软雅黑" panose="020B0503020204020204" charset="-122"/>
                        <a:ea typeface="微软雅黑" panose="020B0503020204020204" charset="-122"/>
                      </a:endParaRPr>
                    </a:p>
                  </a:txBody>
                  <a:tcPr anchor="ctr" anchorCtr="0"/>
                </a:tc>
                <a:tc>
                  <a:txBody>
                    <a:bodyPr/>
                    <a:p>
                      <a:pPr algn="ctr">
                        <a:buClrTx/>
                        <a:buSzTx/>
                        <a:buFontTx/>
                      </a:pPr>
                      <a:r>
                        <a:rPr lang="zh-CN" altLang="en-US" sz="1800" b="1" i="0">
                          <a:latin typeface="微软雅黑" panose="020B0503020204020204" charset="-122"/>
                          <a:ea typeface="微软雅黑" panose="020B0503020204020204" charset="-122"/>
                        </a:rPr>
                        <a:t>入场培训</a:t>
                      </a:r>
                      <a:endParaRPr lang="zh-CN" altLang="en-US" sz="1800" b="1" i="0">
                        <a:latin typeface="微软雅黑" panose="020B0503020204020204" charset="-122"/>
                        <a:ea typeface="微软雅黑" panose="020B0503020204020204" charset="-122"/>
                      </a:endParaRPr>
                    </a:p>
                  </a:txBody>
                  <a:tcPr marL="3810" marR="3810" marT="3810" marB="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3</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31</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r>
              <a:tr h="462915">
                <a:tc>
                  <a:txBody>
                    <a:bodyPr/>
                    <a:p>
                      <a:pPr algn="ctr">
                        <a:buNone/>
                      </a:pPr>
                      <a:r>
                        <a:rPr lang="en-US" altLang="zh-CN" sz="1800" b="1">
                          <a:solidFill>
                            <a:schemeClr val="tx1"/>
                          </a:solidFill>
                          <a:latin typeface="微软雅黑" panose="020B0503020204020204" charset="-122"/>
                          <a:ea typeface="微软雅黑" panose="020B0503020204020204" charset="-122"/>
                        </a:rPr>
                        <a:t>3</a:t>
                      </a:r>
                      <a:endParaRPr lang="en-US" altLang="zh-CN" sz="1800" b="1">
                        <a:solidFill>
                          <a:schemeClr val="tx1"/>
                        </a:solidFill>
                        <a:latin typeface="微软雅黑" panose="020B0503020204020204" charset="-122"/>
                        <a:ea typeface="微软雅黑" panose="020B0503020204020204" charset="-122"/>
                      </a:endParaRPr>
                    </a:p>
                  </a:txBody>
                  <a:tcPr anchor="ctr" anchorCtr="0"/>
                </a:tc>
                <a:tc>
                  <a:txBody>
                    <a:bodyPr/>
                    <a:p>
                      <a:pPr algn="ctr">
                        <a:buClrTx/>
                        <a:buSzTx/>
                        <a:buFontTx/>
                        <a:buNone/>
                      </a:pPr>
                      <a:r>
                        <a:rPr lang="zh-CN" altLang="en-US" sz="1800" b="1" i="0">
                          <a:latin typeface="微软雅黑" panose="020B0503020204020204" charset="-122"/>
                          <a:ea typeface="微软雅黑" panose="020B0503020204020204" charset="-122"/>
                        </a:rPr>
                        <a:t>有限空间专项</a:t>
                      </a:r>
                      <a:r>
                        <a:rPr lang="zh-CN" altLang="en-US" sz="1800" b="1" i="0">
                          <a:latin typeface="微软雅黑" panose="020B0503020204020204" charset="-122"/>
                          <a:ea typeface="微软雅黑" panose="020B0503020204020204" charset="-122"/>
                        </a:rPr>
                        <a:t>培训</a:t>
                      </a:r>
                      <a:endParaRPr lang="zh-CN" altLang="en-US" sz="1800" b="1" i="0">
                        <a:latin typeface="微软雅黑" panose="020B0503020204020204" charset="-122"/>
                        <a:ea typeface="微软雅黑" panose="020B0503020204020204" charset="-122"/>
                      </a:endParaRPr>
                    </a:p>
                  </a:txBody>
                  <a:tcPr marL="3810" marR="3810" marT="3810" marB="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2</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236</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r>
              <a:tr h="462915">
                <a:tc>
                  <a:txBody>
                    <a:bodyPr/>
                    <a:p>
                      <a:pPr algn="ctr">
                        <a:buNone/>
                      </a:pPr>
                      <a:r>
                        <a:rPr lang="en-US" altLang="zh-CN" sz="1800" b="1">
                          <a:solidFill>
                            <a:schemeClr val="tx1"/>
                          </a:solidFill>
                          <a:latin typeface="微软雅黑" panose="020B0503020204020204" charset="-122"/>
                          <a:ea typeface="微软雅黑" panose="020B0503020204020204" charset="-122"/>
                        </a:rPr>
                        <a:t>4</a:t>
                      </a:r>
                      <a:endParaRPr lang="en-US" altLang="zh-CN" sz="1800" b="1">
                        <a:solidFill>
                          <a:schemeClr val="tx1"/>
                        </a:solidFill>
                        <a:latin typeface="微软雅黑" panose="020B0503020204020204" charset="-122"/>
                        <a:ea typeface="微软雅黑" panose="020B0503020204020204" charset="-122"/>
                      </a:endParaRPr>
                    </a:p>
                  </a:txBody>
                  <a:tcPr anchor="ctr" anchorCtr="0"/>
                </a:tc>
                <a:tc>
                  <a:txBody>
                    <a:bodyPr/>
                    <a:p>
                      <a:pPr algn="ctr">
                        <a:buClrTx/>
                        <a:buSzTx/>
                        <a:buFontTx/>
                        <a:buNone/>
                      </a:pPr>
                      <a:r>
                        <a:rPr lang="zh-CN" altLang="en-US" sz="1800" b="1" i="0">
                          <a:latin typeface="微软雅黑" panose="020B0503020204020204" charset="-122"/>
                          <a:ea typeface="微软雅黑" panose="020B0503020204020204" charset="-122"/>
                        </a:rPr>
                        <a:t>动土作业安全管理专项培训</a:t>
                      </a:r>
                      <a:endParaRPr lang="zh-CN" altLang="en-US" sz="1800" b="1" i="0">
                        <a:latin typeface="微软雅黑" panose="020B0503020204020204" charset="-122"/>
                        <a:ea typeface="微软雅黑" panose="020B0503020204020204" charset="-122"/>
                      </a:endParaRPr>
                    </a:p>
                  </a:txBody>
                  <a:tcPr marL="3810" marR="3810" marT="3810" marB="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1</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45</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r>
              <a:tr h="462915">
                <a:tc>
                  <a:txBody>
                    <a:bodyPr/>
                    <a:p>
                      <a:pPr algn="ctr">
                        <a:buNone/>
                      </a:pPr>
                      <a:r>
                        <a:rPr lang="en-US" altLang="zh-CN" sz="1800" b="1">
                          <a:solidFill>
                            <a:schemeClr val="tx1"/>
                          </a:solidFill>
                          <a:latin typeface="微软雅黑" panose="020B0503020204020204" charset="-122"/>
                          <a:ea typeface="微软雅黑" panose="020B0503020204020204" charset="-122"/>
                        </a:rPr>
                        <a:t>5</a:t>
                      </a:r>
                      <a:endParaRPr lang="en-US" altLang="zh-CN" sz="1800" b="1">
                        <a:solidFill>
                          <a:schemeClr val="tx1"/>
                        </a:solidFill>
                        <a:latin typeface="微软雅黑" panose="020B0503020204020204" charset="-122"/>
                        <a:ea typeface="微软雅黑" panose="020B0503020204020204" charset="-122"/>
                      </a:endParaRPr>
                    </a:p>
                  </a:txBody>
                  <a:tcPr anchor="ctr" anchorCtr="0"/>
                </a:tc>
                <a:tc>
                  <a:txBody>
                    <a:bodyPr/>
                    <a:p>
                      <a:pPr algn="ctr">
                        <a:buClrTx/>
                        <a:buSzTx/>
                        <a:buFontTx/>
                        <a:buNone/>
                      </a:pPr>
                      <a:r>
                        <a:rPr lang="zh-CN" altLang="en-US" sz="1800" b="1" i="0">
                          <a:latin typeface="微软雅黑" panose="020B0503020204020204" charset="-122"/>
                          <a:ea typeface="微软雅黑" panose="020B0503020204020204" charset="-122"/>
                        </a:rPr>
                        <a:t>危化品安全</a:t>
                      </a:r>
                      <a:r>
                        <a:rPr lang="zh-CN" altLang="en-US" sz="1800" b="1" i="0">
                          <a:latin typeface="微软雅黑" panose="020B0503020204020204" charset="-122"/>
                          <a:ea typeface="微软雅黑" panose="020B0503020204020204" charset="-122"/>
                        </a:rPr>
                        <a:t>管理培训</a:t>
                      </a:r>
                      <a:endParaRPr lang="zh-CN" altLang="en-US" sz="1800" b="1" i="0">
                        <a:latin typeface="微软雅黑" panose="020B0503020204020204" charset="-122"/>
                        <a:ea typeface="微软雅黑" panose="020B0503020204020204" charset="-122"/>
                      </a:endParaRPr>
                    </a:p>
                  </a:txBody>
                  <a:tcPr marL="3810" marR="3810" marT="3810" marB="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1</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c>
                  <a:txBody>
                    <a:bodyPr/>
                    <a:p>
                      <a:pPr algn="ctr">
                        <a:buNone/>
                      </a:pPr>
                      <a:r>
                        <a:rPr lang="en-US" altLang="zh-CN" sz="1800" b="1">
                          <a:solidFill>
                            <a:schemeClr val="tx1"/>
                          </a:solidFill>
                          <a:latin typeface="微软雅黑" panose="020B0503020204020204" charset="-122"/>
                          <a:ea typeface="微软雅黑" panose="020B0503020204020204" charset="-122"/>
                        </a:rPr>
                        <a:t>83</a:t>
                      </a:r>
                      <a:endParaRPr lang="en-US" altLang="zh-CN" sz="1800" b="1">
                        <a:solidFill>
                          <a:schemeClr val="tx1"/>
                        </a:solidFill>
                        <a:latin typeface="微软雅黑" panose="020B0503020204020204" charset="-122"/>
                        <a:ea typeface="微软雅黑" panose="020B0503020204020204" charset="-122"/>
                      </a:endParaRPr>
                    </a:p>
                  </a:txBody>
                  <a:tcPr marL="68580" marR="68580" marT="34290" marB="34290" anchor="ctr" anchorCtr="0"/>
                </a:tc>
              </a:tr>
              <a:tr h="444500">
                <a:tc>
                  <a:txBody>
                    <a:bodyPr/>
                    <a:p>
                      <a:pPr algn="ctr">
                        <a:buNone/>
                      </a:pPr>
                      <a:r>
                        <a:rPr lang="en-US" altLang="zh-CN" sz="1800" b="1">
                          <a:solidFill>
                            <a:schemeClr val="tx1"/>
                          </a:solidFill>
                          <a:latin typeface="微软雅黑" panose="020B0503020204020204" charset="-122"/>
                          <a:ea typeface="微软雅黑" panose="020B0503020204020204" charset="-122"/>
                        </a:rPr>
                        <a:t>6</a:t>
                      </a:r>
                      <a:endParaRPr lang="en-US" altLang="zh-CN" sz="1800" b="1">
                        <a:solidFill>
                          <a:schemeClr val="tx1"/>
                        </a:solidFill>
                        <a:latin typeface="微软雅黑" panose="020B0503020204020204" charset="-122"/>
                        <a:ea typeface="微软雅黑" panose="020B0503020204020204" charset="-122"/>
                      </a:endParaRPr>
                    </a:p>
                  </a:txBody>
                  <a:tcPr anchor="ctr" anchorCtr="0"/>
                </a:tc>
                <a:tc>
                  <a:txBody>
                    <a:bodyPr/>
                    <a:p>
                      <a:pPr algn="ctr">
                        <a:buClrTx/>
                        <a:buSzTx/>
                        <a:buFontTx/>
                        <a:buNone/>
                      </a:pPr>
                      <a:r>
                        <a:rPr lang="zh-CN" altLang="en-US" sz="1800" b="1" i="0">
                          <a:latin typeface="微软雅黑" panose="020B0503020204020204" charset="-122"/>
                          <a:ea typeface="微软雅黑" panose="020B0503020204020204" charset="-122"/>
                        </a:rPr>
                        <a:t>合计</a:t>
                      </a:r>
                      <a:endParaRPr lang="zh-CN" altLang="en-US" sz="1800" b="1" i="0">
                        <a:latin typeface="微软雅黑" panose="020B0503020204020204" charset="-122"/>
                        <a:ea typeface="微软雅黑" panose="020B0503020204020204" charset="-122"/>
                      </a:endParaRPr>
                    </a:p>
                  </a:txBody>
                  <a:tcPr marL="7937" marR="7937" marT="7937" marB="0" anchor="ctr" anchorCtr="0"/>
                </a:tc>
                <a:tc>
                  <a:txBody>
                    <a:bodyPr/>
                    <a:p>
                      <a:pPr algn="ctr">
                        <a:buNone/>
                      </a:pPr>
                      <a:r>
                        <a:rPr lang="en-US" altLang="zh-CN" sz="1800" b="1">
                          <a:solidFill>
                            <a:srgbClr val="FF0000"/>
                          </a:solidFill>
                          <a:latin typeface="微软雅黑" panose="020B0503020204020204" charset="-122"/>
                          <a:ea typeface="微软雅黑" panose="020B0503020204020204" charset="-122"/>
                        </a:rPr>
                        <a:t>7</a:t>
                      </a:r>
                      <a:endParaRPr lang="en-US" altLang="zh-CN" sz="1800" b="1">
                        <a:solidFill>
                          <a:srgbClr val="FF0000"/>
                        </a:solidFill>
                        <a:latin typeface="微软雅黑" panose="020B0503020204020204" charset="-122"/>
                        <a:ea typeface="微软雅黑" panose="020B0503020204020204" charset="-122"/>
                      </a:endParaRPr>
                    </a:p>
                  </a:txBody>
                  <a:tcPr marL="68580" marR="68580" marT="34290" marB="34290" anchor="ctr" anchorCtr="0"/>
                </a:tc>
                <a:tc>
                  <a:txBody>
                    <a:bodyPr/>
                    <a:p>
                      <a:pPr algn="ctr">
                        <a:buNone/>
                      </a:pPr>
                      <a:r>
                        <a:rPr lang="en-US" altLang="zh-CN" sz="1800" b="1">
                          <a:solidFill>
                            <a:srgbClr val="FF0000"/>
                          </a:solidFill>
                          <a:latin typeface="微软雅黑" panose="020B0503020204020204" charset="-122"/>
                          <a:ea typeface="微软雅黑" panose="020B0503020204020204" charset="-122"/>
                        </a:rPr>
                        <a:t>395</a:t>
                      </a:r>
                      <a:endParaRPr lang="en-US" altLang="zh-CN" sz="1800" b="1">
                        <a:solidFill>
                          <a:srgbClr val="FF0000"/>
                        </a:solidFill>
                        <a:latin typeface="微软雅黑" panose="020B0503020204020204" charset="-122"/>
                        <a:ea typeface="微软雅黑" panose="020B0503020204020204" charset="-122"/>
                      </a:endParaRPr>
                    </a:p>
                  </a:txBody>
                  <a:tcPr marL="68580" marR="68580" marT="34290" marB="34290" anchor="ctr" anchorCtr="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三、</a:t>
              </a:r>
              <a:r>
                <a:rPr lang="zh-CN" sz="2400" b="1" spc="300" dirty="0">
                  <a:solidFill>
                    <a:srgbClr val="0599D9">
                      <a:alpha val="100000"/>
                    </a:srgbClr>
                  </a:solidFill>
                  <a:ea typeface="微软雅黑" panose="020B0503020204020204" charset="-122"/>
                </a:rPr>
                <a:t>上</a:t>
              </a:r>
              <a:r>
                <a:rPr lang="zh-CN" sz="2400" b="1" spc="300" dirty="0">
                  <a:solidFill>
                    <a:srgbClr val="0599D9">
                      <a:alpha val="100000"/>
                    </a:srgbClr>
                  </a:solidFill>
                  <a:ea typeface="微软雅黑" panose="020B0503020204020204" charset="-122"/>
                </a:rPr>
                <a:t>周主要工作</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06830" y="994207"/>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13</a:t>
            </a:r>
            <a:r>
              <a:rPr lang="zh-CN" altLang="en-US" sz="2200" b="1" dirty="0">
                <a:solidFill>
                  <a:srgbClr val="000000"/>
                </a:solidFill>
                <a:latin typeface="微软雅黑" panose="020B0503020204020204" charset="-122"/>
                <a:ea typeface="微软雅黑" panose="020B0503020204020204" charset="-122"/>
                <a:sym typeface="+mn-ea"/>
              </a:rPr>
              <a:t>、体系主要工作（</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4"/>
            </p:custDataLst>
          </p:nvPr>
        </p:nvGraphicFramePr>
        <p:xfrm>
          <a:off x="715010" y="1424305"/>
          <a:ext cx="11470640" cy="3589020"/>
        </p:xfrm>
        <a:graphic>
          <a:graphicData uri="http://schemas.openxmlformats.org/drawingml/2006/table">
            <a:tbl>
              <a:tblPr firstRow="1" bandRow="1">
                <a:tableStyleId>{5940675A-B579-460E-94D1-54222C63F5DA}</a:tableStyleId>
              </a:tblPr>
              <a:tblGrid>
                <a:gridCol w="805815"/>
                <a:gridCol w="5734685"/>
                <a:gridCol w="1765935"/>
                <a:gridCol w="3164205"/>
              </a:tblGrid>
              <a:tr h="384175">
                <a:tc>
                  <a:txBody>
                    <a:bodyPr/>
                    <a:p>
                      <a:pPr algn="ctr">
                        <a:lnSpc>
                          <a:spcPct val="60000"/>
                        </a:lnSpc>
                        <a:spcBef>
                          <a:spcPts val="0"/>
                        </a:spcBef>
                        <a:spcAft>
                          <a:spcPts val="0"/>
                        </a:spcAft>
                        <a:buNone/>
                      </a:pPr>
                      <a:r>
                        <a:rPr lang="zh-CN" altLang="en-US" sz="2000" b="1" spc="120" dirty="0">
                          <a:solidFill>
                            <a:srgbClr val="FFFFFF"/>
                          </a:solidFill>
                          <a:latin typeface="微软雅黑" panose="020B0503020204020204" charset="-122"/>
                          <a:ea typeface="微软雅黑" panose="020B0503020204020204" charset="-122"/>
                        </a:rPr>
                        <a:t>序号</a:t>
                      </a:r>
                      <a:endParaRPr lang="zh-CN" altLang="en-US" sz="2000" b="1" spc="120" dirty="0">
                        <a:solidFill>
                          <a:srgbClr val="FFFFFF"/>
                        </a:solidFill>
                        <a:latin typeface="微软雅黑" panose="020B0503020204020204" charset="-122"/>
                        <a:ea typeface="微软雅黑" panose="020B0503020204020204" charset="-122"/>
                      </a:endParaRPr>
                    </a:p>
                  </a:txBody>
                  <a:tcPr marL="25400" marR="25400" marT="6350" marB="6350" anchor="ctr">
                    <a:solidFill>
                      <a:srgbClr val="00B0F0"/>
                    </a:solidFill>
                  </a:tcPr>
                </a:tc>
                <a:tc>
                  <a:txBody>
                    <a:bodyPr/>
                    <a:p>
                      <a:pPr indent="0" algn="ctr">
                        <a:lnSpc>
                          <a:spcPct val="60000"/>
                        </a:lnSpc>
                        <a:spcBef>
                          <a:spcPts val="0"/>
                        </a:spcBef>
                        <a:spcAft>
                          <a:spcPts val="0"/>
                        </a:spcAft>
                        <a:buNone/>
                      </a:pPr>
                      <a:r>
                        <a:rPr lang="zh-CN" altLang="en-US" sz="2000" b="1" spc="120" dirty="0">
                          <a:solidFill>
                            <a:srgbClr val="FFFFFF"/>
                          </a:solidFill>
                          <a:latin typeface="微软雅黑" panose="020B0503020204020204" charset="-122"/>
                          <a:ea typeface="微软雅黑" panose="020B0503020204020204" charset="-122"/>
                        </a:rPr>
                        <a:t>工作内容</a:t>
                      </a:r>
                      <a:endParaRPr lang="zh-CN" altLang="en-US" sz="2000" b="1" spc="120" dirty="0">
                        <a:solidFill>
                          <a:srgbClr val="FFFFFF"/>
                        </a:solidFill>
                        <a:latin typeface="微软雅黑" panose="020B0503020204020204" charset="-122"/>
                        <a:ea typeface="微软雅黑" panose="020B0503020204020204" charset="-122"/>
                      </a:endParaRPr>
                    </a:p>
                  </a:txBody>
                  <a:tcPr marL="161925" marR="161925" marT="100012" marB="100012" anchor="ctr">
                    <a:solidFill>
                      <a:srgbClr val="00B0F0"/>
                    </a:solidFill>
                  </a:tcPr>
                </a:tc>
                <a:tc>
                  <a:txBody>
                    <a:bodyPr/>
                    <a:p>
                      <a:pPr algn="ctr" fontAlgn="ctr">
                        <a:lnSpc>
                          <a:spcPct val="60000"/>
                        </a:lnSpc>
                      </a:pPr>
                      <a:r>
                        <a:rPr lang="zh-CN" altLang="en-US" sz="2000" b="1" u="none" strike="noStrike" dirty="0">
                          <a:solidFill>
                            <a:srgbClr val="FFFFFF"/>
                          </a:solidFill>
                          <a:effectLst/>
                          <a:latin typeface="微软雅黑" panose="020B0503020204020204" charset="-122"/>
                          <a:ea typeface="微软雅黑" panose="020B0503020204020204" charset="-122"/>
                        </a:rPr>
                        <a:t>责任人</a:t>
                      </a:r>
                      <a:endParaRPr lang="zh-CN" altLang="en-US" sz="2000" b="1" i="0" u="none" strike="noStrike" dirty="0">
                        <a:solidFill>
                          <a:srgbClr val="FFFFFF"/>
                        </a:solidFill>
                        <a:effectLst/>
                        <a:latin typeface="微软雅黑" panose="020B0503020204020204" charset="-122"/>
                        <a:ea typeface="微软雅黑" panose="020B0503020204020204" charset="-122"/>
                      </a:endParaRPr>
                    </a:p>
                  </a:txBody>
                  <a:tcPr marL="51435" marR="51435" marT="25717" marB="25717" anchor="ctr">
                    <a:solidFill>
                      <a:srgbClr val="00B0F0"/>
                    </a:solidFill>
                  </a:tcPr>
                </a:tc>
                <a:tc>
                  <a:txBody>
                    <a:bodyPr/>
                    <a:p>
                      <a:pPr algn="ctr" fontAlgn="ctr">
                        <a:lnSpc>
                          <a:spcPct val="60000"/>
                        </a:lnSpc>
                      </a:pPr>
                      <a:r>
                        <a:rPr lang="zh-CN" altLang="en-US" sz="2000" b="1" u="none" strike="noStrike" dirty="0">
                          <a:solidFill>
                            <a:srgbClr val="FFFFFF"/>
                          </a:solidFill>
                          <a:effectLst/>
                          <a:latin typeface="微软雅黑" panose="020B0503020204020204" charset="-122"/>
                          <a:ea typeface="微软雅黑" panose="020B0503020204020204" charset="-122"/>
                        </a:rPr>
                        <a:t>完成情况</a:t>
                      </a:r>
                      <a:endParaRPr lang="zh-CN" altLang="en-US" sz="2000" b="1" i="0" u="none" strike="noStrike" dirty="0">
                        <a:solidFill>
                          <a:srgbClr val="FFFFFF"/>
                        </a:solidFill>
                        <a:effectLst/>
                        <a:latin typeface="微软雅黑" panose="020B0503020204020204" charset="-122"/>
                        <a:ea typeface="微软雅黑" panose="020B0503020204020204" charset="-122"/>
                      </a:endParaRPr>
                    </a:p>
                  </a:txBody>
                  <a:tcPr marL="51435" marR="51435" marT="25717" marB="25717" anchor="ctr">
                    <a:solidFill>
                      <a:srgbClr val="00B0F0"/>
                    </a:solidFill>
                  </a:tcPr>
                </a:tc>
              </a:tr>
              <a:tr h="294640">
                <a:tc>
                  <a:txBody>
                    <a:bodyPr/>
                    <a:p>
                      <a:pPr algn="ctr">
                        <a:lnSpc>
                          <a:spcPct val="60000"/>
                        </a:lnSpc>
                        <a:buNone/>
                      </a:pPr>
                      <a:r>
                        <a:rPr lang="en-US" altLang="zh-CN" sz="1600" b="1">
                          <a:latin typeface="微软雅黑" panose="020B0503020204020204" charset="-122"/>
                          <a:ea typeface="微软雅黑" panose="020B0503020204020204" charset="-122"/>
                        </a:rPr>
                        <a:t>1</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en-US" altLang="zh-CN" sz="1400">
                          <a:solidFill>
                            <a:srgbClr val="000000"/>
                          </a:solidFill>
                        </a:rPr>
                        <a:t>7</a:t>
                      </a:r>
                      <a:r>
                        <a:rPr lang="zh-CN" altLang="en-US" sz="1400">
                          <a:solidFill>
                            <a:srgbClr val="000000"/>
                          </a:solidFill>
                        </a:rPr>
                        <a:t>月份特种作业人员及特种设备信息报送（监理）</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已完成</a:t>
                      </a:r>
                      <a:endParaRPr lang="zh-CN" altLang="en-US" sz="1400">
                        <a:solidFill>
                          <a:srgbClr val="000000"/>
                        </a:solidFill>
                      </a:endParaRPr>
                    </a:p>
                  </a:txBody>
                  <a:tcPr marL="0" marR="0" marT="0" marB="0" anchor="ctr" anchorCtr="0"/>
                </a:tc>
              </a:tr>
              <a:tr h="294640">
                <a:tc>
                  <a:txBody>
                    <a:bodyPr/>
                    <a:p>
                      <a:pPr algn="ctr">
                        <a:lnSpc>
                          <a:spcPct val="60000"/>
                        </a:lnSpc>
                        <a:buNone/>
                      </a:pPr>
                      <a:r>
                        <a:rPr lang="en-US" altLang="zh-CN" sz="1600" b="1">
                          <a:latin typeface="微软雅黑" panose="020B0503020204020204" charset="-122"/>
                          <a:ea typeface="微软雅黑" panose="020B0503020204020204" charset="-122"/>
                        </a:rPr>
                        <a:t>2</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en-US" altLang="zh-CN" sz="1400">
                          <a:solidFill>
                            <a:srgbClr val="000000"/>
                          </a:solidFill>
                        </a:rPr>
                        <a:t>8</a:t>
                      </a:r>
                      <a:r>
                        <a:rPr lang="zh-CN" altLang="en-US" sz="1400">
                          <a:solidFill>
                            <a:srgbClr val="000000"/>
                          </a:solidFill>
                        </a:rPr>
                        <a:t>月份</a:t>
                      </a:r>
                      <a:r>
                        <a:rPr lang="en-US" altLang="zh-CN" sz="1400">
                          <a:solidFill>
                            <a:srgbClr val="000000"/>
                          </a:solidFill>
                        </a:rPr>
                        <a:t>A</a:t>
                      </a:r>
                      <a:r>
                        <a:rPr lang="zh-CN" altLang="en-US" sz="1400">
                          <a:solidFill>
                            <a:srgbClr val="000000"/>
                          </a:solidFill>
                        </a:rPr>
                        <a:t>、</a:t>
                      </a:r>
                      <a:r>
                        <a:rPr lang="en-US" altLang="zh-CN" sz="1400">
                          <a:solidFill>
                            <a:srgbClr val="000000"/>
                          </a:solidFill>
                        </a:rPr>
                        <a:t>B</a:t>
                      </a:r>
                      <a:r>
                        <a:rPr lang="zh-CN" altLang="en-US" sz="1400">
                          <a:solidFill>
                            <a:srgbClr val="000000"/>
                          </a:solidFill>
                        </a:rPr>
                        <a:t>级作业活动报送</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已完成</a:t>
                      </a:r>
                      <a:endParaRPr lang="zh-CN" altLang="en-US" sz="1400">
                        <a:solidFill>
                          <a:srgbClr val="000000"/>
                        </a:solidFill>
                      </a:endParaRPr>
                    </a:p>
                  </a:txBody>
                  <a:tcPr marL="0" marR="0" marT="0" marB="0" anchor="ctr" anchorCtr="0"/>
                </a:tc>
              </a:tr>
              <a:tr h="338455">
                <a:tc>
                  <a:txBody>
                    <a:bodyPr/>
                    <a:p>
                      <a:pPr algn="ctr">
                        <a:lnSpc>
                          <a:spcPct val="60000"/>
                        </a:lnSpc>
                        <a:buNone/>
                      </a:pPr>
                      <a:r>
                        <a:rPr lang="en-US" altLang="zh-CN" sz="1600" b="1">
                          <a:latin typeface="微软雅黑" panose="020B0503020204020204" charset="-122"/>
                          <a:ea typeface="微软雅黑" panose="020B0503020204020204" charset="-122"/>
                        </a:rPr>
                        <a:t>3</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en-US" altLang="zh-CN" sz="1400">
                          <a:solidFill>
                            <a:srgbClr val="000000"/>
                          </a:solidFill>
                        </a:rPr>
                        <a:t>7</a:t>
                      </a:r>
                      <a:r>
                        <a:rPr lang="zh-CN" altLang="en-US" sz="1400">
                          <a:solidFill>
                            <a:srgbClr val="000000"/>
                          </a:solidFill>
                        </a:rPr>
                        <a:t>月份安全管理数据月报编制及报送</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已完成</a:t>
                      </a:r>
                      <a:endParaRPr lang="zh-CN" altLang="en-US" sz="1400">
                        <a:solidFill>
                          <a:srgbClr val="000000"/>
                        </a:solidFill>
                      </a:endParaRPr>
                    </a:p>
                  </a:txBody>
                  <a:tcPr marL="0" marR="0" marT="0" marB="0" anchor="ctr" anchorCtr="0"/>
                </a:tc>
              </a:tr>
              <a:tr h="446405">
                <a:tc>
                  <a:txBody>
                    <a:bodyPr/>
                    <a:p>
                      <a:pPr algn="ctr">
                        <a:lnSpc>
                          <a:spcPct val="60000"/>
                        </a:lnSpc>
                        <a:buNone/>
                      </a:pPr>
                      <a:r>
                        <a:rPr lang="en-US" altLang="zh-CN" sz="1600" b="1">
                          <a:latin typeface="微软雅黑" panose="020B0503020204020204" charset="-122"/>
                          <a:ea typeface="微软雅黑" panose="020B0503020204020204" charset="-122"/>
                        </a:rPr>
                        <a:t>4</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工程公司任务跟踪</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持续（目前</a:t>
                      </a:r>
                      <a:r>
                        <a:rPr lang="en-US" altLang="zh-CN" sz="1400">
                          <a:solidFill>
                            <a:srgbClr val="000000"/>
                          </a:solidFill>
                        </a:rPr>
                        <a:t>74</a:t>
                      </a:r>
                      <a:r>
                        <a:rPr lang="zh-CN" altLang="en-US" sz="1400">
                          <a:solidFill>
                            <a:srgbClr val="000000"/>
                          </a:solidFill>
                        </a:rPr>
                        <a:t>项，完成</a:t>
                      </a:r>
                      <a:r>
                        <a:rPr lang="en-US" altLang="zh-CN" sz="1400">
                          <a:solidFill>
                            <a:srgbClr val="000000"/>
                          </a:solidFill>
                        </a:rPr>
                        <a:t>59</a:t>
                      </a:r>
                      <a:r>
                        <a:rPr lang="zh-CN" altLang="en-US" sz="1400">
                          <a:solidFill>
                            <a:srgbClr val="000000"/>
                          </a:solidFill>
                        </a:rPr>
                        <a:t>项，剩余</a:t>
                      </a:r>
                      <a:r>
                        <a:rPr lang="en-US" altLang="zh-CN" sz="1400">
                          <a:solidFill>
                            <a:srgbClr val="000000"/>
                          </a:solidFill>
                        </a:rPr>
                        <a:t>15</a:t>
                      </a:r>
                      <a:r>
                        <a:rPr lang="zh-CN" altLang="en-US" sz="1400">
                          <a:solidFill>
                            <a:srgbClr val="000000"/>
                          </a:solidFill>
                        </a:rPr>
                        <a:t>项）</a:t>
                      </a:r>
                      <a:endParaRPr lang="zh-CN" altLang="en-US" sz="1400">
                        <a:solidFill>
                          <a:srgbClr val="000000"/>
                        </a:solidFill>
                      </a:endParaRPr>
                    </a:p>
                  </a:txBody>
                  <a:tcPr marL="0" marR="0" marT="0" marB="0" anchor="ctr" anchorCtr="0"/>
                </a:tc>
              </a:tr>
              <a:tr h="287020">
                <a:tc>
                  <a:txBody>
                    <a:bodyPr/>
                    <a:p>
                      <a:pPr algn="ctr">
                        <a:lnSpc>
                          <a:spcPct val="60000"/>
                        </a:lnSpc>
                        <a:buNone/>
                      </a:pPr>
                      <a:r>
                        <a:rPr lang="en-US" altLang="zh-CN" sz="1600" b="1">
                          <a:latin typeface="微软雅黑" panose="020B0503020204020204" charset="-122"/>
                          <a:ea typeface="微软雅黑" panose="020B0503020204020204" charset="-122"/>
                        </a:rPr>
                        <a:t>5</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中心任务跟踪</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持续（目前</a:t>
                      </a:r>
                      <a:r>
                        <a:rPr lang="en-US" altLang="zh-CN" sz="1400">
                          <a:solidFill>
                            <a:srgbClr val="000000"/>
                          </a:solidFill>
                        </a:rPr>
                        <a:t>8</a:t>
                      </a:r>
                      <a:r>
                        <a:rPr lang="zh-CN" altLang="en-US" sz="1400">
                          <a:solidFill>
                            <a:srgbClr val="000000"/>
                          </a:solidFill>
                        </a:rPr>
                        <a:t>项，完成</a:t>
                      </a:r>
                      <a:r>
                        <a:rPr lang="en-US" altLang="zh-CN" sz="1400">
                          <a:solidFill>
                            <a:srgbClr val="000000"/>
                          </a:solidFill>
                        </a:rPr>
                        <a:t>6</a:t>
                      </a:r>
                      <a:r>
                        <a:rPr lang="zh-CN" altLang="en-US" sz="1400">
                          <a:solidFill>
                            <a:srgbClr val="000000"/>
                          </a:solidFill>
                        </a:rPr>
                        <a:t>项，剩余</a:t>
                      </a:r>
                      <a:r>
                        <a:rPr lang="en-US" altLang="zh-CN" sz="1400">
                          <a:solidFill>
                            <a:srgbClr val="000000"/>
                          </a:solidFill>
                        </a:rPr>
                        <a:t>2</a:t>
                      </a:r>
                      <a:r>
                        <a:rPr lang="zh-CN" altLang="en-US" sz="1400">
                          <a:solidFill>
                            <a:srgbClr val="000000"/>
                          </a:solidFill>
                        </a:rPr>
                        <a:t>项）</a:t>
                      </a:r>
                      <a:endParaRPr lang="zh-CN" altLang="en-US" sz="1400">
                        <a:solidFill>
                          <a:srgbClr val="000000"/>
                        </a:solidFill>
                      </a:endParaRPr>
                    </a:p>
                  </a:txBody>
                  <a:tcPr marL="0" marR="0" marT="0" marB="0" anchor="ctr" anchorCtr="0"/>
                </a:tc>
              </a:tr>
              <a:tr h="287020">
                <a:tc>
                  <a:txBody>
                    <a:bodyPr/>
                    <a:p>
                      <a:pPr algn="ctr">
                        <a:lnSpc>
                          <a:spcPct val="60000"/>
                        </a:lnSpc>
                        <a:buNone/>
                      </a:pPr>
                      <a:r>
                        <a:rPr lang="en-US" altLang="zh-CN" sz="1600" b="1">
                          <a:latin typeface="微软雅黑" panose="020B0503020204020204" charset="-122"/>
                          <a:ea typeface="微软雅黑" panose="020B0503020204020204" charset="-122"/>
                        </a:rPr>
                        <a:t>6</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编写监理例会材料</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韦瑞铭</a:t>
                      </a:r>
                      <a:endParaRPr lang="zh-CN" altLang="en-US" sz="1400">
                        <a:solidFill>
                          <a:srgbClr val="000000"/>
                        </a:solidFill>
                      </a:endParaRPr>
                    </a:p>
                  </a:txBody>
                  <a:tcPr marL="0" marR="0" marT="0" marB="0" anchor="ctr" anchorCtr="0"/>
                </a:tc>
                <a:tc>
                  <a:txBody>
                    <a:bodyPr/>
                    <a:p>
                      <a:pPr algn="ctr" fontAlgn="ctr" latinLnBrk="0"/>
                      <a:r>
                        <a:rPr lang="en-US" altLang="zh-CN" sz="1400">
                          <a:solidFill>
                            <a:srgbClr val="000000"/>
                          </a:solidFill>
                        </a:rPr>
                        <a:t>7.23</a:t>
                      </a:r>
                      <a:endParaRPr lang="en-US" altLang="zh-CN" sz="1400">
                        <a:solidFill>
                          <a:srgbClr val="000000"/>
                        </a:solidFill>
                      </a:endParaRPr>
                    </a:p>
                  </a:txBody>
                  <a:tcPr marL="0" marR="0" marT="0" marB="0" anchor="ctr" anchorCtr="0"/>
                </a:tc>
              </a:tr>
              <a:tr h="334645">
                <a:tc>
                  <a:txBody>
                    <a:bodyPr/>
                    <a:p>
                      <a:pPr algn="ctr">
                        <a:lnSpc>
                          <a:spcPct val="60000"/>
                        </a:lnSpc>
                        <a:buNone/>
                      </a:pPr>
                      <a:r>
                        <a:rPr lang="en-US" altLang="zh-CN" sz="1600" b="1">
                          <a:latin typeface="微软雅黑" panose="020B0503020204020204" charset="-122"/>
                          <a:ea typeface="微软雅黑" panose="020B0503020204020204" charset="-122"/>
                        </a:rPr>
                        <a:t>7</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应急物资检查隐患整改</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韦瑞铭</a:t>
                      </a:r>
                      <a:endParaRPr lang="zh-CN" altLang="en-US" sz="1400">
                        <a:solidFill>
                          <a:srgbClr val="000000"/>
                        </a:solidFill>
                      </a:endParaRPr>
                    </a:p>
                  </a:txBody>
                  <a:tcPr marL="0" marR="0" marT="0" marB="0" anchor="ctr" anchorCtr="0"/>
                </a:tc>
                <a:tc>
                  <a:txBody>
                    <a:bodyPr/>
                    <a:p>
                      <a:pPr algn="ctr" fontAlgn="ctr" latinLnBrk="0"/>
                      <a:r>
                        <a:rPr lang="en-US" altLang="zh-CN" sz="1400">
                          <a:solidFill>
                            <a:srgbClr val="000000"/>
                          </a:solidFill>
                        </a:rPr>
                        <a:t>7.31</a:t>
                      </a:r>
                      <a:endParaRPr lang="en-US" altLang="zh-CN" sz="1400">
                        <a:solidFill>
                          <a:srgbClr val="000000"/>
                        </a:solidFill>
                      </a:endParaRPr>
                    </a:p>
                  </a:txBody>
                  <a:tcPr marL="0" marR="0" marT="0" marB="0" anchor="ctr" anchorCtr="0"/>
                </a:tc>
              </a:tr>
              <a:tr h="307340">
                <a:tc>
                  <a:txBody>
                    <a:bodyPr/>
                    <a:p>
                      <a:pPr algn="ctr">
                        <a:lnSpc>
                          <a:spcPct val="60000"/>
                        </a:lnSpc>
                        <a:buNone/>
                      </a:pPr>
                      <a:r>
                        <a:rPr lang="en-US" altLang="zh-CN" sz="1600" b="1">
                          <a:latin typeface="微软雅黑" panose="020B0503020204020204" charset="-122"/>
                          <a:ea typeface="微软雅黑" panose="020B0503020204020204" charset="-122"/>
                        </a:rPr>
                        <a:t>8</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隐患数据看板开发</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邓宇聪</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已完成</a:t>
                      </a:r>
                      <a:endParaRPr lang="zh-CN" altLang="en-US" sz="1400">
                        <a:solidFill>
                          <a:srgbClr val="000000"/>
                        </a:solidFill>
                      </a:endParaRPr>
                    </a:p>
                  </a:txBody>
                  <a:tcPr marL="0" marR="0" marT="0" marB="0" anchor="ctr" anchorCtr="0"/>
                </a:tc>
              </a:tr>
              <a:tr h="307340">
                <a:tc>
                  <a:txBody>
                    <a:bodyPr/>
                    <a:p>
                      <a:pPr algn="ctr">
                        <a:lnSpc>
                          <a:spcPct val="60000"/>
                        </a:lnSpc>
                        <a:buNone/>
                      </a:pPr>
                      <a:r>
                        <a:rPr lang="en-US" altLang="zh-CN" sz="1600" b="1">
                          <a:latin typeface="微软雅黑" panose="020B0503020204020204" charset="-122"/>
                          <a:ea typeface="微软雅黑" panose="020B0503020204020204" charset="-122"/>
                        </a:rPr>
                        <a:t>9</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buNone/>
                      </a:pPr>
                      <a:r>
                        <a:rPr lang="zh-CN" altLang="en-US" sz="1400">
                          <a:solidFill>
                            <a:srgbClr val="000000"/>
                          </a:solidFill>
                        </a:rPr>
                        <a:t>危化品、</a:t>
                      </a:r>
                      <a:r>
                        <a:rPr lang="zh-CN" altLang="en-US" sz="1400">
                          <a:solidFill>
                            <a:srgbClr val="000000"/>
                          </a:solidFill>
                        </a:rPr>
                        <a:t>有限空间专项培训组织</a:t>
                      </a:r>
                      <a:endParaRPr lang="zh-CN" altLang="en-US" sz="1400">
                        <a:solidFill>
                          <a:srgbClr val="000000"/>
                        </a:solidFill>
                      </a:endParaRPr>
                    </a:p>
                  </a:txBody>
                  <a:tcPr marL="0" marR="0" marT="0" marB="0" anchor="ctr" anchorCtr="0"/>
                </a:tc>
                <a:tc>
                  <a:txBody>
                    <a:bodyPr/>
                    <a:p>
                      <a:pPr algn="ctr" fontAlgn="ctr" latinLnBrk="0">
                        <a:buNone/>
                      </a:pPr>
                      <a:r>
                        <a:rPr lang="zh-CN" altLang="en-US" sz="1400">
                          <a:solidFill>
                            <a:srgbClr val="000000"/>
                          </a:solidFill>
                        </a:rPr>
                        <a:t>邓宇聪</a:t>
                      </a:r>
                      <a:endParaRPr lang="zh-CN" altLang="en-US" sz="1400">
                        <a:solidFill>
                          <a:srgbClr val="000000"/>
                        </a:solidFill>
                      </a:endParaRPr>
                    </a:p>
                  </a:txBody>
                  <a:tcPr marL="0" marR="0" marT="0" marB="0" anchor="ctr" anchorCtr="0"/>
                </a:tc>
                <a:tc>
                  <a:txBody>
                    <a:bodyPr/>
                    <a:p>
                      <a:pPr algn="ctr" fontAlgn="ctr" latinLnBrk="0">
                        <a:buNone/>
                      </a:pPr>
                      <a:r>
                        <a:rPr lang="zh-CN" altLang="en-US" sz="1400">
                          <a:solidFill>
                            <a:srgbClr val="000000"/>
                          </a:solidFill>
                        </a:rPr>
                        <a:t>已完成</a:t>
                      </a:r>
                      <a:endParaRPr lang="zh-CN" altLang="en-US" sz="1400">
                        <a:solidFill>
                          <a:srgbClr val="000000"/>
                        </a:solidFill>
                      </a:endParaRPr>
                    </a:p>
                  </a:txBody>
                  <a:tcPr marL="0" marR="0" marT="0" marB="0" anchor="ctr" anchorCtr="0"/>
                </a:tc>
              </a:tr>
              <a:tr h="307340">
                <a:tc>
                  <a:txBody>
                    <a:bodyPr/>
                    <a:p>
                      <a:pPr algn="ctr">
                        <a:lnSpc>
                          <a:spcPct val="60000"/>
                        </a:lnSpc>
                        <a:buNone/>
                      </a:pPr>
                      <a:r>
                        <a:rPr lang="en-US" altLang="zh-CN" sz="1600" b="1">
                          <a:latin typeface="微软雅黑" panose="020B0503020204020204" charset="-122"/>
                          <a:ea typeface="微软雅黑" panose="020B0503020204020204" charset="-122"/>
                        </a:rPr>
                        <a:t>10</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buNone/>
                      </a:pPr>
                      <a:r>
                        <a:rPr lang="zh-CN" altLang="en-US" sz="1400">
                          <a:solidFill>
                            <a:srgbClr val="000000"/>
                          </a:solidFill>
                        </a:rPr>
                        <a:t>每日总监日会任务跟踪</a:t>
                      </a:r>
                      <a:endParaRPr lang="zh-CN" altLang="en-US" sz="1400">
                        <a:solidFill>
                          <a:srgbClr val="000000"/>
                        </a:solidFill>
                      </a:endParaRPr>
                    </a:p>
                  </a:txBody>
                  <a:tcPr marL="0" marR="0" marT="0" marB="0" anchor="ctr" anchorCtr="0"/>
                </a:tc>
                <a:tc>
                  <a:txBody>
                    <a:bodyPr/>
                    <a:p>
                      <a:pPr algn="ctr" fontAlgn="ctr" latinLnBrk="0">
                        <a:buNone/>
                      </a:pPr>
                      <a:r>
                        <a:rPr lang="zh-CN" altLang="en-US" sz="1400">
                          <a:solidFill>
                            <a:srgbClr val="000000"/>
                          </a:solidFill>
                        </a:rPr>
                        <a:t>唐星民</a:t>
                      </a:r>
                      <a:endParaRPr lang="zh-CN" altLang="en-US" sz="1400">
                        <a:solidFill>
                          <a:srgbClr val="000000"/>
                        </a:solidFill>
                      </a:endParaRPr>
                    </a:p>
                  </a:txBody>
                  <a:tcPr marL="0" marR="0" marT="0" marB="0" anchor="ctr" anchorCtr="0"/>
                </a:tc>
                <a:tc>
                  <a:txBody>
                    <a:bodyPr/>
                    <a:p>
                      <a:pPr algn="ctr" fontAlgn="ctr" latinLnBrk="0">
                        <a:buNone/>
                      </a:pPr>
                      <a:r>
                        <a:rPr lang="zh-CN" altLang="en-US" sz="1400">
                          <a:solidFill>
                            <a:srgbClr val="000000"/>
                          </a:solidFill>
                        </a:rPr>
                        <a:t>已完成</a:t>
                      </a:r>
                      <a:endParaRPr lang="zh-CN" altLang="en-US" sz="1400">
                        <a:solidFill>
                          <a:srgbClr val="000000"/>
                        </a:solidFill>
                      </a:endParaRPr>
                    </a:p>
                  </a:txBody>
                  <a:tcPr marL="0" marR="0" marT="0" marB="0" anchor="ctr" anchorCtr="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525780"/>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三、</a:t>
              </a:r>
              <a:r>
                <a:rPr lang="zh-CN" sz="2400" b="1" spc="300" dirty="0">
                  <a:solidFill>
                    <a:srgbClr val="0599D9">
                      <a:alpha val="100000"/>
                    </a:srgbClr>
                  </a:solidFill>
                  <a:ea typeface="微软雅黑" panose="020B0503020204020204" charset="-122"/>
                </a:rPr>
                <a:t>下</a:t>
              </a:r>
              <a:r>
                <a:rPr lang="zh-CN" sz="2400" b="1" spc="300" dirty="0">
                  <a:solidFill>
                    <a:srgbClr val="0599D9">
                      <a:alpha val="100000"/>
                    </a:srgbClr>
                  </a:solidFill>
                  <a:ea typeface="微软雅黑" panose="020B0503020204020204" charset="-122"/>
                </a:rPr>
                <a:t>周主要工作</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706830" y="1370127"/>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13</a:t>
            </a:r>
            <a:r>
              <a:rPr lang="zh-CN" altLang="en-US" sz="2200" b="1" dirty="0">
                <a:solidFill>
                  <a:srgbClr val="000000"/>
                </a:solidFill>
                <a:latin typeface="微软雅黑" panose="020B0503020204020204" charset="-122"/>
                <a:ea typeface="微软雅黑" panose="020B0503020204020204" charset="-122"/>
                <a:sym typeface="+mn-ea"/>
              </a:rPr>
              <a:t>、体系主要工作（</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日</a:t>
            </a:r>
            <a:r>
              <a:rPr lang="en-US" altLang="zh-CN" sz="2200" b="1" dirty="0">
                <a:solidFill>
                  <a:srgbClr val="000000"/>
                </a:solidFill>
                <a:latin typeface="微软雅黑" panose="020B0503020204020204" charset="-122"/>
                <a:ea typeface="微软雅黑" panose="020B0503020204020204" charset="-122"/>
                <a:sym typeface="+mn-ea"/>
              </a:rPr>
              <a:t>--7</a:t>
            </a:r>
            <a:r>
              <a:rPr lang="zh-CN" altLang="en-US" sz="2200" b="1" dirty="0">
                <a:solidFill>
                  <a:srgbClr val="000000"/>
                </a:solidFill>
                <a:latin typeface="微软雅黑" panose="020B0503020204020204" charset="-122"/>
                <a:ea typeface="微软雅黑" panose="020B0503020204020204" charset="-122"/>
                <a:sym typeface="+mn-ea"/>
              </a:rPr>
              <a:t>月</a:t>
            </a:r>
            <a:r>
              <a:rPr lang="en-US" altLang="zh-CN" sz="2200" b="1" dirty="0">
                <a:solidFill>
                  <a:srgbClr val="000000"/>
                </a:solidFill>
                <a:latin typeface="微软雅黑" panose="020B0503020204020204" charset="-122"/>
                <a:ea typeface="微软雅黑" panose="020B0503020204020204" charset="-122"/>
                <a:sym typeface="+mn-ea"/>
              </a:rPr>
              <a:t>21</a:t>
            </a:r>
            <a:r>
              <a:rPr lang="zh-CN" altLang="en-US" sz="2200" b="1" dirty="0">
                <a:solidFill>
                  <a:srgbClr val="000000"/>
                </a:solidFill>
                <a:latin typeface="微软雅黑" panose="020B0503020204020204" charset="-122"/>
                <a:ea typeface="微软雅黑" panose="020B0503020204020204" charset="-122"/>
                <a:sym typeface="+mn-ea"/>
              </a:rPr>
              <a:t>日</a:t>
            </a:r>
            <a:r>
              <a:rPr lang="zh-CN" altLang="en-US" sz="2200" b="1" dirty="0">
                <a:solidFill>
                  <a:srgbClr val="000000"/>
                </a:solidFill>
                <a:latin typeface="微软雅黑" panose="020B0503020204020204" charset="-122"/>
                <a:ea typeface="微软雅黑" panose="020B0503020204020204" charset="-122"/>
                <a:sym typeface="+mn-ea"/>
              </a:rPr>
              <a:t>）</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4"/>
            </p:custDataLst>
          </p:nvPr>
        </p:nvGraphicFramePr>
        <p:xfrm>
          <a:off x="622935" y="1825625"/>
          <a:ext cx="10166985" cy="4253230"/>
        </p:xfrm>
        <a:graphic>
          <a:graphicData uri="http://schemas.openxmlformats.org/drawingml/2006/table">
            <a:tbl>
              <a:tblPr firstRow="1" bandRow="1">
                <a:tableStyleId>{5940675A-B579-460E-94D1-54222C63F5DA}</a:tableStyleId>
              </a:tblPr>
              <a:tblGrid>
                <a:gridCol w="799465"/>
                <a:gridCol w="5688330"/>
                <a:gridCol w="1751330"/>
                <a:gridCol w="1927860"/>
              </a:tblGrid>
              <a:tr h="565150">
                <a:tc>
                  <a:txBody>
                    <a:bodyPr/>
                    <a:p>
                      <a:pPr algn="ctr">
                        <a:lnSpc>
                          <a:spcPct val="120000"/>
                        </a:lnSpc>
                        <a:spcBef>
                          <a:spcPts val="0"/>
                        </a:spcBef>
                        <a:spcAft>
                          <a:spcPts val="0"/>
                        </a:spcAft>
                        <a:buNone/>
                      </a:pPr>
                      <a:r>
                        <a:rPr lang="zh-CN" altLang="en-US" sz="2000" b="1" spc="120" dirty="0">
                          <a:solidFill>
                            <a:srgbClr val="FFFFFF"/>
                          </a:solidFill>
                          <a:latin typeface="微软雅黑" panose="020B0503020204020204" charset="-122"/>
                          <a:ea typeface="微软雅黑" panose="020B0503020204020204" charset="-122"/>
                        </a:rPr>
                        <a:t>序号</a:t>
                      </a:r>
                      <a:endParaRPr lang="zh-CN" altLang="en-US" sz="2000" b="1" spc="120" dirty="0">
                        <a:solidFill>
                          <a:srgbClr val="FFFFFF"/>
                        </a:solidFill>
                        <a:latin typeface="微软雅黑" panose="020B0503020204020204" charset="-122"/>
                        <a:ea typeface="微软雅黑" panose="020B0503020204020204" charset="-122"/>
                      </a:endParaRPr>
                    </a:p>
                  </a:txBody>
                  <a:tcPr marL="25400" marR="25400" marT="6350" marB="6350" anchor="ctr">
                    <a:solidFill>
                      <a:srgbClr val="00B0F0"/>
                    </a:solidFill>
                  </a:tcPr>
                </a:tc>
                <a:tc>
                  <a:txBody>
                    <a:bodyPr/>
                    <a:p>
                      <a:pPr indent="0" algn="ctr">
                        <a:lnSpc>
                          <a:spcPct val="120000"/>
                        </a:lnSpc>
                        <a:spcBef>
                          <a:spcPts val="0"/>
                        </a:spcBef>
                        <a:spcAft>
                          <a:spcPts val="0"/>
                        </a:spcAft>
                        <a:buNone/>
                      </a:pPr>
                      <a:r>
                        <a:rPr lang="zh-CN" altLang="en-US" sz="2000" b="1" spc="120" dirty="0">
                          <a:solidFill>
                            <a:srgbClr val="FFFFFF"/>
                          </a:solidFill>
                          <a:latin typeface="微软雅黑" panose="020B0503020204020204" charset="-122"/>
                          <a:ea typeface="微软雅黑" panose="020B0503020204020204" charset="-122"/>
                        </a:rPr>
                        <a:t>工作内容</a:t>
                      </a:r>
                      <a:endParaRPr lang="zh-CN" altLang="en-US" sz="2000" b="1" spc="120" dirty="0">
                        <a:solidFill>
                          <a:srgbClr val="FFFFFF"/>
                        </a:solidFill>
                        <a:latin typeface="微软雅黑" panose="020B0503020204020204" charset="-122"/>
                        <a:ea typeface="微软雅黑" panose="020B0503020204020204" charset="-122"/>
                      </a:endParaRPr>
                    </a:p>
                  </a:txBody>
                  <a:tcPr marL="161925" marR="161925" marT="100012" marB="100012" anchor="ctr">
                    <a:solidFill>
                      <a:srgbClr val="00B0F0"/>
                    </a:solidFill>
                  </a:tcPr>
                </a:tc>
                <a:tc>
                  <a:txBody>
                    <a:bodyPr/>
                    <a:p>
                      <a:pPr algn="ctr" fontAlgn="ctr"/>
                      <a:r>
                        <a:rPr lang="zh-CN" altLang="en-US" sz="2000" b="1" u="none" strike="noStrike" dirty="0">
                          <a:solidFill>
                            <a:srgbClr val="FFFFFF"/>
                          </a:solidFill>
                          <a:effectLst/>
                          <a:latin typeface="微软雅黑" panose="020B0503020204020204" charset="-122"/>
                          <a:ea typeface="微软雅黑" panose="020B0503020204020204" charset="-122"/>
                        </a:rPr>
                        <a:t>责任人</a:t>
                      </a:r>
                      <a:endParaRPr lang="zh-CN" altLang="en-US" sz="2000" b="1" i="0" u="none" strike="noStrike" dirty="0">
                        <a:solidFill>
                          <a:srgbClr val="FFFFFF"/>
                        </a:solidFill>
                        <a:effectLst/>
                        <a:latin typeface="微软雅黑" panose="020B0503020204020204" charset="-122"/>
                        <a:ea typeface="微软雅黑" panose="020B0503020204020204" charset="-122"/>
                      </a:endParaRPr>
                    </a:p>
                  </a:txBody>
                  <a:tcPr marL="51435" marR="51435" marT="25717" marB="25717" anchor="ctr">
                    <a:solidFill>
                      <a:srgbClr val="00B0F0"/>
                    </a:solidFill>
                  </a:tcPr>
                </a:tc>
                <a:tc>
                  <a:txBody>
                    <a:bodyPr/>
                    <a:p>
                      <a:pPr algn="ctr" fontAlgn="ctr"/>
                      <a:r>
                        <a:rPr lang="zh-CN" altLang="en-US" sz="2000" b="1" u="none" strike="noStrike" dirty="0">
                          <a:solidFill>
                            <a:srgbClr val="FFFFFF"/>
                          </a:solidFill>
                          <a:effectLst/>
                          <a:latin typeface="微软雅黑" panose="020B0503020204020204" charset="-122"/>
                          <a:ea typeface="微软雅黑" panose="020B0503020204020204" charset="-122"/>
                        </a:rPr>
                        <a:t>完成情况</a:t>
                      </a:r>
                      <a:endParaRPr lang="zh-CN" altLang="en-US" sz="2000" b="1" i="0" u="none" strike="noStrike" dirty="0">
                        <a:solidFill>
                          <a:srgbClr val="FFFFFF"/>
                        </a:solidFill>
                        <a:effectLst/>
                        <a:latin typeface="微软雅黑" panose="020B0503020204020204" charset="-122"/>
                        <a:ea typeface="微软雅黑" panose="020B0503020204020204" charset="-122"/>
                      </a:endParaRPr>
                    </a:p>
                  </a:txBody>
                  <a:tcPr marL="51435" marR="51435" marT="25717" marB="25717" anchor="ctr">
                    <a:solidFill>
                      <a:srgbClr val="00B0F0"/>
                    </a:solidFill>
                  </a:tcPr>
                </a:tc>
              </a:tr>
              <a:tr h="457200">
                <a:tc>
                  <a:txBody>
                    <a:bodyPr/>
                    <a:p>
                      <a:pPr algn="ctr">
                        <a:lnSpc>
                          <a:spcPct val="150000"/>
                        </a:lnSpc>
                        <a:buNone/>
                      </a:pPr>
                      <a:r>
                        <a:rPr lang="en-US" altLang="zh-CN" sz="1600" b="1">
                          <a:latin typeface="微软雅黑" panose="020B0503020204020204" charset="-122"/>
                          <a:ea typeface="微软雅黑" panose="020B0503020204020204" charset="-122"/>
                        </a:rPr>
                        <a:t>1</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工程公司任务跟踪</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持续</a:t>
                      </a:r>
                      <a:endParaRPr lang="zh-CN" altLang="en-US" sz="1400">
                        <a:solidFill>
                          <a:srgbClr val="000000"/>
                        </a:solidFill>
                      </a:endParaRPr>
                    </a:p>
                  </a:txBody>
                  <a:tcPr marL="0" marR="0" marT="0" marB="0" anchor="ctr" anchorCtr="0"/>
                </a:tc>
              </a:tr>
              <a:tr h="457200">
                <a:tc>
                  <a:txBody>
                    <a:bodyPr/>
                    <a:p>
                      <a:pPr algn="ctr">
                        <a:lnSpc>
                          <a:spcPct val="150000"/>
                        </a:lnSpc>
                        <a:buNone/>
                      </a:pPr>
                      <a:r>
                        <a:rPr lang="en-US" altLang="zh-CN" sz="1600" b="1">
                          <a:latin typeface="微软雅黑" panose="020B0503020204020204" charset="-122"/>
                          <a:ea typeface="微软雅黑" panose="020B0503020204020204" charset="-122"/>
                        </a:rPr>
                        <a:t>2</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中心任务跟踪</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持续</a:t>
                      </a:r>
                      <a:endParaRPr lang="zh-CN" altLang="en-US" sz="1400">
                        <a:solidFill>
                          <a:srgbClr val="000000"/>
                        </a:solidFill>
                      </a:endParaRPr>
                    </a:p>
                  </a:txBody>
                  <a:tcPr marL="0" marR="0" marT="0" marB="0" anchor="ctr" anchorCtr="0"/>
                </a:tc>
              </a:tr>
              <a:tr h="457200">
                <a:tc>
                  <a:txBody>
                    <a:bodyPr/>
                    <a:p>
                      <a:pPr algn="ctr">
                        <a:lnSpc>
                          <a:spcPct val="150000"/>
                        </a:lnSpc>
                        <a:buNone/>
                      </a:pPr>
                      <a:r>
                        <a:rPr lang="en-US" altLang="zh-CN" sz="1600" b="1">
                          <a:latin typeface="微软雅黑" panose="020B0503020204020204" charset="-122"/>
                          <a:ea typeface="微软雅黑" panose="020B0503020204020204" charset="-122"/>
                        </a:rPr>
                        <a:t>3</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en-US" altLang="zh-CN" sz="1400">
                          <a:solidFill>
                            <a:srgbClr val="000000"/>
                          </a:solidFill>
                        </a:rPr>
                        <a:t>8</a:t>
                      </a:r>
                      <a:r>
                        <a:rPr lang="zh-CN" altLang="en-US" sz="1400">
                          <a:solidFill>
                            <a:srgbClr val="000000"/>
                          </a:solidFill>
                        </a:rPr>
                        <a:t>月份危大工程信息报送</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谭健健</a:t>
                      </a:r>
                      <a:endParaRPr lang="zh-CN" altLang="en-US" sz="1400">
                        <a:solidFill>
                          <a:srgbClr val="000000"/>
                        </a:solidFill>
                      </a:endParaRPr>
                    </a:p>
                  </a:txBody>
                  <a:tcPr marL="0" marR="0" marT="0" marB="0" anchor="ctr" anchorCtr="0"/>
                </a:tc>
                <a:tc>
                  <a:txBody>
                    <a:bodyPr/>
                    <a:p>
                      <a:pPr algn="ctr" fontAlgn="ctr" latinLnBrk="0"/>
                      <a:r>
                        <a:rPr lang="en-US" altLang="zh-CN" sz="1400">
                          <a:solidFill>
                            <a:srgbClr val="000000"/>
                          </a:solidFill>
                        </a:rPr>
                        <a:t>7</a:t>
                      </a:r>
                      <a:r>
                        <a:rPr lang="zh-CN" altLang="en-US" sz="1400">
                          <a:solidFill>
                            <a:srgbClr val="000000"/>
                          </a:solidFill>
                        </a:rPr>
                        <a:t>月</a:t>
                      </a:r>
                      <a:r>
                        <a:rPr lang="en-US" altLang="zh-CN" sz="1400">
                          <a:solidFill>
                            <a:srgbClr val="000000"/>
                          </a:solidFill>
                        </a:rPr>
                        <a:t>24</a:t>
                      </a:r>
                      <a:r>
                        <a:rPr lang="zh-CN" altLang="en-US" sz="1400">
                          <a:solidFill>
                            <a:srgbClr val="000000"/>
                          </a:solidFill>
                        </a:rPr>
                        <a:t>日</a:t>
                      </a:r>
                      <a:endParaRPr lang="zh-CN" altLang="en-US" sz="1400">
                        <a:solidFill>
                          <a:srgbClr val="000000"/>
                        </a:solidFill>
                      </a:endParaRPr>
                    </a:p>
                  </a:txBody>
                  <a:tcPr marL="0" marR="0" marT="0" marB="0" anchor="ctr" anchorCtr="0"/>
                </a:tc>
              </a:tr>
              <a:tr h="457200">
                <a:tc>
                  <a:txBody>
                    <a:bodyPr/>
                    <a:p>
                      <a:pPr algn="ctr">
                        <a:lnSpc>
                          <a:spcPct val="150000"/>
                        </a:lnSpc>
                        <a:buNone/>
                      </a:pPr>
                      <a:r>
                        <a:rPr lang="en-US" altLang="zh-CN" sz="1600" b="1">
                          <a:latin typeface="微软雅黑" panose="020B0503020204020204" charset="-122"/>
                          <a:ea typeface="微软雅黑" panose="020B0503020204020204" charset="-122"/>
                        </a:rPr>
                        <a:t>4</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altLang="en-US" sz="1400">
                          <a:solidFill>
                            <a:srgbClr val="000000"/>
                          </a:solidFill>
                        </a:rPr>
                        <a:t>应急物资检查隐患整改</a:t>
                      </a:r>
                      <a:endParaRPr lang="zh-CN" altLang="en-US" sz="1400">
                        <a:solidFill>
                          <a:srgbClr val="000000"/>
                        </a:solidFill>
                      </a:endParaRPr>
                    </a:p>
                  </a:txBody>
                  <a:tcPr marL="0" marR="0" marT="0" marB="0" anchor="ctr" anchorCtr="0"/>
                </a:tc>
                <a:tc>
                  <a:txBody>
                    <a:bodyPr/>
                    <a:p>
                      <a:pPr algn="ctr" fontAlgn="ctr" latinLnBrk="0"/>
                      <a:r>
                        <a:rPr lang="zh-CN" altLang="en-US" sz="1400">
                          <a:solidFill>
                            <a:srgbClr val="000000"/>
                          </a:solidFill>
                        </a:rPr>
                        <a:t>韦瑞铭</a:t>
                      </a:r>
                      <a:endParaRPr lang="zh-CN" altLang="en-US" sz="1400">
                        <a:solidFill>
                          <a:srgbClr val="000000"/>
                        </a:solidFill>
                      </a:endParaRPr>
                    </a:p>
                  </a:txBody>
                  <a:tcPr marL="0" marR="0" marT="0" marB="0" anchor="ctr" anchorCtr="0"/>
                </a:tc>
                <a:tc>
                  <a:txBody>
                    <a:bodyPr/>
                    <a:p>
                      <a:pPr algn="ctr" fontAlgn="ctr" latinLnBrk="0"/>
                      <a:r>
                        <a:rPr lang="en-US" altLang="zh-CN" sz="1400">
                          <a:solidFill>
                            <a:srgbClr val="000000"/>
                          </a:solidFill>
                        </a:rPr>
                        <a:t>7.31</a:t>
                      </a:r>
                      <a:endParaRPr lang="en-US" altLang="zh-CN" sz="1400">
                        <a:solidFill>
                          <a:srgbClr val="000000"/>
                        </a:solidFill>
                      </a:endParaRPr>
                    </a:p>
                  </a:txBody>
                  <a:tcPr marL="0" marR="0" marT="0" marB="0" anchor="ctr" anchorCtr="0"/>
                </a:tc>
              </a:tr>
              <a:tr h="457200">
                <a:tc>
                  <a:txBody>
                    <a:bodyPr/>
                    <a:p>
                      <a:pPr algn="ctr">
                        <a:lnSpc>
                          <a:spcPct val="150000"/>
                        </a:lnSpc>
                        <a:buNone/>
                      </a:pPr>
                      <a:r>
                        <a:rPr lang="en-US" altLang="zh-CN" sz="1600" b="1">
                          <a:latin typeface="微软雅黑" panose="020B0503020204020204" charset="-122"/>
                          <a:ea typeface="微软雅黑" panose="020B0503020204020204" charset="-122"/>
                        </a:rPr>
                        <a:t>5</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r>
                        <a:rPr lang="zh-CN" sz="1400">
                          <a:solidFill>
                            <a:srgbClr val="000000"/>
                          </a:solidFill>
                        </a:rPr>
                        <a:t>组织</a:t>
                      </a:r>
                      <a:r>
                        <a:rPr lang="en-US" altLang="zh-CN" sz="1400">
                          <a:solidFill>
                            <a:srgbClr val="000000"/>
                          </a:solidFill>
                        </a:rPr>
                        <a:t>8</a:t>
                      </a:r>
                      <a:r>
                        <a:rPr lang="zh-CN" altLang="en-US" sz="1400">
                          <a:solidFill>
                            <a:srgbClr val="000000"/>
                          </a:solidFill>
                        </a:rPr>
                        <a:t>月年度复训</a:t>
                      </a:r>
                      <a:endParaRPr lang="zh-CN" altLang="en-US" sz="1400">
                        <a:solidFill>
                          <a:srgbClr val="000000"/>
                        </a:solidFill>
                      </a:endParaRPr>
                    </a:p>
                  </a:txBody>
                  <a:tcPr marL="0" marR="0" marT="0" marB="0" anchor="ctr" anchorCtr="0"/>
                </a:tc>
                <a:tc>
                  <a:txBody>
                    <a:bodyPr/>
                    <a:p>
                      <a:pPr algn="ctr" fontAlgn="ctr" latinLnBrk="0"/>
                      <a:r>
                        <a:rPr lang="zh-CN" sz="1400">
                          <a:solidFill>
                            <a:srgbClr val="000000"/>
                          </a:solidFill>
                        </a:rPr>
                        <a:t>邓宇聪</a:t>
                      </a:r>
                      <a:endParaRPr lang="zh-CN" sz="1400">
                        <a:solidFill>
                          <a:srgbClr val="000000"/>
                        </a:solidFill>
                      </a:endParaRPr>
                    </a:p>
                  </a:txBody>
                  <a:tcPr marL="0" marR="0" marT="0" marB="0" anchor="ctr" anchorCtr="0"/>
                </a:tc>
                <a:tc>
                  <a:txBody>
                    <a:bodyPr/>
                    <a:p>
                      <a:pPr algn="ctr" fontAlgn="ctr" latinLnBrk="0"/>
                      <a:r>
                        <a:rPr lang="en-US" sz="1400">
                          <a:solidFill>
                            <a:srgbClr val="000000"/>
                          </a:solidFill>
                        </a:rPr>
                        <a:t>7.26</a:t>
                      </a:r>
                      <a:endParaRPr lang="en-US" sz="1400">
                        <a:solidFill>
                          <a:srgbClr val="000000"/>
                        </a:solidFill>
                      </a:endParaRPr>
                    </a:p>
                  </a:txBody>
                  <a:tcPr marL="0" marR="0" marT="0" marB="0" anchor="ctr" anchorCtr="0"/>
                </a:tc>
              </a:tr>
              <a:tr h="457200">
                <a:tc>
                  <a:txBody>
                    <a:bodyPr/>
                    <a:p>
                      <a:pPr algn="ctr">
                        <a:lnSpc>
                          <a:spcPct val="150000"/>
                        </a:lnSpc>
                        <a:buNone/>
                      </a:pPr>
                      <a:r>
                        <a:rPr lang="en-US" altLang="zh-CN" sz="1600" b="1">
                          <a:latin typeface="微软雅黑" panose="020B0503020204020204" charset="-122"/>
                          <a:ea typeface="微软雅黑" panose="020B0503020204020204" charset="-122"/>
                        </a:rPr>
                        <a:t>6</a:t>
                      </a:r>
                      <a:endParaRPr lang="en-US" altLang="zh-CN" sz="1600" b="1">
                        <a:latin typeface="微软雅黑" panose="020B0503020204020204" charset="-122"/>
                        <a:ea typeface="微软雅黑" panose="020B0503020204020204" charset="-122"/>
                      </a:endParaRPr>
                    </a:p>
                  </a:txBody>
                  <a:tcPr anchor="ctr" anchorCtr="0"/>
                </a:tc>
                <a:tc>
                  <a:txBody>
                    <a:bodyPr/>
                    <a:p>
                      <a:pPr algn="ctr" fontAlgn="ctr" latinLnBrk="0">
                        <a:buNone/>
                      </a:pPr>
                      <a:r>
                        <a:rPr lang="zh-CN" altLang="en-US" sz="1400">
                          <a:solidFill>
                            <a:srgbClr val="000000"/>
                          </a:solidFill>
                        </a:rPr>
                        <a:t>每日总监日会任务</a:t>
                      </a:r>
                      <a:r>
                        <a:rPr lang="zh-CN" altLang="en-US" sz="1400">
                          <a:solidFill>
                            <a:srgbClr val="000000"/>
                          </a:solidFill>
                        </a:rPr>
                        <a:t>跟踪</a:t>
                      </a:r>
                      <a:endParaRPr lang="zh-CN" altLang="en-US" sz="1400">
                        <a:solidFill>
                          <a:srgbClr val="000000"/>
                        </a:solidFill>
                      </a:endParaRPr>
                    </a:p>
                  </a:txBody>
                  <a:tcPr marL="0" marR="0" marT="0" marB="0" anchor="ctr" anchorCtr="0"/>
                </a:tc>
                <a:tc>
                  <a:txBody>
                    <a:bodyPr/>
                    <a:p>
                      <a:pPr algn="ctr" fontAlgn="ctr" latinLnBrk="0">
                        <a:buNone/>
                      </a:pPr>
                      <a:r>
                        <a:rPr lang="zh-CN" altLang="en-US" sz="1400">
                          <a:solidFill>
                            <a:srgbClr val="000000"/>
                          </a:solidFill>
                        </a:rPr>
                        <a:t>唐星民</a:t>
                      </a:r>
                      <a:endParaRPr lang="zh-CN" altLang="en-US" sz="1400">
                        <a:solidFill>
                          <a:srgbClr val="000000"/>
                        </a:solidFill>
                      </a:endParaRPr>
                    </a:p>
                  </a:txBody>
                  <a:tcPr marL="0" marR="0" marT="0" marB="0" anchor="ctr" anchorCtr="0"/>
                </a:tc>
                <a:tc>
                  <a:txBody>
                    <a:bodyPr/>
                    <a:p>
                      <a:pPr algn="ctr" fontAlgn="ctr" latinLnBrk="0">
                        <a:buNone/>
                      </a:pPr>
                      <a:r>
                        <a:rPr lang="zh-CN" altLang="en-US" sz="1400">
                          <a:solidFill>
                            <a:srgbClr val="000000"/>
                          </a:solidFill>
                        </a:rPr>
                        <a:t>持续</a:t>
                      </a:r>
                      <a:endParaRPr lang="zh-CN" altLang="en-US" sz="1400">
                        <a:solidFill>
                          <a:srgbClr val="000000"/>
                        </a:solidFill>
                      </a:endParaRPr>
                    </a:p>
                  </a:txBody>
                  <a:tcPr marL="0" marR="0" marT="0" marB="0" anchor="ctr" anchorCtr="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610870"/>
            <a:ext cx="10955020" cy="431800"/>
            <a:chOff x="880" y="962"/>
            <a:chExt cx="17252" cy="680"/>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grpSp>
      <p:sp>
        <p:nvSpPr>
          <p:cNvPr id="13" name="文本框 12"/>
          <p:cNvSpPr txBox="1"/>
          <p:nvPr>
            <p:custDataLst>
              <p:tags r:id="rId3"/>
            </p:custDataLst>
          </p:nvPr>
        </p:nvSpPr>
        <p:spPr>
          <a:xfrm>
            <a:off x="706755" y="525780"/>
            <a:ext cx="10514965" cy="46037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三、</a:t>
            </a:r>
            <a:r>
              <a:rPr lang="zh-CN" altLang="en-US" sz="2400" b="1" dirty="0">
                <a:solidFill>
                  <a:srgbClr val="00B0F0"/>
                </a:solidFill>
                <a:latin typeface="微软雅黑" panose="020B0503020204020204" charset="-122"/>
                <a:ea typeface="微软雅黑" panose="020B0503020204020204" charset="-122"/>
                <a:sym typeface="+mn-ea"/>
              </a:rPr>
              <a:t>近期典型事件经验反馈</a:t>
            </a:r>
            <a:endParaRPr lang="zh-CN" altLang="en-US" sz="2400" b="1" spc="300" dirty="0">
              <a:solidFill>
                <a:srgbClr val="00B0F0"/>
              </a:solidFill>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4"/>
            </p:custDataLst>
          </p:nvPr>
        </p:nvGraphicFramePr>
        <p:xfrm>
          <a:off x="695325" y="1268730"/>
          <a:ext cx="10732135" cy="4834255"/>
        </p:xfrm>
        <a:graphic>
          <a:graphicData uri="http://schemas.openxmlformats.org/drawingml/2006/table">
            <a:tbl>
              <a:tblPr firstRow="1" bandRow="1">
                <a:tableStyleId>{5940675A-B579-460E-94D1-54222C63F5DA}</a:tableStyleId>
              </a:tblPr>
              <a:tblGrid>
                <a:gridCol w="1116965"/>
                <a:gridCol w="9615170"/>
              </a:tblGrid>
              <a:tr h="396240">
                <a:tc>
                  <a:txBody>
                    <a:bodyPr/>
                    <a:p>
                      <a:pPr algn="ctr">
                        <a:buNone/>
                      </a:pPr>
                      <a:r>
                        <a:rPr lang="zh-CN" altLang="en-US" b="1">
                          <a:latin typeface="微软雅黑" panose="020B0503020204020204" charset="-122"/>
                          <a:ea typeface="微软雅黑" panose="020B0503020204020204" charset="-122"/>
                        </a:rPr>
                        <a:t>事件主题</a:t>
                      </a:r>
                      <a:endParaRPr lang="zh-CN" altLang="en-US" b="1">
                        <a:latin typeface="微软雅黑" panose="020B0503020204020204" charset="-122"/>
                        <a:ea typeface="微软雅黑" panose="020B0503020204020204" charset="-122"/>
                      </a:endParaRPr>
                    </a:p>
                  </a:txBody>
                  <a:tcPr anchor="ctr" anchorCtr="0">
                    <a:solidFill>
                      <a:srgbClr val="0091F6"/>
                    </a:solidFill>
                  </a:tcPr>
                </a:tc>
                <a:tc>
                  <a:txBody>
                    <a:bodyPr/>
                    <a:p>
                      <a:pPr>
                        <a:buNone/>
                      </a:pPr>
                      <a:r>
                        <a:rPr lang="zh-CN" altLang="en-US" sz="2000" b="1">
                          <a:latin typeface="微软雅黑" panose="020B0503020204020204" charset="-122"/>
                          <a:ea typeface="微软雅黑" panose="020B0503020204020204" charset="-122"/>
                        </a:rPr>
                        <a:t>工程大厦惠阳建筑7月9日火险事件的经验反馈</a:t>
                      </a:r>
                      <a:endParaRPr lang="zh-CN" altLang="en-US" sz="2000" b="1">
                        <a:latin typeface="微软雅黑" panose="020B0503020204020204" charset="-122"/>
                        <a:ea typeface="微软雅黑" panose="020B0503020204020204" charset="-122"/>
                      </a:endParaRPr>
                    </a:p>
                  </a:txBody>
                  <a:tcPr anchor="ctr" anchorCtr="0"/>
                </a:tc>
              </a:tr>
              <a:tr h="2110740">
                <a:tc gridSpan="2">
                  <a:txBody>
                    <a:bodyPr/>
                    <a:p>
                      <a:pPr algn="l">
                        <a:buNone/>
                      </a:pPr>
                      <a:r>
                        <a:rPr lang="zh-CN" altLang="en-US" sz="1800">
                          <a:latin typeface="微软雅黑" panose="020B0503020204020204" charset="-122"/>
                          <a:ea typeface="微软雅黑" panose="020B0503020204020204" charset="-122"/>
                        </a:rPr>
                        <a:t>       2026年7月9日14时21分，工程大厦</a:t>
                      </a:r>
                      <a:r>
                        <a:rPr lang="en-US" altLang="zh-CN" sz="1800">
                          <a:latin typeface="微软雅黑" panose="020B0503020204020204" charset="-122"/>
                          <a:ea typeface="微软雅黑" panose="020B0503020204020204" charset="-122"/>
                        </a:rPr>
                        <a:t>C</a:t>
                      </a:r>
                      <a:r>
                        <a:rPr lang="zh-CN" altLang="en-US" sz="1800">
                          <a:latin typeface="微软雅黑" panose="020B0503020204020204" charset="-122"/>
                          <a:ea typeface="微软雅黑" panose="020B0503020204020204" charset="-122"/>
                        </a:rPr>
                        <a:t>座5楼西侧一</a:t>
                      </a:r>
                      <a:r>
                        <a:rPr lang="zh-CN" altLang="en-US" sz="1800">
                          <a:solidFill>
                            <a:srgbClr val="FF0000"/>
                          </a:solidFill>
                          <a:latin typeface="微软雅黑" panose="020B0503020204020204" charset="-122"/>
                          <a:ea typeface="微软雅黑" panose="020B0503020204020204" charset="-122"/>
                        </a:rPr>
                        <a:t>空置房间烟感报警触发报警提示</a:t>
                      </a:r>
                      <a:r>
                        <a:rPr lang="zh-CN" altLang="en-US" sz="1800">
                          <a:latin typeface="微软雅黑" panose="020B0503020204020204" charset="-122"/>
                          <a:ea typeface="微软雅黑" panose="020B0503020204020204" charset="-122"/>
                        </a:rPr>
                        <a:t>，物业人员在消防中控室发现报警提示后安排附近工作人员前往现场查看，</a:t>
                      </a:r>
                      <a:r>
                        <a:rPr lang="zh-CN" altLang="en-US" sz="1800">
                          <a:solidFill>
                            <a:srgbClr val="FF0000"/>
                          </a:solidFill>
                          <a:latin typeface="微软雅黑" panose="020B0503020204020204" charset="-122"/>
                          <a:ea typeface="微软雅黑" panose="020B0503020204020204" charset="-122"/>
                        </a:rPr>
                        <a:t>发现房间内存在明火并立即开展扑救</a:t>
                      </a:r>
                      <a:r>
                        <a:rPr lang="zh-CN" altLang="en-US" sz="1800">
                          <a:latin typeface="微软雅黑" panose="020B0503020204020204" charset="-122"/>
                          <a:ea typeface="微软雅黑" panose="020B0503020204020204" charset="-122"/>
                        </a:rPr>
                        <a:t>，14时23分明火被扑灭，现场墙壁约0.15㎡过火损伤。本次事件未造成人员伤亡及其他财产损失。</a:t>
                      </a:r>
                      <a:endParaRPr lang="zh-CN" altLang="en-US" sz="1800">
                        <a:latin typeface="微软雅黑" panose="020B0503020204020204" charset="-122"/>
                        <a:ea typeface="微软雅黑" panose="020B0503020204020204" charset="-122"/>
                      </a:endParaRPr>
                    </a:p>
                  </a:txBody>
                  <a:tcPr anchor="t" anchorCtr="0"/>
                </a:tc>
                <a:tc hMerge="1">
                  <a:tcPr anchor="t" anchorCtr="0"/>
                </a:tc>
              </a:tr>
              <a:tr h="914400">
                <a:tc>
                  <a:txBody>
                    <a:bodyPr/>
                    <a:p>
                      <a:pPr algn="ctr">
                        <a:buNone/>
                      </a:pPr>
                      <a:r>
                        <a:rPr lang="zh-CN" altLang="en-US" b="1">
                          <a:latin typeface="微软雅黑" panose="020B0503020204020204" charset="-122"/>
                          <a:ea typeface="微软雅黑" panose="020B0503020204020204" charset="-122"/>
                        </a:rPr>
                        <a:t>原因分析</a:t>
                      </a:r>
                      <a:endParaRPr lang="zh-CN" altLang="en-US" b="1">
                        <a:latin typeface="微软雅黑" panose="020B0503020204020204" charset="-122"/>
                        <a:ea typeface="微软雅黑" panose="020B0503020204020204" charset="-122"/>
                      </a:endParaRPr>
                    </a:p>
                  </a:txBody>
                  <a:tcPr anchor="ctr" anchorCtr="0">
                    <a:noFill/>
                  </a:tcPr>
                </a:tc>
                <a:tc>
                  <a:txBody>
                    <a:bodyPr/>
                    <a:p>
                      <a:pPr>
                        <a:buNone/>
                      </a:pPr>
                      <a:r>
                        <a:rPr lang="zh-CN" altLang="en-US">
                          <a:solidFill>
                            <a:schemeClr val="tx1"/>
                          </a:solidFill>
                          <a:latin typeface="微软雅黑" panose="020B0503020204020204" charset="-122"/>
                          <a:ea typeface="微软雅黑" panose="020B0503020204020204" charset="-122"/>
                        </a:rPr>
                        <a:t> </a:t>
                      </a:r>
                      <a:r>
                        <a:rPr lang="en-US" altLang="zh-CN">
                          <a:solidFill>
                            <a:schemeClr val="tx1"/>
                          </a:solidFill>
                          <a:latin typeface="微软雅黑" panose="020B0503020204020204" charset="-122"/>
                          <a:ea typeface="微软雅黑" panose="020B0503020204020204" charset="-122"/>
                        </a:rPr>
                        <a:t>      </a:t>
                      </a:r>
                      <a:r>
                        <a:rPr lang="zh-CN" altLang="en-US">
                          <a:solidFill>
                            <a:schemeClr val="tx1"/>
                          </a:solidFill>
                          <a:latin typeface="微软雅黑" panose="020B0503020204020204" charset="-122"/>
                          <a:ea typeface="微软雅黑" panose="020B0503020204020204" charset="-122"/>
                        </a:rPr>
                        <a:t>起火原因为施工人员违反大厦管理规定，</a:t>
                      </a:r>
                      <a:r>
                        <a:rPr lang="zh-CN" altLang="en-US">
                          <a:solidFill>
                            <a:srgbClr val="FF0000"/>
                          </a:solidFill>
                          <a:latin typeface="微软雅黑" panose="020B0503020204020204" charset="-122"/>
                          <a:ea typeface="微软雅黑" panose="020B0503020204020204" charset="-122"/>
                        </a:rPr>
                        <a:t>擅自在该房间内吸烟，并将未熄灭的烟头丢弃至现场塑料杂物中，引燃杂物导致火情</a:t>
                      </a:r>
                      <a:r>
                        <a:rPr lang="zh-CN" altLang="en-US">
                          <a:solidFill>
                            <a:schemeClr val="tx1"/>
                          </a:solidFill>
                          <a:latin typeface="微软雅黑" panose="020B0503020204020204" charset="-122"/>
                          <a:ea typeface="微软雅黑" panose="020B0503020204020204" charset="-122"/>
                        </a:rPr>
                        <a:t>。</a:t>
                      </a:r>
                      <a:endParaRPr lang="zh-CN" altLang="en-US">
                        <a:solidFill>
                          <a:schemeClr val="tx1"/>
                        </a:solidFill>
                        <a:latin typeface="微软雅黑" panose="020B0503020204020204" charset="-122"/>
                        <a:ea typeface="微软雅黑" panose="020B0503020204020204" charset="-122"/>
                      </a:endParaRPr>
                    </a:p>
                  </a:txBody>
                  <a:tcPr anchor="ctr" anchorCtr="0"/>
                </a:tc>
              </a:tr>
              <a:tr h="1412875">
                <a:tc>
                  <a:txBody>
                    <a:bodyPr/>
                    <a:p>
                      <a:pPr algn="ctr">
                        <a:buNone/>
                      </a:pPr>
                      <a:r>
                        <a:rPr lang="zh-CN" altLang="en-US" b="1">
                          <a:latin typeface="微软雅黑" panose="020B0503020204020204" charset="-122"/>
                          <a:ea typeface="微软雅黑" panose="020B0503020204020204" charset="-122"/>
                        </a:rPr>
                        <a:t>反馈要点</a:t>
                      </a:r>
                      <a:endParaRPr lang="zh-CN" altLang="en-US" b="1">
                        <a:latin typeface="微软雅黑" panose="020B0503020204020204" charset="-122"/>
                        <a:ea typeface="微软雅黑" panose="020B0503020204020204" charset="-122"/>
                      </a:endParaRPr>
                    </a:p>
                  </a:txBody>
                  <a:tcPr anchor="ctr" anchorCtr="0">
                    <a:noFill/>
                  </a:tcPr>
                </a:tc>
                <a:tc>
                  <a:txBody>
                    <a:bodyPr/>
                    <a:p>
                      <a:pPr marL="254000" indent="0" algn="l" defTabSz="914400" eaLnBrk="1" hangingPunct="1">
                        <a:lnSpc>
                          <a:spcPct val="100000"/>
                        </a:lnSpc>
                        <a:buFont typeface="+mj-lt"/>
                        <a:buNone/>
                        <a:defRPr/>
                      </a:pPr>
                      <a:r>
                        <a:rPr lang="en-US" altLang="zh-CN" sz="1800" b="0" dirty="0">
                          <a:solidFill>
                            <a:srgbClr val="FF0000"/>
                          </a:solidFill>
                          <a:latin typeface="微软雅黑" panose="020B0503020204020204" charset="-122"/>
                          <a:ea typeface="微软雅黑" panose="020B0503020204020204" charset="-122"/>
                          <a:cs typeface="微软雅黑" panose="020B0503020204020204" charset="-122"/>
                        </a:rPr>
                        <a:t>    </a:t>
                      </a:r>
                      <a:r>
                        <a:rPr lang="zh-CN" altLang="en-US" sz="1800" b="0" dirty="0">
                          <a:solidFill>
                            <a:srgbClr val="FF0000"/>
                          </a:solidFill>
                          <a:latin typeface="微软雅黑" panose="020B0503020204020204" charset="-122"/>
                          <a:ea typeface="微软雅黑" panose="020B0503020204020204" charset="-122"/>
                          <a:cs typeface="微软雅黑" panose="020B0503020204020204" charset="-122"/>
                        </a:rPr>
                        <a:t>禁止在非吸烟区吸烟。</a:t>
                      </a:r>
                      <a:endParaRPr lang="zh-CN" altLang="en-US" sz="1800" b="0" dirty="0">
                        <a:solidFill>
                          <a:srgbClr val="FF0000"/>
                        </a:solidFill>
                        <a:latin typeface="微软雅黑" panose="020B0503020204020204" charset="-122"/>
                        <a:ea typeface="微软雅黑" panose="020B0503020204020204" charset="-122"/>
                        <a:cs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471805"/>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五、其他任务项及宣贯</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95400" y="1217092"/>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、每会一学</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9" name="表格 8"/>
          <p:cNvGraphicFramePr/>
          <p:nvPr>
            <p:custDataLst>
              <p:tags r:id="rId4"/>
            </p:custDataLst>
          </p:nvPr>
        </p:nvGraphicFramePr>
        <p:xfrm>
          <a:off x="695325" y="1647190"/>
          <a:ext cx="10514965" cy="4636770"/>
        </p:xfrm>
        <a:graphic>
          <a:graphicData uri="http://schemas.openxmlformats.org/drawingml/2006/table">
            <a:tbl>
              <a:tblPr firstRow="1" bandRow="1">
                <a:tableStyleId>{5940675A-B579-460E-94D1-54222C63F5DA}</a:tableStyleId>
              </a:tblPr>
              <a:tblGrid>
                <a:gridCol w="10514965"/>
              </a:tblGrid>
              <a:tr h="713740">
                <a:tc>
                  <a:txBody>
                    <a:bodyPr/>
                    <a:p>
                      <a:pPr algn="ctr">
                        <a:lnSpc>
                          <a:spcPct val="120000"/>
                        </a:lnSpc>
                        <a:spcBef>
                          <a:spcPts val="0"/>
                        </a:spcBef>
                        <a:spcAft>
                          <a:spcPts val="0"/>
                        </a:spcAft>
                        <a:buNone/>
                      </a:pPr>
                      <a:endParaRPr lang="en-US" altLang="zh-CN" sz="2000" b="0" kern="1200" spc="120" dirty="0">
                        <a:solidFill>
                          <a:schemeClr val="bg1"/>
                        </a:solidFill>
                        <a:latin typeface="微软雅黑" panose="020B0503020204020204" charset="-122"/>
                        <a:ea typeface="微软雅黑" panose="020B0503020204020204" charset="-122"/>
                      </a:endParaRPr>
                    </a:p>
                  </a:txBody>
                  <a:tcPr marL="25400" marR="25400" marT="6350" marB="6350" anchor="ctr">
                    <a:solidFill>
                      <a:srgbClr val="00B0F0"/>
                    </a:solidFill>
                  </a:tcPr>
                </a:tc>
              </a:tr>
              <a:tr h="3923030">
                <a:tc>
                  <a:txBody>
                    <a:bodyPr/>
                    <a:p>
                      <a:pPr algn="ctr" fontAlgn="ctr" latinLnBrk="0">
                        <a:buClrTx/>
                        <a:buSzTx/>
                        <a:buFontTx/>
                      </a:pPr>
                      <a:endParaRPr lang="zh-CN" altLang="en-US" sz="1600" b="0">
                        <a:solidFill>
                          <a:schemeClr val="tx1"/>
                        </a:solidFill>
                        <a:latin typeface="微软雅黑" panose="020B0503020204020204" charset="-122"/>
                        <a:ea typeface="微软雅黑" panose="020B0503020204020204" charset="-122"/>
                      </a:endParaRPr>
                    </a:p>
                  </a:txBody>
                  <a:tcPr marL="0" marR="0" marT="0" marB="0" anchor="ctr" anchorCtr="0"/>
                </a:tc>
              </a:tr>
            </a:tbl>
          </a:graphicData>
        </a:graphic>
      </p:graphicFrame>
      <p:graphicFrame>
        <p:nvGraphicFramePr>
          <p:cNvPr id="5" name="对象 4">
            <a:hlinkClick r:id="" action="ppaction://ole?verb="/>
          </p:cNvPr>
          <p:cNvGraphicFramePr>
            <a:graphicFrameLocks noChangeAspect="1"/>
          </p:cNvGraphicFramePr>
          <p:nvPr/>
        </p:nvGraphicFramePr>
        <p:xfrm>
          <a:off x="5610225" y="3095625"/>
          <a:ext cx="971550" cy="666750"/>
        </p:xfrm>
        <a:graphic>
          <a:graphicData uri="http://schemas.openxmlformats.org/presentationml/2006/ole">
            <mc:AlternateContent xmlns:mc="http://schemas.openxmlformats.org/markup-compatibility/2006">
              <mc:Choice xmlns:v="urn:schemas-microsoft-com:vml" Requires="v">
                <p:oleObj spid="_x0000_s1026" name="" showAsIcon="1" r:id="rId5" imgW="971550" imgH="666750" progId="Package">
                  <p:embed/>
                </p:oleObj>
              </mc:Choice>
              <mc:Fallback>
                <p:oleObj name="" showAsIcon="1" r:id="rId5" imgW="971550" imgH="666750" progId="Package">
                  <p:embed/>
                  <p:pic>
                    <p:nvPicPr>
                      <p:cNvPr id="0" name="图片 1025"/>
                      <p:cNvPicPr/>
                      <p:nvPr/>
                    </p:nvPicPr>
                    <p:blipFill>
                      <a:blip r:embed="rId6"/>
                      <a:stretch>
                        <a:fillRect/>
                      </a:stretch>
                    </p:blipFill>
                    <p:spPr>
                      <a:xfrm>
                        <a:off x="5610225" y="3095625"/>
                        <a:ext cx="971550" cy="666750"/>
                      </a:xfrm>
                      <a:prstGeom prst="rect">
                        <a:avLst/>
                      </a:prstGeom>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0025" y="471805"/>
            <a:ext cx="11021695" cy="516890"/>
            <a:chOff x="880" y="828"/>
            <a:chExt cx="17357" cy="814"/>
          </a:xfrm>
        </p:grpSpPr>
        <p:sp>
          <p:nvSpPr>
            <p:cNvPr id="24" name="任意多边形 8"/>
            <p:cNvSpPr/>
            <p:nvPr>
              <p:custDataLst>
                <p:tags r:id="rId1"/>
              </p:custDataLst>
            </p:nvPr>
          </p:nvSpPr>
          <p:spPr>
            <a:xfrm>
              <a:off x="880" y="962"/>
              <a:ext cx="647" cy="680"/>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7EC234"/>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3" name="任意多边形 7"/>
            <p:cNvSpPr/>
            <p:nvPr>
              <p:custDataLst>
                <p:tags r:id="rId2"/>
              </p:custDataLst>
            </p:nvPr>
          </p:nvSpPr>
          <p:spPr>
            <a:xfrm flipV="1">
              <a:off x="1691" y="1557"/>
              <a:ext cx="16441" cy="85"/>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59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汉仪中简黑简" panose="00020600040101010101" charset="-122"/>
                <a:ea typeface="汉仪中简黑简" panose="00020600040101010101" charset="-122"/>
                <a:sym typeface="MS Reference Sans Serif" panose="020B0604030504040204" charset="0"/>
              </a:endParaRPr>
            </a:p>
          </p:txBody>
        </p:sp>
        <p:sp>
          <p:nvSpPr>
            <p:cNvPr id="13" name="文本框 12"/>
            <p:cNvSpPr txBox="1"/>
            <p:nvPr/>
          </p:nvSpPr>
          <p:spPr>
            <a:xfrm>
              <a:off x="1678" y="828"/>
              <a:ext cx="16559" cy="725"/>
            </a:xfrm>
            <a:prstGeom prst="rect">
              <a:avLst/>
            </a:prstGeom>
            <a:noFill/>
          </p:spPr>
          <p:txBody>
            <a:bodyPr wrap="square" rtlCol="0">
              <a:spAutoFit/>
            </a:bodyPr>
            <a:lstStyle/>
            <a:p>
              <a:pPr marL="0" lvl="1">
                <a:spcBef>
                  <a:spcPct val="20000"/>
                </a:spcBef>
                <a:defRPr/>
              </a:pPr>
              <a:r>
                <a:rPr lang="zh-CN" sz="2400" b="1" kern="0" dirty="0">
                  <a:solidFill>
                    <a:srgbClr val="0599D9"/>
                  </a:solidFill>
                  <a:latin typeface="微软雅黑" panose="020B0503020204020204" charset="-122"/>
                  <a:ea typeface="微软雅黑" panose="020B0503020204020204" charset="-122"/>
                  <a:sym typeface="微软雅黑" panose="020B0503020204020204" charset="-122"/>
                </a:rPr>
                <a:t>五、其他任务项及宣贯</a:t>
              </a:r>
              <a:endParaRPr lang="zh-CN" sz="2400" b="1" spc="300" dirty="0">
                <a:solidFill>
                  <a:srgbClr val="0599D9">
                    <a:alpha val="100000"/>
                  </a:srgbClr>
                </a:solidFill>
                <a:ea typeface="微软雅黑" panose="020B0503020204020204" charset="-122"/>
              </a:endParaRPr>
            </a:p>
          </p:txBody>
        </p:sp>
      </p:grpSp>
      <p:sp>
        <p:nvSpPr>
          <p:cNvPr id="25" name="标题 3" descr="7b0a202020202262756c6c6574223a20227b5c2263617465676f727949645c223a31303030362c5c2274656d706c61746549645c223a32303233313235337d222c0a20202020227461726765744d6f64756c65223a20226b6f6e6c696e65776f7264617274220a7d0a"/>
          <p:cNvSpPr txBox="1"/>
          <p:nvPr>
            <p:custDataLst>
              <p:tags r:id="rId3"/>
            </p:custDataLst>
          </p:nvPr>
        </p:nvSpPr>
        <p:spPr>
          <a:xfrm>
            <a:off x="695400" y="1217092"/>
            <a:ext cx="11233248" cy="429895"/>
          </a:xfrm>
          <a:prstGeom prst="rect">
            <a:avLst/>
          </a:prstGeom>
        </p:spPr>
        <p:txBody>
          <a:bodyPr wrap="square">
            <a:sp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2pPr>
            <a:lvl3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3pPr>
            <a:lvl4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4pPr>
            <a:lvl5pPr algn="ctr" rtl="0" eaLnBrk="0" fontAlgn="base" hangingPunct="0">
              <a:spcBef>
                <a:spcPct val="0"/>
              </a:spcBef>
              <a:spcAft>
                <a:spcPct val="0"/>
              </a:spcAft>
              <a:defRPr sz="4400">
                <a:solidFill>
                  <a:schemeClr val="tx2"/>
                </a:solidFill>
                <a:latin typeface="黑体" panose="02010609060101010101" charset="-122"/>
                <a:ea typeface="黑体" panose="02010609060101010101" charset="-122"/>
              </a:defRPr>
            </a:lvl5pPr>
            <a:lvl6pPr marL="457200" algn="ctr" rtl="0" fontAlgn="base">
              <a:spcBef>
                <a:spcPct val="0"/>
              </a:spcBef>
              <a:spcAft>
                <a:spcPct val="0"/>
              </a:spcAft>
              <a:defRPr sz="4400">
                <a:solidFill>
                  <a:schemeClr val="tx2"/>
                </a:solidFill>
                <a:latin typeface="黑体" panose="02010609060101010101" charset="-122"/>
                <a:ea typeface="黑体" panose="02010609060101010101" charset="-122"/>
              </a:defRPr>
            </a:lvl6pPr>
            <a:lvl7pPr marL="914400" algn="ctr" rtl="0" fontAlgn="base">
              <a:spcBef>
                <a:spcPct val="0"/>
              </a:spcBef>
              <a:spcAft>
                <a:spcPct val="0"/>
              </a:spcAft>
              <a:defRPr sz="4400">
                <a:solidFill>
                  <a:schemeClr val="tx2"/>
                </a:solidFill>
                <a:latin typeface="黑体" panose="02010609060101010101" charset="-122"/>
                <a:ea typeface="黑体" panose="02010609060101010101" charset="-122"/>
              </a:defRPr>
            </a:lvl7pPr>
            <a:lvl8pPr marL="1371600" algn="ctr" rtl="0" fontAlgn="base">
              <a:spcBef>
                <a:spcPct val="0"/>
              </a:spcBef>
              <a:spcAft>
                <a:spcPct val="0"/>
              </a:spcAft>
              <a:defRPr sz="4400">
                <a:solidFill>
                  <a:schemeClr val="tx2"/>
                </a:solidFill>
                <a:latin typeface="黑体" panose="02010609060101010101" charset="-122"/>
                <a:ea typeface="黑体" panose="02010609060101010101" charset="-122"/>
              </a:defRPr>
            </a:lvl8pPr>
            <a:lvl9pPr marL="1828800" algn="ctr" rtl="0" fontAlgn="base">
              <a:spcBef>
                <a:spcPct val="0"/>
              </a:spcBef>
              <a:spcAft>
                <a:spcPct val="0"/>
              </a:spcAft>
              <a:defRPr sz="4400">
                <a:solidFill>
                  <a:schemeClr val="tx2"/>
                </a:solidFill>
                <a:latin typeface="黑体" panose="02010609060101010101" charset="-122"/>
                <a:ea typeface="黑体" panose="02010609060101010101" charset="-122"/>
              </a:defRPr>
            </a:lvl9pPr>
          </a:lstStyle>
          <a:p>
            <a:pPr marL="0" lvl="0" indent="0" algn="just">
              <a:buFont typeface="Wingdings" panose="05000000000000000000" charset="0"/>
              <a:buNone/>
            </a:pPr>
            <a:r>
              <a:rPr lang="en-US" altLang="zh-CN" sz="2200" b="1" dirty="0">
                <a:solidFill>
                  <a:srgbClr val="000000"/>
                </a:solidFill>
                <a:latin typeface="微软雅黑" panose="020B0503020204020204" charset="-122"/>
                <a:ea typeface="微软雅黑" panose="020B0503020204020204" charset="-122"/>
                <a:sym typeface="+mn-ea"/>
              </a:rPr>
              <a:t>15</a:t>
            </a:r>
            <a:r>
              <a:rPr lang="zh-CN" altLang="en-US" sz="2200" b="1" dirty="0">
                <a:solidFill>
                  <a:srgbClr val="000000"/>
                </a:solidFill>
                <a:latin typeface="微软雅黑" panose="020B0503020204020204" charset="-122"/>
                <a:ea typeface="微软雅黑" panose="020B0503020204020204" charset="-122"/>
                <a:sym typeface="+mn-ea"/>
              </a:rPr>
              <a:t>、每会一</a:t>
            </a:r>
            <a:r>
              <a:rPr lang="zh-CN" altLang="en-US" sz="2200" b="1" dirty="0">
                <a:solidFill>
                  <a:srgbClr val="000000"/>
                </a:solidFill>
                <a:latin typeface="微软雅黑" panose="020B0503020204020204" charset="-122"/>
                <a:ea typeface="微软雅黑" panose="020B0503020204020204" charset="-122"/>
                <a:sym typeface="+mn-ea"/>
              </a:rPr>
              <a:t>测</a:t>
            </a:r>
            <a:endParaRPr lang="zh-CN" altLang="en-US" sz="2200" b="1" dirty="0">
              <a:solidFill>
                <a:srgbClr val="000000"/>
              </a:solidFill>
              <a:latin typeface="微软雅黑" panose="020B0503020204020204" charset="-122"/>
              <a:ea typeface="微软雅黑" panose="020B0503020204020204" charset="-122"/>
              <a:sym typeface="+mn-ea"/>
            </a:endParaRPr>
          </a:p>
        </p:txBody>
      </p:sp>
      <p:graphicFrame>
        <p:nvGraphicFramePr>
          <p:cNvPr id="9" name="表格 8"/>
          <p:cNvGraphicFramePr/>
          <p:nvPr>
            <p:custDataLst>
              <p:tags r:id="rId4"/>
            </p:custDataLst>
          </p:nvPr>
        </p:nvGraphicFramePr>
        <p:xfrm>
          <a:off x="695325" y="1647190"/>
          <a:ext cx="10514965" cy="4636770"/>
        </p:xfrm>
        <a:graphic>
          <a:graphicData uri="http://schemas.openxmlformats.org/drawingml/2006/table">
            <a:tbl>
              <a:tblPr firstRow="1" bandRow="1">
                <a:tableStyleId>{5940675A-B579-460E-94D1-54222C63F5DA}</a:tableStyleId>
              </a:tblPr>
              <a:tblGrid>
                <a:gridCol w="10514965"/>
              </a:tblGrid>
              <a:tr h="713740">
                <a:tc>
                  <a:txBody>
                    <a:bodyPr/>
                    <a:p>
                      <a:pPr algn="ctr">
                        <a:lnSpc>
                          <a:spcPct val="120000"/>
                        </a:lnSpc>
                        <a:spcBef>
                          <a:spcPts val="0"/>
                        </a:spcBef>
                        <a:spcAft>
                          <a:spcPts val="0"/>
                        </a:spcAft>
                        <a:buNone/>
                      </a:pPr>
                      <a:endParaRPr lang="en-US" altLang="zh-CN" sz="2000" b="0" kern="1200" spc="120" dirty="0">
                        <a:solidFill>
                          <a:schemeClr val="bg1"/>
                        </a:solidFill>
                        <a:latin typeface="微软雅黑" panose="020B0503020204020204" charset="-122"/>
                        <a:ea typeface="微软雅黑" panose="020B0503020204020204" charset="-122"/>
                      </a:endParaRPr>
                    </a:p>
                  </a:txBody>
                  <a:tcPr marL="25400" marR="25400" marT="6350" marB="6350" anchor="ctr">
                    <a:solidFill>
                      <a:srgbClr val="00B0F0"/>
                    </a:solidFill>
                  </a:tcPr>
                </a:tc>
              </a:tr>
              <a:tr h="3923030">
                <a:tc>
                  <a:txBody>
                    <a:bodyPr/>
                    <a:p>
                      <a:pPr algn="ctr" fontAlgn="ctr" latinLnBrk="0">
                        <a:buClrTx/>
                        <a:buSzTx/>
                        <a:buFontTx/>
                      </a:pPr>
                      <a:endParaRPr lang="zh-CN" altLang="en-US" sz="1600" b="0">
                        <a:solidFill>
                          <a:schemeClr val="tx1"/>
                        </a:solidFill>
                        <a:latin typeface="微软雅黑" panose="020B0503020204020204" charset="-122"/>
                        <a:ea typeface="微软雅黑" panose="020B0503020204020204" charset="-122"/>
                      </a:endParaRPr>
                    </a:p>
                  </a:txBody>
                  <a:tcPr marL="0" marR="0" marT="0" marB="0" anchor="ctr" anchorCtr="0"/>
                </a:tc>
              </a:tr>
            </a:tbl>
          </a:graphicData>
        </a:graphic>
      </p:graphicFrame>
      <p:pic>
        <p:nvPicPr>
          <p:cNvPr id="2" name="图片 1" descr="7.22部门例会"/>
          <p:cNvPicPr>
            <a:picLocks noChangeAspect="1"/>
          </p:cNvPicPr>
          <p:nvPr/>
        </p:nvPicPr>
        <p:blipFill>
          <a:blip r:embed="rId5"/>
          <a:stretch>
            <a:fillRect/>
          </a:stretch>
        </p:blipFill>
        <p:spPr>
          <a:xfrm>
            <a:off x="3971290" y="2602865"/>
            <a:ext cx="3650615" cy="311975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5"/>
          <p:cNvSpPr>
            <a:spLocks noEditPoints="1"/>
          </p:cNvSpPr>
          <p:nvPr/>
        </p:nvSpPr>
        <p:spPr>
          <a:xfrm>
            <a:off x="-20955" y="133350"/>
            <a:ext cx="12211050" cy="2352675"/>
          </a:xfrm>
          <a:custGeom>
            <a:avLst/>
            <a:gdLst>
              <a:gd name="txL" fmla="*/ 0 w 8000"/>
              <a:gd name="txT" fmla="*/ 0 h 1542"/>
              <a:gd name="txR" fmla="*/ 8000 w 8000"/>
              <a:gd name="txB" fmla="*/ 1542 h 1542"/>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a:ln w="9525" cap="flat" cmpd="sng">
            <a:solidFill>
              <a:srgbClr val="D1CFBD"/>
            </a:solidFill>
            <a:prstDash val="solid"/>
            <a:bevel/>
            <a:headEnd type="none" w="med" len="med"/>
            <a:tailEnd type="none" w="med" len="med"/>
          </a:ln>
        </p:spPr>
        <p:txBody>
          <a:bodyPr/>
          <a:lstStyle/>
          <a:p>
            <a:endParaRPr lang="zh-CN" altLang="en-US"/>
          </a:p>
        </p:txBody>
      </p:sp>
      <p:sp>
        <p:nvSpPr>
          <p:cNvPr id="17" name="矩形 1"/>
          <p:cNvSpPr/>
          <p:nvPr/>
        </p:nvSpPr>
        <p:spPr>
          <a:xfrm>
            <a:off x="-20320" y="2692400"/>
            <a:ext cx="12232640" cy="1946910"/>
          </a:xfrm>
          <a:prstGeom prst="rect">
            <a:avLst/>
          </a:prstGeom>
          <a:solidFill>
            <a:srgbClr val="0599D9"/>
          </a:solidFill>
          <a:ln w="9525">
            <a:noFill/>
          </a:ln>
          <a:effectLst/>
        </p:spPr>
        <p:txBody>
          <a:bodyPr lIns="121920" tIns="60960" rIns="121920" bIns="60960" anchor="ctr" anchorCtr="0"/>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20000"/>
              </a:lnSpc>
              <a:spcBef>
                <a:spcPct val="0"/>
              </a:spcBef>
              <a:buClrTx/>
              <a:buSzTx/>
              <a:buNone/>
              <a:defRPr/>
            </a:pPr>
            <a:r>
              <a:rPr lang="zh-CN" altLang="en-US" sz="4200" b="1" spc="50" dirty="0">
                <a:ln w="11430"/>
                <a:solidFill>
                  <a:prstClr val="white"/>
                </a:solidFill>
                <a:effectLst/>
                <a:latin typeface="微软雅黑" panose="020B0503020204020204" charset="-122"/>
                <a:ea typeface="微软雅黑" panose="020B0503020204020204" charset="-122"/>
                <a:sym typeface="+mn-ea"/>
              </a:rPr>
              <a:t>汇报完毕！</a:t>
            </a:r>
            <a:endParaRPr lang="en-US" altLang="zh-CN" sz="4200" b="1" spc="50" dirty="0">
              <a:ln w="11430"/>
              <a:solidFill>
                <a:prstClr val="white"/>
              </a:solidFill>
              <a:effectLst/>
              <a:latin typeface="微软雅黑" panose="020B0503020204020204" charset="-122"/>
              <a:ea typeface="微软雅黑" panose="020B0503020204020204" charset="-122"/>
            </a:endParaRPr>
          </a:p>
        </p:txBody>
      </p:sp>
      <p:sp>
        <p:nvSpPr>
          <p:cNvPr id="18" name="直接连接符 24"/>
          <p:cNvSpPr/>
          <p:nvPr/>
        </p:nvSpPr>
        <p:spPr>
          <a:xfrm>
            <a:off x="6985" y="5078730"/>
            <a:ext cx="12178665" cy="1270"/>
          </a:xfrm>
          <a:prstGeom prst="line">
            <a:avLst/>
          </a:prstGeom>
          <a:ln w="19050" cap="flat" cmpd="sng">
            <a:solidFill>
              <a:srgbClr val="28A9D6"/>
            </a:solidFill>
            <a:prstDash val="solid"/>
            <a:bevel/>
            <a:headEnd type="none" w="med" len="med"/>
            <a:tailEnd type="none" w="med" len="med"/>
          </a:ln>
        </p:spPr>
      </p:sp>
      <p:grpSp>
        <p:nvGrpSpPr>
          <p:cNvPr id="7" name="组 29"/>
          <p:cNvGrpSpPr/>
          <p:nvPr/>
        </p:nvGrpSpPr>
        <p:grpSpPr>
          <a:xfrm>
            <a:off x="6985" y="5490210"/>
            <a:ext cx="4514850" cy="144145"/>
            <a:chOff x="0" y="5501084"/>
            <a:chExt cx="3059875" cy="144462"/>
          </a:xfrm>
        </p:grpSpPr>
        <p:sp>
          <p:nvSpPr>
            <p:cNvPr id="8" name="直接连接符 27"/>
            <p:cNvSpPr/>
            <p:nvPr/>
          </p:nvSpPr>
          <p:spPr>
            <a:xfrm>
              <a:off x="1" y="5501084"/>
              <a:ext cx="3059874" cy="12700"/>
            </a:xfrm>
            <a:prstGeom prst="line">
              <a:avLst/>
            </a:prstGeom>
            <a:ln w="3175" cap="flat" cmpd="sng">
              <a:solidFill>
                <a:srgbClr val="28A9D6"/>
              </a:solidFill>
              <a:prstDash val="solid"/>
              <a:bevel/>
              <a:headEnd type="none" w="med" len="med"/>
              <a:tailEnd type="none" w="med" len="med"/>
            </a:ln>
          </p:spPr>
        </p:sp>
        <p:sp>
          <p:nvSpPr>
            <p:cNvPr id="9" name="直接连接符 29"/>
            <p:cNvSpPr/>
            <p:nvPr/>
          </p:nvSpPr>
          <p:spPr>
            <a:xfrm>
              <a:off x="0" y="5566171"/>
              <a:ext cx="3059875" cy="12700"/>
            </a:xfrm>
            <a:prstGeom prst="line">
              <a:avLst/>
            </a:prstGeom>
            <a:ln w="3175" cap="flat" cmpd="sng">
              <a:solidFill>
                <a:srgbClr val="28A9D6"/>
              </a:solidFill>
              <a:prstDash val="solid"/>
              <a:bevel/>
              <a:headEnd type="none" w="med" len="med"/>
              <a:tailEnd type="none" w="med" len="med"/>
            </a:ln>
          </p:spPr>
        </p:sp>
        <p:sp>
          <p:nvSpPr>
            <p:cNvPr id="10" name="直接连接符 31"/>
            <p:cNvSpPr/>
            <p:nvPr/>
          </p:nvSpPr>
          <p:spPr>
            <a:xfrm>
              <a:off x="0" y="5632846"/>
              <a:ext cx="3059875" cy="12700"/>
            </a:xfrm>
            <a:prstGeom prst="line">
              <a:avLst/>
            </a:prstGeom>
            <a:ln w="3175" cap="flat" cmpd="sng">
              <a:solidFill>
                <a:srgbClr val="28A9D6"/>
              </a:solidFill>
              <a:prstDash val="solid"/>
              <a:bevel/>
              <a:headEnd type="none" w="med" len="med"/>
              <a:tailEnd type="none" w="med" len="med"/>
            </a:ln>
          </p:spPr>
        </p:sp>
      </p:grpSp>
      <p:grpSp>
        <p:nvGrpSpPr>
          <p:cNvPr id="11" name="组 28"/>
          <p:cNvGrpSpPr/>
          <p:nvPr/>
        </p:nvGrpSpPr>
        <p:grpSpPr>
          <a:xfrm>
            <a:off x="7590155" y="5501005"/>
            <a:ext cx="4595495" cy="148590"/>
            <a:chOff x="6156132" y="5501084"/>
            <a:chExt cx="2987868" cy="144462"/>
          </a:xfrm>
        </p:grpSpPr>
        <p:sp>
          <p:nvSpPr>
            <p:cNvPr id="12" name="直接连接符 39"/>
            <p:cNvSpPr/>
            <p:nvPr/>
          </p:nvSpPr>
          <p:spPr>
            <a:xfrm>
              <a:off x="6156132" y="5501084"/>
              <a:ext cx="2987868" cy="12700"/>
            </a:xfrm>
            <a:prstGeom prst="line">
              <a:avLst/>
            </a:prstGeom>
            <a:ln w="3175" cap="flat" cmpd="sng">
              <a:solidFill>
                <a:srgbClr val="28A9D6"/>
              </a:solidFill>
              <a:prstDash val="solid"/>
              <a:bevel/>
              <a:headEnd type="none" w="med" len="med"/>
              <a:tailEnd type="none" w="med" len="med"/>
            </a:ln>
          </p:spPr>
        </p:sp>
        <p:sp>
          <p:nvSpPr>
            <p:cNvPr id="13" name="直接连接符 40"/>
            <p:cNvSpPr/>
            <p:nvPr/>
          </p:nvSpPr>
          <p:spPr>
            <a:xfrm>
              <a:off x="6156132" y="5566171"/>
              <a:ext cx="2987868" cy="12700"/>
            </a:xfrm>
            <a:prstGeom prst="line">
              <a:avLst/>
            </a:prstGeom>
            <a:ln w="3175" cap="flat" cmpd="sng">
              <a:solidFill>
                <a:srgbClr val="28A9D6"/>
              </a:solidFill>
              <a:prstDash val="solid"/>
              <a:bevel/>
              <a:headEnd type="none" w="med" len="med"/>
              <a:tailEnd type="none" w="med" len="med"/>
            </a:ln>
          </p:spPr>
        </p:sp>
        <p:sp>
          <p:nvSpPr>
            <p:cNvPr id="14" name="直接连接符 41"/>
            <p:cNvSpPr/>
            <p:nvPr/>
          </p:nvSpPr>
          <p:spPr>
            <a:xfrm flipV="1">
              <a:off x="6156132" y="5645546"/>
              <a:ext cx="2987868" cy="0"/>
            </a:xfrm>
            <a:prstGeom prst="line">
              <a:avLst/>
            </a:prstGeom>
            <a:ln w="3175" cap="flat" cmpd="sng">
              <a:solidFill>
                <a:srgbClr val="28A9D6"/>
              </a:solidFill>
              <a:prstDash val="solid"/>
              <a:bevel/>
              <a:headEnd type="none" w="med" len="med"/>
              <a:tailEnd type="none" w="med" len="med"/>
            </a:ln>
          </p:spPr>
        </p:sp>
      </p:grpSp>
      <p:pic>
        <p:nvPicPr>
          <p:cNvPr id="6" name="图片 5" descr="中建电力logo05"/>
          <p:cNvPicPr>
            <a:picLocks noChangeAspect="1"/>
          </p:cNvPicPr>
          <p:nvPr/>
        </p:nvPicPr>
        <p:blipFill>
          <a:blip r:embed="rId1"/>
          <a:stretch>
            <a:fillRect/>
          </a:stretch>
        </p:blipFill>
        <p:spPr>
          <a:xfrm>
            <a:off x="4513580" y="5448300"/>
            <a:ext cx="3044190" cy="294640"/>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MH" val="20160830110547"/>
  <p:tag name="MH_LIBRARY" val="CONTENTS"/>
  <p:tag name="MH_TYPE" val="OTHERS"/>
  <p:tag name="ID" val="545840"/>
</p:tagLst>
</file>

<file path=ppt/tags/tag64.xml><?xml version="1.0" encoding="utf-8"?>
<p:tagLst xmlns:p="http://schemas.openxmlformats.org/presentationml/2006/main">
  <p:tag name="MH" val="20160830110547"/>
  <p:tag name="MH_LIBRARY" val="CONTENTS"/>
  <p:tag name="MH_TYPE" val="OTHERS"/>
  <p:tag name="ID" val="545840"/>
</p:tagLst>
</file>

<file path=ppt/tags/tag65.xml><?xml version="1.0" encoding="utf-8"?>
<p:tagLst xmlns:p="http://schemas.openxmlformats.org/presentationml/2006/main">
  <p:tag name="KSO_WM_DIAGRAM_VIRTUALLY_FRAME" val="{&quot;height&quot;:386.55,&quot;left&quot;:265.1,&quot;top&quot;:152.5,&quot;width&quot;:552.1174015748032}"/>
</p:tagLst>
</file>

<file path=ppt/tags/tag66.xml><?xml version="1.0" encoding="utf-8"?>
<p:tagLst xmlns:p="http://schemas.openxmlformats.org/presentationml/2006/main">
  <p:tag name="KSO_WM_DIAGRAM_VIRTUALLY_FRAME" val="{&quot;height&quot;:386.55,&quot;left&quot;:265.1,&quot;top&quot;:152.5,&quot;width&quot;:552.1174015748032}"/>
</p:tagLst>
</file>

<file path=ppt/tags/tag67.xml><?xml version="1.0" encoding="utf-8"?>
<p:tagLst xmlns:p="http://schemas.openxmlformats.org/presentationml/2006/main">
  <p:tag name="KSO_WM_DIAGRAM_VIRTUALLY_FRAME" val="{&quot;height&quot;:386.55,&quot;left&quot;:265.1,&quot;top&quot;:152.5,&quot;width&quot;:552.1174015748032}"/>
</p:tagLst>
</file>

<file path=ppt/tags/tag68.xml><?xml version="1.0" encoding="utf-8"?>
<p:tagLst xmlns:p="http://schemas.openxmlformats.org/presentationml/2006/main">
  <p:tag name="KSO_WM_DIAGRAM_VIRTUALLY_FRAME" val="{&quot;height&quot;:386.55,&quot;left&quot;:265.1,&quot;top&quot;:152.5,&quot;width&quot;:552.1174015748032}"/>
</p:tagLst>
</file>

<file path=ppt/tags/tag69.xml><?xml version="1.0" encoding="utf-8"?>
<p:tagLst xmlns:p="http://schemas.openxmlformats.org/presentationml/2006/main">
  <p:tag name="KSO_WM_DIAGRAM_VIRTUALLY_FRAME" val="{&quot;height&quot;:386.55,&quot;left&quot;:265.1,&quot;top&quot;:152.5,&quot;width&quot;:552.1174015748032}"/>
</p:tagLst>
</file>

<file path=ppt/tags/tag70.xml><?xml version="1.0" encoding="utf-8"?>
<p:tagLst xmlns:p="http://schemas.openxmlformats.org/presentationml/2006/main">
  <p:tag name="KSO_WM_DIAGRAM_VIRTUALLY_FRAME" val="{&quot;height&quot;:386.55,&quot;left&quot;:265.1,&quot;top&quot;:152.5,&quot;width&quot;:552.1174015748032}"/>
</p:tagLst>
</file>

<file path=ppt/tags/tag71.xml><?xml version="1.0" encoding="utf-8"?>
<p:tagLst xmlns:p="http://schemas.openxmlformats.org/presentationml/2006/main">
  <p:tag name="KSO_WM_DIAGRAM_VIRTUALLY_FRAME" val="{&quot;height&quot;:386.55,&quot;left&quot;:265.1,&quot;top&quot;:152.5,&quot;width&quot;:552.1174015748032}"/>
</p:tagLst>
</file>

<file path=ppt/tags/tag72.xml><?xml version="1.0" encoding="utf-8"?>
<p:tagLst xmlns:p="http://schemas.openxmlformats.org/presentationml/2006/main">
  <p:tag name="KSO_WM_DIAGRAM_VIRTUALLY_FRAME" val="{&quot;height&quot;:386.55,&quot;left&quot;:265.1,&quot;top&quot;:152.5,&quot;width&quot;:552.1174015748032}"/>
</p:tagLst>
</file>

<file path=ppt/tags/tag73.xml><?xml version="1.0" encoding="utf-8"?>
<p:tagLst xmlns:p="http://schemas.openxmlformats.org/presentationml/2006/main">
  <p:tag name="KSO_WM_DIAGRAM_VIRTUALLY_FRAME" val="{&quot;height&quot;:386.55,&quot;left&quot;:265.1,&quot;top&quot;:152.5,&quot;width&quot;:552.1174015748032}"/>
</p:tagLst>
</file>

<file path=ppt/tags/tag74.xml><?xml version="1.0" encoding="utf-8"?>
<p:tagLst xmlns:p="http://schemas.openxmlformats.org/presentationml/2006/main">
  <p:tag name="KSO_WM_DIAGRAM_VIRTUALLY_FRAME" val="{&quot;height&quot;:386.55,&quot;left&quot;:265.1,&quot;top&quot;:152.5,&quot;width&quot;:552.1174015748032}"/>
</p:tagLst>
</file>

<file path=ppt/tags/tag75.xml><?xml version="1.0" encoding="utf-8"?>
<p:tagLst xmlns:p="http://schemas.openxmlformats.org/presentationml/2006/main">
  <p:tag name="KSO_WM_DIAGRAM_VIRTUALLY_FRAME" val="{&quot;height&quot;:386.55,&quot;left&quot;:265.1,&quot;top&quot;:152.5,&quot;width&quot;:552.1174015748032}"/>
</p:tagLst>
</file>

<file path=ppt/tags/tag76.xml><?xml version="1.0" encoding="utf-8"?>
<p:tagLst xmlns:p="http://schemas.openxmlformats.org/presentationml/2006/main">
  <p:tag name="KSO_WM_DIAGRAM_VIRTUALLY_FRAME" val="{&quot;height&quot;:386.55,&quot;left&quot;:265.1,&quot;top&quot;:152.5,&quot;width&quot;:552.1174015748032}"/>
</p:tagLst>
</file>

<file path=ppt/tags/tag77.xml><?xml version="1.0" encoding="utf-8"?>
<p:tagLst xmlns:p="http://schemas.openxmlformats.org/presentationml/2006/main">
  <p:tag name="KSO_WM_DIAGRAM_VIRTUALLY_FRAME" val="{&quot;height&quot;:386.55,&quot;left&quot;:265.1,&quot;top&quot;:152.5,&quot;width&quot;:552.1174015748032}"/>
</p:tagLst>
</file>

<file path=ppt/tags/tag78.xml><?xml version="1.0" encoding="utf-8"?>
<p:tagLst xmlns:p="http://schemas.openxmlformats.org/presentationml/2006/main">
  <p:tag name="KSO_WM_DIAGRAM_VIRTUALLY_FRAME" val="{&quot;height&quot;:386.55,&quot;left&quot;:265.1,&quot;top&quot;:152.5,&quot;width&quot;:552.1174015748032}"/>
</p:tagLst>
</file>

<file path=ppt/tags/tag79.xml><?xml version="1.0" encoding="utf-8"?>
<p:tagLst xmlns:p="http://schemas.openxmlformats.org/presentationml/2006/main">
  <p:tag name="KSO_WM_DIAGRAM_VIRTUALLY_FRAME" val="{&quot;height&quot;:386.55,&quot;left&quot;:265.1,&quot;top&quot;:152.5,&quot;width&quot;:552.1174015748032}"/>
</p:tagLst>
</file>

<file path=ppt/tags/tag80.xml><?xml version="1.0" encoding="utf-8"?>
<p:tagLst xmlns:p="http://schemas.openxmlformats.org/presentationml/2006/main">
  <p:tag name="KSO_WM_DIAGRAM_VIRTUALLY_FRAME" val="{&quot;height&quot;:386.55,&quot;left&quot;:265.1,&quot;top&quot;:152.5,&quot;width&quot;:552.1174015748032}"/>
</p:tagLst>
</file>

<file path=ppt/tags/tag81.xml><?xml version="1.0" encoding="utf-8"?>
<p:tagLst xmlns:p="http://schemas.openxmlformats.org/presentationml/2006/main">
  <p:tag name="KSO_WM_DIAGRAM_VIRTUALLY_FRAME" val="{&quot;height&quot;:386.55,&quot;left&quot;:265.1,&quot;top&quot;:152.5,&quot;width&quot;:552.1174015748032}"/>
</p:tagLst>
</file>

<file path=ppt/tags/tag82.xml><?xml version="1.0" encoding="utf-8"?>
<p:tagLst xmlns:p="http://schemas.openxmlformats.org/presentationml/2006/main">
  <p:tag name="KSO_WM_DIAGRAM_VIRTUALLY_FRAME" val="{&quot;height&quot;:386.55,&quot;left&quot;:265.1,&quot;top&quot;:152.5,&quot;width&quot;:552.1174015748032}"/>
</p:tagLst>
</file>

<file path=ppt/tags/tag83.xml><?xml version="1.0" encoding="utf-8"?>
<p:tagLst xmlns:p="http://schemas.openxmlformats.org/presentationml/2006/main">
  <p:tag name="KSO_WM_DIAGRAM_VIRTUALLY_FRAME" val="{&quot;height&quot;:386.55,&quot;left&quot;:265.1,&quot;top&quot;:152.5,&quot;width&quot;:552.1174015748032}"/>
</p:tagLst>
</file>

<file path=ppt/tags/tag84.xml><?xml version="1.0" encoding="utf-8"?>
<p:tagLst xmlns:p="http://schemas.openxmlformats.org/presentationml/2006/main">
  <p:tag name="KSO_WM_DIAGRAM_VIRTUALLY_FRAME" val="{&quot;height&quot;:386.55,&quot;left&quot;:265.1,&quot;top&quot;:152.5,&quot;width&quot;:552.1174015748032}"/>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DIAGRAM_VIRTUALLY_FRAME" val="{&quot;height&quot;:386.55,&quot;left&quot;:265.1,&quot;top&quot;:152.5,&quot;width&quot;:552.1174015748032}"/>
</p:tagLst>
</file>

<file path=ppt/tags/tag98.xml><?xml version="1.0" encoding="utf-8"?>
<p:tagLst xmlns:p="http://schemas.openxmlformats.org/presentationml/2006/main">
  <p:tag name="KSO_WM_DIAGRAM_VIRTUALLY_FRAME" val="{&quot;height&quot;:386.55,&quot;left&quot;:265.1,&quot;top&quot;:152.5,&quot;width&quot;:552.1174015748032}"/>
</p:tagLst>
</file>

<file path=ppt/tags/tag99.xml><?xml version="1.0" encoding="utf-8"?>
<p:tagLst xmlns:p="http://schemas.openxmlformats.org/presentationml/2006/main">
  <p:tag name="KSO_WM_DIAGRAM_VIRTUALLY_FRAME" val="{&quot;height&quot;:386.55,&quot;left&quot;:265.1,&quot;top&quot;:152.5,&quot;width&quot;:552.1174015748032}"/>
</p:tagLst>
</file>

<file path=ppt/tags/tag100.xml><?xml version="1.0" encoding="utf-8"?>
<p:tagLst xmlns:p="http://schemas.openxmlformats.org/presentationml/2006/main">
  <p:tag name="KSO_WM_DIAGRAM_VIRTUALLY_FRAME" val="{&quot;height&quot;:386.55,&quot;left&quot;:265.1,&quot;top&quot;:152.5,&quot;width&quot;:552.1174015748032}"/>
</p:tagLst>
</file>

<file path=ppt/tags/tag101.xml><?xml version="1.0" encoding="utf-8"?>
<p:tagLst xmlns:p="http://schemas.openxmlformats.org/presentationml/2006/main">
  <p:tag name="KSO_WM_DIAGRAM_VIRTUALLY_FRAME" val="{&quot;height&quot;:386.55,&quot;left&quot;:265.1,&quot;top&quot;:152.5,&quot;width&quot;:552.1174015748032}"/>
</p:tagLst>
</file>

<file path=ppt/tags/tag102.xml><?xml version="1.0" encoding="utf-8"?>
<p:tagLst xmlns:p="http://schemas.openxmlformats.org/presentationml/2006/main">
  <p:tag name="MH" val="20160830110547"/>
  <p:tag name="MH_LIBRARY" val="CONTENTS"/>
  <p:tag name="MH_TYPE" val="OTHERS"/>
  <p:tag name="ID" val="545840"/>
</p:tagLst>
</file>

<file path=ppt/tags/tag103.xml><?xml version="1.0" encoding="utf-8"?>
<p:tagLst xmlns:p="http://schemas.openxmlformats.org/presentationml/2006/main">
  <p:tag name="MH" val="20160830110547"/>
  <p:tag name="MH_LIBRARY" val="CONTENTS"/>
  <p:tag name="MH_TYPE" val="OTHERS"/>
  <p:tag name="ID" val="545840"/>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MH" val="20160830110547"/>
  <p:tag name="MH_LIBRARY" val="CONTENTS"/>
  <p:tag name="MH_TYPE" val="OTHERS"/>
  <p:tag name="ID" val="545840"/>
</p:tagLst>
</file>

<file path=ppt/tags/tag106.xml><?xml version="1.0" encoding="utf-8"?>
<p:tagLst xmlns:p="http://schemas.openxmlformats.org/presentationml/2006/main">
  <p:tag name="MH" val="20160830110547"/>
  <p:tag name="MH_LIBRARY" val="CONTENTS"/>
  <p:tag name="MH_TYPE" val="OTHERS"/>
  <p:tag name="ID" val="545840"/>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MH" val="20160830110547"/>
  <p:tag name="MH_LIBRARY" val="CONTENTS"/>
  <p:tag name="MH_TYPE" val="OTHERS"/>
  <p:tag name="ID" val="545840"/>
</p:tagLst>
</file>

<file path=ppt/tags/tag109.xml><?xml version="1.0" encoding="utf-8"?>
<p:tagLst xmlns:p="http://schemas.openxmlformats.org/presentationml/2006/main">
  <p:tag name="MH" val="20160830110547"/>
  <p:tag name="MH_LIBRARY" val="CONTENTS"/>
  <p:tag name="MH_TYPE" val="OTHERS"/>
  <p:tag name="ID" val="545840"/>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MH" val="20160830110547"/>
  <p:tag name="MH_LIBRARY" val="CONTENTS"/>
  <p:tag name="MH_TYPE" val="OTHERS"/>
  <p:tag name="ID" val="545840"/>
</p:tagLst>
</file>

<file path=ppt/tags/tag112.xml><?xml version="1.0" encoding="utf-8"?>
<p:tagLst xmlns:p="http://schemas.openxmlformats.org/presentationml/2006/main">
  <p:tag name="MH" val="20160830110547"/>
  <p:tag name="MH_LIBRARY" val="CONTENTS"/>
  <p:tag name="MH_TYPE" val="OTHERS"/>
  <p:tag name="ID" val="545840"/>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TABLE_ENDDRAG_ORIGIN_RECT" val="823*327"/>
  <p:tag name="TABLE_ENDDRAG_RECT" val="55*120*823*327"/>
</p:tagLst>
</file>

<file path=ppt/tags/tag115.xml><?xml version="1.0" encoding="utf-8"?>
<p:tagLst xmlns:p="http://schemas.openxmlformats.org/presentationml/2006/main">
  <p:tag name="MH" val="20160830110547"/>
  <p:tag name="MH_LIBRARY" val="CONTENTS"/>
  <p:tag name="MH_TYPE" val="OTHERS"/>
  <p:tag name="ID" val="545840"/>
</p:tagLst>
</file>

<file path=ppt/tags/tag116.xml><?xml version="1.0" encoding="utf-8"?>
<p:tagLst xmlns:p="http://schemas.openxmlformats.org/presentationml/2006/main">
  <p:tag name="MH" val="20160830110547"/>
  <p:tag name="MH_LIBRARY" val="CONTENTS"/>
  <p:tag name="MH_TYPE" val="OTHERS"/>
  <p:tag name="ID" val="545840"/>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UNIT_TABLE_BEAUTIFY" val="smartTable{80d1f7c7-9fde-4561-844c-ae3dd80a8776}"/>
  <p:tag name="TABLE_RECT" val="41.4223*94.0693*308.55*257.45"/>
  <p:tag name="TABLE_EMPHASIZE_COLOR" val="14896461"/>
  <p:tag name="TABLE_ONEKEY_SKIN_IDX" val="0"/>
  <p:tag name="TABLE_SKINIDX" val="3"/>
  <p:tag name="TABLE_COLORIDX" val="c"/>
  <p:tag name="TABLE_COLOR_RGB" val="0x000000*0xFFFFFF*0x212121*0xFFFFFF*0xE34D4D*0xE67A4A*0xECAF40*0x8DC32D*0x38B8A3*0x3B93BF"/>
  <p:tag name="TABLE_ENDDRAG_ORIGIN_RECT" val="402*287"/>
  <p:tag name="TABLE_ENDDRAG_RECT" val="491*167*402*287"/>
  <p:tag name="KSO_WM_BEAUTIFY_FLAG" val=""/>
</p:tagLst>
</file>

<file path=ppt/tags/tag119.xml><?xml version="1.0" encoding="utf-8"?>
<p:tagLst xmlns:p="http://schemas.openxmlformats.org/presentationml/2006/main">
  <p:tag name="TABLE_ENDDRAG_ORIGIN_RECT" val="381*165"/>
  <p:tag name="TABLE_ENDDRAG_RECT" val="32*167*381*165"/>
</p:tagLst>
</file>

<file path=ppt/tags/tag120.xml><?xml version="1.0" encoding="utf-8"?>
<p:tagLst xmlns:p="http://schemas.openxmlformats.org/presentationml/2006/main">
  <p:tag name="MH" val="20160830110547"/>
  <p:tag name="MH_LIBRARY" val="CONTENTS"/>
  <p:tag name="MH_TYPE" val="OTHERS"/>
  <p:tag name="ID" val="545840"/>
</p:tagLst>
</file>

<file path=ppt/tags/tag121.xml><?xml version="1.0" encoding="utf-8"?>
<p:tagLst xmlns:p="http://schemas.openxmlformats.org/presentationml/2006/main">
  <p:tag name="MH" val="20160830110547"/>
  <p:tag name="MH_LIBRARY" val="CONTENTS"/>
  <p:tag name="MH_TYPE" val="OTHERS"/>
  <p:tag name="ID" val="545840"/>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TABLE_ENDDRAG_ORIGIN_RECT" val="442*368"/>
  <p:tag name="TABLE_ENDDRAG_RECT" val="59*112*442*368"/>
</p:tagLst>
</file>

<file path=ppt/tags/tag124.xml><?xml version="1.0" encoding="utf-8"?>
<p:tagLst xmlns:p="http://schemas.openxmlformats.org/presentationml/2006/main">
  <p:tag name="TABLE_ENDDRAG_ORIGIN_RECT" val="381*376"/>
  <p:tag name="TABLE_ENDDRAG_RECT" val="502*112*381*376"/>
</p:tagLst>
</file>

<file path=ppt/tags/tag125.xml><?xml version="1.0" encoding="utf-8"?>
<p:tagLst xmlns:p="http://schemas.openxmlformats.org/presentationml/2006/main">
  <p:tag name="TABLE_ENDDRAG_ORIGIN_RECT" val="829*14"/>
  <p:tag name="TABLE_ENDDRAG_RECT" val="63*507*829*14"/>
</p:tagLst>
</file>

<file path=ppt/tags/tag126.xml><?xml version="1.0" encoding="utf-8"?>
<p:tagLst xmlns:p="http://schemas.openxmlformats.org/presentationml/2006/main">
  <p:tag name="MH" val="20160830110547"/>
  <p:tag name="MH_LIBRARY" val="CONTENTS"/>
  <p:tag name="MH_TYPE" val="OTHERS"/>
  <p:tag name="ID" val="545840"/>
</p:tagLst>
</file>

<file path=ppt/tags/tag127.xml><?xml version="1.0" encoding="utf-8"?>
<p:tagLst xmlns:p="http://schemas.openxmlformats.org/presentationml/2006/main">
  <p:tag name="MH" val="20160830110547"/>
  <p:tag name="MH_LIBRARY" val="CONTENTS"/>
  <p:tag name="MH_TYPE" val="OTHERS"/>
  <p:tag name="ID" val="545840"/>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MH" val="20160830110547"/>
  <p:tag name="MH_LIBRARY" val="CONTENTS"/>
  <p:tag name="MH_TYPE" val="OTHERS"/>
  <p:tag name="ID" val="545840"/>
</p:tagLst>
</file>

<file path=ppt/tags/tag130.xml><?xml version="1.0" encoding="utf-8"?>
<p:tagLst xmlns:p="http://schemas.openxmlformats.org/presentationml/2006/main">
  <p:tag name="MH" val="20160830110547"/>
  <p:tag name="MH_LIBRARY" val="CONTENTS"/>
  <p:tag name="MH_TYPE" val="OTHERS"/>
  <p:tag name="ID" val="545840"/>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TABLE_ENDDRAG_ORIGIN_RECT" val="767*157"/>
  <p:tag name="TABLE_ENDDRAG_RECT" val="86*148*767*157"/>
</p:tagLst>
</file>

<file path=ppt/tags/tag133.xml><?xml version="1.0" encoding="utf-8"?>
<p:tagLst xmlns:p="http://schemas.openxmlformats.org/presentationml/2006/main">
  <p:tag name="MH" val="20160830110547"/>
  <p:tag name="MH_LIBRARY" val="CONTENTS"/>
  <p:tag name="MH_TYPE" val="OTHERS"/>
  <p:tag name="ID" val="545840"/>
</p:tagLst>
</file>

<file path=ppt/tags/tag134.xml><?xml version="1.0" encoding="utf-8"?>
<p:tagLst xmlns:p="http://schemas.openxmlformats.org/presentationml/2006/main">
  <p:tag name="MH" val="20160830110547"/>
  <p:tag name="MH_LIBRARY" val="CONTENTS"/>
  <p:tag name="MH_TYPE" val="OTHERS"/>
  <p:tag name="ID" val="545840"/>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MH" val="20160830110547"/>
  <p:tag name="MH_LIBRARY" val="CONTENTS"/>
  <p:tag name="MH_TYPE" val="OTHERS"/>
  <p:tag name="ID" val="545840"/>
</p:tagLst>
</file>

<file path=ppt/tags/tag137.xml><?xml version="1.0" encoding="utf-8"?>
<p:tagLst xmlns:p="http://schemas.openxmlformats.org/presentationml/2006/main">
  <p:tag name="MH" val="20160830110547"/>
  <p:tag name="MH_LIBRARY" val="CONTENTS"/>
  <p:tag name="MH_TYPE" val="OTHERS"/>
  <p:tag name="ID" val="545840"/>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TABLE_ENDDRAG_ORIGIN_RECT" val="912*381"/>
  <p:tag name="TABLE_ENDDRAG_RECT" val="24*160*912*381"/>
</p:tagLst>
</file>

<file path=ppt/tags/tag140.xml><?xml version="1.0" encoding="utf-8"?>
<p:tagLst xmlns:p="http://schemas.openxmlformats.org/presentationml/2006/main">
  <p:tag name="MH" val="20160830110547"/>
  <p:tag name="MH_LIBRARY" val="CONTENTS"/>
  <p:tag name="MH_TYPE" val="OTHERS"/>
  <p:tag name="ID" val="545840"/>
</p:tagLst>
</file>

<file path=ppt/tags/tag141.xml><?xml version="1.0" encoding="utf-8"?>
<p:tagLst xmlns:p="http://schemas.openxmlformats.org/presentationml/2006/main">
  <p:tag name="MH" val="20160830110547"/>
  <p:tag name="MH_LIBRARY" val="CONTENTS"/>
  <p:tag name="MH_TYPE" val="OTHERS"/>
  <p:tag name="ID" val="545840"/>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TABLE_ENDDRAG_ORIGIN_RECT" val="938*402"/>
  <p:tag name="TABLE_ENDDRAG_RECT" val="16*137*938*402"/>
</p:tagLst>
</file>

<file path=ppt/tags/tag144.xml><?xml version="1.0" encoding="utf-8"?>
<p:tagLst xmlns:p="http://schemas.openxmlformats.org/presentationml/2006/main">
  <p:tag name="MH" val="20160830110547"/>
  <p:tag name="MH_LIBRARY" val="CONTENTS"/>
  <p:tag name="MH_TYPE" val="OTHERS"/>
  <p:tag name="ID" val="545840"/>
</p:tagLst>
</file>

<file path=ppt/tags/tag145.xml><?xml version="1.0" encoding="utf-8"?>
<p:tagLst xmlns:p="http://schemas.openxmlformats.org/presentationml/2006/main">
  <p:tag name="MH" val="20160830110547"/>
  <p:tag name="MH_LIBRARY" val="CONTENTS"/>
  <p:tag name="MH_TYPE" val="OTHERS"/>
  <p:tag name="ID" val="545840"/>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TABLE_ENDDRAG_ORIGIN_RECT" val="882*145"/>
  <p:tag name="TABLE_ENDDRAG_RECT" val="16*133*882*145"/>
</p:tagLst>
</file>

<file path=ppt/tags/tag148.xml><?xml version="1.0" encoding="utf-8"?>
<p:tagLst xmlns:p="http://schemas.openxmlformats.org/presentationml/2006/main">
  <p:tag name="PA" val="v5.2.4"/>
  <p:tag name="KSO_WM_DIAGRAM_VIRTUALLY_FRAME" val="{&quot;height&quot;:343.4866666666667,&quot;left&quot;:-30.3,&quot;top&quot;:43.2,&quot;width&quot;:997.25}"/>
</p:tagLst>
</file>

<file path=ppt/tags/tag149.xml><?xml version="1.0" encoding="utf-8"?>
<p:tagLst xmlns:p="http://schemas.openxmlformats.org/presentationml/2006/main">
  <p:tag name="PA" val="v5.2.4"/>
  <p:tag name="KSO_WM_DIAGRAM_VIRTUALLY_FRAME" val="{&quot;height&quot;:343.4866666666667,&quot;left&quot;:-30.3,&quot;top&quot;:43.2,&quot;width&quot;:997.25}"/>
</p:tagLst>
</file>

<file path=ppt/tags/tag150.xml><?xml version="1.0" encoding="utf-8"?>
<p:tagLst xmlns:p="http://schemas.openxmlformats.org/presentationml/2006/main">
  <p:tag name="KSO_WM_UNIT_TABLE_BEAUTIFY" val="smartTable{0e1c6a26-f29a-42bd-9519-ef3b330dd505}"/>
  <p:tag name="TABLE_ENDDRAG_ORIGIN_RECT" val="316*308"/>
  <p:tag name="TABLE_ENDDRAG_RECT" val="77*111*316*308"/>
  <p:tag name="TABLE_RECT" val="244.017*62.2407*241.6*188.6"/>
  <p:tag name="TABLE_ONEKEY_SKIN_IDX" val="0"/>
  <p:tag name="TABLE_SKINIDX" val="0"/>
  <p:tag name="TABLE_COLORIDX" val="21"/>
  <p:tag name="TABLE_AUTOADJUST_FLAG" val="1"/>
  <p:tag name="TABLE_COLOR_RGB" val="0x000000*0xFFFFFF*0x212121*0xFFFFFF*0x86A3A1*0x7FA694*0xA8CEB0*0xCCE6CD*0xC8E1DD*0xE5F1EF"/>
</p:tagLst>
</file>

<file path=ppt/tags/tag151.xml><?xml version="1.0" encoding="utf-8"?>
<p:tagLst xmlns:p="http://schemas.openxmlformats.org/presentationml/2006/main">
  <p:tag name="KSO_WM_DIAGRAM_VIRTUALLY_FRAME" val="{&quot;height&quot;:343.4866666666667,&quot;left&quot;:-30.3,&quot;top&quot;:43.2,&quot;width&quot;:997.25}"/>
</p:tagLst>
</file>

<file path=ppt/tags/tag152.xml><?xml version="1.0" encoding="utf-8"?>
<p:tagLst xmlns:p="http://schemas.openxmlformats.org/presentationml/2006/main">
  <p:tag name="KSO_WM_DIAGRAM_VIRTUALLY_FRAME" val="{&quot;height&quot;:343.4866666666667,&quot;left&quot;:-30.3,&quot;top&quot;:43.2,&quot;width&quot;:997.25}"/>
</p:tagLst>
</file>

<file path=ppt/tags/tag153.xml><?xml version="1.0" encoding="utf-8"?>
<p:tagLst xmlns:p="http://schemas.openxmlformats.org/presentationml/2006/main">
  <p:tag name="KSO_WM_DIAGRAM_VIRTUALLY_FRAME" val="{&quot;height&quot;:343.4866666666667,&quot;left&quot;:-30.3,&quot;top&quot;:43.2,&quot;width&quot;:997.25}"/>
</p:tagLst>
</file>

<file path=ppt/tags/tag154.xml><?xml version="1.0" encoding="utf-8"?>
<p:tagLst xmlns:p="http://schemas.openxmlformats.org/presentationml/2006/main">
  <p:tag name="KSO_WM_UNIT_TABLE_BEAUTIFY" val="smartTable{3d97d1e3-c5e6-4a1f-8de2-f4d8afa62b1a}"/>
  <p:tag name="TABLE_ENDDRAG_ORIGIN_RECT" val="440*468"/>
  <p:tag name="TABLE_ENDDRAG_RECT" val="473*56*440*468"/>
</p:tagLst>
</file>

<file path=ppt/tags/tag155.xml><?xml version="1.0" encoding="utf-8"?>
<p:tagLst xmlns:p="http://schemas.openxmlformats.org/presentationml/2006/main">
  <p:tag name="KSO_WM_DIAGRAM_VIRTUALLY_FRAME" val="{&quot;height&quot;:343.4866666666667,&quot;left&quot;:-30.3,&quot;top&quot;:43.2,&quot;width&quot;:997.25}"/>
</p:tagLst>
</file>

<file path=ppt/tags/tag156.xml><?xml version="1.0" encoding="utf-8"?>
<p:tagLst xmlns:p="http://schemas.openxmlformats.org/presentationml/2006/main">
  <p:tag name="KSO_WM_DIAGRAM_VIRTUALLY_FRAME" val="{&quot;height&quot;:343.4866666666667,&quot;left&quot;:-30.3,&quot;top&quot;:43.2,&quot;width&quot;:997.25}"/>
</p:tagLst>
</file>

<file path=ppt/tags/tag157.xml><?xml version="1.0" encoding="utf-8"?>
<p:tagLst xmlns:p="http://schemas.openxmlformats.org/presentationml/2006/main">
  <p:tag name="KSO_WM_DIAGRAM_VIRTUALLY_FRAME" val="{&quot;height&quot;:343.4866666666667,&quot;left&quot;:-30.3,&quot;top&quot;:43.2,&quot;width&quot;:997.25}"/>
</p:tagLst>
</file>

<file path=ppt/tags/tag158.xml><?xml version="1.0" encoding="utf-8"?>
<p:tagLst xmlns:p="http://schemas.openxmlformats.org/presentationml/2006/main">
  <p:tag name="MH" val="20160830110547"/>
  <p:tag name="MH_LIBRARY" val="CONTENTS"/>
  <p:tag name="MH_TYPE" val="OTHERS"/>
  <p:tag name="ID" val="545840"/>
</p:tagLst>
</file>

<file path=ppt/tags/tag159.xml><?xml version="1.0" encoding="utf-8"?>
<p:tagLst xmlns:p="http://schemas.openxmlformats.org/presentationml/2006/main">
  <p:tag name="MH" val="20160830110547"/>
  <p:tag name="MH_LIBRARY" val="CONTENTS"/>
  <p:tag name="MH_TYPE" val="OTHERS"/>
  <p:tag name="ID" val="545840"/>
</p:tagLst>
</file>

<file path=ppt/tags/tag160.xml><?xml version="1.0" encoding="utf-8"?>
<p:tagLst xmlns:p="http://schemas.openxmlformats.org/presentationml/2006/main">
  <p:tag name="TABLE_ENDDRAG_ORIGIN_RECT" val="310*45"/>
  <p:tag name="TABLE_ENDDRAG_RECT" val="77*430*310*45"/>
</p:tagLst>
</file>

<file path=ppt/tags/tag161.xml><?xml version="1.0" encoding="utf-8"?>
<p:tagLst xmlns:p="http://schemas.openxmlformats.org/presentationml/2006/main">
  <p:tag name="MH" val="20160830110547"/>
  <p:tag name="MH_LIBRARY" val="CONTENTS"/>
  <p:tag name="MH_TYPE" val="OTHERS"/>
  <p:tag name="ID" val="545840"/>
</p:tagLst>
</file>

<file path=ppt/tags/tag162.xml><?xml version="1.0" encoding="utf-8"?>
<p:tagLst xmlns:p="http://schemas.openxmlformats.org/presentationml/2006/main">
  <p:tag name="MH" val="20160830110547"/>
  <p:tag name="MH_LIBRARY" val="CONTENTS"/>
  <p:tag name="MH_TYPE" val="OTHERS"/>
  <p:tag name="ID" val="545840"/>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TABLE_ENDDRAG_ORIGIN_RECT" val="817*318"/>
  <p:tag name="TABLE_ENDDRAG_RECT" val="54*133*817*319"/>
</p:tagLst>
</file>

<file path=ppt/tags/tag165.xml><?xml version="1.0" encoding="utf-8"?>
<p:tagLst xmlns:p="http://schemas.openxmlformats.org/presentationml/2006/main">
  <p:tag name="MH" val="20160830110547"/>
  <p:tag name="MH_LIBRARY" val="CONTENTS"/>
  <p:tag name="MH_TYPE" val="OTHERS"/>
  <p:tag name="ID" val="545840"/>
</p:tagLst>
</file>

<file path=ppt/tags/tag166.xml><?xml version="1.0" encoding="utf-8"?>
<p:tagLst xmlns:p="http://schemas.openxmlformats.org/presentationml/2006/main">
  <p:tag name="MH" val="20160830110547"/>
  <p:tag name="MH_LIBRARY" val="CONTENTS"/>
  <p:tag name="MH_TYPE" val="OTHERS"/>
  <p:tag name="ID" val="545840"/>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TABLE_ENDDRAG_ORIGIN_RECT" val="883*282"/>
  <p:tag name="TABLE_ENDDRAG_RECT" val="56*112*883*282"/>
</p:tagLst>
</file>

<file path=ppt/tags/tag169.xml><?xml version="1.0" encoding="utf-8"?>
<p:tagLst xmlns:p="http://schemas.openxmlformats.org/presentationml/2006/main">
  <p:tag name="MH" val="20160830110547"/>
  <p:tag name="MH_LIBRARY" val="CONTENTS"/>
  <p:tag name="MH_TYPE" val="OTHERS"/>
  <p:tag name="ID" val="545840"/>
</p:tagLst>
</file>

<file path=ppt/tags/tag170.xml><?xml version="1.0" encoding="utf-8"?>
<p:tagLst xmlns:p="http://schemas.openxmlformats.org/presentationml/2006/main">
  <p:tag name="MH" val="20160830110547"/>
  <p:tag name="MH_LIBRARY" val="CONTENTS"/>
  <p:tag name="MH_TYPE" val="OTHERS"/>
  <p:tag name="ID" val="545840"/>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TABLE_ENDDRAG_ORIGIN_RECT" val="800*253"/>
  <p:tag name="TABLE_ENDDRAG_RECT" val="49*143*800*253"/>
</p:tagLst>
</file>

<file path=ppt/tags/tag173.xml><?xml version="1.0" encoding="utf-8"?>
<p:tagLst xmlns:p="http://schemas.openxmlformats.org/presentationml/2006/main">
  <p:tag name="MH" val="20160830110547"/>
  <p:tag name="MH_LIBRARY" val="CONTENTS"/>
  <p:tag name="MH_TYPE" val="OTHERS"/>
  <p:tag name="ID" val="545840"/>
</p:tagLst>
</file>

<file path=ppt/tags/tag174.xml><?xml version="1.0" encoding="utf-8"?>
<p:tagLst xmlns:p="http://schemas.openxmlformats.org/presentationml/2006/main">
  <p:tag name="MH" val="20160830110547"/>
  <p:tag name="MH_LIBRARY" val="CONTENTS"/>
  <p:tag name="MH_TYPE" val="OTHERS"/>
  <p:tag name="ID" val="545840"/>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TABLE_ENDDRAG_ORIGIN_RECT" val="845*428"/>
  <p:tag name="TABLE_ENDDRAG_RECT" val="54*99*845*428"/>
</p:tagLst>
</file>

<file path=ppt/tags/tag177.xml><?xml version="1.0" encoding="utf-8"?>
<p:tagLst xmlns:p="http://schemas.openxmlformats.org/presentationml/2006/main">
  <p:tag name="MH" val="20160830110547"/>
  <p:tag name="MH_LIBRARY" val="CONTENTS"/>
  <p:tag name="MH_TYPE" val="OTHERS"/>
  <p:tag name="ID" val="545840"/>
</p:tagLst>
</file>

<file path=ppt/tags/tag178.xml><?xml version="1.0" encoding="utf-8"?>
<p:tagLst xmlns:p="http://schemas.openxmlformats.org/presentationml/2006/main">
  <p:tag name="MH" val="20160830110547"/>
  <p:tag name="MH_LIBRARY" val="CONTENTS"/>
  <p:tag name="MH_TYPE" val="OTHERS"/>
  <p:tag name="ID" val="545840"/>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TABLE_ENDDRAG_ORIGIN_RECT" val="827*360"/>
  <p:tag name="TABLE_ENDDRAG_RECT" val="54*129*827*360"/>
</p:tagLst>
</file>

<file path=ppt/tags/tag181.xml><?xml version="1.0" encoding="utf-8"?>
<p:tagLst xmlns:p="http://schemas.openxmlformats.org/presentationml/2006/main">
  <p:tag name="MH" val="20160830110547"/>
  <p:tag name="MH_LIBRARY" val="CONTENTS"/>
  <p:tag name="MH_TYPE" val="OTHERS"/>
  <p:tag name="ID" val="545840"/>
</p:tagLst>
</file>

<file path=ppt/tags/tag182.xml><?xml version="1.0" encoding="utf-8"?>
<p:tagLst xmlns:p="http://schemas.openxmlformats.org/presentationml/2006/main">
  <p:tag name="MH" val="20160830110547"/>
  <p:tag name="MH_LIBRARY" val="CONTENTS"/>
  <p:tag name="MH_TYPE" val="OTHERS"/>
  <p:tag name="ID" val="545840"/>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TABLE_ENDDRAG_ORIGIN_RECT" val="827*360"/>
  <p:tag name="TABLE_ENDDRAG_RECT" val="54*129*827*360"/>
</p:tagLst>
</file>

<file path=ppt/tags/tag185.xml><?xml version="1.0" encoding="utf-8"?>
<p:tagLst xmlns:p="http://schemas.openxmlformats.org/presentationml/2006/main">
  <p:tag name="resource_record_key" val="{&quot;29&quot;:[5000007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docProps/app.xml><?xml version="1.0" encoding="utf-8"?>
<Properties xmlns="http://schemas.openxmlformats.org/officeDocument/2006/extended-properties" xmlns:vt="http://schemas.openxmlformats.org/officeDocument/2006/docPropsVTypes">
  <TotalTime>0</TotalTime>
  <Words>4640</Words>
  <Application>WPS 演示</Application>
  <PresentationFormat>宽屏</PresentationFormat>
  <Paragraphs>1733</Paragraphs>
  <Slides>22</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22</vt:i4>
      </vt:variant>
    </vt:vector>
  </HeadingPairs>
  <TitlesOfParts>
    <vt:vector size="38" baseType="lpstr">
      <vt:lpstr>Arial</vt:lpstr>
      <vt:lpstr>宋体</vt:lpstr>
      <vt:lpstr>Wingdings</vt:lpstr>
      <vt:lpstr>Wingdings</vt:lpstr>
      <vt:lpstr>微软雅黑</vt:lpstr>
      <vt:lpstr>Wingdings 3</vt:lpstr>
      <vt:lpstr>Verdana</vt:lpstr>
      <vt:lpstr>Wingdings 2</vt:lpstr>
      <vt:lpstr>汉仪中简黑简</vt:lpstr>
      <vt:lpstr>MS Reference Sans Serif</vt:lpstr>
      <vt:lpstr>黑体</vt:lpstr>
      <vt:lpstr>Arial Unicode MS</vt:lpstr>
      <vt:lpstr>Calibri</vt:lpstr>
      <vt:lpstr>WPS</vt:lpstr>
      <vt:lpstr>Equation.KSEE3</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黄生</dc:creator>
  <cp:lastModifiedBy>草生</cp:lastModifiedBy>
  <cp:revision>1352</cp:revision>
  <dcterms:created xsi:type="dcterms:W3CDTF">2019-06-19T02:08:00Z</dcterms:created>
  <dcterms:modified xsi:type="dcterms:W3CDTF">2026-07-22T10:57:48Z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E009D38B59684458A50CD844DBEA53B3_13</vt:lpwstr>
  </property>
</Properties>
</file>